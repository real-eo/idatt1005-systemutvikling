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0" r:id="rId25"/>
    <p:sldId id="282" r:id="rId26"/>
    <p:sldId id="283" r:id="rId27"/>
    <p:sldId id="285" r:id="rId28"/>
    <p:sldId id="284" r:id="rId29"/>
    <p:sldId id="286" r:id="rId30"/>
    <p:sldId id="287" r:id="rId31"/>
    <p:sldId id="288" r:id="rId32"/>
    <p:sldId id="289" r:id="rId33"/>
    <p:sldId id="290" r:id="rId34"/>
    <p:sldId id="291" r:id="rId35"/>
    <p:sldId id="292" r:id="rId36"/>
    <p:sldId id="281"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5407" autoAdjust="0"/>
  </p:normalViewPr>
  <p:slideViewPr>
    <p:cSldViewPr snapToGrid="0">
      <p:cViewPr>
        <p:scale>
          <a:sx n="70" d="100"/>
          <a:sy n="70" d="100"/>
        </p:scale>
        <p:origin x="2118" y="2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a:p>
        </p:txBody>
      </p:sp>
      <p:sp>
        <p:nvSpPr>
          <p:cNvPr id="3" name="Plassholder for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F512DD-A1B3-40DA-B83F-1D1009635570}" type="datetimeFigureOut">
              <a:rPr lang="nb-NO" smtClean="0"/>
              <a:t>01.06.2026</a:t>
            </a:fld>
            <a:endParaRPr lang="nb-NO"/>
          </a:p>
        </p:txBody>
      </p:sp>
      <p:sp>
        <p:nvSpPr>
          <p:cNvPr id="4" name="Plassholder for lysbil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b-NO"/>
          </a:p>
        </p:txBody>
      </p:sp>
      <p:sp>
        <p:nvSpPr>
          <p:cNvPr id="5" name="Plassholder for nota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6" name="Plassholder for bunn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a:p>
        </p:txBody>
      </p:sp>
      <p:sp>
        <p:nvSpPr>
          <p:cNvPr id="7" name="Plassholder for lysbil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8CD5F7-2931-42C6-9B3E-A6C700901896}" type="slidenum">
              <a:rPr lang="nb-NO" smtClean="0"/>
              <a:t>‹#›</a:t>
            </a:fld>
            <a:endParaRPr lang="nb-NO"/>
          </a:p>
        </p:txBody>
      </p:sp>
    </p:spTree>
    <p:extLst>
      <p:ext uri="{BB962C8B-B14F-4D97-AF65-F5344CB8AC3E}">
        <p14:creationId xmlns:p14="http://schemas.microsoft.com/office/powerpoint/2010/main" val="2689678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nb-NO" sz="1200" b="1" i="0" kern="1200" dirty="0">
                <a:solidFill>
                  <a:schemeClr val="tx1"/>
                </a:solidFill>
                <a:effectLst/>
                <a:latin typeface="+mn-lt"/>
                <a:ea typeface="+mn-ea"/>
                <a:cs typeface="+mn-cs"/>
              </a:rPr>
              <a:t>Definisjon:</a:t>
            </a:r>
            <a:r>
              <a:rPr lang="nb-NO" sz="1200" b="0" i="0" kern="1200" dirty="0">
                <a:solidFill>
                  <a:schemeClr val="tx1"/>
                </a:solidFill>
                <a:effectLst/>
                <a:latin typeface="+mn-lt"/>
                <a:ea typeface="+mn-ea"/>
                <a:cs typeface="+mn-cs"/>
              </a:rPr>
              <a:t> utforme hvordan brukere samhandler med digitale produkter. Skape intuitive, effektive og meningsfulle opplevelser for brukerne.</a:t>
            </a:r>
          </a:p>
          <a:p>
            <a:r>
              <a:rPr lang="nb-NO" sz="1200" b="1" i="0" kern="1200" dirty="0">
                <a:solidFill>
                  <a:schemeClr val="tx1"/>
                </a:solidFill>
                <a:effectLst/>
                <a:latin typeface="+mn-lt"/>
                <a:ea typeface="+mn-ea"/>
                <a:cs typeface="+mn-cs"/>
              </a:rPr>
              <a:t>Fokus:</a:t>
            </a:r>
            <a:r>
              <a:rPr lang="nb-NO" sz="1200" b="0" i="0" kern="1200" dirty="0">
                <a:solidFill>
                  <a:schemeClr val="tx1"/>
                </a:solidFill>
                <a:effectLst/>
                <a:latin typeface="+mn-lt"/>
                <a:ea typeface="+mn-ea"/>
                <a:cs typeface="+mn-cs"/>
              </a:rPr>
              <a:t> å forstå brukerens behov, mål og kontekst og designe UI og </a:t>
            </a:r>
            <a:r>
              <a:rPr lang="nb-NO" sz="1200" b="0" i="0" kern="1200" dirty="0" err="1">
                <a:solidFill>
                  <a:schemeClr val="tx1"/>
                </a:solidFill>
                <a:effectLst/>
                <a:latin typeface="+mn-lt"/>
                <a:ea typeface="+mn-ea"/>
                <a:cs typeface="+mn-cs"/>
              </a:rPr>
              <a:t>interaksjonsmønstrer</a:t>
            </a:r>
            <a:r>
              <a:rPr lang="nb-NO" sz="1200" b="0" i="0" kern="1200" dirty="0">
                <a:solidFill>
                  <a:schemeClr val="tx1"/>
                </a:solidFill>
                <a:effectLst/>
                <a:latin typeface="+mn-lt"/>
                <a:ea typeface="+mn-ea"/>
                <a:cs typeface="+mn-cs"/>
              </a:rPr>
              <a:t> som passer</a:t>
            </a:r>
          </a:p>
          <a:p>
            <a:r>
              <a:rPr lang="nb-NO" sz="1200" b="1" i="0" kern="1200" dirty="0">
                <a:solidFill>
                  <a:schemeClr val="tx1"/>
                </a:solidFill>
                <a:effectLst/>
                <a:latin typeface="+mn-lt"/>
                <a:ea typeface="+mn-ea"/>
                <a:cs typeface="+mn-cs"/>
              </a:rPr>
              <a:t>Mål:</a:t>
            </a:r>
            <a:r>
              <a:rPr lang="nb-NO" sz="1200" b="0" i="0" kern="1200" dirty="0">
                <a:solidFill>
                  <a:schemeClr val="tx1"/>
                </a:solidFill>
                <a:effectLst/>
                <a:latin typeface="+mn-lt"/>
                <a:ea typeface="+mn-ea"/>
                <a:cs typeface="+mn-cs"/>
              </a:rPr>
              <a:t> skape brukeropplevelser som er intuitive, effektive, </a:t>
            </a:r>
            <a:r>
              <a:rPr lang="nb-NO" sz="1200" b="0" i="0" kern="1200" dirty="0" err="1">
                <a:solidFill>
                  <a:schemeClr val="tx1"/>
                </a:solidFill>
                <a:effectLst/>
                <a:latin typeface="+mn-lt"/>
                <a:ea typeface="+mn-ea"/>
                <a:cs typeface="+mn-cs"/>
              </a:rPr>
              <a:t>tilfredstillende</a:t>
            </a:r>
            <a:r>
              <a:rPr lang="nb-NO" sz="1200" b="0" i="0" kern="1200" dirty="0">
                <a:solidFill>
                  <a:schemeClr val="tx1"/>
                </a:solidFill>
                <a:effectLst/>
                <a:latin typeface="+mn-lt"/>
                <a:ea typeface="+mn-ea"/>
                <a:cs typeface="+mn-cs"/>
              </a:rPr>
              <a:t> og engasjerende.</a:t>
            </a:r>
          </a:p>
          <a:p>
            <a:r>
              <a:rPr lang="nb-NO" sz="1200" b="1" i="0" kern="1200" dirty="0">
                <a:solidFill>
                  <a:schemeClr val="tx1"/>
                </a:solidFill>
                <a:effectLst/>
                <a:latin typeface="+mn-lt"/>
                <a:ea typeface="+mn-ea"/>
                <a:cs typeface="+mn-cs"/>
              </a:rPr>
              <a:t>Modell når man jobber med </a:t>
            </a:r>
            <a:r>
              <a:rPr lang="nb-NO" sz="1200" b="1" i="0" kern="1200" dirty="0" err="1">
                <a:solidFill>
                  <a:schemeClr val="tx1"/>
                </a:solidFill>
                <a:effectLst/>
                <a:latin typeface="+mn-lt"/>
                <a:ea typeface="+mn-ea"/>
                <a:cs typeface="+mn-cs"/>
              </a:rPr>
              <a:t>IxD</a:t>
            </a:r>
            <a:r>
              <a:rPr lang="nb-NO" sz="1200" b="1" i="0" kern="1200" dirty="0">
                <a:solidFill>
                  <a:schemeClr val="tx1"/>
                </a:solidFill>
                <a:effectLst/>
                <a:latin typeface="+mn-lt"/>
                <a:ea typeface="+mn-ea"/>
                <a:cs typeface="+mn-cs"/>
              </a:rPr>
              <a:t>:</a:t>
            </a:r>
            <a:r>
              <a:rPr lang="nb-NO" sz="1200" b="0" i="0" kern="1200" dirty="0">
                <a:solidFill>
                  <a:schemeClr val="tx1"/>
                </a:solidFill>
                <a:effectLst/>
                <a:latin typeface="+mn-lt"/>
                <a:ea typeface="+mn-ea"/>
                <a:cs typeface="+mn-cs"/>
              </a:rPr>
              <a:t> Er en Iterativ prosess lik moderne utviklingsmetoder</a:t>
            </a:r>
          </a:p>
          <a:p>
            <a:endParaRPr lang="nb-NO" dirty="0"/>
          </a:p>
          <a:p>
            <a:endParaRPr lang="nb-NO" dirty="0"/>
          </a:p>
          <a:p>
            <a:r>
              <a:rPr lang="nb-NO" sz="1200" b="0" i="0" kern="1200" dirty="0">
                <a:solidFill>
                  <a:schemeClr val="tx1"/>
                </a:solidFill>
                <a:effectLst/>
                <a:latin typeface="+mn-lt"/>
                <a:ea typeface="+mn-ea"/>
                <a:cs typeface="+mn-cs"/>
              </a:rPr>
              <a:t>De ulike dimensjonene som man bruker til å kommunisere med en bruker:</a:t>
            </a:r>
          </a:p>
          <a:p>
            <a:pPr marL="228600" indent="-228600">
              <a:buFont typeface="+mj-lt"/>
              <a:buAutoNum type="arabicPeriod"/>
            </a:pPr>
            <a:r>
              <a:rPr lang="nb-NO" sz="1200" b="1" i="0" kern="1200" dirty="0">
                <a:solidFill>
                  <a:schemeClr val="tx1"/>
                </a:solidFill>
                <a:effectLst/>
                <a:latin typeface="+mn-lt"/>
                <a:ea typeface="+mn-ea"/>
                <a:cs typeface="+mn-cs"/>
              </a:rPr>
              <a:t>Ord</a:t>
            </a:r>
            <a:r>
              <a:rPr lang="nb-NO" sz="1200" b="0" i="0" kern="1200" dirty="0">
                <a:solidFill>
                  <a:schemeClr val="tx1"/>
                </a:solidFill>
                <a:effectLst/>
                <a:latin typeface="+mn-lt"/>
                <a:ea typeface="+mn-ea"/>
                <a:cs typeface="+mn-cs"/>
              </a:rPr>
              <a:t> - forståelig og tilgjengelig</a:t>
            </a:r>
          </a:p>
          <a:p>
            <a:pPr marL="228600" indent="-228600">
              <a:buFont typeface="+mj-lt"/>
              <a:buAutoNum type="arabicPeriod"/>
            </a:pPr>
            <a:r>
              <a:rPr lang="nb-NO" sz="1200" b="1" i="0" kern="1200" dirty="0">
                <a:solidFill>
                  <a:schemeClr val="tx1"/>
                </a:solidFill>
                <a:effectLst/>
                <a:latin typeface="+mn-lt"/>
                <a:ea typeface="+mn-ea"/>
                <a:cs typeface="+mn-cs"/>
              </a:rPr>
              <a:t>Visuell representasjon</a:t>
            </a:r>
            <a:r>
              <a:rPr lang="nb-NO" sz="1200" b="0" i="0" kern="1200" dirty="0">
                <a:solidFill>
                  <a:schemeClr val="tx1"/>
                </a:solidFill>
                <a:effectLst/>
                <a:latin typeface="+mn-lt"/>
                <a:ea typeface="+mn-ea"/>
                <a:cs typeface="+mn-cs"/>
              </a:rPr>
              <a:t> - grafiske elementene</a:t>
            </a:r>
          </a:p>
          <a:p>
            <a:pPr marL="228600" indent="-228600">
              <a:buFont typeface="+mj-lt"/>
              <a:buAutoNum type="arabicPeriod"/>
            </a:pPr>
            <a:r>
              <a:rPr lang="nb-NO" sz="1200" b="1" i="0" kern="1200" dirty="0">
                <a:solidFill>
                  <a:schemeClr val="tx1"/>
                </a:solidFill>
                <a:effectLst/>
                <a:latin typeface="+mn-lt"/>
                <a:ea typeface="+mn-ea"/>
                <a:cs typeface="+mn-cs"/>
              </a:rPr>
              <a:t>Fysiske objekter og rom</a:t>
            </a:r>
            <a:endParaRPr lang="nb-NO" sz="1200" b="0" i="0" kern="1200" dirty="0">
              <a:solidFill>
                <a:schemeClr val="tx1"/>
              </a:solidFill>
              <a:effectLst/>
              <a:latin typeface="+mn-lt"/>
              <a:ea typeface="+mn-ea"/>
              <a:cs typeface="+mn-cs"/>
            </a:endParaRPr>
          </a:p>
          <a:p>
            <a:pPr marL="228600" indent="-228600">
              <a:buFont typeface="+mj-lt"/>
              <a:buAutoNum type="arabicPeriod"/>
            </a:pPr>
            <a:r>
              <a:rPr lang="nb-NO" sz="1200" b="1" i="0" kern="1200" dirty="0">
                <a:solidFill>
                  <a:schemeClr val="tx1"/>
                </a:solidFill>
                <a:effectLst/>
                <a:latin typeface="+mn-lt"/>
                <a:ea typeface="+mn-ea"/>
                <a:cs typeface="+mn-cs"/>
              </a:rPr>
              <a:t>Tid</a:t>
            </a:r>
            <a:r>
              <a:rPr lang="nb-NO" sz="1200" b="0" i="0" kern="1200" dirty="0">
                <a:solidFill>
                  <a:schemeClr val="tx1"/>
                </a:solidFill>
                <a:effectLst/>
                <a:latin typeface="+mn-lt"/>
                <a:ea typeface="+mn-ea"/>
                <a:cs typeface="+mn-cs"/>
              </a:rPr>
              <a:t> - brukt på de første 3 dimensjonene</a:t>
            </a:r>
          </a:p>
          <a:p>
            <a:pPr marL="228600" indent="-228600">
              <a:buFont typeface="+mj-lt"/>
              <a:buAutoNum type="arabicPeriod"/>
            </a:pPr>
            <a:r>
              <a:rPr lang="nb-NO" sz="1200" b="1" i="0" kern="1200" dirty="0">
                <a:solidFill>
                  <a:schemeClr val="tx1"/>
                </a:solidFill>
                <a:effectLst/>
                <a:latin typeface="+mn-lt"/>
                <a:ea typeface="+mn-ea"/>
                <a:cs typeface="+mn-cs"/>
              </a:rPr>
              <a:t>Oppførsel</a:t>
            </a:r>
            <a:r>
              <a:rPr lang="nb-NO" sz="1200" b="0" i="0" kern="1200" dirty="0">
                <a:solidFill>
                  <a:schemeClr val="tx1"/>
                </a:solidFill>
                <a:effectLst/>
                <a:latin typeface="+mn-lt"/>
                <a:ea typeface="+mn-ea"/>
                <a:cs typeface="+mn-cs"/>
              </a:rPr>
              <a:t> - følelsene og reaksjonene brukeren får når de samhandler med produktet</a:t>
            </a:r>
          </a:p>
          <a:p>
            <a:endParaRPr lang="nb-NO" dirty="0"/>
          </a:p>
          <a:p>
            <a:endParaRPr lang="nb-NO" dirty="0"/>
          </a:p>
          <a:p>
            <a:r>
              <a:rPr lang="nb-NO" dirty="0"/>
              <a:t>Don Normans prinsipper om interaksjonsdesign:</a:t>
            </a:r>
          </a:p>
          <a:p>
            <a:pPr marL="228600" indent="-228600">
              <a:buFont typeface="+mj-lt"/>
              <a:buAutoNum type="arabicPeriod"/>
            </a:pPr>
            <a:r>
              <a:rPr lang="nb-NO" sz="1200" b="1" i="0" kern="1200" dirty="0">
                <a:solidFill>
                  <a:schemeClr val="tx1"/>
                </a:solidFill>
                <a:effectLst/>
                <a:latin typeface="+mn-lt"/>
                <a:ea typeface="+mn-ea"/>
                <a:cs typeface="+mn-cs"/>
              </a:rPr>
              <a:t>Synlighet på funksjoner</a:t>
            </a:r>
            <a:r>
              <a:rPr lang="nb-NO" sz="1200" b="0" i="0" kern="1200" dirty="0">
                <a:solidFill>
                  <a:schemeClr val="tx1"/>
                </a:solidFill>
                <a:effectLst/>
                <a:latin typeface="+mn-lt"/>
                <a:ea typeface="+mn-ea"/>
                <a:cs typeface="+mn-cs"/>
              </a:rPr>
              <a:t> - vise at de er til stede og hvordan de skal brukes. Brukeren burde gjenkjenne lett hvilke funksjoner som er tilgjengelig. Motsatt; funksjoner som ikke er nødvendig til gitt tid burde ikke være synlig</a:t>
            </a:r>
          </a:p>
          <a:p>
            <a:pPr marL="228600" indent="-228600">
              <a:buFont typeface="+mj-lt"/>
              <a:buAutoNum type="arabicPeriod"/>
            </a:pPr>
            <a:r>
              <a:rPr lang="nb-NO" sz="1200" b="1" i="0" kern="1200" dirty="0">
                <a:solidFill>
                  <a:schemeClr val="tx1"/>
                </a:solidFill>
                <a:effectLst/>
                <a:latin typeface="+mn-lt"/>
                <a:ea typeface="+mn-ea"/>
                <a:cs typeface="+mn-cs"/>
              </a:rPr>
              <a:t>Feedback</a:t>
            </a:r>
            <a:r>
              <a:rPr lang="nb-NO" sz="1200" b="0" i="0" kern="1200" dirty="0">
                <a:solidFill>
                  <a:schemeClr val="tx1"/>
                </a:solidFill>
                <a:effectLst/>
                <a:latin typeface="+mn-lt"/>
                <a:ea typeface="+mn-ea"/>
                <a:cs typeface="+mn-cs"/>
              </a:rPr>
              <a:t>: signaliserer til brukeren hva som foregår gjennom. Gjøres gjennom lyder, visualiseringer, fysisk osv.</a:t>
            </a:r>
          </a:p>
          <a:p>
            <a:pPr marL="228600" indent="-228600">
              <a:buFont typeface="+mj-lt"/>
              <a:buAutoNum type="arabicPeriod"/>
            </a:pPr>
            <a:r>
              <a:rPr lang="nb-NO" sz="1200" b="1" i="0" kern="1200" dirty="0">
                <a:solidFill>
                  <a:schemeClr val="tx1"/>
                </a:solidFill>
                <a:effectLst/>
                <a:latin typeface="+mn-lt"/>
                <a:ea typeface="+mn-ea"/>
                <a:cs typeface="+mn-cs"/>
              </a:rPr>
              <a:t>Begrensninger:</a:t>
            </a:r>
            <a:r>
              <a:rPr lang="nb-NO" sz="1200" b="0" i="0" kern="1200" dirty="0">
                <a:solidFill>
                  <a:schemeClr val="tx1"/>
                </a:solidFill>
                <a:effectLst/>
                <a:latin typeface="+mn-lt"/>
                <a:ea typeface="+mn-ea"/>
                <a:cs typeface="+mn-cs"/>
              </a:rPr>
              <a:t> begrenser brukeren ulike former for interaksjon som er mulig å gjøre i et gitt øyeblikk. Gjør det lettere å lede brukeren gjennom prosessen og gjøre applikasjonen mer brukervennlig</a:t>
            </a:r>
          </a:p>
          <a:p>
            <a:pPr marL="228600" indent="-228600">
              <a:buFont typeface="+mj-lt"/>
              <a:buAutoNum type="arabicPeriod"/>
            </a:pPr>
            <a:r>
              <a:rPr lang="nb-NO" sz="1200" b="1" i="0" kern="1200" dirty="0" err="1">
                <a:solidFill>
                  <a:schemeClr val="tx1"/>
                </a:solidFill>
                <a:effectLst/>
                <a:latin typeface="+mn-lt"/>
                <a:ea typeface="+mn-ea"/>
                <a:cs typeface="+mn-cs"/>
              </a:rPr>
              <a:t>Avbilding</a:t>
            </a:r>
            <a:r>
              <a:rPr lang="nb-NO" sz="1200" b="1" i="0" kern="1200" dirty="0">
                <a:solidFill>
                  <a:schemeClr val="tx1"/>
                </a:solidFill>
                <a:effectLst/>
                <a:latin typeface="+mn-lt"/>
                <a:ea typeface="+mn-ea"/>
                <a:cs typeface="+mn-cs"/>
              </a:rPr>
              <a:t>:</a:t>
            </a:r>
            <a:r>
              <a:rPr lang="nb-NO" sz="1200" b="0" i="0" kern="1200" dirty="0">
                <a:solidFill>
                  <a:schemeClr val="tx1"/>
                </a:solidFill>
                <a:effectLst/>
                <a:latin typeface="+mn-lt"/>
                <a:ea typeface="+mn-ea"/>
                <a:cs typeface="+mn-cs"/>
              </a:rPr>
              <a:t> Konsept til hvordan en funksjon </a:t>
            </a:r>
            <a:r>
              <a:rPr lang="nb-NO" sz="1200" b="0" i="0" kern="1200" dirty="0" err="1">
                <a:solidFill>
                  <a:schemeClr val="tx1"/>
                </a:solidFill>
                <a:effectLst/>
                <a:latin typeface="+mn-lt"/>
                <a:ea typeface="+mn-ea"/>
                <a:cs typeface="+mn-cs"/>
              </a:rPr>
              <a:t>irl</a:t>
            </a:r>
            <a:r>
              <a:rPr lang="nb-NO" sz="1200" b="0" i="0" kern="1200" dirty="0">
                <a:solidFill>
                  <a:schemeClr val="tx1"/>
                </a:solidFill>
                <a:effectLst/>
                <a:latin typeface="+mn-lt"/>
                <a:ea typeface="+mn-ea"/>
                <a:cs typeface="+mn-cs"/>
              </a:rPr>
              <a:t> oversettes til interaksjonsmuligheter i applikasjonen. Burde en stryken på lys justert med knapp, hjul, </a:t>
            </a:r>
            <a:r>
              <a:rPr lang="nb-NO" sz="1200" b="0" i="0" kern="1200" dirty="0" err="1">
                <a:solidFill>
                  <a:schemeClr val="tx1"/>
                </a:solidFill>
                <a:effectLst/>
                <a:latin typeface="+mn-lt"/>
                <a:ea typeface="+mn-ea"/>
                <a:cs typeface="+mn-cs"/>
              </a:rPr>
              <a:t>slider</a:t>
            </a:r>
            <a:r>
              <a:rPr lang="nb-NO" sz="1200" b="0" i="0" kern="1200" dirty="0">
                <a:solidFill>
                  <a:schemeClr val="tx1"/>
                </a:solidFill>
                <a:effectLst/>
                <a:latin typeface="+mn-lt"/>
                <a:ea typeface="+mn-ea"/>
                <a:cs typeface="+mn-cs"/>
              </a:rPr>
              <a:t> </a:t>
            </a:r>
            <a:r>
              <a:rPr lang="nb-NO" sz="1200" b="0" i="0" kern="1200" dirty="0" err="1">
                <a:solidFill>
                  <a:schemeClr val="tx1"/>
                </a:solidFill>
                <a:effectLst/>
                <a:latin typeface="+mn-lt"/>
                <a:ea typeface="+mn-ea"/>
                <a:cs typeface="+mn-cs"/>
              </a:rPr>
              <a:t>elns</a:t>
            </a:r>
            <a:r>
              <a:rPr lang="nb-NO" sz="1200" b="0" i="0" kern="1200" dirty="0">
                <a:solidFill>
                  <a:schemeClr val="tx1"/>
                </a:solidFill>
                <a:effectLst/>
                <a:latin typeface="+mn-lt"/>
                <a:ea typeface="+mn-ea"/>
                <a:cs typeface="+mn-cs"/>
              </a:rPr>
              <a:t>.</a:t>
            </a:r>
          </a:p>
          <a:p>
            <a:pPr marL="228600" indent="-228600">
              <a:buFont typeface="+mj-lt"/>
              <a:buAutoNum type="arabicPeriod"/>
            </a:pPr>
            <a:r>
              <a:rPr lang="nb-NO" sz="1200" b="1" i="0" kern="1200" dirty="0">
                <a:solidFill>
                  <a:schemeClr val="tx1"/>
                </a:solidFill>
                <a:effectLst/>
                <a:latin typeface="+mn-lt"/>
                <a:ea typeface="+mn-ea"/>
                <a:cs typeface="+mn-cs"/>
              </a:rPr>
              <a:t>Konsistens</a:t>
            </a:r>
            <a:r>
              <a:rPr lang="nb-NO" sz="1200" b="0" i="0" kern="1200" dirty="0">
                <a:solidFill>
                  <a:schemeClr val="tx1"/>
                </a:solidFill>
                <a:effectLst/>
                <a:latin typeface="+mn-lt"/>
                <a:ea typeface="+mn-ea"/>
                <a:cs typeface="+mn-cs"/>
              </a:rPr>
              <a:t>: lage ting slikt at brukeren gjør lignende ting på lignende måter flere steder i applikasjonen.</a:t>
            </a:r>
          </a:p>
          <a:p>
            <a:pPr marL="228600" indent="-228600">
              <a:buFont typeface="+mj-lt"/>
              <a:buAutoNum type="arabicPeriod"/>
            </a:pPr>
            <a:r>
              <a:rPr lang="nb-NO" sz="1200" b="1" i="0" kern="1200" dirty="0" err="1">
                <a:solidFill>
                  <a:schemeClr val="tx1"/>
                </a:solidFill>
                <a:effectLst/>
                <a:latin typeface="+mn-lt"/>
                <a:ea typeface="+mn-ea"/>
                <a:cs typeface="+mn-cs"/>
              </a:rPr>
              <a:t>Tilbydelser</a:t>
            </a:r>
            <a:r>
              <a:rPr lang="nb-NO" sz="1200" b="0" i="0" kern="1200" dirty="0">
                <a:solidFill>
                  <a:schemeClr val="tx1"/>
                </a:solidFill>
                <a:effectLst/>
                <a:latin typeface="+mn-lt"/>
                <a:ea typeface="+mn-ea"/>
                <a:cs typeface="+mn-cs"/>
              </a:rPr>
              <a:t>: hvilke handlinger en bruker </a:t>
            </a:r>
            <a:r>
              <a:rPr lang="nb-NO" sz="1200" b="0" i="1" kern="1200" dirty="0">
                <a:solidFill>
                  <a:schemeClr val="tx1"/>
                </a:solidFill>
                <a:effectLst/>
                <a:latin typeface="+mn-lt"/>
                <a:ea typeface="+mn-ea"/>
                <a:cs typeface="+mn-cs"/>
              </a:rPr>
              <a:t>opplever</a:t>
            </a:r>
            <a:r>
              <a:rPr lang="nb-NO" sz="1200" b="0" i="0" kern="1200" dirty="0">
                <a:solidFill>
                  <a:schemeClr val="tx1"/>
                </a:solidFill>
                <a:effectLst/>
                <a:latin typeface="+mn-lt"/>
                <a:ea typeface="+mn-ea"/>
                <a:cs typeface="+mn-cs"/>
              </a:rPr>
              <a:t> at hun kan gjøre med et system. Henger med hvordan systemet er laget og brukerens erfaring med andre systemer.</a:t>
            </a:r>
          </a:p>
          <a:p>
            <a:pPr marL="228600" indent="-228600">
              <a:buFont typeface="+mj-lt"/>
              <a:buAutoNum type="arabicPeriod"/>
            </a:pPr>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Prinsippene ment for å diskutere og beskrive brukskvaliteten til UI, og ikke som en sjekkliste for interaksjonsdesign.</a:t>
            </a:r>
          </a:p>
          <a:p>
            <a:endParaRPr lang="nb-NO" dirty="0"/>
          </a:p>
        </p:txBody>
      </p:sp>
      <p:sp>
        <p:nvSpPr>
          <p:cNvPr id="4" name="Plassholder for lysbildenummer 3"/>
          <p:cNvSpPr>
            <a:spLocks noGrp="1"/>
          </p:cNvSpPr>
          <p:nvPr>
            <p:ph type="sldNum" sz="quarter" idx="5"/>
          </p:nvPr>
        </p:nvSpPr>
        <p:spPr/>
        <p:txBody>
          <a:bodyPr/>
          <a:lstStyle/>
          <a:p>
            <a:fld id="{ED8CD5F7-2931-42C6-9B3E-A6C700901896}" type="slidenum">
              <a:rPr lang="nb-NO" smtClean="0"/>
              <a:t>3</a:t>
            </a:fld>
            <a:endParaRPr lang="nb-NO"/>
          </a:p>
        </p:txBody>
      </p:sp>
    </p:spTree>
    <p:extLst>
      <p:ext uri="{BB962C8B-B14F-4D97-AF65-F5344CB8AC3E}">
        <p14:creationId xmlns:p14="http://schemas.microsoft.com/office/powerpoint/2010/main" val="3175343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F9803-3274-0E51-5254-8F62CD72042A}"/>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10350012-70BF-B2A4-A081-435B8180EC4E}"/>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62268F86-C8DF-3B2F-4CEC-ACB32A463950}"/>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Dimensjoner ved prototyping: </a:t>
            </a:r>
          </a:p>
          <a:p>
            <a:pPr marL="228600" indent="-228600">
              <a:buAutoNum type="arabicPeriod"/>
            </a:pPr>
            <a:r>
              <a:rPr lang="nb-NO" sz="1200" b="1" i="0" kern="1200" dirty="0">
                <a:solidFill>
                  <a:schemeClr val="tx1"/>
                </a:solidFill>
                <a:effectLst/>
                <a:latin typeface="+mn-lt"/>
                <a:ea typeface="+mn-ea"/>
                <a:cs typeface="+mn-cs"/>
              </a:rPr>
              <a:t>Utseende</a:t>
            </a:r>
          </a:p>
          <a:p>
            <a:pPr marL="228600" indent="-228600">
              <a:buAutoNum type="arabicPeriod"/>
            </a:pPr>
            <a:r>
              <a:rPr lang="nb-NO" sz="1200" b="1" i="0" kern="1200" dirty="0">
                <a:solidFill>
                  <a:schemeClr val="tx1"/>
                </a:solidFill>
                <a:effectLst/>
                <a:latin typeface="+mn-lt"/>
                <a:ea typeface="+mn-ea"/>
                <a:cs typeface="+mn-cs"/>
              </a:rPr>
              <a:t>Innhold</a:t>
            </a:r>
          </a:p>
          <a:p>
            <a:pPr marL="228600" indent="-228600">
              <a:buAutoNum type="arabicPeriod"/>
            </a:pPr>
            <a:r>
              <a:rPr lang="nb-NO" sz="1200" b="1" i="0" kern="1200" dirty="0">
                <a:solidFill>
                  <a:schemeClr val="tx1"/>
                </a:solidFill>
                <a:effectLst/>
                <a:latin typeface="+mn-lt"/>
                <a:ea typeface="+mn-ea"/>
                <a:cs typeface="+mn-cs"/>
              </a:rPr>
              <a:t>Funksjonalitet</a:t>
            </a:r>
          </a:p>
          <a:p>
            <a:pPr marL="228600" indent="-228600">
              <a:buAutoNum type="arabicPeriod"/>
            </a:pPr>
            <a:r>
              <a:rPr lang="nb-NO" sz="1200" b="1" i="0" kern="1200" dirty="0">
                <a:solidFill>
                  <a:schemeClr val="tx1"/>
                </a:solidFill>
                <a:effectLst/>
                <a:latin typeface="+mn-lt"/>
                <a:ea typeface="+mn-ea"/>
                <a:cs typeface="+mn-cs"/>
              </a:rPr>
              <a:t>Interaktivitet</a:t>
            </a:r>
          </a:p>
          <a:p>
            <a:pPr marL="228600" indent="-228600">
              <a:buAutoNum type="arabicPeriod"/>
            </a:pPr>
            <a:r>
              <a:rPr lang="nb-NO" sz="1200" b="1" i="0" kern="1200" dirty="0">
                <a:solidFill>
                  <a:schemeClr val="tx1"/>
                </a:solidFill>
                <a:effectLst/>
                <a:latin typeface="+mn-lt"/>
                <a:ea typeface="+mn-ea"/>
                <a:cs typeface="+mn-cs"/>
              </a:rPr>
              <a:t>romlig struktur</a:t>
            </a:r>
          </a:p>
          <a:p>
            <a:pPr marL="0" indent="0">
              <a:buNone/>
            </a:pPr>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Klasser og kompromisser:</a:t>
            </a:r>
          </a:p>
          <a:p>
            <a:pPr marL="171450" indent="-171450">
              <a:buFont typeface="Arial" panose="020B0604020202020204" pitchFamily="34" charset="0"/>
              <a:buChar char="•"/>
            </a:pPr>
            <a:r>
              <a:rPr lang="nb-NO" sz="1200" b="1" i="0" kern="1200" dirty="0">
                <a:solidFill>
                  <a:schemeClr val="tx1"/>
                </a:solidFill>
                <a:effectLst/>
                <a:latin typeface="+mn-lt"/>
                <a:ea typeface="+mn-ea"/>
                <a:cs typeface="+mn-cs"/>
              </a:rPr>
              <a:t>Horisontal prototyper</a:t>
            </a:r>
            <a:r>
              <a:rPr lang="nb-NO" sz="1200" b="0" i="0" kern="1200" dirty="0">
                <a:solidFill>
                  <a:schemeClr val="tx1"/>
                </a:solidFill>
                <a:effectLst/>
                <a:latin typeface="+mn-lt"/>
                <a:ea typeface="+mn-ea"/>
                <a:cs typeface="+mn-cs"/>
              </a:rPr>
              <a:t>: lite </a:t>
            </a:r>
            <a:r>
              <a:rPr lang="nb-NO" sz="1200" b="0" i="0" kern="1200" dirty="0" err="1">
                <a:solidFill>
                  <a:schemeClr val="tx1"/>
                </a:solidFill>
                <a:effectLst/>
                <a:latin typeface="+mn-lt"/>
                <a:ea typeface="+mn-ea"/>
                <a:cs typeface="+mn-cs"/>
              </a:rPr>
              <a:t>dypde</a:t>
            </a:r>
            <a:r>
              <a:rPr lang="nb-NO" sz="1200" b="0" i="0" kern="1200" dirty="0">
                <a:solidFill>
                  <a:schemeClr val="tx1"/>
                </a:solidFill>
                <a:effectLst/>
                <a:latin typeface="+mn-lt"/>
                <a:ea typeface="+mn-ea"/>
                <a:cs typeface="+mn-cs"/>
              </a:rPr>
              <a:t> og brukes til høynivåpresentasjoner</a:t>
            </a:r>
          </a:p>
          <a:p>
            <a:pPr marL="171450" indent="-171450">
              <a:buFont typeface="Arial" panose="020B0604020202020204" pitchFamily="34" charset="0"/>
              <a:buChar char="•"/>
            </a:pPr>
            <a:r>
              <a:rPr lang="nb-NO" sz="1200" b="1" i="0" kern="1200" dirty="0">
                <a:solidFill>
                  <a:schemeClr val="tx1"/>
                </a:solidFill>
                <a:effectLst/>
                <a:latin typeface="+mn-lt"/>
                <a:ea typeface="+mn-ea"/>
                <a:cs typeface="+mn-cs"/>
              </a:rPr>
              <a:t>Vertikal prototype</a:t>
            </a:r>
            <a:r>
              <a:rPr lang="nb-NO" sz="1200" b="0" i="0" kern="1200" dirty="0">
                <a:solidFill>
                  <a:schemeClr val="tx1"/>
                </a:solidFill>
                <a:effectLst/>
                <a:latin typeface="+mn-lt"/>
                <a:ea typeface="+mn-ea"/>
                <a:cs typeface="+mn-cs"/>
              </a:rPr>
              <a:t>: mye </a:t>
            </a:r>
            <a:r>
              <a:rPr lang="nb-NO" sz="1200" b="0" i="0" kern="1200" dirty="0" err="1">
                <a:solidFill>
                  <a:schemeClr val="tx1"/>
                </a:solidFill>
                <a:effectLst/>
                <a:latin typeface="+mn-lt"/>
                <a:ea typeface="+mn-ea"/>
                <a:cs typeface="+mn-cs"/>
              </a:rPr>
              <a:t>dypde</a:t>
            </a:r>
            <a:endParaRPr lang="nb-NO" sz="1200" b="0" i="0" kern="1200" dirty="0">
              <a:solidFill>
                <a:schemeClr val="tx1"/>
              </a:solidFill>
              <a:effectLst/>
              <a:latin typeface="+mn-lt"/>
              <a:ea typeface="+mn-ea"/>
              <a:cs typeface="+mn-cs"/>
            </a:endParaRPr>
          </a:p>
          <a:p>
            <a:pPr marL="171450" indent="-171450">
              <a:buFontTx/>
              <a:buChar char="-"/>
            </a:pPr>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Aspekter ved utvikling av prototyper:</a:t>
            </a:r>
          </a:p>
          <a:p>
            <a:pPr marL="171450" lvl="0" indent="-171450">
              <a:buFont typeface="Arial" panose="020B0604020202020204" pitchFamily="34" charset="0"/>
              <a:buChar char="•"/>
            </a:pPr>
            <a:r>
              <a:rPr lang="nb-NO" sz="1200" b="1" i="0" kern="1200" dirty="0">
                <a:solidFill>
                  <a:schemeClr val="tx1"/>
                </a:solidFill>
                <a:effectLst/>
                <a:latin typeface="+mn-lt"/>
                <a:ea typeface="+mn-ea"/>
                <a:cs typeface="+mn-cs"/>
              </a:rPr>
              <a:t>Evolusjonære prototyper</a:t>
            </a:r>
          </a:p>
          <a:p>
            <a:pPr marL="171450" lvl="0" indent="-171450">
              <a:buFont typeface="Arial" panose="020B0604020202020204" pitchFamily="34" charset="0"/>
              <a:buChar char="•"/>
            </a:pPr>
            <a:r>
              <a:rPr lang="nb-NO" sz="1200" b="1" i="0" kern="1200" dirty="0">
                <a:solidFill>
                  <a:schemeClr val="tx1"/>
                </a:solidFill>
                <a:effectLst/>
                <a:latin typeface="+mn-lt"/>
                <a:ea typeface="+mn-ea"/>
                <a:cs typeface="+mn-cs"/>
              </a:rPr>
              <a:t>Bruk og kast</a:t>
            </a:r>
          </a:p>
          <a:p>
            <a:pPr marL="171450" lvl="0" indent="-171450">
              <a:buFont typeface="Arial" panose="020B0604020202020204" pitchFamily="34" charset="0"/>
              <a:buChar char="•"/>
            </a:pPr>
            <a:r>
              <a:rPr lang="nb-NO" sz="1200" b="1" i="0" kern="1200" dirty="0" err="1">
                <a:solidFill>
                  <a:schemeClr val="tx1"/>
                </a:solidFill>
                <a:effectLst/>
                <a:latin typeface="+mn-lt"/>
                <a:ea typeface="+mn-ea"/>
                <a:cs typeface="+mn-cs"/>
              </a:rPr>
              <a:t>Lavoppløslige</a:t>
            </a:r>
            <a:r>
              <a:rPr lang="nb-NO" sz="1200" b="1" i="0" kern="1200" dirty="0">
                <a:solidFill>
                  <a:schemeClr val="tx1"/>
                </a:solidFill>
                <a:effectLst/>
                <a:latin typeface="+mn-lt"/>
                <a:ea typeface="+mn-ea"/>
                <a:cs typeface="+mn-cs"/>
              </a:rPr>
              <a:t> prototyper</a:t>
            </a:r>
            <a:r>
              <a:rPr lang="nb-NO" sz="1200" b="0" i="0" kern="1200" dirty="0">
                <a:solidFill>
                  <a:schemeClr val="tx1"/>
                </a:solidFill>
                <a:effectLst/>
                <a:latin typeface="+mn-lt"/>
                <a:ea typeface="+mn-ea"/>
                <a:cs typeface="+mn-cs"/>
              </a:rPr>
              <a:t>: lite interaksjon</a:t>
            </a:r>
          </a:p>
          <a:p>
            <a:pPr marL="171450" lvl="0" indent="-171450">
              <a:buFont typeface="Arial" panose="020B0604020202020204" pitchFamily="34" charset="0"/>
              <a:buChar char="•"/>
            </a:pPr>
            <a:r>
              <a:rPr lang="nb-NO" sz="1200" b="1" i="0" kern="1200" dirty="0" err="1">
                <a:solidFill>
                  <a:schemeClr val="tx1"/>
                </a:solidFill>
                <a:effectLst/>
                <a:latin typeface="+mn-lt"/>
                <a:ea typeface="+mn-ea"/>
                <a:cs typeface="+mn-cs"/>
              </a:rPr>
              <a:t>Høyoppløslige</a:t>
            </a:r>
            <a:r>
              <a:rPr lang="nb-NO" sz="1200" b="1" i="0" kern="1200" dirty="0">
                <a:solidFill>
                  <a:schemeClr val="tx1"/>
                </a:solidFill>
                <a:effectLst/>
                <a:latin typeface="+mn-lt"/>
                <a:ea typeface="+mn-ea"/>
                <a:cs typeface="+mn-cs"/>
              </a:rPr>
              <a:t> prototyper</a:t>
            </a:r>
            <a:r>
              <a:rPr lang="nb-NO" sz="1200" b="0" i="0" kern="1200" dirty="0">
                <a:solidFill>
                  <a:schemeClr val="tx1"/>
                </a:solidFill>
                <a:effectLst/>
                <a:latin typeface="+mn-lt"/>
                <a:ea typeface="+mn-ea"/>
                <a:cs typeface="+mn-cs"/>
              </a:rPr>
              <a:t>: mye interaksjon</a:t>
            </a:r>
          </a:p>
          <a:p>
            <a:pPr marL="0" indent="0">
              <a:buFontTx/>
              <a:buNone/>
            </a:pPr>
            <a:endParaRPr lang="nb-NO" sz="1200" b="0" i="0" kern="1200" dirty="0">
              <a:solidFill>
                <a:schemeClr val="tx1"/>
              </a:solidFill>
              <a:effectLst/>
              <a:latin typeface="+mn-lt"/>
              <a:ea typeface="+mn-ea"/>
              <a:cs typeface="+mn-cs"/>
            </a:endParaRPr>
          </a:p>
        </p:txBody>
      </p:sp>
      <p:sp>
        <p:nvSpPr>
          <p:cNvPr id="4" name="Plassholder for lysbildenummer 3">
            <a:extLst>
              <a:ext uri="{FF2B5EF4-FFF2-40B4-BE49-F238E27FC236}">
                <a16:creationId xmlns:a16="http://schemas.microsoft.com/office/drawing/2014/main" id="{8CEDC831-AE07-422E-9181-A9D7DCE1D973}"/>
              </a:ext>
            </a:extLst>
          </p:cNvPr>
          <p:cNvSpPr>
            <a:spLocks noGrp="1"/>
          </p:cNvSpPr>
          <p:nvPr>
            <p:ph type="sldNum" sz="quarter" idx="5"/>
          </p:nvPr>
        </p:nvSpPr>
        <p:spPr/>
        <p:txBody>
          <a:bodyPr/>
          <a:lstStyle/>
          <a:p>
            <a:fld id="{ED8CD5F7-2931-42C6-9B3E-A6C700901896}" type="slidenum">
              <a:rPr lang="nb-NO" smtClean="0"/>
              <a:t>4</a:t>
            </a:fld>
            <a:endParaRPr lang="nb-NO"/>
          </a:p>
        </p:txBody>
      </p:sp>
    </p:spTree>
    <p:extLst>
      <p:ext uri="{BB962C8B-B14F-4D97-AF65-F5344CB8AC3E}">
        <p14:creationId xmlns:p14="http://schemas.microsoft.com/office/powerpoint/2010/main" val="20506765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2D2EC-8A5E-00D0-F1F7-C615C6FEA83C}"/>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7994A0EC-2BC5-C13E-18EC-CF933CEB1189}"/>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F2571AEE-3B6A-09A1-620E-C4E73F7208FC}"/>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Er å finne verdien av noe. Bredt begrep som inkluderer: tester, formelle modeller, gjennomgang, prototyper</a:t>
            </a:r>
          </a:p>
          <a:p>
            <a:br>
              <a:rPr lang="nb-NO" sz="1200" b="0" i="0" kern="1200" dirty="0">
                <a:solidFill>
                  <a:schemeClr val="tx1"/>
                </a:solidFill>
                <a:effectLst/>
                <a:latin typeface="+mn-lt"/>
                <a:ea typeface="+mn-ea"/>
                <a:cs typeface="+mn-cs"/>
              </a:rPr>
            </a:br>
            <a:r>
              <a:rPr lang="nb-NO" sz="1200" b="0" i="0" kern="1200" dirty="0">
                <a:solidFill>
                  <a:schemeClr val="tx1"/>
                </a:solidFill>
                <a:effectLst/>
                <a:latin typeface="+mn-lt"/>
                <a:ea typeface="+mn-ea"/>
                <a:cs typeface="+mn-cs"/>
              </a:rPr>
              <a:t>Testing </a:t>
            </a:r>
            <a:r>
              <a:rPr lang="nb-NO" sz="1200" b="0" i="0" kern="1200" dirty="0" err="1">
                <a:solidFill>
                  <a:schemeClr val="tx1"/>
                </a:solidFill>
                <a:effectLst/>
                <a:latin typeface="+mn-lt"/>
                <a:ea typeface="+mn-ea"/>
                <a:cs typeface="+mn-cs"/>
              </a:rPr>
              <a:t>vs</a:t>
            </a:r>
            <a:r>
              <a:rPr lang="nb-NO" sz="1200" b="0" i="0" kern="1200" dirty="0">
                <a:solidFill>
                  <a:schemeClr val="tx1"/>
                </a:solidFill>
                <a:effectLst/>
                <a:latin typeface="+mn-lt"/>
                <a:ea typeface="+mn-ea"/>
                <a:cs typeface="+mn-cs"/>
              </a:rPr>
              <a:t> Evaluering:</a:t>
            </a:r>
          </a:p>
          <a:p>
            <a:pPr marL="171450" indent="-171450">
              <a:buFont typeface="Arial" panose="020B0604020202020204" pitchFamily="34" charset="0"/>
              <a:buChar char="•"/>
            </a:pPr>
            <a:r>
              <a:rPr lang="nb-NO" sz="1200" b="1" i="0" kern="1200" dirty="0">
                <a:solidFill>
                  <a:schemeClr val="tx1"/>
                </a:solidFill>
                <a:effectLst/>
                <a:latin typeface="+mn-lt"/>
                <a:ea typeface="+mn-ea"/>
                <a:cs typeface="+mn-cs"/>
              </a:rPr>
              <a:t>Testing:</a:t>
            </a:r>
            <a:r>
              <a:rPr lang="nb-NO" sz="1200" b="0" i="0" kern="1200" dirty="0">
                <a:solidFill>
                  <a:schemeClr val="tx1"/>
                </a:solidFill>
                <a:effectLst/>
                <a:latin typeface="+mn-lt"/>
                <a:ea typeface="+mn-ea"/>
                <a:cs typeface="+mn-cs"/>
              </a:rPr>
              <a:t> Avdekke feil (verifisering – </a:t>
            </a:r>
            <a:r>
              <a:rPr lang="nb-NO" sz="1200" b="0" i="1" kern="1200" dirty="0" err="1">
                <a:solidFill>
                  <a:schemeClr val="tx1"/>
                </a:solidFill>
                <a:effectLst/>
                <a:latin typeface="+mn-lt"/>
                <a:ea typeface="+mn-ea"/>
                <a:cs typeface="+mn-cs"/>
              </a:rPr>
              <a:t>are</a:t>
            </a:r>
            <a:r>
              <a:rPr lang="nb-NO" sz="1200" b="0" i="1" kern="1200" dirty="0">
                <a:solidFill>
                  <a:schemeClr val="tx1"/>
                </a:solidFill>
                <a:effectLst/>
                <a:latin typeface="+mn-lt"/>
                <a:ea typeface="+mn-ea"/>
                <a:cs typeface="+mn-cs"/>
              </a:rPr>
              <a:t> </a:t>
            </a:r>
            <a:r>
              <a:rPr lang="nb-NO" sz="1200" b="0" i="1" kern="1200" dirty="0" err="1">
                <a:solidFill>
                  <a:schemeClr val="tx1"/>
                </a:solidFill>
                <a:effectLst/>
                <a:latin typeface="+mn-lt"/>
                <a:ea typeface="+mn-ea"/>
                <a:cs typeface="+mn-cs"/>
              </a:rPr>
              <a:t>we</a:t>
            </a:r>
            <a:r>
              <a:rPr lang="nb-NO" sz="1200" b="0" i="1" kern="1200" dirty="0">
                <a:solidFill>
                  <a:schemeClr val="tx1"/>
                </a:solidFill>
                <a:effectLst/>
                <a:latin typeface="+mn-lt"/>
                <a:ea typeface="+mn-ea"/>
                <a:cs typeface="+mn-cs"/>
              </a:rPr>
              <a:t> </a:t>
            </a:r>
            <a:r>
              <a:rPr lang="nb-NO" sz="1200" b="0" i="1" kern="1200" dirty="0" err="1">
                <a:solidFill>
                  <a:schemeClr val="tx1"/>
                </a:solidFill>
                <a:effectLst/>
                <a:latin typeface="+mn-lt"/>
                <a:ea typeface="+mn-ea"/>
                <a:cs typeface="+mn-cs"/>
              </a:rPr>
              <a:t>building</a:t>
            </a:r>
            <a:r>
              <a:rPr lang="nb-NO" sz="1200" b="0" i="1" kern="1200" dirty="0">
                <a:solidFill>
                  <a:schemeClr val="tx1"/>
                </a:solidFill>
                <a:effectLst/>
                <a:latin typeface="+mn-lt"/>
                <a:ea typeface="+mn-ea"/>
                <a:cs typeface="+mn-cs"/>
              </a:rPr>
              <a:t> </a:t>
            </a:r>
            <a:r>
              <a:rPr lang="nb-NO" sz="1200" b="0" i="1" kern="1200" dirty="0" err="1">
                <a:solidFill>
                  <a:schemeClr val="tx1"/>
                </a:solidFill>
                <a:effectLst/>
                <a:latin typeface="+mn-lt"/>
                <a:ea typeface="+mn-ea"/>
                <a:cs typeface="+mn-cs"/>
              </a:rPr>
              <a:t>the</a:t>
            </a:r>
            <a:r>
              <a:rPr lang="nb-NO" sz="1200" b="0" i="1" kern="1200" dirty="0">
                <a:solidFill>
                  <a:schemeClr val="tx1"/>
                </a:solidFill>
                <a:effectLst/>
                <a:latin typeface="+mn-lt"/>
                <a:ea typeface="+mn-ea"/>
                <a:cs typeface="+mn-cs"/>
              </a:rPr>
              <a:t> </a:t>
            </a:r>
            <a:r>
              <a:rPr lang="nb-NO" sz="1200" b="0" i="1" kern="1200" dirty="0" err="1">
                <a:solidFill>
                  <a:schemeClr val="tx1"/>
                </a:solidFill>
                <a:effectLst/>
                <a:latin typeface="+mn-lt"/>
                <a:ea typeface="+mn-ea"/>
                <a:cs typeface="+mn-cs"/>
              </a:rPr>
              <a:t>product</a:t>
            </a:r>
            <a:r>
              <a:rPr lang="nb-NO" sz="1200" b="0" i="1" kern="1200" dirty="0">
                <a:solidFill>
                  <a:schemeClr val="tx1"/>
                </a:solidFill>
                <a:effectLst/>
                <a:latin typeface="+mn-lt"/>
                <a:ea typeface="+mn-ea"/>
                <a:cs typeface="+mn-cs"/>
              </a:rPr>
              <a:t> right?</a:t>
            </a:r>
            <a:r>
              <a:rPr lang="nb-NO" sz="1200" b="0" i="0" kern="1200" dirty="0">
                <a:solidFill>
                  <a:schemeClr val="tx1"/>
                </a:solidFill>
                <a:effectLst/>
                <a:latin typeface="+mn-lt"/>
                <a:ea typeface="+mn-ea"/>
                <a:cs typeface="+mn-cs"/>
              </a:rPr>
              <a:t>)</a:t>
            </a:r>
          </a:p>
          <a:p>
            <a:pPr marL="171450" indent="-171450">
              <a:buFont typeface="Arial" panose="020B0604020202020204" pitchFamily="34" charset="0"/>
              <a:buChar char="•"/>
            </a:pPr>
            <a:r>
              <a:rPr lang="nb-NO" sz="1200" b="1" i="0" kern="1200" dirty="0">
                <a:solidFill>
                  <a:schemeClr val="tx1"/>
                </a:solidFill>
                <a:effectLst/>
                <a:latin typeface="+mn-lt"/>
                <a:ea typeface="+mn-ea"/>
                <a:cs typeface="+mn-cs"/>
              </a:rPr>
              <a:t>Evaluering:</a:t>
            </a:r>
            <a:r>
              <a:rPr lang="nb-NO" sz="1200" b="0" i="0" kern="1200" dirty="0">
                <a:solidFill>
                  <a:schemeClr val="tx1"/>
                </a:solidFill>
                <a:effectLst/>
                <a:latin typeface="+mn-lt"/>
                <a:ea typeface="+mn-ea"/>
                <a:cs typeface="+mn-cs"/>
              </a:rPr>
              <a:t> Vurdere nytteverdi/brukeropplevelse (validering – </a:t>
            </a:r>
            <a:r>
              <a:rPr lang="nb-NO" sz="1200" b="0" i="1" kern="1200" dirty="0" err="1">
                <a:solidFill>
                  <a:schemeClr val="tx1"/>
                </a:solidFill>
                <a:effectLst/>
                <a:latin typeface="+mn-lt"/>
                <a:ea typeface="+mn-ea"/>
                <a:cs typeface="+mn-cs"/>
              </a:rPr>
              <a:t>are</a:t>
            </a:r>
            <a:r>
              <a:rPr lang="nb-NO" sz="1200" b="0" i="1" kern="1200" dirty="0">
                <a:solidFill>
                  <a:schemeClr val="tx1"/>
                </a:solidFill>
                <a:effectLst/>
                <a:latin typeface="+mn-lt"/>
                <a:ea typeface="+mn-ea"/>
                <a:cs typeface="+mn-cs"/>
              </a:rPr>
              <a:t> </a:t>
            </a:r>
            <a:r>
              <a:rPr lang="nb-NO" sz="1200" b="0" i="1" kern="1200" dirty="0" err="1">
                <a:solidFill>
                  <a:schemeClr val="tx1"/>
                </a:solidFill>
                <a:effectLst/>
                <a:latin typeface="+mn-lt"/>
                <a:ea typeface="+mn-ea"/>
                <a:cs typeface="+mn-cs"/>
              </a:rPr>
              <a:t>we</a:t>
            </a:r>
            <a:r>
              <a:rPr lang="nb-NO" sz="1200" b="0" i="1" kern="1200" dirty="0">
                <a:solidFill>
                  <a:schemeClr val="tx1"/>
                </a:solidFill>
                <a:effectLst/>
                <a:latin typeface="+mn-lt"/>
                <a:ea typeface="+mn-ea"/>
                <a:cs typeface="+mn-cs"/>
              </a:rPr>
              <a:t> </a:t>
            </a:r>
            <a:r>
              <a:rPr lang="nb-NO" sz="1200" b="0" i="1" kern="1200" dirty="0" err="1">
                <a:solidFill>
                  <a:schemeClr val="tx1"/>
                </a:solidFill>
                <a:effectLst/>
                <a:latin typeface="+mn-lt"/>
                <a:ea typeface="+mn-ea"/>
                <a:cs typeface="+mn-cs"/>
              </a:rPr>
              <a:t>building</a:t>
            </a:r>
            <a:r>
              <a:rPr lang="nb-NO" sz="1200" b="0" i="1" kern="1200" dirty="0">
                <a:solidFill>
                  <a:schemeClr val="tx1"/>
                </a:solidFill>
                <a:effectLst/>
                <a:latin typeface="+mn-lt"/>
                <a:ea typeface="+mn-ea"/>
                <a:cs typeface="+mn-cs"/>
              </a:rPr>
              <a:t> </a:t>
            </a:r>
            <a:r>
              <a:rPr lang="nb-NO" sz="1200" b="0" i="1" kern="1200" dirty="0" err="1">
                <a:solidFill>
                  <a:schemeClr val="tx1"/>
                </a:solidFill>
                <a:effectLst/>
                <a:latin typeface="+mn-lt"/>
                <a:ea typeface="+mn-ea"/>
                <a:cs typeface="+mn-cs"/>
              </a:rPr>
              <a:t>the</a:t>
            </a:r>
            <a:r>
              <a:rPr lang="nb-NO" sz="1200" b="0" i="1" kern="1200" dirty="0">
                <a:solidFill>
                  <a:schemeClr val="tx1"/>
                </a:solidFill>
                <a:effectLst/>
                <a:latin typeface="+mn-lt"/>
                <a:ea typeface="+mn-ea"/>
                <a:cs typeface="+mn-cs"/>
              </a:rPr>
              <a:t> right </a:t>
            </a:r>
            <a:r>
              <a:rPr lang="nb-NO" sz="1200" b="0" i="1" kern="1200" dirty="0" err="1">
                <a:solidFill>
                  <a:schemeClr val="tx1"/>
                </a:solidFill>
                <a:effectLst/>
                <a:latin typeface="+mn-lt"/>
                <a:ea typeface="+mn-ea"/>
                <a:cs typeface="+mn-cs"/>
              </a:rPr>
              <a:t>product</a:t>
            </a:r>
            <a:r>
              <a:rPr lang="nb-NO" sz="1200" b="0" i="1" kern="1200" dirty="0">
                <a:solidFill>
                  <a:schemeClr val="tx1"/>
                </a:solidFill>
                <a:effectLst/>
                <a:latin typeface="+mn-lt"/>
                <a:ea typeface="+mn-ea"/>
                <a:cs typeface="+mn-cs"/>
              </a:rPr>
              <a:t>?</a:t>
            </a:r>
            <a:r>
              <a:rPr lang="nb-NO" sz="1200" b="0" i="0" kern="1200" dirty="0">
                <a:solidFill>
                  <a:schemeClr val="tx1"/>
                </a:solidFill>
                <a:effectLst/>
                <a:latin typeface="+mn-lt"/>
                <a:ea typeface="+mn-ea"/>
                <a:cs typeface="+mn-cs"/>
              </a:rPr>
              <a:t>). Inkluderer også testing.</a:t>
            </a:r>
            <a:br>
              <a:rPr lang="nb-NO" sz="1200" b="0" i="0" kern="1200" dirty="0">
                <a:solidFill>
                  <a:schemeClr val="tx1"/>
                </a:solidFill>
                <a:effectLst/>
                <a:latin typeface="+mn-lt"/>
                <a:ea typeface="+mn-ea"/>
                <a:cs typeface="+mn-cs"/>
              </a:rPr>
            </a:br>
            <a:r>
              <a:rPr lang="nb-NO" sz="1200" b="0" i="0" kern="1200" dirty="0">
                <a:solidFill>
                  <a:schemeClr val="tx1"/>
                </a:solidFill>
                <a:effectLst/>
                <a:latin typeface="+mn-lt"/>
                <a:ea typeface="+mn-ea"/>
                <a:cs typeface="+mn-cs"/>
              </a:rPr>
              <a:t>Alt som kan gi brukeren en idé om den endelige løsningen kan evalueres.</a:t>
            </a:r>
          </a:p>
          <a:p>
            <a:endParaRPr lang="nb-NO" sz="1200" b="1"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Evalueringsformer:</a:t>
            </a:r>
          </a:p>
          <a:p>
            <a:pPr marL="171450" lvl="0" indent="-171450">
              <a:buFont typeface="Arial" panose="020B0604020202020204" pitchFamily="34" charset="0"/>
              <a:buChar char="•"/>
            </a:pPr>
            <a:r>
              <a:rPr lang="nb-NO" sz="1200" b="1" i="0" kern="1200" dirty="0">
                <a:solidFill>
                  <a:schemeClr val="tx1"/>
                </a:solidFill>
                <a:effectLst/>
                <a:latin typeface="+mn-lt"/>
                <a:ea typeface="+mn-ea"/>
                <a:cs typeface="+mn-cs"/>
              </a:rPr>
              <a:t>Formativ</a:t>
            </a:r>
            <a:r>
              <a:rPr lang="nb-NO" sz="1200" b="0" i="0" kern="1200" dirty="0">
                <a:solidFill>
                  <a:schemeClr val="tx1"/>
                </a:solidFill>
                <a:effectLst/>
                <a:latin typeface="+mn-lt"/>
                <a:ea typeface="+mn-ea"/>
                <a:cs typeface="+mn-cs"/>
              </a:rPr>
              <a:t>: man gjør en evaluering for å påvirke utviklingen og sikre at designende man jobber med oppfyller kravene, utføres underveis.</a:t>
            </a:r>
          </a:p>
          <a:p>
            <a:pPr marL="171450" lvl="0" indent="-171450">
              <a:buFont typeface="Arial" panose="020B0604020202020204" pitchFamily="34" charset="0"/>
              <a:buChar char="•"/>
            </a:pPr>
            <a:r>
              <a:rPr lang="nb-NO" sz="1200" b="1" i="0" kern="1200" dirty="0">
                <a:solidFill>
                  <a:schemeClr val="tx1"/>
                </a:solidFill>
                <a:effectLst/>
                <a:latin typeface="+mn-lt"/>
                <a:ea typeface="+mn-ea"/>
                <a:cs typeface="+mn-cs"/>
              </a:rPr>
              <a:t>Summativ</a:t>
            </a:r>
            <a:r>
              <a:rPr lang="nb-NO" sz="1200" b="0" i="0" kern="1200" dirty="0">
                <a:solidFill>
                  <a:schemeClr val="tx1"/>
                </a:solidFill>
                <a:effectLst/>
                <a:latin typeface="+mn-lt"/>
                <a:ea typeface="+mn-ea"/>
                <a:cs typeface="+mn-cs"/>
              </a:rPr>
              <a:t>: evaluering av sluttproduktet</a:t>
            </a:r>
          </a:p>
          <a:p>
            <a:endParaRPr lang="nb-NO" sz="1200" b="1"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Evaluering som involverer brukere</a:t>
            </a:r>
          </a:p>
          <a:p>
            <a:pPr marL="171450" lvl="0" indent="-171450">
              <a:buFont typeface="Arial" panose="020B0604020202020204" pitchFamily="34" charset="0"/>
              <a:buChar char="•"/>
            </a:pPr>
            <a:r>
              <a:rPr lang="nb-NO" sz="1200" b="1" i="0" kern="1200" dirty="0">
                <a:solidFill>
                  <a:schemeClr val="tx1"/>
                </a:solidFill>
                <a:effectLst/>
                <a:latin typeface="+mn-lt"/>
                <a:ea typeface="+mn-ea"/>
                <a:cs typeface="+mn-cs"/>
              </a:rPr>
              <a:t>Brukertester</a:t>
            </a:r>
            <a:r>
              <a:rPr lang="nb-NO" sz="1200" b="0" i="0" kern="1200" dirty="0">
                <a:solidFill>
                  <a:schemeClr val="tx1"/>
                </a:solidFill>
                <a:effectLst/>
                <a:latin typeface="+mn-lt"/>
                <a:ea typeface="+mn-ea"/>
                <a:cs typeface="+mn-cs"/>
              </a:rPr>
              <a:t> - lar en bruker bruke produktet i kontrollerte omgivelser og observer hva som blir brukt, feil, interaksjoner osv.</a:t>
            </a:r>
          </a:p>
          <a:p>
            <a:pPr marL="171450" lvl="0" indent="-171450">
              <a:buFont typeface="Arial" panose="020B0604020202020204" pitchFamily="34" charset="0"/>
              <a:buChar char="•"/>
            </a:pPr>
            <a:r>
              <a:rPr lang="nb-NO" sz="1200" b="1" i="0" kern="1200" dirty="0">
                <a:solidFill>
                  <a:schemeClr val="tx1"/>
                </a:solidFill>
                <a:effectLst/>
                <a:latin typeface="+mn-lt"/>
                <a:ea typeface="+mn-ea"/>
                <a:cs typeface="+mn-cs"/>
              </a:rPr>
              <a:t>A/B tester </a:t>
            </a:r>
            <a:r>
              <a:rPr lang="nb-NO" sz="1200" b="0" i="0" kern="1200" dirty="0">
                <a:solidFill>
                  <a:schemeClr val="tx1"/>
                </a:solidFill>
                <a:effectLst/>
                <a:latin typeface="+mn-lt"/>
                <a:ea typeface="+mn-ea"/>
                <a:cs typeface="+mn-cs"/>
              </a:rPr>
              <a:t>- lager to eller flere varianter av et design, presenterer brukere for en tilfeldig variant og ser hvilken variant som presterer best</a:t>
            </a:r>
          </a:p>
          <a:p>
            <a:pPr marL="171450" lvl="0" indent="-171450">
              <a:buFont typeface="Arial" panose="020B0604020202020204" pitchFamily="34" charset="0"/>
              <a:buChar char="•"/>
            </a:pPr>
            <a:r>
              <a:rPr lang="nb-NO" sz="1200" b="1" i="0" kern="1200" dirty="0">
                <a:solidFill>
                  <a:schemeClr val="tx1"/>
                </a:solidFill>
                <a:effectLst/>
                <a:latin typeface="+mn-lt"/>
                <a:ea typeface="+mn-ea"/>
                <a:cs typeface="+mn-cs"/>
              </a:rPr>
              <a:t>Feltstudier</a:t>
            </a:r>
            <a:r>
              <a:rPr lang="nb-NO" sz="1200" b="0" i="0" kern="1200" dirty="0">
                <a:solidFill>
                  <a:schemeClr val="tx1"/>
                </a:solidFill>
                <a:effectLst/>
                <a:latin typeface="+mn-lt"/>
                <a:ea typeface="+mn-ea"/>
                <a:cs typeface="+mn-cs"/>
              </a:rPr>
              <a:t> - naturlige omgivelser</a:t>
            </a:r>
          </a:p>
          <a:p>
            <a:pPr marL="171450" lvl="0" indent="-171450">
              <a:buFont typeface="Arial" panose="020B0604020202020204" pitchFamily="34" charset="0"/>
              <a:buChar char="•"/>
            </a:pPr>
            <a:r>
              <a:rPr lang="nb-NO" sz="1200" b="1" i="0" kern="1200" dirty="0">
                <a:solidFill>
                  <a:schemeClr val="tx1"/>
                </a:solidFill>
                <a:effectLst/>
                <a:latin typeface="+mn-lt"/>
                <a:ea typeface="+mn-ea"/>
                <a:cs typeface="+mn-cs"/>
              </a:rPr>
              <a:t>Opportunistiske</a:t>
            </a:r>
            <a:r>
              <a:rPr lang="nb-NO" sz="1200" b="0" i="0" kern="1200" dirty="0">
                <a:solidFill>
                  <a:schemeClr val="tx1"/>
                </a:solidFill>
                <a:effectLst/>
                <a:latin typeface="+mn-lt"/>
                <a:ea typeface="+mn-ea"/>
                <a:cs typeface="+mn-cs"/>
              </a:rPr>
              <a:t> </a:t>
            </a:r>
            <a:r>
              <a:rPr lang="nb-NO" sz="1200" b="1" i="0" kern="1200" dirty="0">
                <a:solidFill>
                  <a:schemeClr val="tx1"/>
                </a:solidFill>
                <a:effectLst/>
                <a:latin typeface="+mn-lt"/>
                <a:ea typeface="+mn-ea"/>
                <a:cs typeface="+mn-cs"/>
              </a:rPr>
              <a:t>evaluering</a:t>
            </a:r>
            <a:r>
              <a:rPr lang="nb-NO" sz="1200" b="0" i="0" kern="1200" dirty="0">
                <a:solidFill>
                  <a:schemeClr val="tx1"/>
                </a:solidFill>
                <a:effectLst/>
                <a:latin typeface="+mn-lt"/>
                <a:ea typeface="+mn-ea"/>
                <a:cs typeface="+mn-cs"/>
              </a:rPr>
              <a:t> - en bruker gi tilbakemelding på en spesifikk ide eller problemstilling</a:t>
            </a:r>
          </a:p>
          <a:p>
            <a:pPr lvl="1"/>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Evaluering som ikke involverer brukere</a:t>
            </a:r>
          </a:p>
          <a:p>
            <a:pPr marL="171450" lvl="0" indent="-171450">
              <a:buFont typeface="Arial" panose="020B0604020202020204" pitchFamily="34" charset="0"/>
              <a:buChar char="•"/>
            </a:pPr>
            <a:r>
              <a:rPr lang="nb-NO" sz="1200" b="1" i="0" kern="1200" dirty="0">
                <a:solidFill>
                  <a:schemeClr val="tx1"/>
                </a:solidFill>
                <a:effectLst/>
                <a:latin typeface="+mn-lt"/>
                <a:ea typeface="+mn-ea"/>
                <a:cs typeface="+mn-cs"/>
              </a:rPr>
              <a:t>Heuristiske</a:t>
            </a:r>
            <a:r>
              <a:rPr lang="nb-NO" sz="1200" b="0" i="0" kern="1200" dirty="0">
                <a:solidFill>
                  <a:schemeClr val="tx1"/>
                </a:solidFill>
                <a:effectLst/>
                <a:latin typeface="+mn-lt"/>
                <a:ea typeface="+mn-ea"/>
                <a:cs typeface="+mn-cs"/>
              </a:rPr>
              <a:t> </a:t>
            </a:r>
            <a:r>
              <a:rPr lang="nb-NO" sz="1200" b="1" i="0" kern="1200" dirty="0">
                <a:solidFill>
                  <a:schemeClr val="tx1"/>
                </a:solidFill>
                <a:effectLst/>
                <a:latin typeface="+mn-lt"/>
                <a:ea typeface="+mn-ea"/>
                <a:cs typeface="+mn-cs"/>
              </a:rPr>
              <a:t>gjennomganger</a:t>
            </a:r>
            <a:r>
              <a:rPr lang="nb-NO" sz="1200" b="0" i="0" kern="1200" dirty="0">
                <a:solidFill>
                  <a:schemeClr val="tx1"/>
                </a:solidFill>
                <a:effectLst/>
                <a:latin typeface="+mn-lt"/>
                <a:ea typeface="+mn-ea"/>
                <a:cs typeface="+mn-cs"/>
              </a:rPr>
              <a:t> - evaluer produkt gjennom regler og retningslinjer for brukerkvalitet</a:t>
            </a:r>
          </a:p>
          <a:p>
            <a:pPr marL="171450" lvl="0" indent="-171450">
              <a:buFont typeface="Arial" panose="020B0604020202020204" pitchFamily="34" charset="0"/>
              <a:buChar char="•"/>
            </a:pPr>
            <a:r>
              <a:rPr lang="nb-NO" sz="1200" b="1" i="0" kern="1200" dirty="0">
                <a:solidFill>
                  <a:schemeClr val="tx1"/>
                </a:solidFill>
                <a:effectLst/>
                <a:latin typeface="+mn-lt"/>
                <a:ea typeface="+mn-ea"/>
                <a:cs typeface="+mn-cs"/>
              </a:rPr>
              <a:t>Pluralistiske</a:t>
            </a:r>
            <a:r>
              <a:rPr lang="nb-NO" sz="1200" b="0" i="0" kern="1200" dirty="0">
                <a:solidFill>
                  <a:schemeClr val="tx1"/>
                </a:solidFill>
                <a:effectLst/>
                <a:latin typeface="+mn-lt"/>
                <a:ea typeface="+mn-ea"/>
                <a:cs typeface="+mn-cs"/>
              </a:rPr>
              <a:t> </a:t>
            </a:r>
            <a:r>
              <a:rPr lang="nb-NO" sz="1200" b="1" i="0" kern="1200" dirty="0">
                <a:solidFill>
                  <a:schemeClr val="tx1"/>
                </a:solidFill>
                <a:effectLst/>
                <a:latin typeface="+mn-lt"/>
                <a:ea typeface="+mn-ea"/>
                <a:cs typeface="+mn-cs"/>
              </a:rPr>
              <a:t>gjennomganger</a:t>
            </a:r>
            <a:r>
              <a:rPr lang="nb-NO" sz="1200" b="0" i="0" kern="1200" dirty="0">
                <a:solidFill>
                  <a:schemeClr val="tx1"/>
                </a:solidFill>
                <a:effectLst/>
                <a:latin typeface="+mn-lt"/>
                <a:ea typeface="+mn-ea"/>
                <a:cs typeface="+mn-cs"/>
              </a:rPr>
              <a:t> - brukere, utviklere og brukerkvalitetseksperter jobber sammen gjennom viktige scenarioer</a:t>
            </a:r>
          </a:p>
          <a:p>
            <a:pPr marL="171450" lvl="0" indent="-171450">
              <a:buFont typeface="Arial" panose="020B0604020202020204" pitchFamily="34" charset="0"/>
              <a:buChar char="•"/>
            </a:pPr>
            <a:r>
              <a:rPr lang="nb-NO" sz="1200" b="1" i="0" kern="1200" dirty="0">
                <a:solidFill>
                  <a:schemeClr val="tx1"/>
                </a:solidFill>
                <a:effectLst/>
                <a:latin typeface="+mn-lt"/>
                <a:ea typeface="+mn-ea"/>
                <a:cs typeface="+mn-cs"/>
              </a:rPr>
              <a:t>Prediktive</a:t>
            </a:r>
            <a:r>
              <a:rPr lang="nb-NO" sz="1200" b="0" i="0" kern="1200" dirty="0">
                <a:solidFill>
                  <a:schemeClr val="tx1"/>
                </a:solidFill>
                <a:effectLst/>
                <a:latin typeface="+mn-lt"/>
                <a:ea typeface="+mn-ea"/>
                <a:cs typeface="+mn-cs"/>
              </a:rPr>
              <a:t> </a:t>
            </a:r>
            <a:r>
              <a:rPr lang="nb-NO" sz="1200" b="1" i="0" kern="1200" dirty="0">
                <a:solidFill>
                  <a:schemeClr val="tx1"/>
                </a:solidFill>
                <a:effectLst/>
                <a:latin typeface="+mn-lt"/>
                <a:ea typeface="+mn-ea"/>
                <a:cs typeface="+mn-cs"/>
              </a:rPr>
              <a:t>modeller</a:t>
            </a:r>
            <a:r>
              <a:rPr lang="nb-NO" sz="1200" b="0" i="0" kern="1200" dirty="0">
                <a:solidFill>
                  <a:schemeClr val="tx1"/>
                </a:solidFill>
                <a:effectLst/>
                <a:latin typeface="+mn-lt"/>
                <a:ea typeface="+mn-ea"/>
                <a:cs typeface="+mn-cs"/>
              </a:rPr>
              <a:t> - maskinlæringsmodeller som prøver å forutsi brukeropplevelse</a:t>
            </a:r>
          </a:p>
          <a:p>
            <a:pPr lvl="1"/>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Evalueringsmetoder (</a:t>
            </a:r>
            <a:r>
              <a:rPr lang="nb-NO" sz="1200" b="0" i="1" kern="1200" dirty="0">
                <a:solidFill>
                  <a:schemeClr val="tx1"/>
                </a:solidFill>
                <a:effectLst/>
                <a:latin typeface="+mn-lt"/>
                <a:ea typeface="+mn-ea"/>
                <a:cs typeface="+mn-cs"/>
              </a:rPr>
              <a:t>Metoder</a:t>
            </a:r>
            <a:r>
              <a:rPr lang="nb-NO" sz="1200" b="0" i="0" kern="1200" dirty="0">
                <a:solidFill>
                  <a:schemeClr val="tx1"/>
                </a:solidFill>
                <a:effectLst/>
                <a:latin typeface="+mn-lt"/>
                <a:ea typeface="+mn-ea"/>
                <a:cs typeface="+mn-cs"/>
              </a:rPr>
              <a:t>): </a:t>
            </a:r>
          </a:p>
          <a:p>
            <a:pPr marL="171450" indent="-171450">
              <a:buFont typeface="Arial" panose="020B0604020202020204" pitchFamily="34" charset="0"/>
              <a:buChar char="•"/>
            </a:pPr>
            <a:r>
              <a:rPr lang="nb-NO" sz="1200" b="1" i="0" kern="1200" dirty="0">
                <a:solidFill>
                  <a:schemeClr val="tx1"/>
                </a:solidFill>
                <a:effectLst/>
                <a:latin typeface="+mn-lt"/>
                <a:ea typeface="+mn-ea"/>
                <a:cs typeface="+mn-cs"/>
              </a:rPr>
              <a:t>Observasjon</a:t>
            </a:r>
          </a:p>
          <a:p>
            <a:pPr marL="171450" indent="-171450">
              <a:buFont typeface="Arial" panose="020B0604020202020204" pitchFamily="34" charset="0"/>
              <a:buChar char="•"/>
            </a:pPr>
            <a:r>
              <a:rPr lang="nb-NO" sz="1200" b="1" i="0" kern="1200" dirty="0">
                <a:solidFill>
                  <a:schemeClr val="tx1"/>
                </a:solidFill>
                <a:effectLst/>
                <a:latin typeface="+mn-lt"/>
                <a:ea typeface="+mn-ea"/>
                <a:cs typeface="+mn-cs"/>
              </a:rPr>
              <a:t>Spørre brukere</a:t>
            </a:r>
          </a:p>
          <a:p>
            <a:pPr marL="171450" indent="-171450">
              <a:buFont typeface="Arial" panose="020B0604020202020204" pitchFamily="34" charset="0"/>
              <a:buChar char="•"/>
            </a:pPr>
            <a:r>
              <a:rPr lang="nb-NO" sz="1200" b="1" i="0" kern="1200" dirty="0">
                <a:solidFill>
                  <a:schemeClr val="tx1"/>
                </a:solidFill>
                <a:effectLst/>
                <a:latin typeface="+mn-lt"/>
                <a:ea typeface="+mn-ea"/>
                <a:cs typeface="+mn-cs"/>
              </a:rPr>
              <a:t>Direkte testing</a:t>
            </a:r>
          </a:p>
          <a:p>
            <a:pPr marL="171450" indent="-171450">
              <a:buFont typeface="Arial" panose="020B0604020202020204" pitchFamily="34" charset="0"/>
              <a:buChar char="•"/>
            </a:pPr>
            <a:r>
              <a:rPr lang="nb-NO" sz="1200" b="1" i="0" kern="1200" dirty="0">
                <a:solidFill>
                  <a:schemeClr val="tx1"/>
                </a:solidFill>
                <a:effectLst/>
                <a:latin typeface="+mn-lt"/>
                <a:ea typeface="+mn-ea"/>
                <a:cs typeface="+mn-cs"/>
              </a:rPr>
              <a:t>Spørre eksperter</a:t>
            </a:r>
          </a:p>
          <a:p>
            <a:pPr marL="171450" indent="-171450">
              <a:buFont typeface="Arial" panose="020B0604020202020204" pitchFamily="34" charset="0"/>
              <a:buChar char="•"/>
            </a:pPr>
            <a:r>
              <a:rPr lang="nb-NO" sz="1200" b="1" i="0" kern="1200" dirty="0">
                <a:solidFill>
                  <a:schemeClr val="tx1"/>
                </a:solidFill>
                <a:effectLst/>
                <a:latin typeface="+mn-lt"/>
                <a:ea typeface="+mn-ea"/>
                <a:cs typeface="+mn-cs"/>
              </a:rPr>
              <a:t>modellere</a:t>
            </a:r>
          </a:p>
          <a:p>
            <a:pPr marL="171450" lvl="0" indent="-171450">
              <a:buFont typeface="Arial" panose="020B0604020202020204" pitchFamily="34" charset="0"/>
              <a:buChar char="•"/>
            </a:pPr>
            <a:endParaRPr lang="nb-NO" sz="1200" b="0" i="0" kern="1200" dirty="0">
              <a:solidFill>
                <a:schemeClr val="tx1"/>
              </a:solidFill>
              <a:effectLst/>
              <a:latin typeface="+mn-lt"/>
              <a:ea typeface="+mn-ea"/>
              <a:cs typeface="+mn-cs"/>
            </a:endParaRPr>
          </a:p>
          <a:p>
            <a:pPr marL="0" lvl="0" indent="0">
              <a:buFont typeface="Arial" panose="020B0604020202020204" pitchFamily="34" charset="0"/>
              <a:buNone/>
            </a:pPr>
            <a:r>
              <a:rPr lang="nb-NO" sz="1200" b="0" i="0" kern="1200" dirty="0">
                <a:solidFill>
                  <a:schemeClr val="tx1"/>
                </a:solidFill>
                <a:effectLst/>
                <a:latin typeface="+mn-lt"/>
                <a:ea typeface="+mn-ea"/>
                <a:cs typeface="+mn-cs"/>
              </a:rPr>
              <a:t>Evalueringsteknikker (</a:t>
            </a:r>
            <a:r>
              <a:rPr lang="nb-NO" sz="1200" b="0" i="1" kern="1200" dirty="0">
                <a:solidFill>
                  <a:schemeClr val="tx1"/>
                </a:solidFill>
                <a:effectLst/>
                <a:latin typeface="+mn-lt"/>
                <a:ea typeface="+mn-ea"/>
                <a:cs typeface="+mn-cs"/>
              </a:rPr>
              <a:t>Metoder for data</a:t>
            </a:r>
            <a:r>
              <a:rPr lang="nb-NO" sz="1200" b="0" i="0" kern="1200" dirty="0">
                <a:solidFill>
                  <a:schemeClr val="tx1"/>
                </a:solidFill>
                <a:effectLst/>
                <a:latin typeface="+mn-lt"/>
                <a:ea typeface="+mn-ea"/>
                <a:cs typeface="+mn-cs"/>
              </a:rPr>
              <a:t>):</a:t>
            </a:r>
          </a:p>
          <a:p>
            <a:pPr marL="171450" lvl="0" indent="-171450">
              <a:buFont typeface="Arial" panose="020B0604020202020204" pitchFamily="34" charset="0"/>
              <a:buChar char="•"/>
            </a:pPr>
            <a:r>
              <a:rPr lang="nb-NO" sz="1200" b="1" i="0" kern="1200" dirty="0">
                <a:solidFill>
                  <a:schemeClr val="tx1"/>
                </a:solidFill>
                <a:effectLst/>
                <a:latin typeface="+mn-lt"/>
                <a:ea typeface="+mn-ea"/>
                <a:cs typeface="+mn-cs"/>
              </a:rPr>
              <a:t>Kodevalidering</a:t>
            </a:r>
          </a:p>
          <a:p>
            <a:pPr marL="171450" lvl="0" indent="-171450">
              <a:buFont typeface="Arial" panose="020B0604020202020204" pitchFamily="34" charset="0"/>
              <a:buChar char="•"/>
            </a:pPr>
            <a:r>
              <a:rPr lang="nb-NO" sz="1200" b="1" i="0" kern="1200" dirty="0">
                <a:solidFill>
                  <a:schemeClr val="tx1"/>
                </a:solidFill>
                <a:effectLst/>
                <a:latin typeface="+mn-lt"/>
                <a:ea typeface="+mn-ea"/>
                <a:cs typeface="+mn-cs"/>
              </a:rPr>
              <a:t>Testing i forskjellige nettleser og på forskjellige plattformer</a:t>
            </a:r>
          </a:p>
          <a:p>
            <a:pPr marL="171450" lvl="0" indent="-171450">
              <a:buFont typeface="Arial" panose="020B0604020202020204" pitchFamily="34" charset="0"/>
              <a:buChar char="•"/>
            </a:pPr>
            <a:r>
              <a:rPr lang="nb-NO" sz="1200" b="1" i="0" kern="1200" dirty="0">
                <a:solidFill>
                  <a:schemeClr val="tx1"/>
                </a:solidFill>
                <a:effectLst/>
                <a:latin typeface="+mn-lt"/>
                <a:ea typeface="+mn-ea"/>
                <a:cs typeface="+mn-cs"/>
              </a:rPr>
              <a:t>Testing av fleksibiliteten til et design</a:t>
            </a:r>
          </a:p>
          <a:p>
            <a:pPr marL="171450" lvl="0" indent="-171450">
              <a:buFont typeface="Arial" panose="020B0604020202020204" pitchFamily="34" charset="0"/>
              <a:buChar char="•"/>
            </a:pPr>
            <a:r>
              <a:rPr lang="nb-NO" sz="1200" b="1" i="0" kern="1200" dirty="0">
                <a:solidFill>
                  <a:schemeClr val="tx1"/>
                </a:solidFill>
                <a:effectLst/>
                <a:latin typeface="+mn-lt"/>
                <a:ea typeface="+mn-ea"/>
                <a:cs typeface="+mn-cs"/>
              </a:rPr>
              <a:t>Testing av grad av universell utfordring og brukerkvalitet</a:t>
            </a:r>
          </a:p>
          <a:p>
            <a:pPr marL="171450" lvl="0" indent="-171450">
              <a:buFont typeface="Arial" panose="020B0604020202020204" pitchFamily="34" charset="0"/>
              <a:buChar char="•"/>
            </a:pPr>
            <a:r>
              <a:rPr lang="nb-NO" sz="1200" b="1" i="0" kern="1200" dirty="0">
                <a:solidFill>
                  <a:schemeClr val="tx1"/>
                </a:solidFill>
                <a:effectLst/>
                <a:latin typeface="+mn-lt"/>
                <a:ea typeface="+mn-ea"/>
                <a:cs typeface="+mn-cs"/>
              </a:rPr>
              <a:t>Testing av feilmeldinger</a:t>
            </a:r>
          </a:p>
        </p:txBody>
      </p:sp>
      <p:sp>
        <p:nvSpPr>
          <p:cNvPr id="4" name="Plassholder for lysbildenummer 3">
            <a:extLst>
              <a:ext uri="{FF2B5EF4-FFF2-40B4-BE49-F238E27FC236}">
                <a16:creationId xmlns:a16="http://schemas.microsoft.com/office/drawing/2014/main" id="{FC9E0B70-D471-3512-5E6C-0763B2C21D45}"/>
              </a:ext>
            </a:extLst>
          </p:cNvPr>
          <p:cNvSpPr>
            <a:spLocks noGrp="1"/>
          </p:cNvSpPr>
          <p:nvPr>
            <p:ph type="sldNum" sz="quarter" idx="5"/>
          </p:nvPr>
        </p:nvSpPr>
        <p:spPr/>
        <p:txBody>
          <a:bodyPr/>
          <a:lstStyle/>
          <a:p>
            <a:fld id="{ED8CD5F7-2931-42C6-9B3E-A6C700901896}" type="slidenum">
              <a:rPr lang="nb-NO" smtClean="0"/>
              <a:t>5</a:t>
            </a:fld>
            <a:endParaRPr lang="nb-NO"/>
          </a:p>
        </p:txBody>
      </p:sp>
    </p:spTree>
    <p:extLst>
      <p:ext uri="{BB962C8B-B14F-4D97-AF65-F5344CB8AC3E}">
        <p14:creationId xmlns:p14="http://schemas.microsoft.com/office/powerpoint/2010/main" val="3670247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2C6D6-37FB-4C87-2389-239940665451}"/>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BF4432D1-EA41-0ABC-30F5-5BCA36E308BB}"/>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FAC20AA3-68AB-A922-D79D-11A76B8CCBE0}"/>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Definisjon: Simulerer en reell situasjon der testing inkluderer konkrete oppgaver. Observerer brukeren og brukes til å evaluere brukervennligheten.</a:t>
            </a:r>
          </a:p>
          <a:p>
            <a:r>
              <a:rPr lang="nb-NO" sz="1200" b="1" i="0" kern="1200" dirty="0">
                <a:solidFill>
                  <a:schemeClr val="tx1"/>
                </a:solidFill>
                <a:effectLst/>
                <a:latin typeface="+mn-lt"/>
                <a:ea typeface="+mn-ea"/>
                <a:cs typeface="+mn-cs"/>
              </a:rPr>
              <a:t>Mål</a:t>
            </a:r>
            <a:r>
              <a:rPr lang="nb-NO" sz="1200" b="0" i="0" kern="1200" dirty="0">
                <a:solidFill>
                  <a:schemeClr val="tx1"/>
                </a:solidFill>
                <a:effectLst/>
                <a:latin typeface="+mn-lt"/>
                <a:ea typeface="+mn-ea"/>
                <a:cs typeface="+mn-cs"/>
              </a:rPr>
              <a:t>: få innsikt man trenger for å gjøre produktet enklere å bruke</a:t>
            </a:r>
          </a:p>
          <a:p>
            <a:r>
              <a:rPr lang="nb-NO" sz="1200" b="0" i="0" kern="1200" dirty="0">
                <a:solidFill>
                  <a:schemeClr val="tx1"/>
                </a:solidFill>
                <a:effectLst/>
                <a:latin typeface="+mn-lt"/>
                <a:ea typeface="+mn-ea"/>
                <a:cs typeface="+mn-cs"/>
              </a:rPr>
              <a:t>Brukertest burde ha spesifikke og begrenset hensikt. Problem -&gt; formål med brukertest</a:t>
            </a:r>
          </a:p>
          <a:p>
            <a:endParaRPr lang="nb-NO" sz="1200" b="1" i="0" kern="1200" dirty="0">
              <a:solidFill>
                <a:schemeClr val="tx1"/>
              </a:solidFill>
              <a:effectLst/>
              <a:latin typeface="+mn-lt"/>
              <a:ea typeface="+mn-ea"/>
              <a:cs typeface="+mn-cs"/>
            </a:endParaRPr>
          </a:p>
        </p:txBody>
      </p:sp>
      <p:sp>
        <p:nvSpPr>
          <p:cNvPr id="4" name="Plassholder for lysbildenummer 3">
            <a:extLst>
              <a:ext uri="{FF2B5EF4-FFF2-40B4-BE49-F238E27FC236}">
                <a16:creationId xmlns:a16="http://schemas.microsoft.com/office/drawing/2014/main" id="{7CD1D5EB-1569-FE9A-C7DF-EA415AF05BA5}"/>
              </a:ext>
            </a:extLst>
          </p:cNvPr>
          <p:cNvSpPr>
            <a:spLocks noGrp="1"/>
          </p:cNvSpPr>
          <p:nvPr>
            <p:ph type="sldNum" sz="quarter" idx="5"/>
          </p:nvPr>
        </p:nvSpPr>
        <p:spPr/>
        <p:txBody>
          <a:bodyPr/>
          <a:lstStyle/>
          <a:p>
            <a:fld id="{ED8CD5F7-2931-42C6-9B3E-A6C700901896}" type="slidenum">
              <a:rPr lang="nb-NO" smtClean="0"/>
              <a:t>6</a:t>
            </a:fld>
            <a:endParaRPr lang="nb-NO"/>
          </a:p>
        </p:txBody>
      </p:sp>
    </p:spTree>
    <p:extLst>
      <p:ext uri="{BB962C8B-B14F-4D97-AF65-F5344CB8AC3E}">
        <p14:creationId xmlns:p14="http://schemas.microsoft.com/office/powerpoint/2010/main" val="21601062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85BB9-5AF5-0EDC-1E94-AE652D968C2D}"/>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4EBCB4F4-0CA4-94AF-D9DC-A4D5C041C64C}"/>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4E82C65C-D296-ECB0-95F1-4082A584474E}"/>
              </a:ext>
            </a:extLst>
          </p:cNvPr>
          <p:cNvSpPr>
            <a:spLocks noGrp="1"/>
          </p:cNvSpPr>
          <p:nvPr>
            <p:ph type="body" idx="1"/>
          </p:nvPr>
        </p:nvSpPr>
        <p:spPr/>
        <p:txBody>
          <a:bodyPr/>
          <a:lstStyle/>
          <a:p>
            <a:r>
              <a:rPr lang="nb-NO" sz="1200" b="1" i="0" kern="1200" dirty="0">
                <a:solidFill>
                  <a:schemeClr val="tx1"/>
                </a:solidFill>
                <a:effectLst/>
                <a:latin typeface="+mn-lt"/>
                <a:ea typeface="+mn-ea"/>
                <a:cs typeface="+mn-cs"/>
              </a:rPr>
              <a:t>Definisjon:</a:t>
            </a:r>
            <a:r>
              <a:rPr lang="nb-NO" sz="1200" b="0" i="0" kern="1200" dirty="0">
                <a:solidFill>
                  <a:schemeClr val="tx1"/>
                </a:solidFill>
                <a:effectLst/>
                <a:latin typeface="+mn-lt"/>
                <a:ea typeface="+mn-ea"/>
                <a:cs typeface="+mn-cs"/>
              </a:rPr>
              <a:t> Går ut på at løsninger skal være utformet slik at de kan benyttes av flest mulig uten å diskriminere.</a:t>
            </a:r>
          </a:p>
          <a:p>
            <a:r>
              <a:rPr lang="nb-NO" sz="1200" b="1" i="0" kern="1200" dirty="0">
                <a:solidFill>
                  <a:schemeClr val="tx1"/>
                </a:solidFill>
                <a:effectLst/>
                <a:latin typeface="+mn-lt"/>
                <a:ea typeface="+mn-ea"/>
                <a:cs typeface="+mn-cs"/>
              </a:rPr>
              <a:t>Hensikt</a:t>
            </a:r>
            <a:r>
              <a:rPr lang="nb-NO" sz="1200" b="0" i="0" kern="1200" dirty="0">
                <a:solidFill>
                  <a:schemeClr val="tx1"/>
                </a:solidFill>
                <a:effectLst/>
                <a:latin typeface="+mn-lt"/>
                <a:ea typeface="+mn-ea"/>
                <a:cs typeface="+mn-cs"/>
              </a:rPr>
              <a:t>: Produktet kan brukes av alle typer brukere uavhengig av fysisk begrensninger og kunnskapsnivå.</a:t>
            </a:r>
          </a:p>
          <a:p>
            <a:r>
              <a:rPr lang="nb-NO" sz="1200" b="1" i="0" kern="1200" dirty="0">
                <a:solidFill>
                  <a:schemeClr val="tx1"/>
                </a:solidFill>
                <a:effectLst/>
                <a:latin typeface="+mn-lt"/>
                <a:ea typeface="+mn-ea"/>
                <a:cs typeface="+mn-cs"/>
              </a:rPr>
              <a:t>Handler ikke om: </a:t>
            </a:r>
            <a:r>
              <a:rPr lang="nb-NO" sz="1200" b="0" i="0" kern="1200" dirty="0">
                <a:solidFill>
                  <a:schemeClr val="tx1"/>
                </a:solidFill>
                <a:effectLst/>
                <a:latin typeface="+mn-lt"/>
                <a:ea typeface="+mn-ea"/>
                <a:cs typeface="+mn-cs"/>
              </a:rPr>
              <a:t>å</a:t>
            </a:r>
            <a:r>
              <a:rPr lang="nb-NO" sz="1200" b="1" i="0" kern="1200" dirty="0">
                <a:solidFill>
                  <a:schemeClr val="tx1"/>
                </a:solidFill>
                <a:effectLst/>
                <a:latin typeface="+mn-lt"/>
                <a:ea typeface="+mn-ea"/>
                <a:cs typeface="+mn-cs"/>
              </a:rPr>
              <a:t> </a:t>
            </a:r>
            <a:r>
              <a:rPr lang="nb-NO" sz="1200" b="0" i="0" kern="1200" dirty="0">
                <a:solidFill>
                  <a:schemeClr val="tx1"/>
                </a:solidFill>
                <a:effectLst/>
                <a:latin typeface="+mn-lt"/>
                <a:ea typeface="+mn-ea"/>
                <a:cs typeface="+mn-cs"/>
              </a:rPr>
              <a:t>lage tilleggsløsninger for de med spesielle behov, men lage ting som i utgangspunktet kan brukes av alle</a:t>
            </a:r>
          </a:p>
          <a:p>
            <a:r>
              <a:rPr lang="nb-NO" sz="1200" b="1" i="0" kern="1200" dirty="0">
                <a:solidFill>
                  <a:schemeClr val="tx1"/>
                </a:solidFill>
                <a:effectLst/>
                <a:latin typeface="+mn-lt"/>
                <a:ea typeface="+mn-ea"/>
                <a:cs typeface="+mn-cs"/>
              </a:rPr>
              <a:t>Bidrar til: </a:t>
            </a:r>
            <a:r>
              <a:rPr lang="nb-NO" sz="1200" b="0" i="0" kern="1200" dirty="0">
                <a:solidFill>
                  <a:schemeClr val="tx1"/>
                </a:solidFill>
                <a:effectLst/>
                <a:latin typeface="+mn-lt"/>
                <a:ea typeface="+mn-ea"/>
                <a:cs typeface="+mn-cs"/>
              </a:rPr>
              <a:t>likeverdig deltakelse i samfunnet og øker brukervennligheten for alle og samtidig reduserer behov for individuelle tilpasninger.</a:t>
            </a:r>
          </a:p>
          <a:p>
            <a:br>
              <a:rPr lang="nb-NO" sz="1200" b="0" i="0" kern="1200" dirty="0">
                <a:solidFill>
                  <a:schemeClr val="tx1"/>
                </a:solidFill>
                <a:effectLst/>
                <a:latin typeface="+mn-lt"/>
                <a:ea typeface="+mn-ea"/>
                <a:cs typeface="+mn-cs"/>
              </a:rPr>
            </a:br>
            <a:r>
              <a:rPr lang="nb-NO" sz="1200" b="0" i="0" kern="1200" dirty="0">
                <a:solidFill>
                  <a:schemeClr val="tx1"/>
                </a:solidFill>
                <a:effectLst/>
                <a:latin typeface="+mn-lt"/>
                <a:ea typeface="+mn-ea"/>
                <a:cs typeface="+mn-cs"/>
              </a:rPr>
              <a:t>Prinsipper for universell utforming (Central for Universal Design):</a:t>
            </a:r>
          </a:p>
          <a:p>
            <a:pPr marL="228600" indent="-228600">
              <a:buFont typeface="+mj-lt"/>
              <a:buAutoNum type="arabicPeriod"/>
            </a:pPr>
            <a:r>
              <a:rPr lang="nb-NO" sz="1200" b="1" i="0" kern="1200" dirty="0">
                <a:solidFill>
                  <a:schemeClr val="tx1"/>
                </a:solidFill>
                <a:effectLst/>
                <a:latin typeface="+mn-lt"/>
                <a:ea typeface="+mn-ea"/>
                <a:cs typeface="+mn-cs"/>
              </a:rPr>
              <a:t>Enkelt og intuitiv i bruk</a:t>
            </a:r>
            <a:endParaRPr lang="nb-NO" sz="1200" b="0" i="0" kern="1200" dirty="0">
              <a:solidFill>
                <a:schemeClr val="tx1"/>
              </a:solidFill>
              <a:effectLst/>
              <a:latin typeface="+mn-lt"/>
              <a:ea typeface="+mn-ea"/>
              <a:cs typeface="+mn-cs"/>
            </a:endParaRPr>
          </a:p>
          <a:p>
            <a:pPr marL="228600" indent="-228600">
              <a:buFont typeface="+mj-lt"/>
              <a:buAutoNum type="arabicPeriod"/>
            </a:pPr>
            <a:r>
              <a:rPr lang="nb-NO" sz="1200" b="1" i="0" kern="1200" dirty="0">
                <a:solidFill>
                  <a:schemeClr val="tx1"/>
                </a:solidFill>
                <a:effectLst/>
                <a:latin typeface="+mn-lt"/>
                <a:ea typeface="+mn-ea"/>
                <a:cs typeface="+mn-cs"/>
              </a:rPr>
              <a:t>Forståelig informasjon</a:t>
            </a:r>
            <a:endParaRPr lang="nb-NO" sz="1200" b="0" i="0" kern="1200" dirty="0">
              <a:solidFill>
                <a:schemeClr val="tx1"/>
              </a:solidFill>
              <a:effectLst/>
              <a:latin typeface="+mn-lt"/>
              <a:ea typeface="+mn-ea"/>
              <a:cs typeface="+mn-cs"/>
            </a:endParaRPr>
          </a:p>
          <a:p>
            <a:pPr marL="228600" indent="-228600">
              <a:buFont typeface="+mj-lt"/>
              <a:buAutoNum type="arabicPeriod"/>
            </a:pPr>
            <a:r>
              <a:rPr lang="nb-NO" sz="1200" b="1" i="0" kern="1200" dirty="0">
                <a:solidFill>
                  <a:schemeClr val="tx1"/>
                </a:solidFill>
                <a:effectLst/>
                <a:latin typeface="+mn-lt"/>
                <a:ea typeface="+mn-ea"/>
                <a:cs typeface="+mn-cs"/>
              </a:rPr>
              <a:t>Toleranse for feil:</a:t>
            </a:r>
            <a:r>
              <a:rPr lang="nb-NO" sz="1200" b="0" i="0" kern="1200" dirty="0">
                <a:solidFill>
                  <a:schemeClr val="tx1"/>
                </a:solidFill>
                <a:effectLst/>
                <a:latin typeface="+mn-lt"/>
                <a:ea typeface="+mn-ea"/>
                <a:cs typeface="+mn-cs"/>
              </a:rPr>
              <a:t> Utforming skal minimalisere farer og skader som kan gi konsekvenser</a:t>
            </a:r>
          </a:p>
          <a:p>
            <a:pPr marL="228600" indent="-228600">
              <a:buFont typeface="+mj-lt"/>
              <a:buAutoNum type="arabicPeriod"/>
            </a:pPr>
            <a:r>
              <a:rPr lang="nb-NO" sz="1200" b="1" i="0" kern="1200" dirty="0">
                <a:solidFill>
                  <a:schemeClr val="tx1"/>
                </a:solidFill>
                <a:effectLst/>
                <a:latin typeface="+mn-lt"/>
                <a:ea typeface="+mn-ea"/>
                <a:cs typeface="+mn-cs"/>
              </a:rPr>
              <a:t>Lik mulighet for alle:</a:t>
            </a:r>
            <a:r>
              <a:rPr lang="nb-NO" sz="1200" b="0" i="0" kern="1200" dirty="0">
                <a:solidFill>
                  <a:schemeClr val="tx1"/>
                </a:solidFill>
                <a:effectLst/>
                <a:latin typeface="+mn-lt"/>
                <a:ea typeface="+mn-ea"/>
                <a:cs typeface="+mn-cs"/>
              </a:rPr>
              <a:t> Skal passe for </a:t>
            </a:r>
            <a:r>
              <a:rPr lang="nb-NO" sz="1200" b="0" i="1" kern="1200" dirty="0">
                <a:solidFill>
                  <a:schemeClr val="tx1"/>
                </a:solidFill>
                <a:effectLst/>
                <a:latin typeface="+mn-lt"/>
                <a:ea typeface="+mn-ea"/>
                <a:cs typeface="+mn-cs"/>
              </a:rPr>
              <a:t>alle</a:t>
            </a:r>
            <a:r>
              <a:rPr lang="nb-NO" sz="1200" b="0" i="0" kern="1200" dirty="0">
                <a:solidFill>
                  <a:schemeClr val="tx1"/>
                </a:solidFill>
                <a:effectLst/>
                <a:latin typeface="+mn-lt"/>
                <a:ea typeface="+mn-ea"/>
                <a:cs typeface="+mn-cs"/>
              </a:rPr>
              <a:t> uansett individuelle ferdigheter</a:t>
            </a:r>
          </a:p>
          <a:p>
            <a:pPr marL="228600" indent="-228600">
              <a:buFont typeface="+mj-lt"/>
              <a:buAutoNum type="arabicPeriod"/>
            </a:pPr>
            <a:r>
              <a:rPr lang="nb-NO" sz="1200" b="1" i="0" kern="1200" dirty="0">
                <a:solidFill>
                  <a:schemeClr val="tx1"/>
                </a:solidFill>
                <a:effectLst/>
                <a:latin typeface="+mn-lt"/>
                <a:ea typeface="+mn-ea"/>
                <a:cs typeface="+mn-cs"/>
              </a:rPr>
              <a:t>Lav fysisk anstrengelse</a:t>
            </a:r>
            <a:endParaRPr lang="nb-NO" sz="1200" b="0" i="0" kern="1200" dirty="0">
              <a:solidFill>
                <a:schemeClr val="tx1"/>
              </a:solidFill>
              <a:effectLst/>
              <a:latin typeface="+mn-lt"/>
              <a:ea typeface="+mn-ea"/>
              <a:cs typeface="+mn-cs"/>
            </a:endParaRPr>
          </a:p>
          <a:p>
            <a:pPr marL="228600" indent="-228600">
              <a:buFont typeface="+mj-lt"/>
              <a:buAutoNum type="arabicPeriod"/>
            </a:pPr>
            <a:r>
              <a:rPr lang="nb-NO" sz="1200" b="1" i="0" kern="1200" dirty="0">
                <a:solidFill>
                  <a:schemeClr val="tx1"/>
                </a:solidFill>
                <a:effectLst/>
                <a:latin typeface="+mn-lt"/>
                <a:ea typeface="+mn-ea"/>
                <a:cs typeface="+mn-cs"/>
              </a:rPr>
              <a:t>Størrelse og plass for tilgang og bruk:</a:t>
            </a:r>
            <a:r>
              <a:rPr lang="nb-NO" sz="1200" b="0" i="0" kern="1200" dirty="0">
                <a:solidFill>
                  <a:schemeClr val="tx1"/>
                </a:solidFill>
                <a:effectLst/>
                <a:latin typeface="+mn-lt"/>
                <a:ea typeface="+mn-ea"/>
                <a:cs typeface="+mn-cs"/>
              </a:rPr>
              <a:t> Hensiktsmessig størrelse og plass skal muliggjøre: </a:t>
            </a:r>
          </a:p>
          <a:p>
            <a:pPr marL="685800" lvl="1" indent="-228600">
              <a:buFont typeface="+mj-lt"/>
              <a:buAutoNum type="arabicPeriod"/>
            </a:pPr>
            <a:r>
              <a:rPr lang="nb-NO" sz="1200" b="0" i="0" kern="1200" dirty="0">
                <a:solidFill>
                  <a:schemeClr val="tx1"/>
                </a:solidFill>
                <a:effectLst/>
                <a:latin typeface="+mn-lt"/>
                <a:ea typeface="+mn-ea"/>
                <a:cs typeface="+mn-cs"/>
              </a:rPr>
              <a:t>Tilgang</a:t>
            </a:r>
          </a:p>
          <a:p>
            <a:pPr marL="685800" lvl="1" indent="-228600">
              <a:buFont typeface="+mj-lt"/>
              <a:buAutoNum type="arabicPeriod"/>
            </a:pPr>
            <a:r>
              <a:rPr lang="nb-NO" sz="1200" b="0" i="0" kern="1200" dirty="0">
                <a:solidFill>
                  <a:schemeClr val="tx1"/>
                </a:solidFill>
                <a:effectLst/>
                <a:latin typeface="+mn-lt"/>
                <a:ea typeface="+mn-ea"/>
                <a:cs typeface="+mn-cs"/>
              </a:rPr>
              <a:t>Rekkevidde </a:t>
            </a:r>
          </a:p>
          <a:p>
            <a:pPr marL="685800" lvl="1" indent="-228600">
              <a:buFont typeface="+mj-lt"/>
              <a:buAutoNum type="arabicPeriod"/>
            </a:pPr>
            <a:r>
              <a:rPr lang="nb-NO" sz="1200" b="0" i="0" kern="1200" dirty="0">
                <a:solidFill>
                  <a:schemeClr val="tx1"/>
                </a:solidFill>
                <a:effectLst/>
                <a:latin typeface="+mn-lt"/>
                <a:ea typeface="+mn-ea"/>
                <a:cs typeface="+mn-cs"/>
              </a:rPr>
              <a:t>Betjening og bruk, uavhengig av brukeren kroppsstørrelse, kroppsstilling og mobilitet.</a:t>
            </a:r>
          </a:p>
          <a:p>
            <a:pPr marL="0" lvl="0" indent="0">
              <a:buFont typeface="+mj-lt"/>
              <a:buNone/>
            </a:pPr>
            <a:r>
              <a:rPr lang="nb-NO" sz="1200" b="0" i="0" kern="1200" dirty="0">
                <a:solidFill>
                  <a:schemeClr val="tx1"/>
                </a:solidFill>
                <a:effectLst/>
                <a:latin typeface="+mn-lt"/>
                <a:ea typeface="+mn-ea"/>
                <a:cs typeface="+mn-cs"/>
              </a:rPr>
              <a:t>      Diskriminerings- og tilgjengelighetsloven stiller krav om universell utforming til offentlige og private virksomheter</a:t>
            </a:r>
          </a:p>
          <a:p>
            <a:pPr marL="228600" indent="-228600">
              <a:buFont typeface="+mj-lt"/>
              <a:buAutoNum type="arabicPeriod"/>
            </a:pPr>
            <a:r>
              <a:rPr lang="nb-NO" sz="1200" b="0" i="1" kern="1200" dirty="0">
                <a:solidFill>
                  <a:schemeClr val="tx1"/>
                </a:solidFill>
                <a:effectLst/>
                <a:latin typeface="+mn-lt"/>
                <a:ea typeface="+mn-ea"/>
                <a:cs typeface="+mn-cs"/>
              </a:rPr>
              <a:t>(</a:t>
            </a:r>
            <a:r>
              <a:rPr lang="nb-NO" sz="1200" b="1" i="1" kern="1200" dirty="0">
                <a:solidFill>
                  <a:schemeClr val="tx1"/>
                </a:solidFill>
                <a:effectLst/>
                <a:latin typeface="+mn-lt"/>
                <a:ea typeface="+mn-ea"/>
                <a:cs typeface="+mn-cs"/>
              </a:rPr>
              <a:t>Fleksibilitet</a:t>
            </a:r>
            <a:r>
              <a:rPr lang="nb-NO" sz="1200" b="0" i="1" kern="1200" dirty="0">
                <a:solidFill>
                  <a:schemeClr val="tx1"/>
                </a:solidFill>
                <a:effectLst/>
                <a:latin typeface="+mn-lt"/>
                <a:ea typeface="+mn-ea"/>
                <a:cs typeface="+mn-cs"/>
              </a:rPr>
              <a:t>: Går under 6.; en med spasmer skal også kunne bruke produktet)</a:t>
            </a:r>
          </a:p>
        </p:txBody>
      </p:sp>
      <p:sp>
        <p:nvSpPr>
          <p:cNvPr id="4" name="Plassholder for lysbildenummer 3">
            <a:extLst>
              <a:ext uri="{FF2B5EF4-FFF2-40B4-BE49-F238E27FC236}">
                <a16:creationId xmlns:a16="http://schemas.microsoft.com/office/drawing/2014/main" id="{8F18DEC4-B041-F79F-AC72-63AD08A046B4}"/>
              </a:ext>
            </a:extLst>
          </p:cNvPr>
          <p:cNvSpPr>
            <a:spLocks noGrp="1"/>
          </p:cNvSpPr>
          <p:nvPr>
            <p:ph type="sldNum" sz="quarter" idx="5"/>
          </p:nvPr>
        </p:nvSpPr>
        <p:spPr/>
        <p:txBody>
          <a:bodyPr/>
          <a:lstStyle/>
          <a:p>
            <a:fld id="{ED8CD5F7-2931-42C6-9B3E-A6C700901896}" type="slidenum">
              <a:rPr lang="nb-NO" smtClean="0"/>
              <a:t>7</a:t>
            </a:fld>
            <a:endParaRPr lang="nb-NO"/>
          </a:p>
        </p:txBody>
      </p:sp>
    </p:spTree>
    <p:extLst>
      <p:ext uri="{BB962C8B-B14F-4D97-AF65-F5344CB8AC3E}">
        <p14:creationId xmlns:p14="http://schemas.microsoft.com/office/powerpoint/2010/main" val="16470430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BACCA-A5D6-694E-35A0-2FFC6310088A}"/>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B4985DE4-D941-BF42-3BC8-8FE2E3727E89}"/>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946B6B9B-9A93-F4EA-A63E-936F4E204605}"/>
              </a:ext>
            </a:extLst>
          </p:cNvPr>
          <p:cNvSpPr>
            <a:spLocks noGrp="1"/>
          </p:cNvSpPr>
          <p:nvPr>
            <p:ph type="body" idx="1"/>
          </p:nvPr>
        </p:nvSpPr>
        <p:spPr/>
        <p:txBody>
          <a:bodyPr/>
          <a:lstStyle/>
          <a:p>
            <a:r>
              <a:rPr lang="nb-NO" sz="1200" b="1" i="0" kern="1200" dirty="0">
                <a:solidFill>
                  <a:schemeClr val="tx1"/>
                </a:solidFill>
                <a:effectLst/>
                <a:latin typeface="+mn-lt"/>
                <a:ea typeface="+mn-ea"/>
                <a:cs typeface="+mn-cs"/>
              </a:rPr>
              <a:t>Lov om likestilling og forbud mot diskriminering (§17–19):</a:t>
            </a:r>
            <a:r>
              <a:rPr lang="nb-NO" sz="1200" b="0" i="0" kern="1200" dirty="0">
                <a:solidFill>
                  <a:schemeClr val="tx1"/>
                </a:solidFill>
                <a:effectLst/>
                <a:latin typeface="+mn-lt"/>
                <a:ea typeface="+mn-ea"/>
                <a:cs typeface="+mn-cs"/>
              </a:rPr>
              <a:t> trådte i kraft 1. januar 2018.</a:t>
            </a:r>
          </a:p>
          <a:p>
            <a:pPr lvl="1"/>
            <a:r>
              <a:rPr lang="nb-NO" sz="1200" b="0" i="0" kern="1200" dirty="0">
                <a:solidFill>
                  <a:schemeClr val="tx1"/>
                </a:solidFill>
                <a:effectLst/>
                <a:latin typeface="+mn-lt"/>
                <a:ea typeface="+mn-ea"/>
                <a:cs typeface="+mn-cs"/>
              </a:rPr>
              <a:t>§17: Offentlige og private virksomheter rettet mot allmennheten har plikt til universell utforming av alminnelige funksjoner</a:t>
            </a:r>
          </a:p>
          <a:p>
            <a:pPr lvl="1"/>
            <a:r>
              <a:rPr lang="nb-NO" sz="1200" b="0" i="0" kern="1200" dirty="0">
                <a:solidFill>
                  <a:schemeClr val="tx1"/>
                </a:solidFill>
                <a:effectLst/>
                <a:latin typeface="+mn-lt"/>
                <a:ea typeface="+mn-ea"/>
                <a:cs typeface="+mn-cs"/>
              </a:rPr>
              <a:t>§18: IKT-løsninger som underbygger virksomhetens alminnelige funksjoner skal være universelt utformet</a:t>
            </a:r>
          </a:p>
          <a:p>
            <a:pPr lvl="1"/>
            <a:r>
              <a:rPr lang="nb-NO" sz="1200" b="0" i="0" kern="1200" dirty="0">
                <a:solidFill>
                  <a:schemeClr val="tx1"/>
                </a:solidFill>
                <a:effectLst/>
                <a:latin typeface="+mn-lt"/>
                <a:ea typeface="+mn-ea"/>
                <a:cs typeface="+mn-cs"/>
              </a:rPr>
              <a:t>§41: Eksisterende IKT-løsninger skal være universelt utformet fra 1. januar 2021</a:t>
            </a:r>
          </a:p>
          <a:p>
            <a:pPr lvl="1"/>
            <a:endParaRPr lang="nb-NO" sz="1200" b="0" i="0" kern="1200" dirty="0">
              <a:solidFill>
                <a:schemeClr val="tx1"/>
              </a:solidFill>
              <a:effectLst/>
              <a:latin typeface="+mn-lt"/>
              <a:ea typeface="+mn-ea"/>
              <a:cs typeface="+mn-cs"/>
            </a:endParaRPr>
          </a:p>
          <a:p>
            <a:r>
              <a:rPr lang="nb-NO" sz="1200" b="1" i="0" kern="1200" dirty="0">
                <a:solidFill>
                  <a:schemeClr val="tx1"/>
                </a:solidFill>
                <a:effectLst/>
                <a:latin typeface="+mn-lt"/>
                <a:ea typeface="+mn-ea"/>
                <a:cs typeface="+mn-cs"/>
              </a:rPr>
              <a:t>Forskrift om universell utforming av IKT:</a:t>
            </a:r>
            <a:r>
              <a:rPr lang="nb-NO" sz="1200" b="0" i="0" kern="1200" dirty="0">
                <a:solidFill>
                  <a:schemeClr val="tx1"/>
                </a:solidFill>
                <a:effectLst/>
                <a:latin typeface="+mn-lt"/>
                <a:ea typeface="+mn-ea"/>
                <a:cs typeface="+mn-cs"/>
              </a:rPr>
              <a:t> trådte i kraft 1. juli 2013</a:t>
            </a:r>
          </a:p>
          <a:p>
            <a:endParaRPr lang="nb-NO" sz="1200" b="1" i="0" kern="1200" dirty="0">
              <a:solidFill>
                <a:schemeClr val="tx1"/>
              </a:solidFill>
              <a:effectLst/>
              <a:latin typeface="+mn-lt"/>
              <a:ea typeface="+mn-ea"/>
              <a:cs typeface="+mn-cs"/>
            </a:endParaRPr>
          </a:p>
          <a:p>
            <a:r>
              <a:rPr lang="nb-NO" sz="1200" b="1" i="0" kern="1200" dirty="0">
                <a:solidFill>
                  <a:schemeClr val="tx1"/>
                </a:solidFill>
                <a:effectLst/>
                <a:latin typeface="+mn-lt"/>
                <a:ea typeface="+mn-ea"/>
                <a:cs typeface="+mn-cs"/>
              </a:rPr>
              <a:t>EUs </a:t>
            </a:r>
            <a:r>
              <a:rPr lang="nb-NO" sz="1200" b="1" i="0" kern="1200" dirty="0" err="1">
                <a:solidFill>
                  <a:schemeClr val="tx1"/>
                </a:solidFill>
                <a:effectLst/>
                <a:latin typeface="+mn-lt"/>
                <a:ea typeface="+mn-ea"/>
                <a:cs typeface="+mn-cs"/>
              </a:rPr>
              <a:t>Webdirektiv</a:t>
            </a:r>
            <a:r>
              <a:rPr lang="nb-NO" sz="1200" b="1" i="0" kern="1200" dirty="0">
                <a:solidFill>
                  <a:schemeClr val="tx1"/>
                </a:solidFill>
                <a:effectLst/>
                <a:latin typeface="+mn-lt"/>
                <a:ea typeface="+mn-ea"/>
                <a:cs typeface="+mn-cs"/>
              </a:rPr>
              <a:t> (WAD):</a:t>
            </a:r>
            <a:r>
              <a:rPr lang="nb-NO" sz="1200" b="0" i="0" kern="1200" dirty="0">
                <a:solidFill>
                  <a:schemeClr val="tx1"/>
                </a:solidFill>
                <a:effectLst/>
                <a:latin typeface="+mn-lt"/>
                <a:ea typeface="+mn-ea"/>
                <a:cs typeface="+mn-cs"/>
              </a:rPr>
              <a:t> oppdatert regelverk, nye krav gjaldt fra 1. februar 2023</a:t>
            </a:r>
          </a:p>
          <a:p>
            <a:endParaRPr lang="nb-NO" sz="1200" b="0" i="0" kern="1200" dirty="0">
              <a:solidFill>
                <a:schemeClr val="tx1"/>
              </a:solidFill>
              <a:effectLst/>
              <a:latin typeface="+mn-lt"/>
              <a:ea typeface="+mn-ea"/>
              <a:cs typeface="+mn-cs"/>
            </a:endParaRPr>
          </a:p>
          <a:p>
            <a:r>
              <a:rPr lang="nb-NO" sz="1200" b="1" i="0" kern="1200" dirty="0">
                <a:solidFill>
                  <a:schemeClr val="tx1"/>
                </a:solidFill>
                <a:effectLst/>
                <a:latin typeface="+mn-lt"/>
                <a:ea typeface="+mn-ea"/>
                <a:cs typeface="+mn-cs"/>
              </a:rPr>
              <a:t>Gode argumenter for UU:</a:t>
            </a:r>
            <a:endParaRPr lang="nb-NO" sz="1200" b="0" i="0" kern="1200" dirty="0">
              <a:solidFill>
                <a:schemeClr val="tx1"/>
              </a:solidFill>
              <a:effectLst/>
              <a:latin typeface="+mn-lt"/>
              <a:ea typeface="+mn-ea"/>
              <a:cs typeface="+mn-cs"/>
            </a:endParaRPr>
          </a:p>
          <a:p>
            <a:pPr lvl="1"/>
            <a:r>
              <a:rPr lang="nb-NO" sz="1200" b="0" i="0" kern="1200" dirty="0">
                <a:solidFill>
                  <a:schemeClr val="tx1"/>
                </a:solidFill>
                <a:effectLst/>
                <a:latin typeface="+mn-lt"/>
                <a:ea typeface="+mn-ea"/>
                <a:cs typeface="+mn-cs"/>
              </a:rPr>
              <a:t>Mer inkluderende (nesten 1 million opplever utfordringer på nettet)</a:t>
            </a:r>
          </a:p>
          <a:p>
            <a:pPr lvl="1"/>
            <a:r>
              <a:rPr lang="nb-NO" sz="1200" b="0" i="0" kern="1200" dirty="0">
                <a:solidFill>
                  <a:schemeClr val="tx1"/>
                </a:solidFill>
                <a:effectLst/>
                <a:latin typeface="+mn-lt"/>
                <a:ea typeface="+mn-ea"/>
                <a:cs typeface="+mn-cs"/>
              </a:rPr>
              <a:t>Enklere å bruke (god informasjonsstruktur, enkel navigasjon)</a:t>
            </a:r>
          </a:p>
          <a:p>
            <a:pPr lvl="1"/>
            <a:r>
              <a:rPr lang="nb-NO" sz="1200" b="0" i="0" kern="1200" dirty="0">
                <a:solidFill>
                  <a:schemeClr val="tx1"/>
                </a:solidFill>
                <a:effectLst/>
                <a:latin typeface="+mn-lt"/>
                <a:ea typeface="+mn-ea"/>
                <a:cs typeface="+mn-cs"/>
              </a:rPr>
              <a:t>Mer mobiltilpasset (store knapper, god kontrast fungerer på mobilskjerm)</a:t>
            </a:r>
          </a:p>
          <a:p>
            <a:pPr lvl="1"/>
            <a:r>
              <a:rPr lang="nb-NO" sz="1200" b="0" i="0" kern="1200" dirty="0">
                <a:solidFill>
                  <a:schemeClr val="tx1"/>
                </a:solidFill>
                <a:effectLst/>
                <a:latin typeface="+mn-lt"/>
                <a:ea typeface="+mn-ea"/>
                <a:cs typeface="+mn-cs"/>
              </a:rPr>
              <a:t>Mer synlig for Google (god kodestandard = bedre SEO)</a:t>
            </a:r>
          </a:p>
          <a:p>
            <a:pPr lvl="1"/>
            <a:r>
              <a:rPr lang="nb-NO" sz="1200" b="0" i="0" kern="1200" dirty="0">
                <a:solidFill>
                  <a:schemeClr val="tx1"/>
                </a:solidFill>
                <a:effectLst/>
                <a:latin typeface="+mn-lt"/>
                <a:ea typeface="+mn-ea"/>
                <a:cs typeface="+mn-cs"/>
              </a:rPr>
              <a:t>Mer lønnsomt (økt omsetning, færre henvendelser til support)</a:t>
            </a:r>
          </a:p>
        </p:txBody>
      </p:sp>
      <p:sp>
        <p:nvSpPr>
          <p:cNvPr id="4" name="Plassholder for lysbildenummer 3">
            <a:extLst>
              <a:ext uri="{FF2B5EF4-FFF2-40B4-BE49-F238E27FC236}">
                <a16:creationId xmlns:a16="http://schemas.microsoft.com/office/drawing/2014/main" id="{6B638214-F50B-91EE-AEE0-F9E163F98129}"/>
              </a:ext>
            </a:extLst>
          </p:cNvPr>
          <p:cNvSpPr>
            <a:spLocks noGrp="1"/>
          </p:cNvSpPr>
          <p:nvPr>
            <p:ph type="sldNum" sz="quarter" idx="5"/>
          </p:nvPr>
        </p:nvSpPr>
        <p:spPr/>
        <p:txBody>
          <a:bodyPr/>
          <a:lstStyle/>
          <a:p>
            <a:fld id="{ED8CD5F7-2931-42C6-9B3E-A6C700901896}" type="slidenum">
              <a:rPr lang="nb-NO" smtClean="0"/>
              <a:t>8</a:t>
            </a:fld>
            <a:endParaRPr lang="nb-NO"/>
          </a:p>
        </p:txBody>
      </p:sp>
    </p:spTree>
    <p:extLst>
      <p:ext uri="{BB962C8B-B14F-4D97-AF65-F5344CB8AC3E}">
        <p14:creationId xmlns:p14="http://schemas.microsoft.com/office/powerpoint/2010/main" val="3592641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94A35-168E-5783-FCFF-C240DD642AE6}"/>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B8A0DF0B-0AAD-90DB-E0A0-579A1281381B}"/>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E7EC1141-22BE-1286-68D2-EC85E226EC5A}"/>
              </a:ext>
            </a:extLst>
          </p:cNvPr>
          <p:cNvSpPr>
            <a:spLocks noGrp="1"/>
          </p:cNvSpPr>
          <p:nvPr>
            <p:ph type="body" idx="1"/>
          </p:nvPr>
        </p:nvSpPr>
        <p:spPr/>
        <p:txBody>
          <a:bodyPr/>
          <a:lstStyle/>
          <a:p>
            <a:r>
              <a:rPr lang="nb-NO" sz="1200" b="1" i="0" kern="1200" dirty="0">
                <a:solidFill>
                  <a:schemeClr val="tx1"/>
                </a:solidFill>
                <a:effectLst/>
                <a:latin typeface="+mn-lt"/>
                <a:ea typeface="+mn-ea"/>
                <a:cs typeface="+mn-cs"/>
              </a:rPr>
              <a:t>Definisjon:</a:t>
            </a:r>
            <a:r>
              <a:rPr lang="nb-NO" sz="1200" b="0" i="0" kern="1200" dirty="0">
                <a:solidFill>
                  <a:schemeClr val="tx1"/>
                </a:solidFill>
                <a:effectLst/>
                <a:latin typeface="+mn-lt"/>
                <a:ea typeface="+mn-ea"/>
                <a:cs typeface="+mn-cs"/>
              </a:rPr>
              <a:t> Retningslinjer som ser utviklet for å hjelpe utviklere til å lage nettsteder som er tilgjengelig for alle, </a:t>
            </a:r>
            <a:r>
              <a:rPr lang="nb-NO" sz="1200" b="0" i="0" kern="1200" dirty="0" err="1">
                <a:solidFill>
                  <a:schemeClr val="tx1"/>
                </a:solidFill>
                <a:effectLst/>
                <a:latin typeface="+mn-lt"/>
                <a:ea typeface="+mn-ea"/>
                <a:cs typeface="+mn-cs"/>
              </a:rPr>
              <a:t>inkl</a:t>
            </a:r>
            <a:r>
              <a:rPr lang="nb-NO" sz="1200" b="0" i="0" kern="1200" dirty="0">
                <a:solidFill>
                  <a:schemeClr val="tx1"/>
                </a:solidFill>
                <a:effectLst/>
                <a:latin typeface="+mn-lt"/>
                <a:ea typeface="+mn-ea"/>
                <a:cs typeface="+mn-cs"/>
              </a:rPr>
              <a:t> personer med funksjonsnedsettelser.</a:t>
            </a:r>
          </a:p>
          <a:p>
            <a:r>
              <a:rPr lang="nb-NO" sz="1200" b="1" i="0" kern="1200" dirty="0">
                <a:solidFill>
                  <a:schemeClr val="tx1"/>
                </a:solidFill>
                <a:effectLst/>
                <a:latin typeface="+mn-lt"/>
                <a:ea typeface="+mn-ea"/>
                <a:cs typeface="+mn-cs"/>
              </a:rPr>
              <a:t>Mål:</a:t>
            </a:r>
            <a:r>
              <a:rPr lang="nb-NO" sz="1200" b="0" i="0" kern="1200" dirty="0">
                <a:solidFill>
                  <a:schemeClr val="tx1"/>
                </a:solidFill>
                <a:effectLst/>
                <a:latin typeface="+mn-lt"/>
                <a:ea typeface="+mn-ea"/>
                <a:cs typeface="+mn-cs"/>
              </a:rPr>
              <a:t> sikre at folk, uavhengig av faktorer som kjønn, alder, og funksjonshemninger får tilgang til den samme informasjonen.</a:t>
            </a:r>
          </a:p>
          <a:p>
            <a:r>
              <a:rPr lang="nb-NO" sz="1200" b="0" i="0" kern="1200" dirty="0">
                <a:solidFill>
                  <a:schemeClr val="tx1"/>
                </a:solidFill>
                <a:effectLst/>
                <a:latin typeface="+mn-lt"/>
                <a:ea typeface="+mn-ea"/>
                <a:cs typeface="+mn-cs"/>
              </a:rPr>
              <a:t>Noen krav:</a:t>
            </a:r>
          </a:p>
          <a:p>
            <a:pPr lvl="1"/>
            <a:r>
              <a:rPr lang="nb-NO" sz="1200" b="0" i="0" kern="1200" dirty="0">
                <a:solidFill>
                  <a:schemeClr val="tx1"/>
                </a:solidFill>
                <a:effectLst/>
                <a:latin typeface="+mn-lt"/>
                <a:ea typeface="+mn-ea"/>
                <a:cs typeface="+mn-cs"/>
              </a:rPr>
              <a:t>Alt av innhold skal være tilgjengelig via tastaturnavigering</a:t>
            </a:r>
          </a:p>
          <a:p>
            <a:pPr lvl="1"/>
            <a:r>
              <a:rPr lang="nb-NO" sz="1200" b="0" i="0" kern="1200" dirty="0">
                <a:solidFill>
                  <a:schemeClr val="tx1"/>
                </a:solidFill>
                <a:effectLst/>
                <a:latin typeface="+mn-lt"/>
                <a:ea typeface="+mn-ea"/>
                <a:cs typeface="+mn-cs"/>
              </a:rPr>
              <a:t>Bilder skal ha alt-funksjon</a:t>
            </a:r>
          </a:p>
          <a:p>
            <a:pPr lvl="1"/>
            <a:r>
              <a:rPr lang="nb-NO" sz="1200" b="0" i="0" kern="1200" dirty="0">
                <a:solidFill>
                  <a:schemeClr val="tx1"/>
                </a:solidFill>
                <a:effectLst/>
                <a:latin typeface="+mn-lt"/>
                <a:ea typeface="+mn-ea"/>
                <a:cs typeface="+mn-cs"/>
              </a:rPr>
              <a:t>Video skal ha teksting eller alternativ lydspor</a:t>
            </a:r>
          </a:p>
          <a:p>
            <a:pPr lvl="1"/>
            <a:r>
              <a:rPr lang="nb-NO" sz="1200" b="0" i="0" kern="1200" dirty="0">
                <a:solidFill>
                  <a:schemeClr val="tx1"/>
                </a:solidFill>
                <a:effectLst/>
                <a:latin typeface="+mn-lt"/>
                <a:ea typeface="+mn-ea"/>
                <a:cs typeface="+mn-cs"/>
              </a:rPr>
              <a:t>Formater skal være lett å forstå</a:t>
            </a:r>
          </a:p>
          <a:p>
            <a:pPr lvl="1"/>
            <a:r>
              <a:rPr lang="nb-NO" sz="1200" b="0" i="0" kern="1200" dirty="0">
                <a:solidFill>
                  <a:schemeClr val="tx1"/>
                </a:solidFill>
                <a:effectLst/>
                <a:latin typeface="+mn-lt"/>
                <a:ea typeface="+mn-ea"/>
                <a:cs typeface="+mn-cs"/>
              </a:rPr>
              <a:t>Innhold skal være lett å forstå</a:t>
            </a:r>
          </a:p>
          <a:p>
            <a:r>
              <a:rPr lang="nb-NO" sz="1200" b="0" i="0" kern="1200" dirty="0">
                <a:solidFill>
                  <a:schemeClr val="tx1"/>
                </a:solidFill>
                <a:effectLst/>
                <a:latin typeface="+mn-lt"/>
                <a:ea typeface="+mn-ea"/>
                <a:cs typeface="+mn-cs"/>
              </a:rPr>
              <a:t>Øverste nivå i WCAG retningslinjer er det fire prinsipper:</a:t>
            </a:r>
          </a:p>
          <a:p>
            <a:pPr lvl="1"/>
            <a:r>
              <a:rPr lang="nb-NO" sz="1200" b="0" i="0" kern="1200" dirty="0">
                <a:solidFill>
                  <a:schemeClr val="tx1"/>
                </a:solidFill>
                <a:effectLst/>
                <a:latin typeface="+mn-lt"/>
                <a:ea typeface="+mn-ea"/>
                <a:cs typeface="+mn-cs"/>
              </a:rPr>
              <a:t>Mulig å oppfatte</a:t>
            </a:r>
          </a:p>
          <a:p>
            <a:pPr lvl="1"/>
            <a:r>
              <a:rPr lang="nb-NO" sz="1200" b="0" i="0" kern="1200" dirty="0">
                <a:solidFill>
                  <a:schemeClr val="tx1"/>
                </a:solidFill>
                <a:effectLst/>
                <a:latin typeface="+mn-lt"/>
                <a:ea typeface="+mn-ea"/>
                <a:cs typeface="+mn-cs"/>
              </a:rPr>
              <a:t>Mulig å betjene</a:t>
            </a:r>
          </a:p>
          <a:p>
            <a:pPr lvl="1"/>
            <a:r>
              <a:rPr lang="nb-NO" sz="1200" b="0" i="0" kern="1200" dirty="0">
                <a:solidFill>
                  <a:schemeClr val="tx1"/>
                </a:solidFill>
                <a:effectLst/>
                <a:latin typeface="+mn-lt"/>
                <a:ea typeface="+mn-ea"/>
                <a:cs typeface="+mn-cs"/>
              </a:rPr>
              <a:t>Forståelig</a:t>
            </a:r>
          </a:p>
          <a:p>
            <a:pPr lvl="1"/>
            <a:r>
              <a:rPr lang="nb-NO" sz="1200" b="0" i="0" kern="1200" dirty="0">
                <a:solidFill>
                  <a:schemeClr val="tx1"/>
                </a:solidFill>
                <a:effectLst/>
                <a:latin typeface="+mn-lt"/>
                <a:ea typeface="+mn-ea"/>
                <a:cs typeface="+mn-cs"/>
              </a:rPr>
              <a:t>Robusthet</a:t>
            </a:r>
          </a:p>
          <a:p>
            <a:r>
              <a:rPr lang="nb-NO" sz="1200" b="0" i="0" kern="1200" dirty="0">
                <a:solidFill>
                  <a:schemeClr val="tx1"/>
                </a:solidFill>
                <a:effectLst/>
                <a:latin typeface="+mn-lt"/>
                <a:ea typeface="+mn-ea"/>
                <a:cs typeface="+mn-cs"/>
              </a:rPr>
              <a:t>12 retningslinjer på nivået under som deles på 61 kriterier som nettsider må oppfylle. ex: kontrastbruken i tekst som må vise kontrastforhold med bakgrunnen slik at fargeblinde og svaksynte kan lese</a:t>
            </a:r>
          </a:p>
          <a:p>
            <a:endParaRPr lang="nb-NO" sz="1200" b="0" i="0" kern="1200" dirty="0">
              <a:solidFill>
                <a:schemeClr val="tx1"/>
              </a:solidFill>
              <a:effectLst/>
              <a:latin typeface="+mn-lt"/>
              <a:ea typeface="+mn-ea"/>
              <a:cs typeface="+mn-cs"/>
            </a:endParaRPr>
          </a:p>
        </p:txBody>
      </p:sp>
      <p:sp>
        <p:nvSpPr>
          <p:cNvPr id="4" name="Plassholder for lysbildenummer 3">
            <a:extLst>
              <a:ext uri="{FF2B5EF4-FFF2-40B4-BE49-F238E27FC236}">
                <a16:creationId xmlns:a16="http://schemas.microsoft.com/office/drawing/2014/main" id="{EDBD18DD-30EF-460F-5143-263F61BD3B24}"/>
              </a:ext>
            </a:extLst>
          </p:cNvPr>
          <p:cNvSpPr>
            <a:spLocks noGrp="1"/>
          </p:cNvSpPr>
          <p:nvPr>
            <p:ph type="sldNum" sz="quarter" idx="5"/>
          </p:nvPr>
        </p:nvSpPr>
        <p:spPr/>
        <p:txBody>
          <a:bodyPr/>
          <a:lstStyle/>
          <a:p>
            <a:fld id="{ED8CD5F7-2931-42C6-9B3E-A6C700901896}" type="slidenum">
              <a:rPr lang="nb-NO" smtClean="0"/>
              <a:t>9</a:t>
            </a:fld>
            <a:endParaRPr lang="nb-NO"/>
          </a:p>
        </p:txBody>
      </p:sp>
    </p:spTree>
    <p:extLst>
      <p:ext uri="{BB962C8B-B14F-4D97-AF65-F5344CB8AC3E}">
        <p14:creationId xmlns:p14="http://schemas.microsoft.com/office/powerpoint/2010/main" val="17025721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8697B-5EF0-8D27-64CF-629B5254615F}"/>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89326B03-05E2-E80D-3E7F-0A81CED09524}"/>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6C55EC1A-3940-87A5-69D2-852EF5AE6C00}"/>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Visualiserer konsept på en mer oversiktlig måte. Kan brukes der og da og for dokumentasjon etter.</a:t>
            </a:r>
          </a:p>
          <a:p>
            <a:r>
              <a:rPr lang="nb-NO" sz="1200" b="0" i="0" kern="1200" dirty="0">
                <a:solidFill>
                  <a:schemeClr val="tx1"/>
                </a:solidFill>
                <a:effectLst/>
                <a:latin typeface="+mn-lt"/>
                <a:ea typeface="+mn-ea"/>
                <a:cs typeface="+mn-cs"/>
              </a:rPr>
              <a:t>Uttrykker mye informasjon med en modell</a:t>
            </a:r>
          </a:p>
        </p:txBody>
      </p:sp>
      <p:sp>
        <p:nvSpPr>
          <p:cNvPr id="4" name="Plassholder for lysbildenummer 3">
            <a:extLst>
              <a:ext uri="{FF2B5EF4-FFF2-40B4-BE49-F238E27FC236}">
                <a16:creationId xmlns:a16="http://schemas.microsoft.com/office/drawing/2014/main" id="{DFB8770B-A8F7-506E-198E-8FC8CF16F7F5}"/>
              </a:ext>
            </a:extLst>
          </p:cNvPr>
          <p:cNvSpPr>
            <a:spLocks noGrp="1"/>
          </p:cNvSpPr>
          <p:nvPr>
            <p:ph type="sldNum" sz="quarter" idx="5"/>
          </p:nvPr>
        </p:nvSpPr>
        <p:spPr/>
        <p:txBody>
          <a:bodyPr/>
          <a:lstStyle/>
          <a:p>
            <a:fld id="{ED8CD5F7-2931-42C6-9B3E-A6C700901896}" type="slidenum">
              <a:rPr lang="nb-NO" smtClean="0"/>
              <a:t>11</a:t>
            </a:fld>
            <a:endParaRPr lang="nb-NO"/>
          </a:p>
        </p:txBody>
      </p:sp>
    </p:spTree>
    <p:extLst>
      <p:ext uri="{BB962C8B-B14F-4D97-AF65-F5344CB8AC3E}">
        <p14:creationId xmlns:p14="http://schemas.microsoft.com/office/powerpoint/2010/main" val="33342833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57E6C-585F-B3D5-1DA6-13F1E3E86A67}"/>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61D64EBB-6911-C6A5-D566-DB772112C2BA}"/>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CCC8E83C-933A-0B7D-53D6-1B233BF0542F}"/>
              </a:ext>
            </a:extLst>
          </p:cNvPr>
          <p:cNvSpPr>
            <a:spLocks noGrp="1"/>
          </p:cNvSpPr>
          <p:nvPr>
            <p:ph type="body" idx="1"/>
          </p:nvPr>
        </p:nvSpPr>
        <p:spPr/>
        <p:txBody>
          <a:bodyPr/>
          <a:lstStyle/>
          <a:p>
            <a:r>
              <a:rPr lang="nb-NO" sz="1200" b="1" i="0" kern="1200" dirty="0">
                <a:solidFill>
                  <a:schemeClr val="tx1"/>
                </a:solidFill>
                <a:effectLst/>
                <a:latin typeface="+mn-lt"/>
                <a:ea typeface="+mn-ea"/>
                <a:cs typeface="+mn-cs"/>
              </a:rPr>
              <a:t>Definisjon:</a:t>
            </a:r>
            <a:r>
              <a:rPr lang="nb-NO" sz="1200" b="0" i="0" kern="1200" dirty="0">
                <a:solidFill>
                  <a:schemeClr val="tx1"/>
                </a:solidFill>
                <a:effectLst/>
                <a:latin typeface="+mn-lt"/>
                <a:ea typeface="+mn-ea"/>
                <a:cs typeface="+mn-cs"/>
              </a:rPr>
              <a:t> Illustrerer overfladisk hvordan brukeren bruker et system. Gjøres ved å illustrere ulike scenarioer en bruker kan møte og hvordan brukeren kan navigere seg gjennom systemet.</a:t>
            </a:r>
          </a:p>
          <a:p>
            <a:r>
              <a:rPr lang="nb-NO" sz="1200" b="0" i="0" kern="1200" dirty="0">
                <a:solidFill>
                  <a:schemeClr val="tx1"/>
                </a:solidFill>
                <a:effectLst/>
                <a:latin typeface="+mn-lt"/>
                <a:ea typeface="+mn-ea"/>
                <a:cs typeface="+mn-cs"/>
              </a:rPr>
              <a:t>Avklarer enkelte funksjonelle krav</a:t>
            </a:r>
            <a:br>
              <a:rPr lang="nb-NO" sz="1200" b="0" i="0" kern="1200" dirty="0">
                <a:solidFill>
                  <a:schemeClr val="tx1"/>
                </a:solidFill>
                <a:effectLst/>
                <a:latin typeface="+mn-lt"/>
                <a:ea typeface="+mn-ea"/>
                <a:cs typeface="+mn-cs"/>
              </a:rPr>
            </a:br>
            <a:r>
              <a:rPr lang="nb-NO" sz="1200" b="1" i="0" kern="1200" dirty="0">
                <a:solidFill>
                  <a:schemeClr val="tx1"/>
                </a:solidFill>
                <a:effectLst/>
                <a:latin typeface="+mn-lt"/>
                <a:ea typeface="+mn-ea"/>
                <a:cs typeface="+mn-cs"/>
              </a:rPr>
              <a:t>Hvordan lager man en </a:t>
            </a:r>
            <a:r>
              <a:rPr lang="nb-NO" sz="1200" b="1" i="0" kern="1200" dirty="0" err="1">
                <a:solidFill>
                  <a:schemeClr val="tx1"/>
                </a:solidFill>
                <a:effectLst/>
                <a:latin typeface="+mn-lt"/>
                <a:ea typeface="+mn-ea"/>
                <a:cs typeface="+mn-cs"/>
              </a:rPr>
              <a:t>use</a:t>
            </a:r>
            <a:r>
              <a:rPr lang="nb-NO" sz="1200" b="1" i="0" kern="1200" dirty="0">
                <a:solidFill>
                  <a:schemeClr val="tx1"/>
                </a:solidFill>
                <a:effectLst/>
                <a:latin typeface="+mn-lt"/>
                <a:ea typeface="+mn-ea"/>
                <a:cs typeface="+mn-cs"/>
              </a:rPr>
              <a:t> case:</a:t>
            </a:r>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Har en aktør som representerer en bruker. Aktøren har assosiasjoner med flere </a:t>
            </a:r>
            <a:r>
              <a:rPr lang="nb-NO" sz="1200" b="0" i="0" kern="1200" dirty="0" err="1">
                <a:solidFill>
                  <a:schemeClr val="tx1"/>
                </a:solidFill>
                <a:effectLst/>
                <a:latin typeface="+mn-lt"/>
                <a:ea typeface="+mn-ea"/>
                <a:cs typeface="+mn-cs"/>
              </a:rPr>
              <a:t>use</a:t>
            </a:r>
            <a:r>
              <a:rPr lang="nb-NO" sz="1200" b="0" i="0" kern="1200" dirty="0">
                <a:solidFill>
                  <a:schemeClr val="tx1"/>
                </a:solidFill>
                <a:effectLst/>
                <a:latin typeface="+mn-lt"/>
                <a:ea typeface="+mn-ea"/>
                <a:cs typeface="+mn-cs"/>
              </a:rPr>
              <a:t>-caser koblet med en linje. Bruker "</a:t>
            </a:r>
            <a:r>
              <a:rPr lang="nb-NO" sz="1200" b="0" i="0" kern="1200" dirty="0" err="1">
                <a:solidFill>
                  <a:schemeClr val="tx1"/>
                </a:solidFill>
                <a:effectLst/>
                <a:latin typeface="+mn-lt"/>
                <a:ea typeface="+mn-ea"/>
                <a:cs typeface="+mn-cs"/>
              </a:rPr>
              <a:t>extend</a:t>
            </a:r>
            <a:r>
              <a:rPr lang="nb-NO" sz="1200" b="0" i="0" kern="1200" dirty="0">
                <a:solidFill>
                  <a:schemeClr val="tx1"/>
                </a:solidFill>
                <a:effectLst/>
                <a:latin typeface="+mn-lt"/>
                <a:ea typeface="+mn-ea"/>
                <a:cs typeface="+mn-cs"/>
              </a:rPr>
              <a:t>" og "</a:t>
            </a:r>
            <a:r>
              <a:rPr lang="nb-NO" sz="1200" b="0" i="0" kern="1200" dirty="0" err="1">
                <a:solidFill>
                  <a:schemeClr val="tx1"/>
                </a:solidFill>
                <a:effectLst/>
                <a:latin typeface="+mn-lt"/>
                <a:ea typeface="+mn-ea"/>
                <a:cs typeface="+mn-cs"/>
              </a:rPr>
              <a:t>include</a:t>
            </a:r>
            <a:r>
              <a:rPr lang="nb-NO" sz="1200" b="0" i="0" kern="1200" dirty="0">
                <a:solidFill>
                  <a:schemeClr val="tx1"/>
                </a:solidFill>
                <a:effectLst/>
                <a:latin typeface="+mn-lt"/>
                <a:ea typeface="+mn-ea"/>
                <a:cs typeface="+mn-cs"/>
              </a:rPr>
              <a:t>" for å koble sammen deler av. Kan også bruke systemgrense for å skille ulike </a:t>
            </a:r>
            <a:r>
              <a:rPr lang="nb-NO" sz="1200" b="0" i="0" kern="1200" dirty="0" err="1">
                <a:solidFill>
                  <a:schemeClr val="tx1"/>
                </a:solidFill>
                <a:effectLst/>
                <a:latin typeface="+mn-lt"/>
                <a:ea typeface="+mn-ea"/>
                <a:cs typeface="+mn-cs"/>
              </a:rPr>
              <a:t>use</a:t>
            </a:r>
            <a:r>
              <a:rPr lang="nb-NO" sz="1200" b="0" i="0" kern="1200" dirty="0">
                <a:solidFill>
                  <a:schemeClr val="tx1"/>
                </a:solidFill>
                <a:effectLst/>
                <a:latin typeface="+mn-lt"/>
                <a:ea typeface="+mn-ea"/>
                <a:cs typeface="+mn-cs"/>
              </a:rPr>
              <a:t>-caser i </a:t>
            </a:r>
            <a:r>
              <a:rPr lang="nb-NO" sz="1200" b="0" i="0" kern="1200" dirty="0" err="1">
                <a:solidFill>
                  <a:schemeClr val="tx1"/>
                </a:solidFill>
                <a:effectLst/>
                <a:latin typeface="+mn-lt"/>
                <a:ea typeface="+mn-ea"/>
                <a:cs typeface="+mn-cs"/>
              </a:rPr>
              <a:t>use</a:t>
            </a:r>
            <a:r>
              <a:rPr lang="nb-NO" sz="1200" b="0" i="0" kern="1200" dirty="0">
                <a:solidFill>
                  <a:schemeClr val="tx1"/>
                </a:solidFill>
                <a:effectLst/>
                <a:latin typeface="+mn-lt"/>
                <a:ea typeface="+mn-ea"/>
                <a:cs typeface="+mn-cs"/>
              </a:rPr>
              <a:t>-casen.</a:t>
            </a:r>
          </a:p>
        </p:txBody>
      </p:sp>
      <p:sp>
        <p:nvSpPr>
          <p:cNvPr id="4" name="Plassholder for lysbildenummer 3">
            <a:extLst>
              <a:ext uri="{FF2B5EF4-FFF2-40B4-BE49-F238E27FC236}">
                <a16:creationId xmlns:a16="http://schemas.microsoft.com/office/drawing/2014/main" id="{4EB5416C-F97F-5718-DE27-4CFF066AFDCD}"/>
              </a:ext>
            </a:extLst>
          </p:cNvPr>
          <p:cNvSpPr>
            <a:spLocks noGrp="1"/>
          </p:cNvSpPr>
          <p:nvPr>
            <p:ph type="sldNum" sz="quarter" idx="5"/>
          </p:nvPr>
        </p:nvSpPr>
        <p:spPr/>
        <p:txBody>
          <a:bodyPr/>
          <a:lstStyle/>
          <a:p>
            <a:fld id="{ED8CD5F7-2931-42C6-9B3E-A6C700901896}" type="slidenum">
              <a:rPr lang="nb-NO" smtClean="0"/>
              <a:t>12</a:t>
            </a:fld>
            <a:endParaRPr lang="nb-NO"/>
          </a:p>
        </p:txBody>
      </p:sp>
    </p:spTree>
    <p:extLst>
      <p:ext uri="{BB962C8B-B14F-4D97-AF65-F5344CB8AC3E}">
        <p14:creationId xmlns:p14="http://schemas.microsoft.com/office/powerpoint/2010/main" val="19174069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FE953-2E8A-3980-1F99-CE9C05C62A77}"/>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1A1804B0-6BB7-30C9-B1DE-6FBF3BF2AB0B}"/>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F985C597-10F2-73A8-065D-5BCD484CD801}"/>
              </a:ext>
            </a:extLst>
          </p:cNvPr>
          <p:cNvSpPr>
            <a:spLocks noGrp="1"/>
          </p:cNvSpPr>
          <p:nvPr>
            <p:ph type="body" idx="1"/>
          </p:nvPr>
        </p:nvSpPr>
        <p:spPr/>
        <p:txBody>
          <a:bodyPr/>
          <a:lstStyle/>
          <a:p>
            <a:r>
              <a:rPr lang="nb-NO" sz="1200" b="1" i="0" kern="1200" dirty="0">
                <a:solidFill>
                  <a:schemeClr val="tx1"/>
                </a:solidFill>
                <a:effectLst/>
                <a:latin typeface="+mn-lt"/>
                <a:ea typeface="+mn-ea"/>
                <a:cs typeface="+mn-cs"/>
              </a:rPr>
              <a:t>Definisjon:</a:t>
            </a:r>
            <a:r>
              <a:rPr lang="nb-NO" sz="1200" b="0" i="0" kern="1200" dirty="0">
                <a:solidFill>
                  <a:schemeClr val="tx1"/>
                </a:solidFill>
                <a:effectLst/>
                <a:latin typeface="+mn-lt"/>
                <a:ea typeface="+mn-ea"/>
                <a:cs typeface="+mn-cs"/>
              </a:rPr>
              <a:t> Beskrive data og funksjonalitet innad et domene abstrakt. Definerer en rekke konsepter og relasjonene mellom dem.</a:t>
            </a:r>
          </a:p>
          <a:p>
            <a:r>
              <a:rPr lang="nb-NO" sz="1200" b="0" i="0" kern="1200" dirty="0">
                <a:solidFill>
                  <a:schemeClr val="tx1"/>
                </a:solidFill>
                <a:effectLst/>
                <a:latin typeface="+mn-lt"/>
                <a:ea typeface="+mn-ea"/>
                <a:cs typeface="+mn-cs"/>
              </a:rPr>
              <a:t>Mål: </a:t>
            </a:r>
            <a:r>
              <a:rPr lang="nb-NO" sz="1200" b="0" i="1" kern="1200" dirty="0">
                <a:solidFill>
                  <a:schemeClr val="tx1"/>
                </a:solidFill>
                <a:effectLst/>
                <a:latin typeface="+mn-lt"/>
                <a:ea typeface="+mn-ea"/>
                <a:cs typeface="+mn-cs"/>
              </a:rPr>
              <a:t>alle</a:t>
            </a:r>
            <a:r>
              <a:rPr lang="nb-NO" sz="1200" b="0" i="0" kern="1200" dirty="0">
                <a:solidFill>
                  <a:schemeClr val="tx1"/>
                </a:solidFill>
                <a:effectLst/>
                <a:latin typeface="+mn-lt"/>
                <a:ea typeface="+mn-ea"/>
                <a:cs typeface="+mn-cs"/>
              </a:rPr>
              <a:t> skal få felles forståelse over domenet</a:t>
            </a:r>
          </a:p>
          <a:p>
            <a:r>
              <a:rPr lang="nb-NO" sz="1200" b="0" i="0" kern="1200" dirty="0">
                <a:solidFill>
                  <a:schemeClr val="tx1"/>
                </a:solidFill>
                <a:effectLst/>
                <a:latin typeface="+mn-lt"/>
                <a:ea typeface="+mn-ea"/>
                <a:cs typeface="+mn-cs"/>
              </a:rPr>
              <a:t>Domenemodellen skal ikke være detaljert som de andre modellene. Konseptene og relasjonene skal vises på en oversiktlig og enkelt måte. Ofte brukes et felles språk med navngiving osv.</a:t>
            </a:r>
          </a:p>
        </p:txBody>
      </p:sp>
      <p:sp>
        <p:nvSpPr>
          <p:cNvPr id="4" name="Plassholder for lysbildenummer 3">
            <a:extLst>
              <a:ext uri="{FF2B5EF4-FFF2-40B4-BE49-F238E27FC236}">
                <a16:creationId xmlns:a16="http://schemas.microsoft.com/office/drawing/2014/main" id="{D7C0ED15-41B1-3C1D-D688-80B7F08B87CA}"/>
              </a:ext>
            </a:extLst>
          </p:cNvPr>
          <p:cNvSpPr>
            <a:spLocks noGrp="1"/>
          </p:cNvSpPr>
          <p:nvPr>
            <p:ph type="sldNum" sz="quarter" idx="5"/>
          </p:nvPr>
        </p:nvSpPr>
        <p:spPr/>
        <p:txBody>
          <a:bodyPr/>
          <a:lstStyle/>
          <a:p>
            <a:fld id="{ED8CD5F7-2931-42C6-9B3E-A6C700901896}" type="slidenum">
              <a:rPr lang="nb-NO" smtClean="0"/>
              <a:t>13</a:t>
            </a:fld>
            <a:endParaRPr lang="nb-NO"/>
          </a:p>
        </p:txBody>
      </p:sp>
    </p:spTree>
    <p:extLst>
      <p:ext uri="{BB962C8B-B14F-4D97-AF65-F5344CB8AC3E}">
        <p14:creationId xmlns:p14="http://schemas.microsoft.com/office/powerpoint/2010/main" val="7075588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152BD-DE85-2C03-AD5F-A88189A21D1D}"/>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1FC8CBB6-95F3-402A-028C-F0F3DCA36AD2}"/>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C8D47465-4B72-59AB-7EFB-161E2E9C3DB2}"/>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Viser hvordan klassene/komponenter i applikasjonen samarbeider over tid</a:t>
            </a:r>
          </a:p>
          <a:p>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Elementene i et sekvensdiagram:</a:t>
            </a:r>
          </a:p>
          <a:p>
            <a:pPr marL="171450" indent="-171450">
              <a:buFont typeface="Arial" panose="020B0604020202020204" pitchFamily="34" charset="0"/>
              <a:buChar char="•"/>
            </a:pPr>
            <a:r>
              <a:rPr lang="nb-NO" sz="1200" b="1" i="0" kern="1200" dirty="0">
                <a:solidFill>
                  <a:schemeClr val="tx1"/>
                </a:solidFill>
                <a:effectLst/>
                <a:latin typeface="+mn-lt"/>
                <a:ea typeface="+mn-ea"/>
                <a:cs typeface="+mn-cs"/>
              </a:rPr>
              <a:t>Deltakerne (klasser, aktører, objekt, komponenter) er boksene</a:t>
            </a:r>
          </a:p>
          <a:p>
            <a:pPr marL="171450" indent="-171450">
              <a:buFont typeface="Arial" panose="020B0604020202020204" pitchFamily="34" charset="0"/>
              <a:buChar char="•"/>
            </a:pPr>
            <a:r>
              <a:rPr lang="nb-NO" sz="1200" b="1" i="0" kern="1200" dirty="0">
                <a:solidFill>
                  <a:schemeClr val="tx1"/>
                </a:solidFill>
                <a:effectLst/>
                <a:latin typeface="+mn-lt"/>
                <a:ea typeface="+mn-ea"/>
                <a:cs typeface="+mn-cs"/>
              </a:rPr>
              <a:t>Funksjoner er horisontale linjer som peker mot høyre</a:t>
            </a:r>
          </a:p>
          <a:p>
            <a:pPr marL="171450" indent="-171450">
              <a:buFont typeface="Arial" panose="020B0604020202020204" pitchFamily="34" charset="0"/>
              <a:buChar char="•"/>
            </a:pPr>
            <a:r>
              <a:rPr lang="nb-NO" sz="1200" b="1" i="0" kern="1200" dirty="0">
                <a:solidFill>
                  <a:schemeClr val="tx1"/>
                </a:solidFill>
                <a:effectLst/>
                <a:latin typeface="+mn-lt"/>
                <a:ea typeface="+mn-ea"/>
                <a:cs typeface="+mn-cs"/>
              </a:rPr>
              <a:t>Stiplet vertikal linje: deltakers levetid/tidslinje</a:t>
            </a:r>
          </a:p>
          <a:p>
            <a:pPr marL="171450" indent="-171450">
              <a:buFont typeface="Arial" panose="020B0604020202020204" pitchFamily="34" charset="0"/>
              <a:buChar char="•"/>
            </a:pPr>
            <a:r>
              <a:rPr lang="nb-NO" sz="1200" b="1" i="0" kern="1200" dirty="0">
                <a:solidFill>
                  <a:schemeClr val="tx1"/>
                </a:solidFill>
                <a:effectLst/>
                <a:latin typeface="+mn-lt"/>
                <a:ea typeface="+mn-ea"/>
                <a:cs typeface="+mn-cs"/>
              </a:rPr>
              <a:t>Solid rektangel på vertikale linjen: når en deltaker utfører en operasjon</a:t>
            </a:r>
          </a:p>
          <a:p>
            <a:pPr marL="171450" indent="-171450">
              <a:buFont typeface="Arial" panose="020B0604020202020204" pitchFamily="34" charset="0"/>
              <a:buChar char="•"/>
            </a:pPr>
            <a:r>
              <a:rPr lang="nb-NO" sz="1200" b="1" i="0" kern="1200" dirty="0">
                <a:solidFill>
                  <a:schemeClr val="tx1"/>
                </a:solidFill>
                <a:effectLst/>
                <a:latin typeface="+mn-lt"/>
                <a:ea typeface="+mn-ea"/>
                <a:cs typeface="+mn-cs"/>
              </a:rPr>
              <a:t>Ramme representerer løkker</a:t>
            </a:r>
          </a:p>
        </p:txBody>
      </p:sp>
      <p:sp>
        <p:nvSpPr>
          <p:cNvPr id="4" name="Plassholder for lysbildenummer 3">
            <a:extLst>
              <a:ext uri="{FF2B5EF4-FFF2-40B4-BE49-F238E27FC236}">
                <a16:creationId xmlns:a16="http://schemas.microsoft.com/office/drawing/2014/main" id="{04EDB155-9FD2-E8C1-7BE9-6A782F7BEF50}"/>
              </a:ext>
            </a:extLst>
          </p:cNvPr>
          <p:cNvSpPr>
            <a:spLocks noGrp="1"/>
          </p:cNvSpPr>
          <p:nvPr>
            <p:ph type="sldNum" sz="quarter" idx="5"/>
          </p:nvPr>
        </p:nvSpPr>
        <p:spPr/>
        <p:txBody>
          <a:bodyPr/>
          <a:lstStyle/>
          <a:p>
            <a:fld id="{ED8CD5F7-2931-42C6-9B3E-A6C700901896}" type="slidenum">
              <a:rPr lang="nb-NO" smtClean="0"/>
              <a:t>14</a:t>
            </a:fld>
            <a:endParaRPr lang="nb-NO"/>
          </a:p>
        </p:txBody>
      </p:sp>
    </p:spTree>
    <p:extLst>
      <p:ext uri="{BB962C8B-B14F-4D97-AF65-F5344CB8AC3E}">
        <p14:creationId xmlns:p14="http://schemas.microsoft.com/office/powerpoint/2010/main" val="22081954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0FFE9-12C8-9725-9CFD-50552E625DAB}"/>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3D87EFCE-D5E1-B047-C1BE-3A1A90C42A57}"/>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0E9BF5D4-F8EB-4523-E0E1-2BE046EB1C53}"/>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Viser hvilke rekkefølge aktiviteter utføres i, dens betingelser og tilhørende handlinger. Dermed ser vi hvilke handlinger som utføres </a:t>
            </a:r>
            <a:r>
              <a:rPr lang="nb-NO" sz="1200" b="0" i="0" kern="1200" dirty="0" err="1">
                <a:solidFill>
                  <a:schemeClr val="tx1"/>
                </a:solidFill>
                <a:effectLst/>
                <a:latin typeface="+mn-lt"/>
                <a:ea typeface="+mn-ea"/>
                <a:cs typeface="+mn-cs"/>
              </a:rPr>
              <a:t>asynkronisk</a:t>
            </a:r>
            <a:r>
              <a:rPr lang="nb-NO" sz="1200" b="0" i="0" kern="1200" dirty="0">
                <a:solidFill>
                  <a:schemeClr val="tx1"/>
                </a:solidFill>
                <a:effectLst/>
                <a:latin typeface="+mn-lt"/>
                <a:ea typeface="+mn-ea"/>
                <a:cs typeface="+mn-cs"/>
              </a:rPr>
              <a:t> og hva som er avhengig av hverandre.</a:t>
            </a:r>
          </a:p>
          <a:p>
            <a:endParaRPr lang="nb-NO"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b-NO" sz="1200" b="0" i="0" kern="1200" dirty="0">
                <a:solidFill>
                  <a:schemeClr val="tx1"/>
                </a:solidFill>
                <a:effectLst/>
                <a:latin typeface="+mn-lt"/>
                <a:ea typeface="+mn-ea"/>
                <a:cs typeface="+mn-cs"/>
              </a:rPr>
              <a:t>Elementene i et aktivitetsdiagram:</a:t>
            </a:r>
          </a:p>
          <a:p>
            <a:pPr marL="171450" indent="-171450">
              <a:buFont typeface="Arial" panose="020B0604020202020204" pitchFamily="34" charset="0"/>
              <a:buChar char="•"/>
            </a:pPr>
            <a:r>
              <a:rPr lang="nb-NO" sz="1200" b="1" i="0" kern="1200" dirty="0">
                <a:solidFill>
                  <a:schemeClr val="tx1"/>
                </a:solidFill>
                <a:effectLst/>
                <a:latin typeface="+mn-lt"/>
                <a:ea typeface="+mn-ea"/>
                <a:cs typeface="+mn-cs"/>
              </a:rPr>
              <a:t>Aksjoner representeres med bokser. Start og slutt vises med svart sirkel. Overganger mellom aksjoner vises med piler</a:t>
            </a:r>
          </a:p>
          <a:p>
            <a:pPr marL="171450" indent="-171450">
              <a:buFont typeface="Arial" panose="020B0604020202020204" pitchFamily="34" charset="0"/>
              <a:buChar char="•"/>
            </a:pPr>
            <a:r>
              <a:rPr lang="nb-NO" sz="1200" b="1" i="0" kern="1200" dirty="0">
                <a:solidFill>
                  <a:schemeClr val="tx1"/>
                </a:solidFill>
                <a:effectLst/>
                <a:latin typeface="+mn-lt"/>
                <a:ea typeface="+mn-ea"/>
                <a:cs typeface="+mn-cs"/>
              </a:rPr>
              <a:t>Noder</a:t>
            </a:r>
            <a:r>
              <a:rPr lang="nb-NO" sz="1200" b="0" i="0" kern="1200" dirty="0">
                <a:solidFill>
                  <a:schemeClr val="tx1"/>
                </a:solidFill>
                <a:effectLst/>
                <a:latin typeface="+mn-lt"/>
                <a:ea typeface="+mn-ea"/>
                <a:cs typeface="+mn-cs"/>
              </a:rPr>
              <a:t>: </a:t>
            </a:r>
          </a:p>
          <a:p>
            <a:pPr marL="457200" lvl="1" indent="0">
              <a:buFont typeface="Arial" panose="020B0604020202020204" pitchFamily="34" charset="0"/>
              <a:buNone/>
            </a:pPr>
            <a:r>
              <a:rPr lang="nb-NO" sz="1200" b="1" i="0" kern="1200" dirty="0">
                <a:solidFill>
                  <a:schemeClr val="tx1"/>
                </a:solidFill>
                <a:effectLst/>
                <a:latin typeface="+mn-lt"/>
                <a:ea typeface="+mn-ea"/>
                <a:cs typeface="+mn-cs"/>
              </a:rPr>
              <a:t>Initial node </a:t>
            </a:r>
            <a:r>
              <a:rPr lang="nb-NO" sz="1200" b="0" i="0" kern="1200" dirty="0">
                <a:solidFill>
                  <a:schemeClr val="tx1"/>
                </a:solidFill>
                <a:effectLst/>
                <a:latin typeface="+mn-lt"/>
                <a:ea typeface="+mn-ea"/>
                <a:cs typeface="+mn-cs"/>
              </a:rPr>
              <a:t>(start)</a:t>
            </a:r>
          </a:p>
          <a:p>
            <a:pPr marL="457200" lvl="1" indent="0">
              <a:buFont typeface="Arial" panose="020B0604020202020204" pitchFamily="34" charset="0"/>
              <a:buNone/>
            </a:pPr>
            <a:r>
              <a:rPr lang="nb-NO" sz="1200" b="1" i="0" kern="1200" dirty="0">
                <a:solidFill>
                  <a:schemeClr val="tx1"/>
                </a:solidFill>
                <a:effectLst/>
                <a:latin typeface="+mn-lt"/>
                <a:ea typeface="+mn-ea"/>
                <a:cs typeface="+mn-cs"/>
              </a:rPr>
              <a:t>Final node </a:t>
            </a:r>
            <a:r>
              <a:rPr lang="nb-NO" sz="1200" b="0" i="0" kern="1200" dirty="0">
                <a:solidFill>
                  <a:schemeClr val="tx1"/>
                </a:solidFill>
                <a:effectLst/>
                <a:latin typeface="+mn-lt"/>
                <a:ea typeface="+mn-ea"/>
                <a:cs typeface="+mn-cs"/>
              </a:rPr>
              <a:t>(slutt)</a:t>
            </a:r>
          </a:p>
          <a:p>
            <a:pPr marL="457200" lvl="1" indent="0">
              <a:buFont typeface="Arial" panose="020B0604020202020204" pitchFamily="34" charset="0"/>
              <a:buNone/>
            </a:pPr>
            <a:r>
              <a:rPr lang="nb-NO" sz="1200" b="1" i="0" kern="1200" dirty="0" err="1">
                <a:solidFill>
                  <a:schemeClr val="tx1"/>
                </a:solidFill>
                <a:effectLst/>
                <a:latin typeface="+mn-lt"/>
                <a:ea typeface="+mn-ea"/>
                <a:cs typeface="+mn-cs"/>
              </a:rPr>
              <a:t>Decision</a:t>
            </a:r>
            <a:r>
              <a:rPr lang="nb-NO" sz="1200" b="1" i="0" kern="1200" dirty="0">
                <a:solidFill>
                  <a:schemeClr val="tx1"/>
                </a:solidFill>
                <a:effectLst/>
                <a:latin typeface="+mn-lt"/>
                <a:ea typeface="+mn-ea"/>
                <a:cs typeface="+mn-cs"/>
              </a:rPr>
              <a:t> node </a:t>
            </a:r>
            <a:r>
              <a:rPr lang="nb-NO" sz="1200" b="0" i="0" kern="1200" dirty="0">
                <a:solidFill>
                  <a:schemeClr val="tx1"/>
                </a:solidFill>
                <a:effectLst/>
                <a:latin typeface="+mn-lt"/>
                <a:ea typeface="+mn-ea"/>
                <a:cs typeface="+mn-cs"/>
              </a:rPr>
              <a:t>(betingelse)</a:t>
            </a:r>
          </a:p>
          <a:p>
            <a:pPr marL="457200" lvl="1" indent="0">
              <a:buFont typeface="Arial" panose="020B0604020202020204" pitchFamily="34" charset="0"/>
              <a:buNone/>
            </a:pPr>
            <a:r>
              <a:rPr lang="nb-NO" sz="1200" b="1" i="0" kern="1200" dirty="0">
                <a:solidFill>
                  <a:schemeClr val="tx1"/>
                </a:solidFill>
                <a:effectLst/>
                <a:latin typeface="+mn-lt"/>
                <a:ea typeface="+mn-ea"/>
                <a:cs typeface="+mn-cs"/>
              </a:rPr>
              <a:t>Fork node </a:t>
            </a:r>
            <a:r>
              <a:rPr lang="nb-NO" sz="1200" b="0" i="0" kern="1200" dirty="0">
                <a:solidFill>
                  <a:schemeClr val="tx1"/>
                </a:solidFill>
                <a:effectLst/>
                <a:latin typeface="+mn-lt"/>
                <a:ea typeface="+mn-ea"/>
                <a:cs typeface="+mn-cs"/>
              </a:rPr>
              <a:t>(parallell start)</a:t>
            </a:r>
          </a:p>
          <a:p>
            <a:pPr marL="457200" lvl="1" indent="0">
              <a:buFont typeface="Arial" panose="020B0604020202020204" pitchFamily="34" charset="0"/>
              <a:buNone/>
            </a:pPr>
            <a:r>
              <a:rPr lang="nb-NO" sz="1200" b="1" i="0" kern="1200" dirty="0" err="1">
                <a:solidFill>
                  <a:schemeClr val="tx1"/>
                </a:solidFill>
                <a:effectLst/>
                <a:latin typeface="+mn-lt"/>
                <a:ea typeface="+mn-ea"/>
                <a:cs typeface="+mn-cs"/>
              </a:rPr>
              <a:t>Join</a:t>
            </a:r>
            <a:r>
              <a:rPr lang="nb-NO" sz="1200" b="1" i="0" kern="1200" dirty="0">
                <a:solidFill>
                  <a:schemeClr val="tx1"/>
                </a:solidFill>
                <a:effectLst/>
                <a:latin typeface="+mn-lt"/>
                <a:ea typeface="+mn-ea"/>
                <a:cs typeface="+mn-cs"/>
              </a:rPr>
              <a:t> node </a:t>
            </a:r>
            <a:r>
              <a:rPr lang="nb-NO" sz="1200" b="0" i="0" kern="1200" dirty="0">
                <a:solidFill>
                  <a:schemeClr val="tx1"/>
                </a:solidFill>
                <a:effectLst/>
                <a:latin typeface="+mn-lt"/>
                <a:ea typeface="+mn-ea"/>
                <a:cs typeface="+mn-cs"/>
              </a:rPr>
              <a:t>(parallell slutt)</a:t>
            </a:r>
          </a:p>
          <a:p>
            <a:pPr marL="457200" lvl="1" indent="0">
              <a:buFont typeface="Arial" panose="020B0604020202020204" pitchFamily="34" charset="0"/>
              <a:buNone/>
            </a:pPr>
            <a:r>
              <a:rPr lang="nb-NO" sz="1200" b="1" i="0" kern="1200" dirty="0" err="1">
                <a:solidFill>
                  <a:schemeClr val="tx1"/>
                </a:solidFill>
                <a:effectLst/>
                <a:latin typeface="+mn-lt"/>
                <a:ea typeface="+mn-ea"/>
                <a:cs typeface="+mn-cs"/>
              </a:rPr>
              <a:t>Merge</a:t>
            </a:r>
            <a:r>
              <a:rPr lang="nb-NO" sz="1200" b="1" i="0" kern="1200" dirty="0">
                <a:solidFill>
                  <a:schemeClr val="tx1"/>
                </a:solidFill>
                <a:effectLst/>
                <a:latin typeface="+mn-lt"/>
                <a:ea typeface="+mn-ea"/>
                <a:cs typeface="+mn-cs"/>
              </a:rPr>
              <a:t> node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nb-NO" sz="1200" b="1" i="0" kern="1200" dirty="0">
              <a:solidFill>
                <a:schemeClr val="tx1"/>
              </a:solidFill>
              <a:effectLst/>
              <a:latin typeface="+mn-lt"/>
              <a:ea typeface="+mn-ea"/>
              <a:cs typeface="+mn-cs"/>
            </a:endParaRPr>
          </a:p>
        </p:txBody>
      </p:sp>
      <p:sp>
        <p:nvSpPr>
          <p:cNvPr id="4" name="Plassholder for lysbildenummer 3">
            <a:extLst>
              <a:ext uri="{FF2B5EF4-FFF2-40B4-BE49-F238E27FC236}">
                <a16:creationId xmlns:a16="http://schemas.microsoft.com/office/drawing/2014/main" id="{AB0BD717-5E33-CB2F-B7ED-3437F06970C8}"/>
              </a:ext>
            </a:extLst>
          </p:cNvPr>
          <p:cNvSpPr>
            <a:spLocks noGrp="1"/>
          </p:cNvSpPr>
          <p:nvPr>
            <p:ph type="sldNum" sz="quarter" idx="5"/>
          </p:nvPr>
        </p:nvSpPr>
        <p:spPr/>
        <p:txBody>
          <a:bodyPr/>
          <a:lstStyle/>
          <a:p>
            <a:fld id="{ED8CD5F7-2931-42C6-9B3E-A6C700901896}" type="slidenum">
              <a:rPr lang="nb-NO" smtClean="0"/>
              <a:t>15</a:t>
            </a:fld>
            <a:endParaRPr lang="nb-NO"/>
          </a:p>
        </p:txBody>
      </p:sp>
    </p:spTree>
    <p:extLst>
      <p:ext uri="{BB962C8B-B14F-4D97-AF65-F5344CB8AC3E}">
        <p14:creationId xmlns:p14="http://schemas.microsoft.com/office/powerpoint/2010/main" val="11379387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3796F-0379-98DC-5A5B-BFF8F6C18FDB}"/>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F5F7C1E6-7109-5EA6-D4A0-8EA2FDB60177}"/>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EC5F5AA6-594B-7A32-D3F2-62A55E61E066}"/>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Modellerer den statiske strukturen til et system. Viser klassene (typer objekter), attributtene, metodene og relasjonene mellom dem. Kan brukes til å generere kode (forward </a:t>
            </a:r>
            <a:r>
              <a:rPr lang="nb-NO" sz="1200" b="0" i="0" kern="1200" dirty="0" err="1">
                <a:solidFill>
                  <a:schemeClr val="tx1"/>
                </a:solidFill>
                <a:effectLst/>
                <a:latin typeface="+mn-lt"/>
                <a:ea typeface="+mn-ea"/>
                <a:cs typeface="+mn-cs"/>
              </a:rPr>
              <a:t>engineering</a:t>
            </a:r>
            <a:r>
              <a:rPr lang="nb-NO" sz="1200" b="0" i="0" kern="1200" dirty="0">
                <a:solidFill>
                  <a:schemeClr val="tx1"/>
                </a:solidFill>
                <a:effectLst/>
                <a:latin typeface="+mn-lt"/>
                <a:ea typeface="+mn-ea"/>
                <a:cs typeface="+mn-cs"/>
              </a:rPr>
              <a:t>) eller utledes fra eksisterende kode (</a:t>
            </a:r>
            <a:r>
              <a:rPr lang="nb-NO" sz="1200" b="0" i="0" kern="1200" dirty="0" err="1">
                <a:solidFill>
                  <a:schemeClr val="tx1"/>
                </a:solidFill>
                <a:effectLst/>
                <a:latin typeface="+mn-lt"/>
                <a:ea typeface="+mn-ea"/>
                <a:cs typeface="+mn-cs"/>
              </a:rPr>
              <a:t>reverse</a:t>
            </a:r>
            <a:r>
              <a:rPr lang="nb-NO" sz="1200" b="0" i="0" kern="1200" dirty="0">
                <a:solidFill>
                  <a:schemeClr val="tx1"/>
                </a:solidFill>
                <a:effectLst/>
                <a:latin typeface="+mn-lt"/>
                <a:ea typeface="+mn-ea"/>
                <a:cs typeface="+mn-cs"/>
              </a:rPr>
              <a:t> </a:t>
            </a:r>
            <a:r>
              <a:rPr lang="nb-NO" sz="1200" b="0" i="0" kern="1200" dirty="0" err="1">
                <a:solidFill>
                  <a:schemeClr val="tx1"/>
                </a:solidFill>
                <a:effectLst/>
                <a:latin typeface="+mn-lt"/>
                <a:ea typeface="+mn-ea"/>
                <a:cs typeface="+mn-cs"/>
              </a:rPr>
              <a:t>engineering</a:t>
            </a:r>
            <a:r>
              <a:rPr lang="nb-NO" sz="1200" b="0" i="0" kern="1200" dirty="0">
                <a:solidFill>
                  <a:schemeClr val="tx1"/>
                </a:solidFill>
                <a:effectLst/>
                <a:latin typeface="+mn-lt"/>
                <a:ea typeface="+mn-ea"/>
                <a:cs typeface="+mn-cs"/>
              </a:rPr>
              <a:t>).</a:t>
            </a:r>
          </a:p>
          <a:p>
            <a:endParaRPr lang="nb-NO"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b-NO" sz="1200" b="0" i="0" kern="1200" dirty="0">
                <a:solidFill>
                  <a:schemeClr val="tx1"/>
                </a:solidFill>
                <a:effectLst/>
                <a:latin typeface="+mn-lt"/>
                <a:ea typeface="+mn-ea"/>
                <a:cs typeface="+mn-cs"/>
              </a:rPr>
              <a:t>Elementene i et klassediagram:</a:t>
            </a:r>
            <a:endParaRPr lang="nb-NO" sz="1200" b="1" i="0" kern="1200" dirty="0">
              <a:solidFill>
                <a:schemeClr val="tx1"/>
              </a:solidFill>
              <a:effectLst/>
              <a:latin typeface="+mn-lt"/>
              <a:ea typeface="+mn-ea"/>
              <a:cs typeface="+mn-cs"/>
            </a:endParaRPr>
          </a:p>
          <a:p>
            <a:pPr marL="171450" indent="-171450">
              <a:buFont typeface="Arial" panose="020B0604020202020204" pitchFamily="34" charset="0"/>
              <a:buChar char="•"/>
            </a:pPr>
            <a:r>
              <a:rPr lang="nb-NO" sz="1200" b="1" i="0" kern="1200" dirty="0">
                <a:solidFill>
                  <a:schemeClr val="tx1"/>
                </a:solidFill>
                <a:effectLst/>
                <a:latin typeface="+mn-lt"/>
                <a:ea typeface="+mn-ea"/>
                <a:cs typeface="+mn-cs"/>
              </a:rPr>
              <a:t>Klasse:</a:t>
            </a:r>
            <a:r>
              <a:rPr lang="nb-NO" sz="1200" b="0" i="0" kern="1200" dirty="0">
                <a:solidFill>
                  <a:schemeClr val="tx1"/>
                </a:solidFill>
                <a:effectLst/>
                <a:latin typeface="+mn-lt"/>
                <a:ea typeface="+mn-ea"/>
                <a:cs typeface="+mn-cs"/>
              </a:rPr>
              <a:t> navn, attributter og metoder</a:t>
            </a:r>
            <a:endParaRPr lang="nb-NO" sz="1200" b="1" i="0" kern="1200" dirty="0">
              <a:solidFill>
                <a:schemeClr val="tx1"/>
              </a:solidFill>
              <a:effectLst/>
              <a:latin typeface="+mn-lt"/>
              <a:ea typeface="+mn-ea"/>
              <a:cs typeface="+mn-cs"/>
            </a:endParaRPr>
          </a:p>
          <a:p>
            <a:pPr marL="171450" indent="-171450">
              <a:buFont typeface="Arial" panose="020B0604020202020204" pitchFamily="34" charset="0"/>
              <a:buChar char="•"/>
            </a:pPr>
            <a:r>
              <a:rPr lang="nb-NO" sz="1200" b="1" i="0" kern="1200" dirty="0">
                <a:solidFill>
                  <a:schemeClr val="tx1"/>
                </a:solidFill>
                <a:effectLst/>
                <a:latin typeface="+mn-lt"/>
                <a:ea typeface="+mn-ea"/>
                <a:cs typeface="+mn-cs"/>
              </a:rPr>
              <a:t>Relasjoner:</a:t>
            </a:r>
            <a:endParaRPr lang="nb-NO" sz="1200" b="0" i="0" kern="1200" dirty="0">
              <a:solidFill>
                <a:schemeClr val="tx1"/>
              </a:solidFill>
              <a:effectLst/>
              <a:latin typeface="+mn-lt"/>
              <a:ea typeface="+mn-ea"/>
              <a:cs typeface="+mn-cs"/>
            </a:endParaRPr>
          </a:p>
          <a:p>
            <a:pPr lvl="1"/>
            <a:r>
              <a:rPr lang="nb-NO" sz="1200" b="1" i="0" kern="1200" dirty="0">
                <a:solidFill>
                  <a:schemeClr val="tx1"/>
                </a:solidFill>
                <a:effectLst/>
                <a:latin typeface="+mn-lt"/>
                <a:ea typeface="+mn-ea"/>
                <a:cs typeface="+mn-cs"/>
              </a:rPr>
              <a:t>Avhengighet (</a:t>
            </a:r>
            <a:r>
              <a:rPr lang="nb-NO" sz="1200" b="1" i="0" kern="1200" dirty="0" err="1">
                <a:solidFill>
                  <a:schemeClr val="tx1"/>
                </a:solidFill>
                <a:effectLst/>
                <a:latin typeface="+mn-lt"/>
                <a:ea typeface="+mn-ea"/>
                <a:cs typeface="+mn-cs"/>
              </a:rPr>
              <a:t>dependency</a:t>
            </a:r>
            <a:r>
              <a:rPr lang="nb-NO" sz="1200" b="1" i="0" kern="1200" dirty="0">
                <a:solidFill>
                  <a:schemeClr val="tx1"/>
                </a:solidFill>
                <a:effectLst/>
                <a:latin typeface="+mn-lt"/>
                <a:ea typeface="+mn-ea"/>
                <a:cs typeface="+mn-cs"/>
              </a:rPr>
              <a:t>):</a:t>
            </a:r>
            <a:r>
              <a:rPr lang="nb-NO" sz="1200" b="0" i="0" kern="1200" dirty="0">
                <a:solidFill>
                  <a:schemeClr val="tx1"/>
                </a:solidFill>
                <a:effectLst/>
                <a:latin typeface="+mn-lt"/>
                <a:ea typeface="+mn-ea"/>
                <a:cs typeface="+mn-cs"/>
              </a:rPr>
              <a:t> klasse brukes av en annen, svak kobling</a:t>
            </a:r>
          </a:p>
          <a:p>
            <a:pPr lvl="1"/>
            <a:r>
              <a:rPr lang="nb-NO" sz="1200" b="1" i="0" kern="1200" dirty="0">
                <a:solidFill>
                  <a:schemeClr val="tx1"/>
                </a:solidFill>
                <a:effectLst/>
                <a:latin typeface="+mn-lt"/>
                <a:ea typeface="+mn-ea"/>
                <a:cs typeface="+mn-cs"/>
              </a:rPr>
              <a:t>Assosiasjon:</a:t>
            </a:r>
            <a:r>
              <a:rPr lang="nb-NO" sz="1200" b="0" i="0" kern="1200" dirty="0">
                <a:solidFill>
                  <a:schemeClr val="tx1"/>
                </a:solidFill>
                <a:effectLst/>
                <a:latin typeface="+mn-lt"/>
                <a:ea typeface="+mn-ea"/>
                <a:cs typeface="+mn-cs"/>
              </a:rPr>
              <a:t> strukturell kobling mellom to klasser, kan ha multiplisitet</a:t>
            </a:r>
          </a:p>
          <a:p>
            <a:pPr lvl="1"/>
            <a:r>
              <a:rPr lang="nb-NO" sz="1200" b="1" i="0" kern="1200" dirty="0">
                <a:solidFill>
                  <a:schemeClr val="tx1"/>
                </a:solidFill>
                <a:effectLst/>
                <a:latin typeface="+mn-lt"/>
                <a:ea typeface="+mn-ea"/>
                <a:cs typeface="+mn-cs"/>
              </a:rPr>
              <a:t>Aggregering (</a:t>
            </a:r>
            <a:r>
              <a:rPr lang="nb-NO" sz="1200" b="1" i="0" kern="1200" dirty="0" err="1">
                <a:solidFill>
                  <a:schemeClr val="tx1"/>
                </a:solidFill>
                <a:effectLst/>
                <a:latin typeface="+mn-lt"/>
                <a:ea typeface="+mn-ea"/>
                <a:cs typeface="+mn-cs"/>
              </a:rPr>
              <a:t>aggregation</a:t>
            </a:r>
            <a:r>
              <a:rPr lang="nb-NO" sz="1200" b="1" i="0" kern="1200" dirty="0">
                <a:solidFill>
                  <a:schemeClr val="tx1"/>
                </a:solidFill>
                <a:effectLst/>
                <a:latin typeface="+mn-lt"/>
                <a:ea typeface="+mn-ea"/>
                <a:cs typeface="+mn-cs"/>
              </a:rPr>
              <a:t>):</a:t>
            </a:r>
            <a:r>
              <a:rPr lang="nb-NO" sz="1200" b="0" i="0" kern="1200" dirty="0">
                <a:solidFill>
                  <a:schemeClr val="tx1"/>
                </a:solidFill>
                <a:effectLst/>
                <a:latin typeface="+mn-lt"/>
                <a:ea typeface="+mn-ea"/>
                <a:cs typeface="+mn-cs"/>
              </a:rPr>
              <a:t> "del av"-relasjon, delene har eget levetid</a:t>
            </a:r>
          </a:p>
          <a:p>
            <a:pPr lvl="1"/>
            <a:r>
              <a:rPr lang="nb-NO" sz="1200" b="1" i="0" kern="1200" dirty="0">
                <a:solidFill>
                  <a:schemeClr val="tx1"/>
                </a:solidFill>
                <a:effectLst/>
                <a:latin typeface="+mn-lt"/>
                <a:ea typeface="+mn-ea"/>
                <a:cs typeface="+mn-cs"/>
              </a:rPr>
              <a:t>Komposisjon (</a:t>
            </a:r>
            <a:r>
              <a:rPr lang="nb-NO" sz="1200" b="1" i="0" kern="1200" dirty="0" err="1">
                <a:solidFill>
                  <a:schemeClr val="tx1"/>
                </a:solidFill>
                <a:effectLst/>
                <a:latin typeface="+mn-lt"/>
                <a:ea typeface="+mn-ea"/>
                <a:cs typeface="+mn-cs"/>
              </a:rPr>
              <a:t>composition</a:t>
            </a:r>
            <a:r>
              <a:rPr lang="nb-NO" sz="1200" b="1" i="0" kern="1200" dirty="0">
                <a:solidFill>
                  <a:schemeClr val="tx1"/>
                </a:solidFill>
                <a:effectLst/>
                <a:latin typeface="+mn-lt"/>
                <a:ea typeface="+mn-ea"/>
                <a:cs typeface="+mn-cs"/>
              </a:rPr>
              <a:t>):</a:t>
            </a:r>
            <a:r>
              <a:rPr lang="nb-NO" sz="1200" b="0" i="0" kern="1200" dirty="0">
                <a:solidFill>
                  <a:schemeClr val="tx1"/>
                </a:solidFill>
                <a:effectLst/>
                <a:latin typeface="+mn-lt"/>
                <a:ea typeface="+mn-ea"/>
                <a:cs typeface="+mn-cs"/>
              </a:rPr>
              <a:t> sterk aggregering – delene ødelegges når helheten ødelegges</a:t>
            </a:r>
          </a:p>
          <a:p>
            <a:pPr lvl="1"/>
            <a:r>
              <a:rPr lang="nb-NO" sz="1200" b="1" i="0" kern="1200" dirty="0">
                <a:solidFill>
                  <a:schemeClr val="tx1"/>
                </a:solidFill>
                <a:effectLst/>
                <a:latin typeface="+mn-lt"/>
                <a:ea typeface="+mn-ea"/>
                <a:cs typeface="+mn-cs"/>
              </a:rPr>
              <a:t>Arv (</a:t>
            </a:r>
            <a:r>
              <a:rPr lang="nb-NO" sz="1200" b="1" i="0" kern="1200" dirty="0" err="1">
                <a:solidFill>
                  <a:schemeClr val="tx1"/>
                </a:solidFill>
                <a:effectLst/>
                <a:latin typeface="+mn-lt"/>
                <a:ea typeface="+mn-ea"/>
                <a:cs typeface="+mn-cs"/>
              </a:rPr>
              <a:t>inheritance</a:t>
            </a:r>
            <a:r>
              <a:rPr lang="nb-NO" sz="1200" b="1" i="0" kern="1200" dirty="0">
                <a:solidFill>
                  <a:schemeClr val="tx1"/>
                </a:solidFill>
                <a:effectLst/>
                <a:latin typeface="+mn-lt"/>
                <a:ea typeface="+mn-ea"/>
                <a:cs typeface="+mn-cs"/>
              </a:rPr>
              <a:t>/</a:t>
            </a:r>
            <a:r>
              <a:rPr lang="nb-NO" sz="1200" b="1" i="0" kern="1200" dirty="0" err="1">
                <a:solidFill>
                  <a:schemeClr val="tx1"/>
                </a:solidFill>
                <a:effectLst/>
                <a:latin typeface="+mn-lt"/>
                <a:ea typeface="+mn-ea"/>
                <a:cs typeface="+mn-cs"/>
              </a:rPr>
              <a:t>generalization</a:t>
            </a:r>
            <a:r>
              <a:rPr lang="nb-NO" sz="1200" b="1" i="0" kern="1200" dirty="0">
                <a:solidFill>
                  <a:schemeClr val="tx1"/>
                </a:solidFill>
                <a:effectLst/>
                <a:latin typeface="+mn-lt"/>
                <a:ea typeface="+mn-ea"/>
                <a:cs typeface="+mn-cs"/>
              </a:rPr>
              <a:t>):</a:t>
            </a:r>
            <a:r>
              <a:rPr lang="nb-NO" sz="1200" b="0" i="0" kern="1200" dirty="0">
                <a:solidFill>
                  <a:schemeClr val="tx1"/>
                </a:solidFill>
                <a:effectLst/>
                <a:latin typeface="+mn-lt"/>
                <a:ea typeface="+mn-ea"/>
                <a:cs typeface="+mn-cs"/>
              </a:rPr>
              <a:t> subklasse arver fra superklasse</a:t>
            </a:r>
          </a:p>
          <a:p>
            <a:pPr lvl="1"/>
            <a:r>
              <a:rPr lang="nb-NO" sz="1200" b="1" i="0" kern="1200" dirty="0">
                <a:solidFill>
                  <a:schemeClr val="tx1"/>
                </a:solidFill>
                <a:effectLst/>
                <a:latin typeface="+mn-lt"/>
                <a:ea typeface="+mn-ea"/>
                <a:cs typeface="+mn-cs"/>
              </a:rPr>
              <a:t>Realisering (</a:t>
            </a:r>
            <a:r>
              <a:rPr lang="nb-NO" sz="1200" b="1" i="0" kern="1200" dirty="0" err="1">
                <a:solidFill>
                  <a:schemeClr val="tx1"/>
                </a:solidFill>
                <a:effectLst/>
                <a:latin typeface="+mn-lt"/>
                <a:ea typeface="+mn-ea"/>
                <a:cs typeface="+mn-cs"/>
              </a:rPr>
              <a:t>realization</a:t>
            </a:r>
            <a:r>
              <a:rPr lang="nb-NO" sz="1200" b="1" i="0" kern="1200" dirty="0">
                <a:solidFill>
                  <a:schemeClr val="tx1"/>
                </a:solidFill>
                <a:effectLst/>
                <a:latin typeface="+mn-lt"/>
                <a:ea typeface="+mn-ea"/>
                <a:cs typeface="+mn-cs"/>
              </a:rPr>
              <a:t>):</a:t>
            </a:r>
            <a:r>
              <a:rPr lang="nb-NO" sz="1200" b="0" i="0" kern="1200" dirty="0">
                <a:solidFill>
                  <a:schemeClr val="tx1"/>
                </a:solidFill>
                <a:effectLst/>
                <a:latin typeface="+mn-lt"/>
                <a:ea typeface="+mn-ea"/>
                <a:cs typeface="+mn-cs"/>
              </a:rPr>
              <a:t> klasse implementerer et grensesnitt (</a:t>
            </a:r>
            <a:r>
              <a:rPr lang="nb-NO" sz="1200" b="0" i="0" kern="1200" dirty="0" err="1">
                <a:solidFill>
                  <a:schemeClr val="tx1"/>
                </a:solidFill>
                <a:effectLst/>
                <a:latin typeface="+mn-lt"/>
                <a:ea typeface="+mn-ea"/>
                <a:cs typeface="+mn-cs"/>
              </a:rPr>
              <a:t>interface</a:t>
            </a:r>
            <a:r>
              <a:rPr lang="nb-NO" sz="1200" b="0" i="0" kern="1200" dirty="0">
                <a:solidFill>
                  <a:schemeClr val="tx1"/>
                </a:solidFill>
                <a:effectLst/>
                <a:latin typeface="+mn-lt"/>
                <a:ea typeface="+mn-ea"/>
                <a:cs typeface="+mn-cs"/>
              </a:rPr>
              <a:t>)</a:t>
            </a:r>
          </a:p>
          <a:p>
            <a:pPr lvl="1"/>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Brukes tidlig: se </a:t>
            </a:r>
            <a:r>
              <a:rPr lang="nb-NO" sz="1200" b="0" i="0" kern="1200" dirty="0" err="1">
                <a:solidFill>
                  <a:schemeClr val="tx1"/>
                </a:solidFill>
                <a:effectLst/>
                <a:latin typeface="+mn-lt"/>
                <a:ea typeface="+mn-ea"/>
                <a:cs typeface="+mn-cs"/>
              </a:rPr>
              <a:t>use</a:t>
            </a:r>
            <a:r>
              <a:rPr lang="nb-NO" sz="1200" b="0" i="0" kern="1200" dirty="0">
                <a:solidFill>
                  <a:schemeClr val="tx1"/>
                </a:solidFill>
                <a:effectLst/>
                <a:latin typeface="+mn-lt"/>
                <a:ea typeface="+mn-ea"/>
                <a:cs typeface="+mn-cs"/>
              </a:rPr>
              <a:t>-diagram → sekvensdiagram → klassediagram før koding</a:t>
            </a:r>
          </a:p>
        </p:txBody>
      </p:sp>
      <p:sp>
        <p:nvSpPr>
          <p:cNvPr id="4" name="Plassholder for lysbildenummer 3">
            <a:extLst>
              <a:ext uri="{FF2B5EF4-FFF2-40B4-BE49-F238E27FC236}">
                <a16:creationId xmlns:a16="http://schemas.microsoft.com/office/drawing/2014/main" id="{DE2129E5-80CB-0A44-E8D3-9B76504E0234}"/>
              </a:ext>
            </a:extLst>
          </p:cNvPr>
          <p:cNvSpPr>
            <a:spLocks noGrp="1"/>
          </p:cNvSpPr>
          <p:nvPr>
            <p:ph type="sldNum" sz="quarter" idx="5"/>
          </p:nvPr>
        </p:nvSpPr>
        <p:spPr/>
        <p:txBody>
          <a:bodyPr/>
          <a:lstStyle/>
          <a:p>
            <a:fld id="{ED8CD5F7-2931-42C6-9B3E-A6C700901896}" type="slidenum">
              <a:rPr lang="nb-NO" smtClean="0"/>
              <a:t>16</a:t>
            </a:fld>
            <a:endParaRPr lang="nb-NO"/>
          </a:p>
        </p:txBody>
      </p:sp>
    </p:spTree>
    <p:extLst>
      <p:ext uri="{BB962C8B-B14F-4D97-AF65-F5344CB8AC3E}">
        <p14:creationId xmlns:p14="http://schemas.microsoft.com/office/powerpoint/2010/main" val="23714537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8F0F0-3C99-D7B8-B354-D17B4ADB9AC5}"/>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07E80F91-F24C-2CD4-21C0-A391696BC748}"/>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F731EAB2-CD20-2B73-3AA1-0F5598E1D784}"/>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Grupperer relaterte UML-elementer (diagrammer, klasser, andre pakker) i en hierarkisk struktur. Brukes til å vise høynivåarkitekturen til et system.</a:t>
            </a:r>
          </a:p>
          <a:p>
            <a:r>
              <a:rPr lang="nb-NO" sz="1200" b="0" i="0" kern="1200" dirty="0">
                <a:solidFill>
                  <a:schemeClr val="tx1"/>
                </a:solidFill>
                <a:effectLst/>
                <a:latin typeface="+mn-lt"/>
                <a:ea typeface="+mn-ea"/>
                <a:cs typeface="+mn-cs"/>
              </a:rPr>
              <a:t>Vanlig i programmering for å organisere kildekode</a:t>
            </a:r>
          </a:p>
          <a:p>
            <a:r>
              <a:rPr lang="nb-NO" sz="1200" b="0" i="0" kern="1200" dirty="0">
                <a:solidFill>
                  <a:schemeClr val="tx1"/>
                </a:solidFill>
                <a:effectLst/>
                <a:latin typeface="+mn-lt"/>
                <a:ea typeface="+mn-ea"/>
                <a:cs typeface="+mn-cs"/>
              </a:rPr>
              <a:t>Kan vise lagdelt arkitektur (klient–server–data) eller funksjonell gruppering</a:t>
            </a:r>
          </a:p>
        </p:txBody>
      </p:sp>
      <p:sp>
        <p:nvSpPr>
          <p:cNvPr id="4" name="Plassholder for lysbildenummer 3">
            <a:extLst>
              <a:ext uri="{FF2B5EF4-FFF2-40B4-BE49-F238E27FC236}">
                <a16:creationId xmlns:a16="http://schemas.microsoft.com/office/drawing/2014/main" id="{F9187C39-BDDE-63EC-C503-D3377FC00C6F}"/>
              </a:ext>
            </a:extLst>
          </p:cNvPr>
          <p:cNvSpPr>
            <a:spLocks noGrp="1"/>
          </p:cNvSpPr>
          <p:nvPr>
            <p:ph type="sldNum" sz="quarter" idx="5"/>
          </p:nvPr>
        </p:nvSpPr>
        <p:spPr/>
        <p:txBody>
          <a:bodyPr/>
          <a:lstStyle/>
          <a:p>
            <a:fld id="{ED8CD5F7-2931-42C6-9B3E-A6C700901896}" type="slidenum">
              <a:rPr lang="nb-NO" smtClean="0"/>
              <a:t>17</a:t>
            </a:fld>
            <a:endParaRPr lang="nb-NO"/>
          </a:p>
        </p:txBody>
      </p:sp>
    </p:spTree>
    <p:extLst>
      <p:ext uri="{BB962C8B-B14F-4D97-AF65-F5344CB8AC3E}">
        <p14:creationId xmlns:p14="http://schemas.microsoft.com/office/powerpoint/2010/main" val="24594388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571DE-E46A-FB29-FD73-EEE0DB6B4CFF}"/>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EE767DB8-8C28-4177-A123-29A4B8A2931C}"/>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7B53C7DC-89DA-BDD9-905A-DDB5BBD7D0B8}"/>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Viser de ulike tilstandene til et objekt eller system, og overgangene som fører til tilstandsendringer.</a:t>
            </a:r>
          </a:p>
          <a:p>
            <a:r>
              <a:rPr lang="nb-NO" sz="1200" b="0" i="0" kern="1200" dirty="0">
                <a:solidFill>
                  <a:schemeClr val="tx1"/>
                </a:solidFill>
                <a:effectLst/>
                <a:latin typeface="+mn-lt"/>
                <a:ea typeface="+mn-ea"/>
                <a:cs typeface="+mn-cs"/>
              </a:rPr>
              <a:t>Hvert objekt i systemet kan endre tilstand i sin levetid (f.eks. bruker: ikke-innlogget → innlogget → </a:t>
            </a:r>
            <a:r>
              <a:rPr lang="nb-NO" sz="1200" b="0" i="0" kern="1200" dirty="0" err="1">
                <a:solidFill>
                  <a:schemeClr val="tx1"/>
                </a:solidFill>
                <a:effectLst/>
                <a:latin typeface="+mn-lt"/>
                <a:ea typeface="+mn-ea"/>
                <a:cs typeface="+mn-cs"/>
              </a:rPr>
              <a:t>utlogget</a:t>
            </a:r>
            <a:r>
              <a:rPr lang="nb-NO" sz="1200" b="0" i="0" kern="1200" dirty="0">
                <a:solidFill>
                  <a:schemeClr val="tx1"/>
                </a:solidFill>
                <a:effectLst/>
                <a:latin typeface="+mn-lt"/>
                <a:ea typeface="+mn-ea"/>
                <a:cs typeface="+mn-cs"/>
              </a:rPr>
              <a:t>)</a:t>
            </a:r>
          </a:p>
          <a:p>
            <a:r>
              <a:rPr lang="nb-NO" sz="1200" b="1" i="0" kern="1200" dirty="0">
                <a:solidFill>
                  <a:schemeClr val="tx1"/>
                </a:solidFill>
                <a:effectLst/>
                <a:latin typeface="+mn-lt"/>
                <a:ea typeface="+mn-ea"/>
                <a:cs typeface="+mn-cs"/>
              </a:rPr>
              <a:t>Hovedelementer:</a:t>
            </a:r>
            <a:r>
              <a:rPr lang="nb-NO" sz="1200" b="0" i="0" kern="1200" dirty="0">
                <a:solidFill>
                  <a:schemeClr val="tx1"/>
                </a:solidFill>
                <a:effectLst/>
                <a:latin typeface="+mn-lt"/>
                <a:ea typeface="+mn-ea"/>
                <a:cs typeface="+mn-cs"/>
              </a:rPr>
              <a:t> </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Starttilstand </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Sluttilstand </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Tilstander (</a:t>
            </a:r>
            <a:r>
              <a:rPr lang="nb-NO" sz="1200" b="0" i="0" kern="1200" dirty="0" err="1">
                <a:solidFill>
                  <a:schemeClr val="tx1"/>
                </a:solidFill>
                <a:effectLst/>
                <a:latin typeface="+mn-lt"/>
                <a:ea typeface="+mn-ea"/>
                <a:cs typeface="+mn-cs"/>
              </a:rPr>
              <a:t>states</a:t>
            </a:r>
            <a:r>
              <a:rPr lang="nb-NO" sz="1200" b="0" i="0" kern="1200" dirty="0">
                <a:solidFill>
                  <a:schemeClr val="tx1"/>
                </a:solidFill>
                <a:effectLst/>
                <a:latin typeface="+mn-lt"/>
                <a:ea typeface="+mn-ea"/>
                <a:cs typeface="+mn-cs"/>
              </a:rPr>
              <a:t>)</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Overganger (</a:t>
            </a:r>
            <a:r>
              <a:rPr lang="nb-NO" sz="1200" b="0" i="0" kern="1200" dirty="0" err="1">
                <a:solidFill>
                  <a:schemeClr val="tx1"/>
                </a:solidFill>
                <a:effectLst/>
                <a:latin typeface="+mn-lt"/>
                <a:ea typeface="+mn-ea"/>
                <a:cs typeface="+mn-cs"/>
              </a:rPr>
              <a:t>transitions</a:t>
            </a:r>
            <a:r>
              <a:rPr lang="nb-NO" sz="1200" b="0" i="0" kern="1200" dirty="0">
                <a:solidFill>
                  <a:schemeClr val="tx1"/>
                </a:solidFill>
                <a:effectLst/>
                <a:latin typeface="+mn-lt"/>
                <a:ea typeface="+mn-ea"/>
                <a:cs typeface="+mn-cs"/>
              </a:rPr>
              <a:t>) med triggere/hendelser</a:t>
            </a:r>
          </a:p>
          <a:p>
            <a:pPr marL="171450" indent="-171450">
              <a:buFont typeface="Arial" panose="020B0604020202020204" pitchFamily="34" charset="0"/>
              <a:buChar char="•"/>
            </a:pPr>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Utfyller sekvens- og aktivitetsdiagrammer ved å vise systemet fra et tilstandsperspektiv</a:t>
            </a:r>
          </a:p>
        </p:txBody>
      </p:sp>
      <p:sp>
        <p:nvSpPr>
          <p:cNvPr id="4" name="Plassholder for lysbildenummer 3">
            <a:extLst>
              <a:ext uri="{FF2B5EF4-FFF2-40B4-BE49-F238E27FC236}">
                <a16:creationId xmlns:a16="http://schemas.microsoft.com/office/drawing/2014/main" id="{FD10CB90-4D7C-BC3A-7F47-D3FB8273B2E4}"/>
              </a:ext>
            </a:extLst>
          </p:cNvPr>
          <p:cNvSpPr>
            <a:spLocks noGrp="1"/>
          </p:cNvSpPr>
          <p:nvPr>
            <p:ph type="sldNum" sz="quarter" idx="5"/>
          </p:nvPr>
        </p:nvSpPr>
        <p:spPr/>
        <p:txBody>
          <a:bodyPr/>
          <a:lstStyle/>
          <a:p>
            <a:fld id="{ED8CD5F7-2931-42C6-9B3E-A6C700901896}" type="slidenum">
              <a:rPr lang="nb-NO" smtClean="0"/>
              <a:t>18</a:t>
            </a:fld>
            <a:endParaRPr lang="nb-NO"/>
          </a:p>
        </p:txBody>
      </p:sp>
    </p:spTree>
    <p:extLst>
      <p:ext uri="{BB962C8B-B14F-4D97-AF65-F5344CB8AC3E}">
        <p14:creationId xmlns:p14="http://schemas.microsoft.com/office/powerpoint/2010/main" val="42160245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DDFB1-9928-267B-2B59-910913796BA9}"/>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DE47FB06-5796-DEBD-01BC-0599B73083BF}"/>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8C6F6A17-27F6-8D10-808A-BF36A5CB4BE7}"/>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Minste enhet av arbeid, vanligvis skrevet av produkteier.</a:t>
            </a:r>
          </a:p>
          <a:p>
            <a:r>
              <a:rPr lang="nb-NO" sz="1200" b="0" i="0" kern="1200" dirty="0">
                <a:solidFill>
                  <a:schemeClr val="tx1"/>
                </a:solidFill>
                <a:effectLst/>
                <a:latin typeface="+mn-lt"/>
                <a:ea typeface="+mn-ea"/>
                <a:cs typeface="+mn-cs"/>
              </a:rPr>
              <a:t>Format: «As &lt;&gt; I </a:t>
            </a:r>
            <a:r>
              <a:rPr lang="nb-NO" sz="1200" b="0" i="0" kern="1200" dirty="0" err="1">
                <a:solidFill>
                  <a:schemeClr val="tx1"/>
                </a:solidFill>
                <a:effectLst/>
                <a:latin typeface="+mn-lt"/>
                <a:ea typeface="+mn-ea"/>
                <a:cs typeface="+mn-cs"/>
              </a:rPr>
              <a:t>want</a:t>
            </a:r>
            <a:r>
              <a:rPr lang="nb-NO" sz="1200" b="0" i="0" kern="1200" dirty="0">
                <a:solidFill>
                  <a:schemeClr val="tx1"/>
                </a:solidFill>
                <a:effectLst/>
                <a:latin typeface="+mn-lt"/>
                <a:ea typeface="+mn-ea"/>
                <a:cs typeface="+mn-cs"/>
              </a:rPr>
              <a:t> &lt;&gt; </a:t>
            </a:r>
            <a:r>
              <a:rPr lang="nb-NO" sz="1200" b="0" i="0" kern="1200" dirty="0" err="1">
                <a:solidFill>
                  <a:schemeClr val="tx1"/>
                </a:solidFill>
                <a:effectLst/>
                <a:latin typeface="+mn-lt"/>
                <a:ea typeface="+mn-ea"/>
                <a:cs typeface="+mn-cs"/>
              </a:rPr>
              <a:t>Such</a:t>
            </a:r>
            <a:r>
              <a:rPr lang="nb-NO" sz="1200" b="0" i="0" kern="1200" dirty="0">
                <a:solidFill>
                  <a:schemeClr val="tx1"/>
                </a:solidFill>
                <a:effectLst/>
                <a:latin typeface="+mn-lt"/>
                <a:ea typeface="+mn-ea"/>
                <a:cs typeface="+mn-cs"/>
              </a:rPr>
              <a:t> </a:t>
            </a:r>
            <a:r>
              <a:rPr lang="nb-NO" sz="1200" b="0" i="0" kern="1200" dirty="0" err="1">
                <a:solidFill>
                  <a:schemeClr val="tx1"/>
                </a:solidFill>
                <a:effectLst/>
                <a:latin typeface="+mn-lt"/>
                <a:ea typeface="+mn-ea"/>
                <a:cs typeface="+mn-cs"/>
              </a:rPr>
              <a:t>that</a:t>
            </a:r>
            <a:r>
              <a:rPr lang="nb-NO" sz="1200" b="0" i="0" kern="1200" dirty="0">
                <a:solidFill>
                  <a:schemeClr val="tx1"/>
                </a:solidFill>
                <a:effectLst/>
                <a:latin typeface="+mn-lt"/>
                <a:ea typeface="+mn-ea"/>
                <a:cs typeface="+mn-cs"/>
              </a:rPr>
              <a:t> &lt;&gt;»</a:t>
            </a:r>
          </a:p>
          <a:p>
            <a:r>
              <a:rPr lang="nb-NO" sz="1200" b="0" i="0" kern="1200" dirty="0">
                <a:solidFill>
                  <a:schemeClr val="tx1"/>
                </a:solidFill>
                <a:effectLst/>
                <a:latin typeface="+mn-lt"/>
                <a:ea typeface="+mn-ea"/>
                <a:cs typeface="+mn-cs"/>
              </a:rPr>
              <a:t>Eksempel: «As &lt;&gt; I </a:t>
            </a:r>
            <a:r>
              <a:rPr lang="nb-NO" sz="1200" b="0" i="0" kern="1200" dirty="0" err="1">
                <a:solidFill>
                  <a:schemeClr val="tx1"/>
                </a:solidFill>
                <a:effectLst/>
                <a:latin typeface="+mn-lt"/>
                <a:ea typeface="+mn-ea"/>
                <a:cs typeface="+mn-cs"/>
              </a:rPr>
              <a:t>want</a:t>
            </a:r>
            <a:r>
              <a:rPr lang="nb-NO" sz="1200" b="0" i="0" kern="1200" dirty="0">
                <a:solidFill>
                  <a:schemeClr val="tx1"/>
                </a:solidFill>
                <a:effectLst/>
                <a:latin typeface="+mn-lt"/>
                <a:ea typeface="+mn-ea"/>
                <a:cs typeface="+mn-cs"/>
              </a:rPr>
              <a:t> &lt;&gt; </a:t>
            </a:r>
            <a:r>
              <a:rPr lang="nb-NO" sz="1200" b="0" i="0" kern="1200" dirty="0" err="1">
                <a:solidFill>
                  <a:schemeClr val="tx1"/>
                </a:solidFill>
                <a:effectLst/>
                <a:latin typeface="+mn-lt"/>
                <a:ea typeface="+mn-ea"/>
                <a:cs typeface="+mn-cs"/>
              </a:rPr>
              <a:t>Such</a:t>
            </a:r>
            <a:r>
              <a:rPr lang="nb-NO" sz="1200" b="0" i="0" kern="1200" dirty="0">
                <a:solidFill>
                  <a:schemeClr val="tx1"/>
                </a:solidFill>
                <a:effectLst/>
                <a:latin typeface="+mn-lt"/>
                <a:ea typeface="+mn-ea"/>
                <a:cs typeface="+mn-cs"/>
              </a:rPr>
              <a:t> </a:t>
            </a:r>
            <a:r>
              <a:rPr lang="nb-NO" sz="1200" b="0" i="0" kern="1200" dirty="0" err="1">
                <a:solidFill>
                  <a:schemeClr val="tx1"/>
                </a:solidFill>
                <a:effectLst/>
                <a:latin typeface="+mn-lt"/>
                <a:ea typeface="+mn-ea"/>
                <a:cs typeface="+mn-cs"/>
              </a:rPr>
              <a:t>that</a:t>
            </a:r>
            <a:r>
              <a:rPr lang="nb-NO" sz="1200" b="0" i="0" kern="1200" dirty="0">
                <a:solidFill>
                  <a:schemeClr val="tx1"/>
                </a:solidFill>
                <a:effectLst/>
                <a:latin typeface="+mn-lt"/>
                <a:ea typeface="+mn-ea"/>
                <a:cs typeface="+mn-cs"/>
              </a:rPr>
              <a:t> &lt;&gt;»</a:t>
            </a:r>
          </a:p>
          <a:p>
            <a:r>
              <a:rPr lang="nb-NO" sz="1200" b="0" i="0" kern="1200" dirty="0">
                <a:solidFill>
                  <a:schemeClr val="tx1"/>
                </a:solidFill>
                <a:effectLst/>
                <a:latin typeface="+mn-lt"/>
                <a:ea typeface="+mn-ea"/>
                <a:cs typeface="+mn-cs"/>
              </a:rPr>
              <a:t>Modellering av brukerhistorier gjøres i UML via </a:t>
            </a:r>
            <a:r>
              <a:rPr lang="nb-NO" sz="1200" b="0" i="0" kern="1200" dirty="0" err="1">
                <a:solidFill>
                  <a:schemeClr val="tx1"/>
                </a:solidFill>
                <a:effectLst/>
                <a:latin typeface="+mn-lt"/>
                <a:ea typeface="+mn-ea"/>
                <a:cs typeface="+mn-cs"/>
              </a:rPr>
              <a:t>use</a:t>
            </a:r>
            <a:r>
              <a:rPr lang="nb-NO" sz="1200" b="0" i="0" kern="1200" dirty="0">
                <a:solidFill>
                  <a:schemeClr val="tx1"/>
                </a:solidFill>
                <a:effectLst/>
                <a:latin typeface="+mn-lt"/>
                <a:ea typeface="+mn-ea"/>
                <a:cs typeface="+mn-cs"/>
              </a:rPr>
              <a:t> case-diagrammer</a:t>
            </a:r>
          </a:p>
        </p:txBody>
      </p:sp>
      <p:sp>
        <p:nvSpPr>
          <p:cNvPr id="4" name="Plassholder for lysbildenummer 3">
            <a:extLst>
              <a:ext uri="{FF2B5EF4-FFF2-40B4-BE49-F238E27FC236}">
                <a16:creationId xmlns:a16="http://schemas.microsoft.com/office/drawing/2014/main" id="{79A99A9E-33A7-D39E-782E-B3F11B70369B}"/>
              </a:ext>
            </a:extLst>
          </p:cNvPr>
          <p:cNvSpPr>
            <a:spLocks noGrp="1"/>
          </p:cNvSpPr>
          <p:nvPr>
            <p:ph type="sldNum" sz="quarter" idx="5"/>
          </p:nvPr>
        </p:nvSpPr>
        <p:spPr/>
        <p:txBody>
          <a:bodyPr/>
          <a:lstStyle/>
          <a:p>
            <a:fld id="{ED8CD5F7-2931-42C6-9B3E-A6C700901896}" type="slidenum">
              <a:rPr lang="nb-NO" smtClean="0"/>
              <a:t>19</a:t>
            </a:fld>
            <a:endParaRPr lang="nb-NO"/>
          </a:p>
        </p:txBody>
      </p:sp>
    </p:spTree>
    <p:extLst>
      <p:ext uri="{BB962C8B-B14F-4D97-AF65-F5344CB8AC3E}">
        <p14:creationId xmlns:p14="http://schemas.microsoft.com/office/powerpoint/2010/main" val="6284805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86DC0-281F-926D-BC18-C8E19BD6EC1A}"/>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71361955-F335-463E-949C-F7B1B0019211}"/>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4200857D-E230-DF18-830D-63E26C6E329D}"/>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Handler om å se den helhetlig strukturen til programmet, alt fra kildekoden til produktet.</a:t>
            </a:r>
          </a:p>
          <a:p>
            <a:r>
              <a:rPr lang="nb-NO" sz="1200" b="1" i="0" kern="1200" dirty="0">
                <a:solidFill>
                  <a:schemeClr val="tx1"/>
                </a:solidFill>
                <a:effectLst/>
                <a:latin typeface="+mn-lt"/>
                <a:ea typeface="+mn-ea"/>
                <a:cs typeface="+mn-cs"/>
              </a:rPr>
              <a:t>IEEE</a:t>
            </a:r>
            <a:r>
              <a:rPr lang="nb-NO" sz="1200" b="0" i="0" kern="1200" dirty="0">
                <a:solidFill>
                  <a:schemeClr val="tx1"/>
                </a:solidFill>
                <a:effectLst/>
                <a:latin typeface="+mn-lt"/>
                <a:ea typeface="+mn-ea"/>
                <a:cs typeface="+mn-cs"/>
              </a:rPr>
              <a:t>: </a:t>
            </a:r>
            <a:r>
              <a:rPr lang="nb-NO" sz="1200" b="0" u="none" strike="noStrike" kern="1200" dirty="0">
                <a:solidFill>
                  <a:schemeClr val="tx1"/>
                </a:solidFill>
                <a:effectLst/>
                <a:latin typeface="+mn-lt"/>
                <a:ea typeface="+mn-ea"/>
                <a:cs typeface="+mn-cs"/>
              </a:rPr>
              <a:t>IEEE står for </a:t>
            </a:r>
            <a:r>
              <a:rPr lang="nb-NO" sz="1200" b="1" u="none" strike="noStrike" kern="1200" dirty="0" err="1">
                <a:solidFill>
                  <a:schemeClr val="tx1"/>
                </a:solidFill>
                <a:effectLst/>
                <a:latin typeface="+mn-lt"/>
                <a:ea typeface="+mn-ea"/>
                <a:cs typeface="+mn-cs"/>
              </a:rPr>
              <a:t>Institute</a:t>
            </a:r>
            <a:r>
              <a:rPr lang="nb-NO" sz="1200" b="1" u="none" strike="noStrike" kern="1200" dirty="0">
                <a:solidFill>
                  <a:schemeClr val="tx1"/>
                </a:solidFill>
                <a:effectLst/>
                <a:latin typeface="+mn-lt"/>
                <a:ea typeface="+mn-ea"/>
                <a:cs typeface="+mn-cs"/>
              </a:rPr>
              <a:t> </a:t>
            </a:r>
            <a:r>
              <a:rPr lang="nb-NO" sz="1200" b="1" u="none" strike="noStrike" kern="1200" dirty="0" err="1">
                <a:solidFill>
                  <a:schemeClr val="tx1"/>
                </a:solidFill>
                <a:effectLst/>
                <a:latin typeface="+mn-lt"/>
                <a:ea typeface="+mn-ea"/>
                <a:cs typeface="+mn-cs"/>
              </a:rPr>
              <a:t>of</a:t>
            </a:r>
            <a:r>
              <a:rPr lang="nb-NO" sz="1200" b="1" u="none" strike="noStrike" kern="1200" dirty="0">
                <a:solidFill>
                  <a:schemeClr val="tx1"/>
                </a:solidFill>
                <a:effectLst/>
                <a:latin typeface="+mn-lt"/>
                <a:ea typeface="+mn-ea"/>
                <a:cs typeface="+mn-cs"/>
              </a:rPr>
              <a:t> Electrical and Electronics </a:t>
            </a:r>
            <a:r>
              <a:rPr lang="nb-NO" sz="1200" b="1" u="none" strike="noStrike" kern="1200" dirty="0" err="1">
                <a:solidFill>
                  <a:schemeClr val="tx1"/>
                </a:solidFill>
                <a:effectLst/>
                <a:latin typeface="+mn-lt"/>
                <a:ea typeface="+mn-ea"/>
                <a:cs typeface="+mn-cs"/>
              </a:rPr>
              <a:t>Engineers</a:t>
            </a:r>
            <a:r>
              <a:rPr lang="nb-NO" dirty="0"/>
              <a:t>. Det er verdens største tekniske profesjonsorganisasjon, og fungerer som en global autoritet som utvikler standarder og publiserer forskning innen teknologi, databehandling, kommunikasjon og elektronikk.</a:t>
            </a:r>
            <a:br>
              <a:rPr lang="nb-NO" dirty="0"/>
            </a:br>
            <a:r>
              <a:rPr lang="nb-NO" sz="1200" b="1" i="0" kern="1200" dirty="0">
                <a:solidFill>
                  <a:schemeClr val="tx1"/>
                </a:solidFill>
                <a:effectLst/>
                <a:latin typeface="+mn-lt"/>
                <a:ea typeface="+mn-ea"/>
                <a:cs typeface="+mn-cs"/>
              </a:rPr>
              <a:t>IEEE-definisjon:</a:t>
            </a:r>
            <a:r>
              <a:rPr lang="nb-NO" sz="1200" b="0" i="0" kern="1200" dirty="0">
                <a:solidFill>
                  <a:schemeClr val="tx1"/>
                </a:solidFill>
                <a:effectLst/>
                <a:latin typeface="+mn-lt"/>
                <a:ea typeface="+mn-ea"/>
                <a:cs typeface="+mn-cs"/>
              </a:rPr>
              <a:t> «Arkitektur er den fundamentale organiseringen av et programvaresystem, uttrykt gjennom dets komponenter, deres relasjoner til hverandre og til miljøet, samt prinsippene som styrer design og evolusjon.»</a:t>
            </a:r>
          </a:p>
        </p:txBody>
      </p:sp>
      <p:sp>
        <p:nvSpPr>
          <p:cNvPr id="4" name="Plassholder for lysbildenummer 3">
            <a:extLst>
              <a:ext uri="{FF2B5EF4-FFF2-40B4-BE49-F238E27FC236}">
                <a16:creationId xmlns:a16="http://schemas.microsoft.com/office/drawing/2014/main" id="{4A677EE7-624C-FAA6-6780-30BF66ABB41A}"/>
              </a:ext>
            </a:extLst>
          </p:cNvPr>
          <p:cNvSpPr>
            <a:spLocks noGrp="1"/>
          </p:cNvSpPr>
          <p:nvPr>
            <p:ph type="sldNum" sz="quarter" idx="5"/>
          </p:nvPr>
        </p:nvSpPr>
        <p:spPr/>
        <p:txBody>
          <a:bodyPr/>
          <a:lstStyle/>
          <a:p>
            <a:fld id="{ED8CD5F7-2931-42C6-9B3E-A6C700901896}" type="slidenum">
              <a:rPr lang="nb-NO" smtClean="0"/>
              <a:t>21</a:t>
            </a:fld>
            <a:endParaRPr lang="nb-NO"/>
          </a:p>
        </p:txBody>
      </p:sp>
    </p:spTree>
    <p:extLst>
      <p:ext uri="{BB962C8B-B14F-4D97-AF65-F5344CB8AC3E}">
        <p14:creationId xmlns:p14="http://schemas.microsoft.com/office/powerpoint/2010/main" val="16756999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AA848-99FC-7CBB-C2F9-A1633F41B215}"/>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B09F5D58-8119-112F-EBE6-BAE11CDC16D1}"/>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FE137AC0-4E3B-57F5-0284-AAD767A98C48}"/>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Forstå systemet tidlig – tidlige designbeslutninger og tidlig tilbakemelding gir:</a:t>
            </a:r>
          </a:p>
          <a:p>
            <a:pPr lvl="1"/>
            <a:r>
              <a:rPr lang="nb-NO" sz="1200" b="0" i="0" kern="1200" dirty="0">
                <a:solidFill>
                  <a:schemeClr val="tx1"/>
                </a:solidFill>
                <a:effectLst/>
                <a:latin typeface="+mn-lt"/>
                <a:ea typeface="+mn-ea"/>
                <a:cs typeface="+mn-cs"/>
              </a:rPr>
              <a:t>Reduserte kostnader, unngår duplisering av ressurser</a:t>
            </a:r>
          </a:p>
          <a:p>
            <a:pPr lvl="1"/>
            <a:r>
              <a:rPr lang="nb-NO" sz="1200" b="0" i="0" kern="1200" dirty="0">
                <a:solidFill>
                  <a:schemeClr val="tx1"/>
                </a:solidFill>
                <a:effectLst/>
                <a:latin typeface="+mn-lt"/>
                <a:ea typeface="+mn-ea"/>
                <a:cs typeface="+mn-cs"/>
              </a:rPr>
              <a:t>Økt kvalitet og hjelp til risikostyring</a:t>
            </a:r>
          </a:p>
          <a:p>
            <a:r>
              <a:rPr lang="nb-NO" sz="1200" b="0" i="0" kern="1200" dirty="0">
                <a:solidFill>
                  <a:schemeClr val="tx1"/>
                </a:solidFill>
                <a:effectLst/>
                <a:latin typeface="+mn-lt"/>
                <a:ea typeface="+mn-ea"/>
                <a:cs typeface="+mn-cs"/>
              </a:rPr>
              <a:t>Kommunikasjon mellom interessenter – gir felles og gjensidig forståelse</a:t>
            </a:r>
          </a:p>
          <a:p>
            <a:r>
              <a:rPr lang="nb-NO" sz="1200" b="0" i="0" kern="1200" dirty="0">
                <a:solidFill>
                  <a:schemeClr val="tx1"/>
                </a:solidFill>
                <a:effectLst/>
                <a:latin typeface="+mn-lt"/>
                <a:ea typeface="+mn-ea"/>
                <a:cs typeface="+mn-cs"/>
              </a:rPr>
              <a:t>Retningslinjer for utviklere gjennom hele prosjektet</a:t>
            </a:r>
          </a:p>
        </p:txBody>
      </p:sp>
      <p:sp>
        <p:nvSpPr>
          <p:cNvPr id="4" name="Plassholder for lysbildenummer 3">
            <a:extLst>
              <a:ext uri="{FF2B5EF4-FFF2-40B4-BE49-F238E27FC236}">
                <a16:creationId xmlns:a16="http://schemas.microsoft.com/office/drawing/2014/main" id="{1FCD078E-9ED6-AC56-4476-D0DDA59BAC0E}"/>
              </a:ext>
            </a:extLst>
          </p:cNvPr>
          <p:cNvSpPr>
            <a:spLocks noGrp="1"/>
          </p:cNvSpPr>
          <p:nvPr>
            <p:ph type="sldNum" sz="quarter" idx="5"/>
          </p:nvPr>
        </p:nvSpPr>
        <p:spPr/>
        <p:txBody>
          <a:bodyPr/>
          <a:lstStyle/>
          <a:p>
            <a:fld id="{ED8CD5F7-2931-42C6-9B3E-A6C700901896}" type="slidenum">
              <a:rPr lang="nb-NO" smtClean="0"/>
              <a:t>22</a:t>
            </a:fld>
            <a:endParaRPr lang="nb-NO"/>
          </a:p>
        </p:txBody>
      </p:sp>
    </p:spTree>
    <p:extLst>
      <p:ext uri="{BB962C8B-B14F-4D97-AF65-F5344CB8AC3E}">
        <p14:creationId xmlns:p14="http://schemas.microsoft.com/office/powerpoint/2010/main" val="22929488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DACCF-DE0F-C359-375A-5426C71F2458}"/>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2E931766-B790-F26B-0C6C-4ED2C56F8EDC}"/>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74B3181B-90F2-07ED-4E67-6E2AA7C9B290}"/>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Håndtere kompleksitet ved å dele dem mindre domener/biter (Splitt og hersk teknikk).</a:t>
            </a:r>
            <a:br>
              <a:rPr lang="nb-NO" dirty="0"/>
            </a:br>
            <a:r>
              <a:rPr lang="nb-NO" sz="1200" b="0" i="0" kern="1200" dirty="0">
                <a:solidFill>
                  <a:schemeClr val="tx1"/>
                </a:solidFill>
                <a:effectLst/>
                <a:latin typeface="+mn-lt"/>
                <a:ea typeface="+mn-ea"/>
                <a:cs typeface="+mn-cs"/>
              </a:rPr>
              <a:t>Enklere delegere ansvarsområder i utviklingsteamet, samt isolere hvert del, som gjør koden mer testbar og robust</a:t>
            </a:r>
          </a:p>
        </p:txBody>
      </p:sp>
      <p:sp>
        <p:nvSpPr>
          <p:cNvPr id="4" name="Plassholder for lysbildenummer 3">
            <a:extLst>
              <a:ext uri="{FF2B5EF4-FFF2-40B4-BE49-F238E27FC236}">
                <a16:creationId xmlns:a16="http://schemas.microsoft.com/office/drawing/2014/main" id="{1B399E8D-8B62-9660-A47B-75679625C32A}"/>
              </a:ext>
            </a:extLst>
          </p:cNvPr>
          <p:cNvSpPr>
            <a:spLocks noGrp="1"/>
          </p:cNvSpPr>
          <p:nvPr>
            <p:ph type="sldNum" sz="quarter" idx="5"/>
          </p:nvPr>
        </p:nvSpPr>
        <p:spPr/>
        <p:txBody>
          <a:bodyPr/>
          <a:lstStyle/>
          <a:p>
            <a:fld id="{ED8CD5F7-2931-42C6-9B3E-A6C700901896}" type="slidenum">
              <a:rPr lang="nb-NO" smtClean="0"/>
              <a:t>23</a:t>
            </a:fld>
            <a:endParaRPr lang="nb-NO"/>
          </a:p>
        </p:txBody>
      </p:sp>
    </p:spTree>
    <p:extLst>
      <p:ext uri="{BB962C8B-B14F-4D97-AF65-F5344CB8AC3E}">
        <p14:creationId xmlns:p14="http://schemas.microsoft.com/office/powerpoint/2010/main" val="25077140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C0A2E-6127-6246-8E80-EEECC9F177DF}"/>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6DACD0AA-22D4-BC15-6747-8803F5F19A08}"/>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DFD1C2E4-BBD1-7514-DCB5-6F69A9330E04}"/>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Programvare som inneholder all logikk og fungerer på egenhånd</a:t>
            </a:r>
            <a:br>
              <a:rPr lang="nb-NO" dirty="0"/>
            </a:br>
            <a:r>
              <a:rPr lang="nb-NO" sz="1200" b="0" i="0" kern="1200" dirty="0">
                <a:solidFill>
                  <a:schemeClr val="tx1"/>
                </a:solidFill>
                <a:effectLst/>
                <a:latin typeface="+mn-lt"/>
                <a:ea typeface="+mn-ea"/>
                <a:cs typeface="+mn-cs"/>
              </a:rPr>
              <a:t>Funker bra for mindre prosjekter slik at kompleksitet blir unngått.</a:t>
            </a:r>
          </a:p>
        </p:txBody>
      </p:sp>
      <p:sp>
        <p:nvSpPr>
          <p:cNvPr id="4" name="Plassholder for lysbildenummer 3">
            <a:extLst>
              <a:ext uri="{FF2B5EF4-FFF2-40B4-BE49-F238E27FC236}">
                <a16:creationId xmlns:a16="http://schemas.microsoft.com/office/drawing/2014/main" id="{D3282899-3154-9DA6-F345-4CF830D8159F}"/>
              </a:ext>
            </a:extLst>
          </p:cNvPr>
          <p:cNvSpPr>
            <a:spLocks noGrp="1"/>
          </p:cNvSpPr>
          <p:nvPr>
            <p:ph type="sldNum" sz="quarter" idx="5"/>
          </p:nvPr>
        </p:nvSpPr>
        <p:spPr/>
        <p:txBody>
          <a:bodyPr/>
          <a:lstStyle/>
          <a:p>
            <a:fld id="{ED8CD5F7-2931-42C6-9B3E-A6C700901896}" type="slidenum">
              <a:rPr lang="nb-NO" smtClean="0"/>
              <a:t>24</a:t>
            </a:fld>
            <a:endParaRPr lang="nb-NO"/>
          </a:p>
        </p:txBody>
      </p:sp>
    </p:spTree>
    <p:extLst>
      <p:ext uri="{BB962C8B-B14F-4D97-AF65-F5344CB8AC3E}">
        <p14:creationId xmlns:p14="http://schemas.microsoft.com/office/powerpoint/2010/main" val="9412459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8303F-C150-0953-21C0-C73AEC053720}"/>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C2E93D02-2083-8FBD-65B5-E8F46A7B632C}"/>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E2E517BE-F781-4811-BE46-1A4F3F711197}"/>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Deler opp koden i to deler: </a:t>
            </a:r>
          </a:p>
          <a:p>
            <a:pPr marL="228600" indent="-228600">
              <a:buAutoNum type="arabicParenBoth"/>
            </a:pPr>
            <a:r>
              <a:rPr lang="nb-NO" sz="1200" b="0" i="0" kern="1200" dirty="0">
                <a:solidFill>
                  <a:schemeClr val="tx1"/>
                </a:solidFill>
                <a:effectLst/>
                <a:latin typeface="+mn-lt"/>
                <a:ea typeface="+mn-ea"/>
                <a:cs typeface="+mn-cs"/>
              </a:rPr>
              <a:t>Kjører på klienten (presentasjon) </a:t>
            </a:r>
          </a:p>
          <a:p>
            <a:pPr marL="228600" indent="-228600">
              <a:buAutoNum type="arabicParenBoth"/>
            </a:pPr>
            <a:r>
              <a:rPr lang="nb-NO" sz="1200" b="0" i="0" kern="1200" dirty="0">
                <a:solidFill>
                  <a:schemeClr val="tx1"/>
                </a:solidFill>
                <a:effectLst/>
                <a:latin typeface="+mn-lt"/>
                <a:ea typeface="+mn-ea"/>
                <a:cs typeface="+mn-cs"/>
              </a:rPr>
              <a:t>Kjører på serveren (logikk)</a:t>
            </a:r>
            <a:br>
              <a:rPr lang="nb-NO" dirty="0"/>
            </a:br>
            <a:endParaRPr lang="nb-NO" dirty="0"/>
          </a:p>
          <a:p>
            <a:pPr marL="0" indent="0">
              <a:buNone/>
            </a:pPr>
            <a:r>
              <a:rPr lang="nb-NO" sz="1200" b="0" i="0" kern="1200" dirty="0">
                <a:solidFill>
                  <a:schemeClr val="tx1"/>
                </a:solidFill>
                <a:effectLst/>
                <a:latin typeface="+mn-lt"/>
                <a:ea typeface="+mn-ea"/>
                <a:cs typeface="+mn-cs"/>
              </a:rPr>
              <a:t>Serveren utfører oppgaver for de ulike klientene og klientene spør om de tjenestene de trenger.</a:t>
            </a:r>
            <a:br>
              <a:rPr lang="nb-NO" dirty="0"/>
            </a:br>
            <a:r>
              <a:rPr lang="nb-NO" sz="1200" b="0" i="0" kern="1200" dirty="0">
                <a:solidFill>
                  <a:schemeClr val="tx1"/>
                </a:solidFill>
                <a:effectLst/>
                <a:latin typeface="+mn-lt"/>
                <a:ea typeface="+mn-ea"/>
                <a:cs typeface="+mn-cs"/>
              </a:rPr>
              <a:t>Gjør at utviklere kan fokusere på deler av programmet. Fører til lav kobling som gjør det mer skalerbart.</a:t>
            </a:r>
          </a:p>
        </p:txBody>
      </p:sp>
      <p:sp>
        <p:nvSpPr>
          <p:cNvPr id="4" name="Plassholder for lysbildenummer 3">
            <a:extLst>
              <a:ext uri="{FF2B5EF4-FFF2-40B4-BE49-F238E27FC236}">
                <a16:creationId xmlns:a16="http://schemas.microsoft.com/office/drawing/2014/main" id="{F0F448AD-16E0-068E-F817-7135657B51AB}"/>
              </a:ext>
            </a:extLst>
          </p:cNvPr>
          <p:cNvSpPr>
            <a:spLocks noGrp="1"/>
          </p:cNvSpPr>
          <p:nvPr>
            <p:ph type="sldNum" sz="quarter" idx="5"/>
          </p:nvPr>
        </p:nvSpPr>
        <p:spPr/>
        <p:txBody>
          <a:bodyPr/>
          <a:lstStyle/>
          <a:p>
            <a:fld id="{ED8CD5F7-2931-42C6-9B3E-A6C700901896}" type="slidenum">
              <a:rPr lang="nb-NO" smtClean="0"/>
              <a:t>25</a:t>
            </a:fld>
            <a:endParaRPr lang="nb-NO"/>
          </a:p>
        </p:txBody>
      </p:sp>
    </p:spTree>
    <p:extLst>
      <p:ext uri="{BB962C8B-B14F-4D97-AF65-F5344CB8AC3E}">
        <p14:creationId xmlns:p14="http://schemas.microsoft.com/office/powerpoint/2010/main" val="30154617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79ECC-39BF-DC0F-B16D-E0E5D98B9708}"/>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27994672-F34C-2910-A0EC-851D171554D4}"/>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99E0DF6D-FD9E-2B74-5140-C0995AFB251F}"/>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Dele opp applikasjoner i 3 lag. </a:t>
            </a:r>
          </a:p>
          <a:p>
            <a:endParaRPr lang="nb-NO" sz="1200" b="0" i="0" kern="1200" dirty="0">
              <a:solidFill>
                <a:schemeClr val="tx1"/>
              </a:solidFill>
              <a:effectLst/>
              <a:latin typeface="+mn-lt"/>
              <a:ea typeface="+mn-ea"/>
              <a:cs typeface="+mn-cs"/>
            </a:endParaRPr>
          </a:p>
          <a:p>
            <a:r>
              <a:rPr lang="nb-NO" sz="1200" b="1" i="0" kern="1200" dirty="0">
                <a:solidFill>
                  <a:schemeClr val="tx1"/>
                </a:solidFill>
                <a:effectLst/>
                <a:latin typeface="+mn-lt"/>
                <a:ea typeface="+mn-ea"/>
                <a:cs typeface="+mn-cs"/>
              </a:rPr>
              <a:t>Presentasjonslag</a:t>
            </a:r>
            <a:r>
              <a:rPr lang="nb-NO" sz="1200" b="0" i="0" kern="1200" dirty="0">
                <a:solidFill>
                  <a:schemeClr val="tx1"/>
                </a:solidFill>
                <a:effectLst/>
                <a:latin typeface="+mn-lt"/>
                <a:ea typeface="+mn-ea"/>
                <a:cs typeface="+mn-cs"/>
              </a:rPr>
              <a:t>: Presentere data til brukeren </a:t>
            </a:r>
            <a:r>
              <a:rPr lang="nb-NO" sz="1200" b="0" i="0" kern="1200" dirty="0" err="1">
                <a:solidFill>
                  <a:schemeClr val="tx1"/>
                </a:solidFill>
                <a:effectLst/>
                <a:latin typeface="+mn-lt"/>
                <a:ea typeface="+mn-ea"/>
                <a:cs typeface="+mn-cs"/>
              </a:rPr>
              <a:t>vha</a:t>
            </a:r>
            <a:r>
              <a:rPr lang="nb-NO" sz="1200" b="0" i="0" kern="1200" dirty="0">
                <a:solidFill>
                  <a:schemeClr val="tx1"/>
                </a:solidFill>
                <a:effectLst/>
                <a:latin typeface="+mn-lt"/>
                <a:ea typeface="+mn-ea"/>
                <a:cs typeface="+mn-cs"/>
              </a:rPr>
              <a:t> UI-elementer. Håndterer interaksjoner og kaller på tjenester under.</a:t>
            </a:r>
          </a:p>
          <a:p>
            <a:r>
              <a:rPr lang="nb-NO" sz="1200" b="1" i="0" kern="1200" dirty="0" err="1">
                <a:solidFill>
                  <a:schemeClr val="tx1"/>
                </a:solidFill>
                <a:effectLst/>
                <a:latin typeface="+mn-lt"/>
                <a:ea typeface="+mn-ea"/>
                <a:cs typeface="+mn-cs"/>
              </a:rPr>
              <a:t>Forettningslogikklag</a:t>
            </a:r>
            <a:r>
              <a:rPr lang="nb-NO" sz="1200" b="1" i="0" kern="1200" dirty="0">
                <a:solidFill>
                  <a:schemeClr val="tx1"/>
                </a:solidFill>
                <a:effectLst/>
                <a:latin typeface="+mn-lt"/>
                <a:ea typeface="+mn-ea"/>
                <a:cs typeface="+mn-cs"/>
              </a:rPr>
              <a:t>:</a:t>
            </a:r>
            <a:r>
              <a:rPr lang="nb-NO" sz="1200" b="0" i="0" kern="1200" dirty="0">
                <a:solidFill>
                  <a:schemeClr val="tx1"/>
                </a:solidFill>
                <a:effectLst/>
                <a:latin typeface="+mn-lt"/>
                <a:ea typeface="+mn-ea"/>
                <a:cs typeface="+mn-cs"/>
              </a:rPr>
              <a:t> Databehandling i applikasjonen, </a:t>
            </a:r>
            <a:r>
              <a:rPr lang="nb-NO" sz="1200" b="0" i="0" kern="1200" dirty="0" err="1">
                <a:solidFill>
                  <a:schemeClr val="tx1"/>
                </a:solidFill>
                <a:effectLst/>
                <a:latin typeface="+mn-lt"/>
                <a:ea typeface="+mn-ea"/>
                <a:cs typeface="+mn-cs"/>
              </a:rPr>
              <a:t>loigkk</a:t>
            </a:r>
            <a:r>
              <a:rPr lang="nb-NO" sz="1200" b="0" i="0" kern="1200" dirty="0">
                <a:solidFill>
                  <a:schemeClr val="tx1"/>
                </a:solidFill>
                <a:effectLst/>
                <a:latin typeface="+mn-lt"/>
                <a:ea typeface="+mn-ea"/>
                <a:cs typeface="+mn-cs"/>
              </a:rPr>
              <a:t> og </a:t>
            </a:r>
            <a:r>
              <a:rPr lang="nb-NO" sz="1200" b="0" i="0" kern="1200" dirty="0" err="1">
                <a:solidFill>
                  <a:schemeClr val="tx1"/>
                </a:solidFill>
                <a:effectLst/>
                <a:latin typeface="+mn-lt"/>
                <a:ea typeface="+mn-ea"/>
                <a:cs typeface="+mn-cs"/>
              </a:rPr>
              <a:t>forettningsarbeid</a:t>
            </a:r>
            <a:r>
              <a:rPr lang="nb-NO" sz="1200" b="0" i="0" kern="1200" dirty="0">
                <a:solidFill>
                  <a:schemeClr val="tx1"/>
                </a:solidFill>
                <a:effectLst/>
                <a:latin typeface="+mn-lt"/>
                <a:ea typeface="+mn-ea"/>
                <a:cs typeface="+mn-cs"/>
              </a:rPr>
              <a:t> for brukeren</a:t>
            </a:r>
          </a:p>
          <a:p>
            <a:r>
              <a:rPr lang="nb-NO" sz="1200" b="1" i="0" kern="1200" dirty="0">
                <a:solidFill>
                  <a:schemeClr val="tx1"/>
                </a:solidFill>
                <a:effectLst/>
                <a:latin typeface="+mn-lt"/>
                <a:ea typeface="+mn-ea"/>
                <a:cs typeface="+mn-cs"/>
              </a:rPr>
              <a:t>Data </a:t>
            </a:r>
            <a:r>
              <a:rPr lang="nb-NO" sz="1200" b="1" i="0" kern="1200" dirty="0" err="1">
                <a:solidFill>
                  <a:schemeClr val="tx1"/>
                </a:solidFill>
                <a:effectLst/>
                <a:latin typeface="+mn-lt"/>
                <a:ea typeface="+mn-ea"/>
                <a:cs typeface="+mn-cs"/>
              </a:rPr>
              <a:t>access</a:t>
            </a:r>
            <a:r>
              <a:rPr lang="nb-NO" sz="1200" b="1" i="0" kern="1200" dirty="0">
                <a:solidFill>
                  <a:schemeClr val="tx1"/>
                </a:solidFill>
                <a:effectLst/>
                <a:latin typeface="+mn-lt"/>
                <a:ea typeface="+mn-ea"/>
                <a:cs typeface="+mn-cs"/>
              </a:rPr>
              <a:t> lag:</a:t>
            </a:r>
            <a:r>
              <a:rPr lang="nb-NO" sz="1200" b="0" i="0" kern="1200" dirty="0">
                <a:solidFill>
                  <a:schemeClr val="tx1"/>
                </a:solidFill>
                <a:effectLst/>
                <a:latin typeface="+mn-lt"/>
                <a:ea typeface="+mn-ea"/>
                <a:cs typeface="+mn-cs"/>
              </a:rPr>
              <a:t> Gir tilgang til eksterne tjenester og </a:t>
            </a:r>
            <a:r>
              <a:rPr lang="nb-NO" sz="1200" b="0" i="0" kern="1200" dirty="0" err="1">
                <a:solidFill>
                  <a:schemeClr val="tx1"/>
                </a:solidFill>
                <a:effectLst/>
                <a:latin typeface="+mn-lt"/>
                <a:ea typeface="+mn-ea"/>
                <a:cs typeface="+mn-cs"/>
              </a:rPr>
              <a:t>APIer</a:t>
            </a:r>
            <a:r>
              <a:rPr lang="nb-NO" sz="1200" b="0" i="0" kern="1200" dirty="0">
                <a:solidFill>
                  <a:schemeClr val="tx1"/>
                </a:solidFill>
                <a:effectLst/>
                <a:latin typeface="+mn-lt"/>
                <a:ea typeface="+mn-ea"/>
                <a:cs typeface="+mn-cs"/>
              </a:rPr>
              <a:t> ved bruk av metoder for logikklaget slik at applikasjonen får utført arbeid. CRUD</a:t>
            </a:r>
          </a:p>
          <a:p>
            <a:br>
              <a:rPr lang="nb-NO" dirty="0"/>
            </a:br>
            <a:endParaRPr lang="nb-NO" dirty="0"/>
          </a:p>
          <a:p>
            <a:r>
              <a:rPr lang="nb-NO" sz="1200" b="0" i="0" kern="1200" dirty="0">
                <a:solidFill>
                  <a:schemeClr val="tx1"/>
                </a:solidFill>
                <a:effectLst/>
                <a:latin typeface="+mn-lt"/>
                <a:ea typeface="+mn-ea"/>
                <a:cs typeface="+mn-cs"/>
              </a:rPr>
              <a:t>Hvert lag utfører spesifikke oppgaver for et lag høyere. Hvert lag kan kun be om tjenester fra laget under eller over seg. </a:t>
            </a:r>
          </a:p>
          <a:p>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Gir lav kobling</a:t>
            </a:r>
          </a:p>
        </p:txBody>
      </p:sp>
      <p:sp>
        <p:nvSpPr>
          <p:cNvPr id="4" name="Plassholder for lysbildenummer 3">
            <a:extLst>
              <a:ext uri="{FF2B5EF4-FFF2-40B4-BE49-F238E27FC236}">
                <a16:creationId xmlns:a16="http://schemas.microsoft.com/office/drawing/2014/main" id="{4B7608A4-33F0-5AFF-3812-327782BE80E9}"/>
              </a:ext>
            </a:extLst>
          </p:cNvPr>
          <p:cNvSpPr>
            <a:spLocks noGrp="1"/>
          </p:cNvSpPr>
          <p:nvPr>
            <p:ph type="sldNum" sz="quarter" idx="5"/>
          </p:nvPr>
        </p:nvSpPr>
        <p:spPr/>
        <p:txBody>
          <a:bodyPr/>
          <a:lstStyle/>
          <a:p>
            <a:fld id="{ED8CD5F7-2931-42C6-9B3E-A6C700901896}" type="slidenum">
              <a:rPr lang="nb-NO" smtClean="0"/>
              <a:t>26</a:t>
            </a:fld>
            <a:endParaRPr lang="nb-NO"/>
          </a:p>
        </p:txBody>
      </p:sp>
    </p:spTree>
    <p:extLst>
      <p:ext uri="{BB962C8B-B14F-4D97-AF65-F5344CB8AC3E}">
        <p14:creationId xmlns:p14="http://schemas.microsoft.com/office/powerpoint/2010/main" val="11406569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EB66A-BECF-E75F-D47F-8B62F9699991}"/>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07F62FC0-F677-8492-0B13-34F713B0BD5D}"/>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CAC5CEE5-FC3D-CEE0-5107-E030EF402B7F}"/>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Bygd opp at to partier: master og slaver.</a:t>
            </a:r>
          </a:p>
          <a:p>
            <a:endParaRPr lang="nb-NO"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Masteren: komponenten som delegerer arbeid til de forskjellige identiske slave komponentene.</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Slavene returnerer resultat til master.</a:t>
            </a:r>
            <a:br>
              <a:rPr lang="nb-NO" sz="1200" b="0" i="0" kern="1200" dirty="0">
                <a:solidFill>
                  <a:schemeClr val="tx1"/>
                </a:solidFill>
                <a:effectLst/>
                <a:latin typeface="+mn-lt"/>
                <a:ea typeface="+mn-ea"/>
                <a:cs typeface="+mn-cs"/>
              </a:rPr>
            </a:br>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Fordeler:</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Får et overordnet blikk over prosessen i master og kan gå over til implementeringen i slavene. Slavene kan enkelt </a:t>
            </a:r>
            <a:r>
              <a:rPr lang="nb-NO" sz="1200" b="0" i="0" kern="1200" dirty="0" err="1">
                <a:solidFill>
                  <a:schemeClr val="tx1"/>
                </a:solidFill>
                <a:effectLst/>
                <a:latin typeface="+mn-lt"/>
                <a:ea typeface="+mn-ea"/>
                <a:cs typeface="+mn-cs"/>
              </a:rPr>
              <a:t>enhetstestes</a:t>
            </a:r>
            <a:r>
              <a:rPr lang="nb-NO" sz="1200" b="0" i="0" kern="1200" dirty="0">
                <a:solidFill>
                  <a:schemeClr val="tx1"/>
                </a:solidFill>
                <a:effectLst/>
                <a:latin typeface="+mn-lt"/>
                <a:ea typeface="+mn-ea"/>
                <a:cs typeface="+mn-cs"/>
              </a:rPr>
              <a:t> mens mesteren kan </a:t>
            </a:r>
            <a:r>
              <a:rPr lang="nb-NO" sz="1200" b="0" i="0" kern="1200" dirty="0" err="1">
                <a:solidFill>
                  <a:schemeClr val="tx1"/>
                </a:solidFill>
                <a:effectLst/>
                <a:latin typeface="+mn-lt"/>
                <a:ea typeface="+mn-ea"/>
                <a:cs typeface="+mn-cs"/>
              </a:rPr>
              <a:t>integrasjonstestes</a:t>
            </a:r>
            <a:r>
              <a:rPr lang="nb-NO" sz="1200" b="0" i="0" kern="1200" dirty="0">
                <a:solidFill>
                  <a:schemeClr val="tx1"/>
                </a:solidFill>
                <a:effectLst/>
                <a:latin typeface="+mn-lt"/>
                <a:ea typeface="+mn-ea"/>
                <a:cs typeface="+mn-cs"/>
              </a:rPr>
              <a:t> opp mot slavene.</a:t>
            </a:r>
            <a:br>
              <a:rPr lang="nb-NO" sz="1200" b="0" i="0" kern="1200" dirty="0">
                <a:solidFill>
                  <a:schemeClr val="tx1"/>
                </a:solidFill>
                <a:effectLst/>
                <a:latin typeface="+mn-lt"/>
                <a:ea typeface="+mn-ea"/>
                <a:cs typeface="+mn-cs"/>
              </a:rPr>
            </a:br>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Brukes i </a:t>
            </a:r>
            <a:r>
              <a:rPr lang="nb-NO" sz="1200" b="0" i="0" kern="1200" dirty="0" err="1">
                <a:solidFill>
                  <a:schemeClr val="tx1"/>
                </a:solidFill>
                <a:effectLst/>
                <a:latin typeface="+mn-lt"/>
                <a:ea typeface="+mn-ea"/>
                <a:cs typeface="+mn-cs"/>
              </a:rPr>
              <a:t>databasereplikering</a:t>
            </a:r>
            <a:r>
              <a:rPr lang="nb-NO" sz="1200" b="0" i="0" kern="1200" dirty="0">
                <a:solidFill>
                  <a:schemeClr val="tx1"/>
                </a:solidFill>
                <a:effectLst/>
                <a:latin typeface="+mn-lt"/>
                <a:ea typeface="+mn-ea"/>
                <a:cs typeface="+mn-cs"/>
              </a:rPr>
              <a:t>:</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Master db fungerer som kilden og videresender sin tilstand til slavene, som synkroniserer seg til mesterens data. Kan da sende spørringer til hvilken som helst av databasene som gir systemet høyere kapasitet enn en enkel db.</a:t>
            </a:r>
          </a:p>
        </p:txBody>
      </p:sp>
      <p:sp>
        <p:nvSpPr>
          <p:cNvPr id="4" name="Plassholder for lysbildenummer 3">
            <a:extLst>
              <a:ext uri="{FF2B5EF4-FFF2-40B4-BE49-F238E27FC236}">
                <a16:creationId xmlns:a16="http://schemas.microsoft.com/office/drawing/2014/main" id="{5D44DD56-C5CA-80D9-9E5F-4A07579CCEF3}"/>
              </a:ext>
            </a:extLst>
          </p:cNvPr>
          <p:cNvSpPr>
            <a:spLocks noGrp="1"/>
          </p:cNvSpPr>
          <p:nvPr>
            <p:ph type="sldNum" sz="quarter" idx="5"/>
          </p:nvPr>
        </p:nvSpPr>
        <p:spPr/>
        <p:txBody>
          <a:bodyPr/>
          <a:lstStyle/>
          <a:p>
            <a:fld id="{ED8CD5F7-2931-42C6-9B3E-A6C700901896}" type="slidenum">
              <a:rPr lang="nb-NO" smtClean="0"/>
              <a:t>27</a:t>
            </a:fld>
            <a:endParaRPr lang="nb-NO"/>
          </a:p>
        </p:txBody>
      </p:sp>
    </p:spTree>
    <p:extLst>
      <p:ext uri="{BB962C8B-B14F-4D97-AF65-F5344CB8AC3E}">
        <p14:creationId xmlns:p14="http://schemas.microsoft.com/office/powerpoint/2010/main" val="40553848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8BF18-7F8E-4691-4A13-8F01C6C6C8D6}"/>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338288F3-8C42-639D-3E65-F4E0A4A0D5A0}"/>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5910372C-8812-4A1D-9A0F-50F7EEB53DFB}"/>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Piper etterfulgt av rekke filter-nodes som prosesserer dataene til en </a:t>
            </a:r>
            <a:r>
              <a:rPr lang="nb-NO" sz="1200" b="0" i="1" kern="1200" dirty="0">
                <a:solidFill>
                  <a:schemeClr val="tx1"/>
                </a:solidFill>
                <a:effectLst/>
                <a:latin typeface="+mn-lt"/>
                <a:ea typeface="+mn-ea"/>
                <a:cs typeface="+mn-cs"/>
              </a:rPr>
              <a:t>sink</a:t>
            </a:r>
            <a:r>
              <a:rPr lang="nb-NO" sz="1200" b="0" i="0" kern="1200" dirty="0">
                <a:solidFill>
                  <a:schemeClr val="tx1"/>
                </a:solidFill>
                <a:effectLst/>
                <a:latin typeface="+mn-lt"/>
                <a:ea typeface="+mn-ea"/>
                <a:cs typeface="+mn-cs"/>
              </a:rPr>
              <a:t> som samler opp dataene. </a:t>
            </a:r>
          </a:p>
          <a:p>
            <a:r>
              <a:rPr lang="nb-NO" sz="1200" b="0" i="0" kern="1200" dirty="0">
                <a:solidFill>
                  <a:schemeClr val="tx1"/>
                </a:solidFill>
                <a:effectLst/>
                <a:latin typeface="+mn-lt"/>
                <a:ea typeface="+mn-ea"/>
                <a:cs typeface="+mn-cs"/>
              </a:rPr>
              <a:t>Brukt til å strukturere systemer som produserer datastrømmer.</a:t>
            </a:r>
          </a:p>
        </p:txBody>
      </p:sp>
      <p:sp>
        <p:nvSpPr>
          <p:cNvPr id="4" name="Plassholder for lysbildenummer 3">
            <a:extLst>
              <a:ext uri="{FF2B5EF4-FFF2-40B4-BE49-F238E27FC236}">
                <a16:creationId xmlns:a16="http://schemas.microsoft.com/office/drawing/2014/main" id="{6872FC65-688A-1E9B-63D4-FA306E951037}"/>
              </a:ext>
            </a:extLst>
          </p:cNvPr>
          <p:cNvSpPr>
            <a:spLocks noGrp="1"/>
          </p:cNvSpPr>
          <p:nvPr>
            <p:ph type="sldNum" sz="quarter" idx="5"/>
          </p:nvPr>
        </p:nvSpPr>
        <p:spPr/>
        <p:txBody>
          <a:bodyPr/>
          <a:lstStyle/>
          <a:p>
            <a:fld id="{ED8CD5F7-2931-42C6-9B3E-A6C700901896}" type="slidenum">
              <a:rPr lang="nb-NO" smtClean="0"/>
              <a:t>28</a:t>
            </a:fld>
            <a:endParaRPr lang="nb-NO"/>
          </a:p>
        </p:txBody>
      </p:sp>
    </p:spTree>
    <p:extLst>
      <p:ext uri="{BB962C8B-B14F-4D97-AF65-F5344CB8AC3E}">
        <p14:creationId xmlns:p14="http://schemas.microsoft.com/office/powerpoint/2010/main" val="15227538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77748-E62A-EA6A-92C0-682B8F8F90F5}"/>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E7287660-186E-6E4C-04A2-36625208153D}"/>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9E614CCE-A7B3-D87B-C6F6-07CC7339B803}"/>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Hver komponent kommuniserer gjennom en broker, som fasiliteter kommunikasjon og koordinasjon. Serveren gir sine kapasiteter til </a:t>
            </a:r>
            <a:r>
              <a:rPr lang="nb-NO" sz="1200" b="0" i="0" kern="1200" dirty="0" err="1">
                <a:solidFill>
                  <a:schemeClr val="tx1"/>
                </a:solidFill>
                <a:effectLst/>
                <a:latin typeface="+mn-lt"/>
                <a:ea typeface="+mn-ea"/>
                <a:cs typeface="+mn-cs"/>
              </a:rPr>
              <a:t>brokeren</a:t>
            </a:r>
            <a:r>
              <a:rPr lang="nb-NO" sz="1200" b="0" i="0" kern="1200" dirty="0">
                <a:solidFill>
                  <a:schemeClr val="tx1"/>
                </a:solidFill>
                <a:effectLst/>
                <a:latin typeface="+mn-lt"/>
                <a:ea typeface="+mn-ea"/>
                <a:cs typeface="+mn-cs"/>
              </a:rPr>
              <a:t> og klienten spør etter service fra </a:t>
            </a:r>
            <a:r>
              <a:rPr lang="nb-NO" sz="1200" b="0" i="0" kern="1200" dirty="0" err="1">
                <a:solidFill>
                  <a:schemeClr val="tx1"/>
                </a:solidFill>
                <a:effectLst/>
                <a:latin typeface="+mn-lt"/>
                <a:ea typeface="+mn-ea"/>
                <a:cs typeface="+mn-cs"/>
              </a:rPr>
              <a:t>brokeren</a:t>
            </a:r>
            <a:r>
              <a:rPr lang="nb-NO" sz="1200" b="0" i="0" kern="1200" dirty="0">
                <a:solidFill>
                  <a:schemeClr val="tx1"/>
                </a:solidFill>
                <a:effectLst/>
                <a:latin typeface="+mn-lt"/>
                <a:ea typeface="+mn-ea"/>
                <a:cs typeface="+mn-cs"/>
              </a:rPr>
              <a:t>, og </a:t>
            </a:r>
            <a:r>
              <a:rPr lang="nb-NO" sz="1200" b="0" i="0" kern="1200" dirty="0" err="1">
                <a:solidFill>
                  <a:schemeClr val="tx1"/>
                </a:solidFill>
                <a:effectLst/>
                <a:latin typeface="+mn-lt"/>
                <a:ea typeface="+mn-ea"/>
                <a:cs typeface="+mn-cs"/>
              </a:rPr>
              <a:t>brokeren</a:t>
            </a:r>
            <a:r>
              <a:rPr lang="nb-NO" sz="1200" b="0" i="0" kern="1200" dirty="0">
                <a:solidFill>
                  <a:schemeClr val="tx1"/>
                </a:solidFill>
                <a:effectLst/>
                <a:latin typeface="+mn-lt"/>
                <a:ea typeface="+mn-ea"/>
                <a:cs typeface="+mn-cs"/>
              </a:rPr>
              <a:t> sender klienten til et passende service.</a:t>
            </a:r>
          </a:p>
          <a:p>
            <a:br>
              <a:rPr lang="nb-NO" dirty="0"/>
            </a:br>
            <a:r>
              <a:rPr lang="nb-NO" sz="1200" b="0" i="0" kern="1200" dirty="0">
                <a:solidFill>
                  <a:schemeClr val="tx1"/>
                </a:solidFill>
                <a:effectLst/>
                <a:latin typeface="+mn-lt"/>
                <a:ea typeface="+mn-ea"/>
                <a:cs typeface="+mn-cs"/>
              </a:rPr>
              <a:t>Brukt til å strukturere systemer der komponentene ikke har kjennskap til hverandre.</a:t>
            </a:r>
          </a:p>
        </p:txBody>
      </p:sp>
      <p:sp>
        <p:nvSpPr>
          <p:cNvPr id="4" name="Plassholder for lysbildenummer 3">
            <a:extLst>
              <a:ext uri="{FF2B5EF4-FFF2-40B4-BE49-F238E27FC236}">
                <a16:creationId xmlns:a16="http://schemas.microsoft.com/office/drawing/2014/main" id="{7DA9A1E5-3FD7-5180-8005-3DA31275D699}"/>
              </a:ext>
            </a:extLst>
          </p:cNvPr>
          <p:cNvSpPr>
            <a:spLocks noGrp="1"/>
          </p:cNvSpPr>
          <p:nvPr>
            <p:ph type="sldNum" sz="quarter" idx="5"/>
          </p:nvPr>
        </p:nvSpPr>
        <p:spPr/>
        <p:txBody>
          <a:bodyPr/>
          <a:lstStyle/>
          <a:p>
            <a:fld id="{ED8CD5F7-2931-42C6-9B3E-A6C700901896}" type="slidenum">
              <a:rPr lang="nb-NO" smtClean="0"/>
              <a:t>29</a:t>
            </a:fld>
            <a:endParaRPr lang="nb-NO"/>
          </a:p>
        </p:txBody>
      </p:sp>
    </p:spTree>
    <p:extLst>
      <p:ext uri="{BB962C8B-B14F-4D97-AF65-F5344CB8AC3E}">
        <p14:creationId xmlns:p14="http://schemas.microsoft.com/office/powerpoint/2010/main" val="25755121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A9F9B-177C-0F6E-1666-4127A930139B}"/>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F4685AFF-B2D3-D166-9927-D5A89A5D47DB}"/>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A674A1B8-B0CD-E140-71C7-902005F90A30}"/>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Komponentene kalt peers. </a:t>
            </a:r>
          </a:p>
          <a:p>
            <a:r>
              <a:rPr lang="nb-NO" sz="1200" b="0" i="0" kern="1200" dirty="0">
                <a:solidFill>
                  <a:schemeClr val="tx1"/>
                </a:solidFill>
                <a:effectLst/>
                <a:latin typeface="+mn-lt"/>
                <a:ea typeface="+mn-ea"/>
                <a:cs typeface="+mn-cs"/>
              </a:rPr>
              <a:t>Peers funker nesten lik klient-tjener, men kan ta en dynamisk rolle både tjener og klient. </a:t>
            </a:r>
          </a:p>
          <a:p>
            <a:r>
              <a:rPr lang="nb-NO" sz="1200" b="0" i="0" kern="1200" dirty="0" err="1">
                <a:solidFill>
                  <a:schemeClr val="tx1"/>
                </a:solidFill>
                <a:effectLst/>
                <a:latin typeface="+mn-lt"/>
                <a:ea typeface="+mn-ea"/>
                <a:cs typeface="+mn-cs"/>
              </a:rPr>
              <a:t>Peersene</a:t>
            </a:r>
            <a:r>
              <a:rPr lang="nb-NO" sz="1200" b="0" i="0" kern="1200" dirty="0">
                <a:solidFill>
                  <a:schemeClr val="tx1"/>
                </a:solidFill>
                <a:effectLst/>
                <a:latin typeface="+mn-lt"/>
                <a:ea typeface="+mn-ea"/>
                <a:cs typeface="+mn-cs"/>
              </a:rPr>
              <a:t> kan sende forespørsler til hverandre og samarbeider ofte.</a:t>
            </a:r>
          </a:p>
        </p:txBody>
      </p:sp>
      <p:sp>
        <p:nvSpPr>
          <p:cNvPr id="4" name="Plassholder for lysbildenummer 3">
            <a:extLst>
              <a:ext uri="{FF2B5EF4-FFF2-40B4-BE49-F238E27FC236}">
                <a16:creationId xmlns:a16="http://schemas.microsoft.com/office/drawing/2014/main" id="{5B1554BE-BE83-2D69-A36F-B610FFFA1EAD}"/>
              </a:ext>
            </a:extLst>
          </p:cNvPr>
          <p:cNvSpPr>
            <a:spLocks noGrp="1"/>
          </p:cNvSpPr>
          <p:nvPr>
            <p:ph type="sldNum" sz="quarter" idx="5"/>
          </p:nvPr>
        </p:nvSpPr>
        <p:spPr/>
        <p:txBody>
          <a:bodyPr/>
          <a:lstStyle/>
          <a:p>
            <a:fld id="{ED8CD5F7-2931-42C6-9B3E-A6C700901896}" type="slidenum">
              <a:rPr lang="nb-NO" smtClean="0"/>
              <a:t>30</a:t>
            </a:fld>
            <a:endParaRPr lang="nb-NO"/>
          </a:p>
        </p:txBody>
      </p:sp>
    </p:spTree>
    <p:extLst>
      <p:ext uri="{BB962C8B-B14F-4D97-AF65-F5344CB8AC3E}">
        <p14:creationId xmlns:p14="http://schemas.microsoft.com/office/powerpoint/2010/main" val="40258921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FBCF2-32C8-7407-8C58-E335199ACB49}"/>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3F355761-95FC-EE9F-E2F2-4D0E51FFFCCC}"/>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2F0BB78B-BF8D-6E2D-6E62-3B6B17D8CB12}"/>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Fire hovedkomponenter: </a:t>
            </a:r>
            <a:r>
              <a:rPr lang="nb-NO" sz="1200" b="0" i="0" kern="1200" dirty="0" err="1">
                <a:solidFill>
                  <a:schemeClr val="tx1"/>
                </a:solidFill>
                <a:effectLst/>
                <a:latin typeface="+mn-lt"/>
                <a:ea typeface="+mn-ea"/>
                <a:cs typeface="+mn-cs"/>
              </a:rPr>
              <a:t>event</a:t>
            </a:r>
            <a:r>
              <a:rPr lang="nb-NO" sz="1200" b="0" i="0" kern="1200" dirty="0">
                <a:solidFill>
                  <a:schemeClr val="tx1"/>
                </a:solidFill>
                <a:effectLst/>
                <a:latin typeface="+mn-lt"/>
                <a:ea typeface="+mn-ea"/>
                <a:cs typeface="+mn-cs"/>
              </a:rPr>
              <a:t> </a:t>
            </a:r>
            <a:r>
              <a:rPr lang="nb-NO" sz="1200" b="0" i="0" kern="1200" dirty="0" err="1">
                <a:solidFill>
                  <a:schemeClr val="tx1"/>
                </a:solidFill>
                <a:effectLst/>
                <a:latin typeface="+mn-lt"/>
                <a:ea typeface="+mn-ea"/>
                <a:cs typeface="+mn-cs"/>
              </a:rPr>
              <a:t>listener</a:t>
            </a:r>
            <a:r>
              <a:rPr lang="nb-NO" sz="1200" b="0" i="0" kern="1200" dirty="0">
                <a:solidFill>
                  <a:schemeClr val="tx1"/>
                </a:solidFill>
                <a:effectLst/>
                <a:latin typeface="+mn-lt"/>
                <a:ea typeface="+mn-ea"/>
                <a:cs typeface="+mn-cs"/>
              </a:rPr>
              <a:t>, </a:t>
            </a:r>
            <a:r>
              <a:rPr lang="nb-NO" sz="1200" b="0" i="0" kern="1200" dirty="0" err="1">
                <a:solidFill>
                  <a:schemeClr val="tx1"/>
                </a:solidFill>
                <a:effectLst/>
                <a:latin typeface="+mn-lt"/>
                <a:ea typeface="+mn-ea"/>
                <a:cs typeface="+mn-cs"/>
              </a:rPr>
              <a:t>event</a:t>
            </a:r>
            <a:r>
              <a:rPr lang="nb-NO" sz="1200" b="0" i="0" kern="1200" dirty="0">
                <a:solidFill>
                  <a:schemeClr val="tx1"/>
                </a:solidFill>
                <a:effectLst/>
                <a:latin typeface="+mn-lt"/>
                <a:ea typeface="+mn-ea"/>
                <a:cs typeface="+mn-cs"/>
              </a:rPr>
              <a:t> </a:t>
            </a:r>
            <a:r>
              <a:rPr lang="nb-NO" sz="1200" b="0" i="0" kern="1200" dirty="0" err="1">
                <a:solidFill>
                  <a:schemeClr val="tx1"/>
                </a:solidFill>
                <a:effectLst/>
                <a:latin typeface="+mn-lt"/>
                <a:ea typeface="+mn-ea"/>
                <a:cs typeface="+mn-cs"/>
              </a:rPr>
              <a:t>source</a:t>
            </a:r>
            <a:r>
              <a:rPr lang="nb-NO" sz="1200" b="0" i="0" kern="1200" dirty="0">
                <a:solidFill>
                  <a:schemeClr val="tx1"/>
                </a:solidFill>
                <a:effectLst/>
                <a:latin typeface="+mn-lt"/>
                <a:ea typeface="+mn-ea"/>
                <a:cs typeface="+mn-cs"/>
              </a:rPr>
              <a:t>, </a:t>
            </a:r>
            <a:r>
              <a:rPr lang="nb-NO" sz="1200" b="0" i="0" kern="1200" dirty="0" err="1">
                <a:solidFill>
                  <a:schemeClr val="tx1"/>
                </a:solidFill>
                <a:effectLst/>
                <a:latin typeface="+mn-lt"/>
                <a:ea typeface="+mn-ea"/>
                <a:cs typeface="+mn-cs"/>
              </a:rPr>
              <a:t>channel</a:t>
            </a:r>
            <a:r>
              <a:rPr lang="nb-NO" sz="1200" b="0" i="0" kern="1200" dirty="0">
                <a:solidFill>
                  <a:schemeClr val="tx1"/>
                </a:solidFill>
                <a:effectLst/>
                <a:latin typeface="+mn-lt"/>
                <a:ea typeface="+mn-ea"/>
                <a:cs typeface="+mn-cs"/>
              </a:rPr>
              <a:t> og </a:t>
            </a:r>
            <a:r>
              <a:rPr lang="nb-NO" sz="1200" b="0" i="0" kern="1200" dirty="0" err="1">
                <a:solidFill>
                  <a:schemeClr val="tx1"/>
                </a:solidFill>
                <a:effectLst/>
                <a:latin typeface="+mn-lt"/>
                <a:ea typeface="+mn-ea"/>
                <a:cs typeface="+mn-cs"/>
              </a:rPr>
              <a:t>event</a:t>
            </a:r>
            <a:r>
              <a:rPr lang="nb-NO" sz="1200" b="0" i="0" kern="1200" dirty="0">
                <a:solidFill>
                  <a:schemeClr val="tx1"/>
                </a:solidFill>
                <a:effectLst/>
                <a:latin typeface="+mn-lt"/>
                <a:ea typeface="+mn-ea"/>
                <a:cs typeface="+mn-cs"/>
              </a:rPr>
              <a:t> bus. </a:t>
            </a:r>
          </a:p>
          <a:p>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Kilden (</a:t>
            </a:r>
            <a:r>
              <a:rPr lang="nb-NO" sz="1200" b="0" i="0" kern="1200" dirty="0" err="1">
                <a:solidFill>
                  <a:schemeClr val="tx1"/>
                </a:solidFill>
                <a:effectLst/>
                <a:latin typeface="+mn-lt"/>
                <a:ea typeface="+mn-ea"/>
                <a:cs typeface="+mn-cs"/>
              </a:rPr>
              <a:t>source</a:t>
            </a:r>
            <a:r>
              <a:rPr lang="nb-NO" sz="1200" b="0" i="0" kern="1200" dirty="0">
                <a:solidFill>
                  <a:schemeClr val="tx1"/>
                </a:solidFill>
                <a:effectLst/>
                <a:latin typeface="+mn-lt"/>
                <a:ea typeface="+mn-ea"/>
                <a:cs typeface="+mn-cs"/>
              </a:rPr>
              <a:t>) sender en melding til en spesifikk </a:t>
            </a:r>
            <a:r>
              <a:rPr lang="nb-NO" sz="1200" b="0" i="0" kern="1200" dirty="0" err="1">
                <a:solidFill>
                  <a:schemeClr val="tx1"/>
                </a:solidFill>
                <a:effectLst/>
                <a:latin typeface="+mn-lt"/>
                <a:ea typeface="+mn-ea"/>
                <a:cs typeface="+mn-cs"/>
              </a:rPr>
              <a:t>channel</a:t>
            </a:r>
            <a:r>
              <a:rPr lang="nb-NO" sz="1200" b="0" i="0" kern="1200" dirty="0">
                <a:solidFill>
                  <a:schemeClr val="tx1"/>
                </a:solidFill>
                <a:effectLst/>
                <a:latin typeface="+mn-lt"/>
                <a:ea typeface="+mn-ea"/>
                <a:cs typeface="+mn-cs"/>
              </a:rPr>
              <a:t> på </a:t>
            </a:r>
            <a:r>
              <a:rPr lang="nb-NO" sz="1200" b="0" i="0" kern="1200" dirty="0" err="1">
                <a:solidFill>
                  <a:schemeClr val="tx1"/>
                </a:solidFill>
                <a:effectLst/>
                <a:latin typeface="+mn-lt"/>
                <a:ea typeface="+mn-ea"/>
                <a:cs typeface="+mn-cs"/>
              </a:rPr>
              <a:t>event</a:t>
            </a:r>
            <a:r>
              <a:rPr lang="nb-NO" sz="1200" b="0" i="0" kern="1200" dirty="0">
                <a:solidFill>
                  <a:schemeClr val="tx1"/>
                </a:solidFill>
                <a:effectLst/>
                <a:latin typeface="+mn-lt"/>
                <a:ea typeface="+mn-ea"/>
                <a:cs typeface="+mn-cs"/>
              </a:rPr>
              <a:t> bussen. </a:t>
            </a:r>
            <a:r>
              <a:rPr lang="nb-NO" sz="1200" b="0" i="0" kern="1200" dirty="0" err="1">
                <a:solidFill>
                  <a:schemeClr val="tx1"/>
                </a:solidFill>
                <a:effectLst/>
                <a:latin typeface="+mn-lt"/>
                <a:ea typeface="+mn-ea"/>
                <a:cs typeface="+mn-cs"/>
              </a:rPr>
              <a:t>Listener</a:t>
            </a:r>
            <a:r>
              <a:rPr lang="nb-NO" sz="1200" b="0" i="0" kern="1200" dirty="0">
                <a:solidFill>
                  <a:schemeClr val="tx1"/>
                </a:solidFill>
                <a:effectLst/>
                <a:latin typeface="+mn-lt"/>
                <a:ea typeface="+mn-ea"/>
                <a:cs typeface="+mn-cs"/>
              </a:rPr>
              <a:t> abonnerer til </a:t>
            </a:r>
            <a:r>
              <a:rPr lang="nb-NO" sz="1200" b="0" i="0" kern="1200" dirty="0" err="1">
                <a:solidFill>
                  <a:schemeClr val="tx1"/>
                </a:solidFill>
                <a:effectLst/>
                <a:latin typeface="+mn-lt"/>
                <a:ea typeface="+mn-ea"/>
                <a:cs typeface="+mn-cs"/>
              </a:rPr>
              <a:t>channelen</a:t>
            </a:r>
            <a:r>
              <a:rPr lang="nb-NO" sz="1200" b="0" i="0" kern="1200" dirty="0">
                <a:solidFill>
                  <a:schemeClr val="tx1"/>
                </a:solidFill>
                <a:effectLst/>
                <a:latin typeface="+mn-lt"/>
                <a:ea typeface="+mn-ea"/>
                <a:cs typeface="+mn-cs"/>
              </a:rPr>
              <a:t> og sier ifra til andre komponenter når en melding blir sendt på </a:t>
            </a:r>
            <a:r>
              <a:rPr lang="nb-NO" sz="1200" b="0" i="0" kern="1200" dirty="0" err="1">
                <a:solidFill>
                  <a:schemeClr val="tx1"/>
                </a:solidFill>
                <a:effectLst/>
                <a:latin typeface="+mn-lt"/>
                <a:ea typeface="+mn-ea"/>
                <a:cs typeface="+mn-cs"/>
              </a:rPr>
              <a:t>channelen</a:t>
            </a:r>
            <a:r>
              <a:rPr lang="nb-NO" sz="1200" b="0" i="0" kern="1200" dirty="0">
                <a:solidFill>
                  <a:schemeClr val="tx1"/>
                </a:solidFill>
                <a:effectLst/>
                <a:latin typeface="+mn-lt"/>
                <a:ea typeface="+mn-ea"/>
                <a:cs typeface="+mn-cs"/>
              </a:rPr>
              <a:t> de abonnerer på.</a:t>
            </a:r>
          </a:p>
        </p:txBody>
      </p:sp>
      <p:sp>
        <p:nvSpPr>
          <p:cNvPr id="4" name="Plassholder for lysbildenummer 3">
            <a:extLst>
              <a:ext uri="{FF2B5EF4-FFF2-40B4-BE49-F238E27FC236}">
                <a16:creationId xmlns:a16="http://schemas.microsoft.com/office/drawing/2014/main" id="{8C53B48C-E034-5B2C-2A9E-773CE21EDA4E}"/>
              </a:ext>
            </a:extLst>
          </p:cNvPr>
          <p:cNvSpPr>
            <a:spLocks noGrp="1"/>
          </p:cNvSpPr>
          <p:nvPr>
            <p:ph type="sldNum" sz="quarter" idx="5"/>
          </p:nvPr>
        </p:nvSpPr>
        <p:spPr/>
        <p:txBody>
          <a:bodyPr/>
          <a:lstStyle/>
          <a:p>
            <a:fld id="{ED8CD5F7-2931-42C6-9B3E-A6C700901896}" type="slidenum">
              <a:rPr lang="nb-NO" smtClean="0"/>
              <a:t>31</a:t>
            </a:fld>
            <a:endParaRPr lang="nb-NO"/>
          </a:p>
        </p:txBody>
      </p:sp>
    </p:spTree>
    <p:extLst>
      <p:ext uri="{BB962C8B-B14F-4D97-AF65-F5344CB8AC3E}">
        <p14:creationId xmlns:p14="http://schemas.microsoft.com/office/powerpoint/2010/main" val="9680072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77D03-291C-9D0C-8489-570CB1A83016}"/>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351DC60C-31EF-2250-FF3F-A17B5723D7A5}"/>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9003CD29-7C61-31FB-3251-2E8CA7ED7125}"/>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Deler en interaktive applikasjon i tre deler:</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Model: hoved funksjonaliteten, alt av data som vises i applikasjonen samt data som er viktig for prosessering</a:t>
            </a:r>
          </a:p>
          <a:p>
            <a:pPr marL="171450" indent="-171450">
              <a:buFont typeface="Arial" panose="020B0604020202020204" pitchFamily="34" charset="0"/>
              <a:buChar char="•"/>
            </a:pPr>
            <a:r>
              <a:rPr lang="nb-NO" sz="1200" b="0" i="0" kern="1200" dirty="0" err="1">
                <a:solidFill>
                  <a:schemeClr val="tx1"/>
                </a:solidFill>
                <a:effectLst/>
                <a:latin typeface="+mn-lt"/>
                <a:ea typeface="+mn-ea"/>
                <a:cs typeface="+mn-cs"/>
              </a:rPr>
              <a:t>View</a:t>
            </a:r>
            <a:r>
              <a:rPr lang="nb-NO" sz="1200" b="0" i="0" kern="1200" dirty="0">
                <a:solidFill>
                  <a:schemeClr val="tx1"/>
                </a:solidFill>
                <a:effectLst/>
                <a:latin typeface="+mn-lt"/>
                <a:ea typeface="+mn-ea"/>
                <a:cs typeface="+mn-cs"/>
              </a:rPr>
              <a:t>: Viser fram modellene og andre data til brukeren gjennom GUI</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Controller: Styrer informasjonsflyten ved å ta input og andre interaksjon fra brukeren, henter/sender data til andre tjenester og manipulerer modellene slik at GUI blir oppdatert.</a:t>
            </a:r>
            <a:br>
              <a:rPr lang="nb-NO" sz="1200" b="0" i="0" kern="1200" dirty="0">
                <a:solidFill>
                  <a:schemeClr val="tx1"/>
                </a:solidFill>
                <a:effectLst/>
                <a:latin typeface="+mn-lt"/>
                <a:ea typeface="+mn-ea"/>
                <a:cs typeface="+mn-cs"/>
              </a:rPr>
            </a:br>
            <a:r>
              <a:rPr lang="nb-NO" sz="1200" b="0" i="0" kern="1200" dirty="0">
                <a:solidFill>
                  <a:schemeClr val="tx1"/>
                </a:solidFill>
                <a:effectLst/>
                <a:latin typeface="+mn-lt"/>
                <a:ea typeface="+mn-ea"/>
                <a:cs typeface="+mn-cs"/>
              </a:rPr>
              <a:t>Fordeler</a:t>
            </a:r>
          </a:p>
          <a:p>
            <a:pPr marL="0" indent="0">
              <a:buFont typeface="Arial" panose="020B0604020202020204" pitchFamily="34" charset="0"/>
              <a:buNone/>
            </a:pPr>
            <a:endParaRPr lang="nb-NO" sz="1200" b="0" i="0" kern="1200" dirty="0">
              <a:solidFill>
                <a:schemeClr val="tx1"/>
              </a:solidFill>
              <a:effectLst/>
              <a:latin typeface="+mn-lt"/>
              <a:ea typeface="+mn-ea"/>
              <a:cs typeface="+mn-cs"/>
            </a:endParaRPr>
          </a:p>
          <a:p>
            <a:pPr marL="0" indent="0">
              <a:buFont typeface="Arial" panose="020B0604020202020204" pitchFamily="34" charset="0"/>
              <a:buNone/>
            </a:pPr>
            <a:r>
              <a:rPr lang="nb-NO" sz="1200" b="0" i="0" kern="1200" dirty="0">
                <a:solidFill>
                  <a:schemeClr val="tx1"/>
                </a:solidFill>
                <a:effectLst/>
                <a:latin typeface="+mn-lt"/>
                <a:ea typeface="+mn-ea"/>
                <a:cs typeface="+mn-cs"/>
              </a:rPr>
              <a:t>Deler opp komponenter som fører til høy kohesjon og gjenbrukbarhet</a:t>
            </a:r>
          </a:p>
        </p:txBody>
      </p:sp>
      <p:sp>
        <p:nvSpPr>
          <p:cNvPr id="4" name="Plassholder for lysbildenummer 3">
            <a:extLst>
              <a:ext uri="{FF2B5EF4-FFF2-40B4-BE49-F238E27FC236}">
                <a16:creationId xmlns:a16="http://schemas.microsoft.com/office/drawing/2014/main" id="{43C40951-F004-D058-97BB-B55C71ACCF16}"/>
              </a:ext>
            </a:extLst>
          </p:cNvPr>
          <p:cNvSpPr>
            <a:spLocks noGrp="1"/>
          </p:cNvSpPr>
          <p:nvPr>
            <p:ph type="sldNum" sz="quarter" idx="5"/>
          </p:nvPr>
        </p:nvSpPr>
        <p:spPr/>
        <p:txBody>
          <a:bodyPr/>
          <a:lstStyle/>
          <a:p>
            <a:fld id="{ED8CD5F7-2931-42C6-9B3E-A6C700901896}" type="slidenum">
              <a:rPr lang="nb-NO" smtClean="0"/>
              <a:t>32</a:t>
            </a:fld>
            <a:endParaRPr lang="nb-NO"/>
          </a:p>
        </p:txBody>
      </p:sp>
    </p:spTree>
    <p:extLst>
      <p:ext uri="{BB962C8B-B14F-4D97-AF65-F5344CB8AC3E}">
        <p14:creationId xmlns:p14="http://schemas.microsoft.com/office/powerpoint/2010/main" val="6073764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7930E-26BF-218F-7303-64A923DA4082}"/>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1E32F7C8-A826-DDEA-A308-D77F131019AA}"/>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1BC3F0FE-E900-39E0-E47D-E78319F8CC71}"/>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Basert på </a:t>
            </a:r>
            <a:r>
              <a:rPr lang="nb-NO" sz="1200" b="0" i="1" kern="1200" dirty="0">
                <a:solidFill>
                  <a:schemeClr val="tx1"/>
                </a:solidFill>
                <a:effectLst/>
                <a:latin typeface="+mn-lt"/>
                <a:ea typeface="+mn-ea"/>
                <a:cs typeface="+mn-cs"/>
              </a:rPr>
              <a:t>single </a:t>
            </a:r>
            <a:r>
              <a:rPr lang="nb-NO" sz="1200" b="0" i="1" kern="1200" dirty="0" err="1">
                <a:solidFill>
                  <a:schemeClr val="tx1"/>
                </a:solidFill>
                <a:effectLst/>
                <a:latin typeface="+mn-lt"/>
                <a:ea typeface="+mn-ea"/>
                <a:cs typeface="+mn-cs"/>
              </a:rPr>
              <a:t>responsibility</a:t>
            </a:r>
            <a:r>
              <a:rPr lang="nb-NO" sz="1200" b="0" i="1" kern="1200" dirty="0">
                <a:solidFill>
                  <a:schemeClr val="tx1"/>
                </a:solidFill>
                <a:effectLst/>
                <a:latin typeface="+mn-lt"/>
                <a:ea typeface="+mn-ea"/>
                <a:cs typeface="+mn-cs"/>
              </a:rPr>
              <a:t> </a:t>
            </a:r>
            <a:r>
              <a:rPr lang="nb-NO" sz="1200" b="0" i="1" kern="1200" dirty="0" err="1">
                <a:solidFill>
                  <a:schemeClr val="tx1"/>
                </a:solidFill>
                <a:effectLst/>
                <a:latin typeface="+mn-lt"/>
                <a:ea typeface="+mn-ea"/>
                <a:cs typeface="+mn-cs"/>
              </a:rPr>
              <a:t>principle</a:t>
            </a:r>
            <a:r>
              <a:rPr lang="nb-NO" sz="1200" b="0" i="0" kern="1200" dirty="0">
                <a:solidFill>
                  <a:schemeClr val="tx1"/>
                </a:solidFill>
                <a:effectLst/>
                <a:latin typeface="+mn-lt"/>
                <a:ea typeface="+mn-ea"/>
                <a:cs typeface="+mn-cs"/>
              </a:rPr>
              <a:t>: samle det som endres av samme grunn, og skill det som endres av ulike grunner. </a:t>
            </a:r>
          </a:p>
          <a:p>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Deler opp programvare i selvstendige tjenester med én ansvarsoppgave, sin egen data og eget kjøremiljø.</a:t>
            </a:r>
            <a:br>
              <a:rPr lang="nb-NO" sz="1200" b="0" i="0" kern="1200" dirty="0">
                <a:solidFill>
                  <a:schemeClr val="tx1"/>
                </a:solidFill>
                <a:effectLst/>
                <a:latin typeface="+mn-lt"/>
                <a:ea typeface="+mn-ea"/>
                <a:cs typeface="+mn-cs"/>
              </a:rPr>
            </a:br>
            <a:endParaRPr lang="nb-NO" sz="1200" b="0" i="0" kern="1200" dirty="0">
              <a:solidFill>
                <a:schemeClr val="tx1"/>
              </a:solidFill>
              <a:effectLst/>
              <a:latin typeface="+mn-lt"/>
              <a:ea typeface="+mn-ea"/>
              <a:cs typeface="+mn-cs"/>
            </a:endParaRPr>
          </a:p>
          <a:p>
            <a:r>
              <a:rPr lang="nb-NO" sz="1200" b="1" i="0" kern="1200" dirty="0">
                <a:solidFill>
                  <a:schemeClr val="tx1"/>
                </a:solidFill>
                <a:effectLst/>
                <a:latin typeface="+mn-lt"/>
                <a:ea typeface="+mn-ea"/>
                <a:cs typeface="+mn-cs"/>
              </a:rPr>
              <a:t>Fordeler</a:t>
            </a:r>
            <a:endParaRPr lang="nb-NO"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Skalerbart</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Modulær</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Fleksibel bruk av teknologi</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Tilgjengelig (feil i én tjeneste stopper ikke hele systemet)</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Muliggjør kontinuerlig levering (CI/CD), optimalisert for </a:t>
            </a:r>
            <a:r>
              <a:rPr lang="nb-NO" sz="1200" b="0" i="0" kern="1200" dirty="0" err="1">
                <a:solidFill>
                  <a:schemeClr val="tx1"/>
                </a:solidFill>
                <a:effectLst/>
                <a:latin typeface="+mn-lt"/>
                <a:ea typeface="+mn-ea"/>
                <a:cs typeface="+mn-cs"/>
              </a:rPr>
              <a:t>DevOps</a:t>
            </a:r>
            <a:endParaRPr lang="nb-NO" sz="1200" b="0" i="0" kern="1200" dirty="0">
              <a:solidFill>
                <a:schemeClr val="tx1"/>
              </a:solidFill>
              <a:effectLst/>
              <a:latin typeface="+mn-lt"/>
              <a:ea typeface="+mn-ea"/>
              <a:cs typeface="+mn-cs"/>
            </a:endParaRPr>
          </a:p>
          <a:p>
            <a:pPr marL="0" indent="0">
              <a:buFont typeface="Arial" panose="020B0604020202020204" pitchFamily="34" charset="0"/>
              <a:buNone/>
            </a:pPr>
            <a:endParaRPr lang="nb-NO" sz="1200" b="0" i="0" kern="1200" dirty="0">
              <a:solidFill>
                <a:schemeClr val="tx1"/>
              </a:solidFill>
              <a:effectLst/>
              <a:latin typeface="+mn-lt"/>
              <a:ea typeface="+mn-ea"/>
              <a:cs typeface="+mn-cs"/>
            </a:endParaRPr>
          </a:p>
          <a:p>
            <a:pPr marL="0" indent="0">
              <a:buFont typeface="Arial" panose="020B0604020202020204" pitchFamily="34" charset="0"/>
              <a:buNone/>
            </a:pPr>
            <a:r>
              <a:rPr lang="nb-NO" sz="1200" b="1" i="0" kern="1200" dirty="0">
                <a:solidFill>
                  <a:schemeClr val="tx1"/>
                </a:solidFill>
                <a:effectLst/>
                <a:latin typeface="+mn-lt"/>
                <a:ea typeface="+mn-ea"/>
                <a:cs typeface="+mn-cs"/>
              </a:rPr>
              <a:t>Ulemper</a:t>
            </a:r>
            <a:endParaRPr lang="nb-NO"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Kompleks </a:t>
            </a:r>
            <a:r>
              <a:rPr lang="nb-NO" sz="1200" b="0" i="0" kern="1200" dirty="0" err="1">
                <a:solidFill>
                  <a:schemeClr val="tx1"/>
                </a:solidFill>
                <a:effectLst/>
                <a:latin typeface="+mn-lt"/>
                <a:ea typeface="+mn-ea"/>
                <a:cs typeface="+mn-cs"/>
              </a:rPr>
              <a:t>debugging</a:t>
            </a:r>
            <a:r>
              <a:rPr lang="nb-NO" sz="1200" b="0" i="0" kern="1200" dirty="0">
                <a:solidFill>
                  <a:schemeClr val="tx1"/>
                </a:solidFill>
                <a:effectLst/>
                <a:latin typeface="+mn-lt"/>
                <a:ea typeface="+mn-ea"/>
                <a:cs typeface="+mn-cs"/>
              </a:rPr>
              <a:t> og logging på tvers av tjenester</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Krever automatisering</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Vanskelig å teste (distribuerte systemer)</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Datainkonsistens – data spredt over mange databaser</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Økt ressursforbruk</a:t>
            </a:r>
          </a:p>
        </p:txBody>
      </p:sp>
      <p:sp>
        <p:nvSpPr>
          <p:cNvPr id="4" name="Plassholder for lysbildenummer 3">
            <a:extLst>
              <a:ext uri="{FF2B5EF4-FFF2-40B4-BE49-F238E27FC236}">
                <a16:creationId xmlns:a16="http://schemas.microsoft.com/office/drawing/2014/main" id="{C5D5DB21-1DB8-8B3E-6F2D-5B5A18B9AADC}"/>
              </a:ext>
            </a:extLst>
          </p:cNvPr>
          <p:cNvSpPr>
            <a:spLocks noGrp="1"/>
          </p:cNvSpPr>
          <p:nvPr>
            <p:ph type="sldNum" sz="quarter" idx="5"/>
          </p:nvPr>
        </p:nvSpPr>
        <p:spPr/>
        <p:txBody>
          <a:bodyPr/>
          <a:lstStyle/>
          <a:p>
            <a:fld id="{ED8CD5F7-2931-42C6-9B3E-A6C700901896}" type="slidenum">
              <a:rPr lang="nb-NO" smtClean="0"/>
              <a:t>33</a:t>
            </a:fld>
            <a:endParaRPr lang="nb-NO"/>
          </a:p>
        </p:txBody>
      </p:sp>
    </p:spTree>
    <p:extLst>
      <p:ext uri="{BB962C8B-B14F-4D97-AF65-F5344CB8AC3E}">
        <p14:creationId xmlns:p14="http://schemas.microsoft.com/office/powerpoint/2010/main" val="24431608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CE8C6-B1F0-51B1-E75B-2B7CEBBB24BF}"/>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4F0FB7EB-EBF3-2EEA-6D2A-401E108614C7}"/>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19219B71-E93A-9CB5-6D87-B3BCCBA5F815}"/>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Tradisjonell, sammenslått modell der alle deler av programvaren er pakket inn i ett system. Selvinneholdt og tett koblet.</a:t>
            </a:r>
          </a:p>
          <a:p>
            <a:br>
              <a:rPr lang="nb-NO" sz="1200" b="0" i="0" kern="1200" dirty="0">
                <a:solidFill>
                  <a:schemeClr val="tx1"/>
                </a:solidFill>
                <a:effectLst/>
                <a:latin typeface="+mn-lt"/>
                <a:ea typeface="+mn-ea"/>
                <a:cs typeface="+mn-cs"/>
              </a:rPr>
            </a:br>
            <a:r>
              <a:rPr lang="nb-NO" sz="1200" b="1" i="0" kern="1200" dirty="0">
                <a:solidFill>
                  <a:schemeClr val="tx1"/>
                </a:solidFill>
                <a:effectLst/>
                <a:latin typeface="+mn-lt"/>
                <a:ea typeface="+mn-ea"/>
                <a:cs typeface="+mn-cs"/>
              </a:rPr>
              <a:t>Fordeler</a:t>
            </a:r>
            <a:endParaRPr lang="nb-NO"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Bedre gjennomstrømning enn modulære tilnærminger</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Enklere å teste og </a:t>
            </a:r>
            <a:r>
              <a:rPr lang="nb-NO" sz="1200" b="0" i="0" kern="1200" dirty="0" err="1">
                <a:solidFill>
                  <a:schemeClr val="tx1"/>
                </a:solidFill>
                <a:effectLst/>
                <a:latin typeface="+mn-lt"/>
                <a:ea typeface="+mn-ea"/>
                <a:cs typeface="+mn-cs"/>
              </a:rPr>
              <a:t>debugge</a:t>
            </a:r>
            <a:r>
              <a:rPr lang="nb-NO" sz="1200" b="0" i="0" kern="1200" dirty="0">
                <a:solidFill>
                  <a:schemeClr val="tx1"/>
                </a:solidFill>
                <a:effectLst/>
                <a:latin typeface="+mn-lt"/>
                <a:ea typeface="+mn-ea"/>
                <a:cs typeface="+mn-cs"/>
              </a:rPr>
              <a:t> i begynnelsen</a:t>
            </a:r>
            <a:br>
              <a:rPr lang="nb-NO" sz="1200" b="0" i="0" kern="1200" dirty="0">
                <a:solidFill>
                  <a:schemeClr val="tx1"/>
                </a:solidFill>
                <a:effectLst/>
                <a:latin typeface="+mn-lt"/>
                <a:ea typeface="+mn-ea"/>
                <a:cs typeface="+mn-cs"/>
              </a:rPr>
            </a:br>
            <a:endParaRPr lang="nb-NO" sz="1200" b="0" i="0" kern="1200" dirty="0">
              <a:solidFill>
                <a:schemeClr val="tx1"/>
              </a:solidFill>
              <a:effectLst/>
              <a:latin typeface="+mn-lt"/>
              <a:ea typeface="+mn-ea"/>
              <a:cs typeface="+mn-cs"/>
            </a:endParaRPr>
          </a:p>
          <a:p>
            <a:r>
              <a:rPr lang="nb-NO" sz="1200" b="1" i="0" kern="1200" dirty="0">
                <a:solidFill>
                  <a:schemeClr val="tx1"/>
                </a:solidFill>
                <a:effectLst/>
                <a:latin typeface="+mn-lt"/>
                <a:ea typeface="+mn-ea"/>
                <a:cs typeface="+mn-cs"/>
              </a:rPr>
              <a:t>Ulemper</a:t>
            </a:r>
            <a:endParaRPr lang="nb-NO"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Vanskelig å vedlikeholde – endring i én del krever oppdatering av hele applikasjonen</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Lite skalerbar/utvidbar sammenlignet med modulære arkitekturer</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Tett koblet – én feil kan stoppe hele systemet</a:t>
            </a:r>
          </a:p>
        </p:txBody>
      </p:sp>
      <p:sp>
        <p:nvSpPr>
          <p:cNvPr id="4" name="Plassholder for lysbildenummer 3">
            <a:extLst>
              <a:ext uri="{FF2B5EF4-FFF2-40B4-BE49-F238E27FC236}">
                <a16:creationId xmlns:a16="http://schemas.microsoft.com/office/drawing/2014/main" id="{417A72E9-C761-231A-1679-F5E8D1E10BD4}"/>
              </a:ext>
            </a:extLst>
          </p:cNvPr>
          <p:cNvSpPr>
            <a:spLocks noGrp="1"/>
          </p:cNvSpPr>
          <p:nvPr>
            <p:ph type="sldNum" sz="quarter" idx="5"/>
          </p:nvPr>
        </p:nvSpPr>
        <p:spPr/>
        <p:txBody>
          <a:bodyPr/>
          <a:lstStyle/>
          <a:p>
            <a:fld id="{ED8CD5F7-2931-42C6-9B3E-A6C700901896}" type="slidenum">
              <a:rPr lang="nb-NO" smtClean="0"/>
              <a:t>34</a:t>
            </a:fld>
            <a:endParaRPr lang="nb-NO"/>
          </a:p>
        </p:txBody>
      </p:sp>
    </p:spTree>
    <p:extLst>
      <p:ext uri="{BB962C8B-B14F-4D97-AF65-F5344CB8AC3E}">
        <p14:creationId xmlns:p14="http://schemas.microsoft.com/office/powerpoint/2010/main" val="23532397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85BD1-CAFF-3C39-AF25-9472E23F615A}"/>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FFF315B7-611E-557F-1944-B23E2E558B37}"/>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31BF0237-6327-D581-B9B1-50E4805F5185}"/>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Består av to hoveddeler: et </a:t>
            </a:r>
            <a:r>
              <a:rPr lang="nb-NO" sz="1200" b="1" i="0" kern="1200" dirty="0">
                <a:solidFill>
                  <a:schemeClr val="tx1"/>
                </a:solidFill>
                <a:effectLst/>
                <a:latin typeface="+mn-lt"/>
                <a:ea typeface="+mn-ea"/>
                <a:cs typeface="+mn-cs"/>
              </a:rPr>
              <a:t>kjerne-system</a:t>
            </a:r>
            <a:r>
              <a:rPr lang="nb-NO" sz="1200" b="0" i="0" kern="1200" dirty="0">
                <a:solidFill>
                  <a:schemeClr val="tx1"/>
                </a:solidFill>
                <a:effectLst/>
                <a:latin typeface="+mn-lt"/>
                <a:ea typeface="+mn-ea"/>
                <a:cs typeface="+mn-cs"/>
              </a:rPr>
              <a:t> og </a:t>
            </a:r>
            <a:r>
              <a:rPr lang="nb-NO" sz="1200" b="1" i="0" kern="1200" dirty="0" err="1">
                <a:solidFill>
                  <a:schemeClr val="tx1"/>
                </a:solidFill>
                <a:effectLst/>
                <a:latin typeface="+mn-lt"/>
                <a:ea typeface="+mn-ea"/>
                <a:cs typeface="+mn-cs"/>
              </a:rPr>
              <a:t>plugin</a:t>
            </a:r>
            <a:r>
              <a:rPr lang="nb-NO" sz="1200" b="1" i="0" kern="1200" dirty="0">
                <a:solidFill>
                  <a:schemeClr val="tx1"/>
                </a:solidFill>
                <a:effectLst/>
                <a:latin typeface="+mn-lt"/>
                <a:ea typeface="+mn-ea"/>
                <a:cs typeface="+mn-cs"/>
              </a:rPr>
              <a:t>-moduler</a:t>
            </a:r>
            <a:r>
              <a:rPr lang="nb-NO" sz="1200" b="0" i="0" kern="1200" dirty="0">
                <a:solidFill>
                  <a:schemeClr val="tx1"/>
                </a:solidFill>
                <a:effectLst/>
                <a:latin typeface="+mn-lt"/>
                <a:ea typeface="+mn-ea"/>
                <a:cs typeface="+mn-cs"/>
              </a:rPr>
              <a:t> (utvidelser/</a:t>
            </a:r>
            <a:r>
              <a:rPr lang="nb-NO" sz="1200" b="0" i="0" kern="1200" dirty="0" err="1">
                <a:solidFill>
                  <a:schemeClr val="tx1"/>
                </a:solidFill>
                <a:effectLst/>
                <a:latin typeface="+mn-lt"/>
                <a:ea typeface="+mn-ea"/>
                <a:cs typeface="+mn-cs"/>
              </a:rPr>
              <a:t>extensions</a:t>
            </a:r>
            <a:r>
              <a:rPr lang="nb-NO" sz="1200" b="0" i="0" kern="1200" dirty="0">
                <a:solidFill>
                  <a:schemeClr val="tx1"/>
                </a:solidFill>
                <a:effectLst/>
                <a:latin typeface="+mn-lt"/>
                <a:ea typeface="+mn-ea"/>
                <a:cs typeface="+mn-cs"/>
              </a:rPr>
              <a:t>).</a:t>
            </a:r>
          </a:p>
          <a:p>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Kjernen administrerer levetiden til tilkoblede </a:t>
            </a:r>
            <a:r>
              <a:rPr lang="nb-NO" sz="1200" b="0" i="0" kern="1200" dirty="0" err="1">
                <a:solidFill>
                  <a:schemeClr val="tx1"/>
                </a:solidFill>
                <a:effectLst/>
                <a:latin typeface="+mn-lt"/>
                <a:ea typeface="+mn-ea"/>
                <a:cs typeface="+mn-cs"/>
              </a:rPr>
              <a:t>plugins</a:t>
            </a:r>
            <a:endParaRPr lang="nb-NO" sz="1200" b="0" i="0" kern="1200" dirty="0">
              <a:solidFill>
                <a:schemeClr val="tx1"/>
              </a:solidFill>
              <a:effectLst/>
              <a:latin typeface="+mn-lt"/>
              <a:ea typeface="+mn-ea"/>
              <a:cs typeface="+mn-cs"/>
            </a:endParaRPr>
          </a:p>
          <a:p>
            <a:r>
              <a:rPr lang="nb-NO" sz="1200" b="0" i="0" kern="1200" dirty="0" err="1">
                <a:solidFill>
                  <a:schemeClr val="tx1"/>
                </a:solidFill>
                <a:effectLst/>
                <a:latin typeface="+mn-lt"/>
                <a:ea typeface="+mn-ea"/>
                <a:cs typeface="+mn-cs"/>
              </a:rPr>
              <a:t>Plugins</a:t>
            </a:r>
            <a:r>
              <a:rPr lang="nb-NO" sz="1200" b="0" i="0" kern="1200" dirty="0">
                <a:solidFill>
                  <a:schemeClr val="tx1"/>
                </a:solidFill>
                <a:effectLst/>
                <a:latin typeface="+mn-lt"/>
                <a:ea typeface="+mn-ea"/>
                <a:cs typeface="+mn-cs"/>
              </a:rPr>
              <a:t> kan legges til eller fjernes fra kjernen når som helst</a:t>
            </a:r>
          </a:p>
          <a:p>
            <a:br>
              <a:rPr lang="nb-NO" sz="1200" b="0" i="0" kern="1200" dirty="0">
                <a:solidFill>
                  <a:schemeClr val="tx1"/>
                </a:solidFill>
                <a:effectLst/>
                <a:latin typeface="+mn-lt"/>
                <a:ea typeface="+mn-ea"/>
                <a:cs typeface="+mn-cs"/>
              </a:rPr>
            </a:br>
            <a:r>
              <a:rPr lang="nb-NO" sz="1200" b="1" i="0" kern="1200" dirty="0">
                <a:solidFill>
                  <a:schemeClr val="tx1"/>
                </a:solidFill>
                <a:effectLst/>
                <a:latin typeface="+mn-lt"/>
                <a:ea typeface="+mn-ea"/>
                <a:cs typeface="+mn-cs"/>
              </a:rPr>
              <a:t>Fordeler</a:t>
            </a:r>
            <a:endParaRPr lang="nb-NO"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Lav kobling og høy isolasjon mellom funksjoner</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Fleksibelt og utvidbart</a:t>
            </a:r>
            <a:br>
              <a:rPr lang="nb-NO" sz="1200" b="0" i="0" kern="1200" dirty="0">
                <a:solidFill>
                  <a:schemeClr val="tx1"/>
                </a:solidFill>
                <a:effectLst/>
                <a:latin typeface="+mn-lt"/>
                <a:ea typeface="+mn-ea"/>
                <a:cs typeface="+mn-cs"/>
              </a:rPr>
            </a:br>
            <a:endParaRPr lang="nb-NO" sz="1200" b="0" i="0" kern="1200" dirty="0">
              <a:solidFill>
                <a:schemeClr val="tx1"/>
              </a:solidFill>
              <a:effectLst/>
              <a:latin typeface="+mn-lt"/>
              <a:ea typeface="+mn-ea"/>
              <a:cs typeface="+mn-cs"/>
            </a:endParaRPr>
          </a:p>
          <a:p>
            <a:r>
              <a:rPr lang="nb-NO" sz="1200" b="1" i="0" kern="1200" dirty="0">
                <a:solidFill>
                  <a:schemeClr val="tx1"/>
                </a:solidFill>
                <a:effectLst/>
                <a:latin typeface="+mn-lt"/>
                <a:ea typeface="+mn-ea"/>
                <a:cs typeface="+mn-cs"/>
              </a:rPr>
              <a:t>Ulemper</a:t>
            </a:r>
            <a:endParaRPr lang="nb-NO"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Endringer i kjernen kan ødelegge alle </a:t>
            </a:r>
            <a:r>
              <a:rPr lang="nb-NO" sz="1200" b="0" i="0" kern="1200" dirty="0" err="1">
                <a:solidFill>
                  <a:schemeClr val="tx1"/>
                </a:solidFill>
                <a:effectLst/>
                <a:latin typeface="+mn-lt"/>
                <a:ea typeface="+mn-ea"/>
                <a:cs typeface="+mn-cs"/>
              </a:rPr>
              <a:t>plugins</a:t>
            </a:r>
            <a:r>
              <a:rPr lang="nb-NO" sz="1200" b="0" i="0" kern="1200" dirty="0">
                <a:solidFill>
                  <a:schemeClr val="tx1"/>
                </a:solidFill>
                <a:effectLst/>
                <a:latin typeface="+mn-lt"/>
                <a:ea typeface="+mn-ea"/>
                <a:cs typeface="+mn-cs"/>
              </a:rPr>
              <a:t> (</a:t>
            </a:r>
            <a:r>
              <a:rPr lang="nb-NO" sz="1200" b="0" i="0" kern="1200" dirty="0" err="1">
                <a:solidFill>
                  <a:schemeClr val="tx1"/>
                </a:solidFill>
                <a:effectLst/>
                <a:latin typeface="+mn-lt"/>
                <a:ea typeface="+mn-ea"/>
                <a:cs typeface="+mn-cs"/>
              </a:rPr>
              <a:t>bakoverkompatibilitet</a:t>
            </a:r>
            <a:r>
              <a:rPr lang="nb-NO" sz="1200" b="0" i="0" kern="1200" dirty="0">
                <a:solidFill>
                  <a:schemeClr val="tx1"/>
                </a:solidFill>
                <a:effectLst/>
                <a:latin typeface="+mn-lt"/>
                <a:ea typeface="+mn-ea"/>
                <a:cs typeface="+mn-cs"/>
              </a:rPr>
              <a:t> viktig)</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Mange </a:t>
            </a:r>
            <a:r>
              <a:rPr lang="nb-NO" sz="1200" b="0" i="0" kern="1200" dirty="0" err="1">
                <a:solidFill>
                  <a:schemeClr val="tx1"/>
                </a:solidFill>
                <a:effectLst/>
                <a:latin typeface="+mn-lt"/>
                <a:ea typeface="+mn-ea"/>
                <a:cs typeface="+mn-cs"/>
              </a:rPr>
              <a:t>plugins</a:t>
            </a:r>
            <a:r>
              <a:rPr lang="nb-NO" sz="1200" b="0" i="0" kern="1200" dirty="0">
                <a:solidFill>
                  <a:schemeClr val="tx1"/>
                </a:solidFill>
                <a:effectLst/>
                <a:latin typeface="+mn-lt"/>
                <a:ea typeface="+mn-ea"/>
                <a:cs typeface="+mn-cs"/>
              </a:rPr>
              <a:t> kan senke ytelsen</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Kompleks testing av hele systemet</a:t>
            </a:r>
          </a:p>
          <a:p>
            <a:pPr marL="171450" indent="-171450">
              <a:buFont typeface="Arial" panose="020B0604020202020204" pitchFamily="34" charset="0"/>
              <a:buChar char="•"/>
            </a:pPr>
            <a:endParaRPr lang="nb-NO" sz="1200" b="0" i="0" kern="1200" dirty="0">
              <a:solidFill>
                <a:schemeClr val="tx1"/>
              </a:solidFill>
              <a:effectLst/>
              <a:latin typeface="+mn-lt"/>
              <a:ea typeface="+mn-ea"/>
              <a:cs typeface="+mn-cs"/>
            </a:endParaRPr>
          </a:p>
          <a:p>
            <a:pPr marL="0" indent="0">
              <a:buFont typeface="Arial" panose="020B0604020202020204" pitchFamily="34" charset="0"/>
              <a:buNone/>
            </a:pPr>
            <a:r>
              <a:rPr lang="nb-NO" sz="1200" b="1" i="0" kern="1200" dirty="0">
                <a:solidFill>
                  <a:schemeClr val="tx1"/>
                </a:solidFill>
                <a:effectLst/>
                <a:latin typeface="+mn-lt"/>
                <a:ea typeface="+mn-ea"/>
                <a:cs typeface="+mn-cs"/>
              </a:rPr>
              <a:t>Eksempler:</a:t>
            </a:r>
            <a:r>
              <a:rPr lang="nb-NO" sz="1200" b="0" i="0" kern="1200" dirty="0">
                <a:solidFill>
                  <a:schemeClr val="tx1"/>
                </a:solidFill>
                <a:effectLst/>
                <a:latin typeface="+mn-lt"/>
                <a:ea typeface="+mn-ea"/>
                <a:cs typeface="+mn-cs"/>
              </a:rPr>
              <a:t> Chrome Web Store, IDE-er (</a:t>
            </a:r>
            <a:r>
              <a:rPr lang="nb-NO" sz="1200" b="0" i="0" kern="1200" dirty="0" err="1">
                <a:solidFill>
                  <a:schemeClr val="tx1"/>
                </a:solidFill>
                <a:effectLst/>
                <a:latin typeface="+mn-lt"/>
                <a:ea typeface="+mn-ea"/>
                <a:cs typeface="+mn-cs"/>
              </a:rPr>
              <a:t>IntelliJ</a:t>
            </a:r>
            <a:r>
              <a:rPr lang="nb-NO" sz="1200" b="0" i="0" kern="1200" dirty="0">
                <a:solidFill>
                  <a:schemeClr val="tx1"/>
                </a:solidFill>
                <a:effectLst/>
                <a:latin typeface="+mn-lt"/>
                <a:ea typeface="+mn-ea"/>
                <a:cs typeface="+mn-cs"/>
              </a:rPr>
              <a:t>, VS Code, </a:t>
            </a:r>
            <a:r>
              <a:rPr lang="nb-NO" sz="1200" b="0" i="0" kern="1200" dirty="0" err="1">
                <a:solidFill>
                  <a:schemeClr val="tx1"/>
                </a:solidFill>
                <a:effectLst/>
                <a:latin typeface="+mn-lt"/>
                <a:ea typeface="+mn-ea"/>
                <a:cs typeface="+mn-cs"/>
              </a:rPr>
              <a:t>Eclipse</a:t>
            </a:r>
            <a:r>
              <a:rPr lang="nb-NO" sz="1200" b="0" i="0" kern="1200" dirty="0">
                <a:solidFill>
                  <a:schemeClr val="tx1"/>
                </a:solidFill>
                <a:effectLst/>
                <a:latin typeface="+mn-lt"/>
                <a:ea typeface="+mn-ea"/>
                <a:cs typeface="+mn-cs"/>
              </a:rPr>
              <a:t>)</a:t>
            </a:r>
          </a:p>
        </p:txBody>
      </p:sp>
      <p:sp>
        <p:nvSpPr>
          <p:cNvPr id="4" name="Plassholder for lysbildenummer 3">
            <a:extLst>
              <a:ext uri="{FF2B5EF4-FFF2-40B4-BE49-F238E27FC236}">
                <a16:creationId xmlns:a16="http://schemas.microsoft.com/office/drawing/2014/main" id="{74AB2E86-5672-3471-9B30-F48F133C2E09}"/>
              </a:ext>
            </a:extLst>
          </p:cNvPr>
          <p:cNvSpPr>
            <a:spLocks noGrp="1"/>
          </p:cNvSpPr>
          <p:nvPr>
            <p:ph type="sldNum" sz="quarter" idx="5"/>
          </p:nvPr>
        </p:nvSpPr>
        <p:spPr/>
        <p:txBody>
          <a:bodyPr/>
          <a:lstStyle/>
          <a:p>
            <a:fld id="{ED8CD5F7-2931-42C6-9B3E-A6C700901896}" type="slidenum">
              <a:rPr lang="nb-NO" smtClean="0"/>
              <a:t>35</a:t>
            </a:fld>
            <a:endParaRPr lang="nb-NO"/>
          </a:p>
        </p:txBody>
      </p:sp>
    </p:spTree>
    <p:extLst>
      <p:ext uri="{BB962C8B-B14F-4D97-AF65-F5344CB8AC3E}">
        <p14:creationId xmlns:p14="http://schemas.microsoft.com/office/powerpoint/2010/main" val="33232550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6E99C-A498-824A-851E-17245FA847D2}"/>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8CCDE963-E387-A728-BB7E-BC6A4ADE920B}"/>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C22FA17B-A6C7-0B14-E316-AE852CAF2514}"/>
              </a:ext>
            </a:extLst>
          </p:cNvPr>
          <p:cNvSpPr>
            <a:spLocks noGrp="1"/>
          </p:cNvSpPr>
          <p:nvPr>
            <p:ph type="body" idx="1"/>
          </p:nvPr>
        </p:nvSpPr>
        <p:spPr/>
        <p:txBody>
          <a:bodyPr/>
          <a:lstStyle/>
          <a:p>
            <a:r>
              <a:rPr lang="nb-NO" sz="1200" b="1" i="0" kern="1200" dirty="0">
                <a:solidFill>
                  <a:schemeClr val="tx1"/>
                </a:solidFill>
                <a:effectLst/>
                <a:latin typeface="+mn-lt"/>
                <a:ea typeface="+mn-ea"/>
                <a:cs typeface="+mn-cs"/>
              </a:rPr>
              <a:t>Tradisjonell </a:t>
            </a:r>
            <a:r>
              <a:rPr lang="nb-NO" sz="1200" b="1" i="0" kern="1200" dirty="0" err="1">
                <a:solidFill>
                  <a:schemeClr val="tx1"/>
                </a:solidFill>
                <a:effectLst/>
                <a:latin typeface="+mn-lt"/>
                <a:ea typeface="+mn-ea"/>
                <a:cs typeface="+mn-cs"/>
              </a:rPr>
              <a:t>deployment</a:t>
            </a:r>
            <a:r>
              <a:rPr lang="nb-NO" sz="1200" b="1" i="0" kern="1200" dirty="0">
                <a:solidFill>
                  <a:schemeClr val="tx1"/>
                </a:solidFill>
                <a:effectLst/>
                <a:latin typeface="+mn-lt"/>
                <a:ea typeface="+mn-ea"/>
                <a:cs typeface="+mn-cs"/>
              </a:rPr>
              <a:t>:</a:t>
            </a:r>
            <a:r>
              <a:rPr lang="nb-NO" sz="1200" b="0" i="0" kern="1200" dirty="0">
                <a:solidFill>
                  <a:schemeClr val="tx1"/>
                </a:solidFill>
                <a:effectLst/>
                <a:latin typeface="+mn-lt"/>
                <a:ea typeface="+mn-ea"/>
                <a:cs typeface="+mn-cs"/>
              </a:rPr>
              <a:t> Applikasjoner kjøres direkte på fysiske servere. Ressursallokering er et problem – én app kan ta opp for mye.</a:t>
            </a:r>
          </a:p>
          <a:p>
            <a:endParaRPr lang="nb-NO" sz="1200" b="1" i="0" kern="1200" dirty="0">
              <a:solidFill>
                <a:schemeClr val="tx1"/>
              </a:solidFill>
              <a:effectLst/>
              <a:latin typeface="+mn-lt"/>
              <a:ea typeface="+mn-ea"/>
              <a:cs typeface="+mn-cs"/>
            </a:endParaRPr>
          </a:p>
          <a:p>
            <a:r>
              <a:rPr lang="nb-NO" sz="1200" b="1" i="0" kern="1200" dirty="0" err="1">
                <a:solidFill>
                  <a:schemeClr val="tx1"/>
                </a:solidFill>
                <a:effectLst/>
                <a:latin typeface="+mn-lt"/>
                <a:ea typeface="+mn-ea"/>
                <a:cs typeface="+mn-cs"/>
              </a:rPr>
              <a:t>Virtualisering</a:t>
            </a:r>
            <a:r>
              <a:rPr lang="nb-NO" sz="1200" b="1" i="0" kern="1200" dirty="0">
                <a:solidFill>
                  <a:schemeClr val="tx1"/>
                </a:solidFill>
                <a:effectLst/>
                <a:latin typeface="+mn-lt"/>
                <a:ea typeface="+mn-ea"/>
                <a:cs typeface="+mn-cs"/>
              </a:rPr>
              <a:t> (VMs):</a:t>
            </a:r>
            <a:r>
              <a:rPr lang="nb-NO" sz="1200" b="0" i="0" kern="1200" dirty="0">
                <a:solidFill>
                  <a:schemeClr val="tx1"/>
                </a:solidFill>
                <a:effectLst/>
                <a:latin typeface="+mn-lt"/>
                <a:ea typeface="+mn-ea"/>
                <a:cs typeface="+mn-cs"/>
              </a:rPr>
              <a:t> Kjøre flere virtuelle maskiner på én fysisk server. Hvert VM har eget OS. Problem: ressurser reserveres selv om de ikke brukes.</a:t>
            </a:r>
          </a:p>
          <a:p>
            <a:endParaRPr lang="nb-NO" sz="1200" b="0" i="0" kern="1200" dirty="0">
              <a:solidFill>
                <a:schemeClr val="tx1"/>
              </a:solidFill>
              <a:effectLst/>
              <a:latin typeface="+mn-lt"/>
              <a:ea typeface="+mn-ea"/>
              <a:cs typeface="+mn-cs"/>
            </a:endParaRPr>
          </a:p>
          <a:p>
            <a:r>
              <a:rPr lang="nb-NO" sz="1200" b="1" i="0" kern="1200" dirty="0">
                <a:solidFill>
                  <a:schemeClr val="tx1"/>
                </a:solidFill>
                <a:effectLst/>
                <a:latin typeface="+mn-lt"/>
                <a:ea typeface="+mn-ea"/>
                <a:cs typeface="+mn-cs"/>
              </a:rPr>
              <a:t>Container-</a:t>
            </a:r>
            <a:r>
              <a:rPr lang="nb-NO" sz="1200" b="1" i="0" kern="1200" dirty="0" err="1">
                <a:solidFill>
                  <a:schemeClr val="tx1"/>
                </a:solidFill>
                <a:effectLst/>
                <a:latin typeface="+mn-lt"/>
                <a:ea typeface="+mn-ea"/>
                <a:cs typeface="+mn-cs"/>
              </a:rPr>
              <a:t>deployment</a:t>
            </a:r>
            <a:r>
              <a:rPr lang="nb-NO" sz="1200" b="1" i="0" kern="1200" dirty="0">
                <a:solidFill>
                  <a:schemeClr val="tx1"/>
                </a:solidFill>
                <a:effectLst/>
                <a:latin typeface="+mn-lt"/>
                <a:ea typeface="+mn-ea"/>
                <a:cs typeface="+mn-cs"/>
              </a:rPr>
              <a:t>:</a:t>
            </a:r>
            <a:r>
              <a:rPr lang="nb-NO" sz="1200" b="0" i="0" kern="1200" dirty="0">
                <a:solidFill>
                  <a:schemeClr val="tx1"/>
                </a:solidFill>
                <a:effectLst/>
                <a:latin typeface="+mn-lt"/>
                <a:ea typeface="+mn-ea"/>
                <a:cs typeface="+mn-cs"/>
              </a:rPr>
              <a:t> Containere deler OS med hverandre men er isolert. Lettere og mer effektive enn VMs. </a:t>
            </a:r>
          </a:p>
          <a:p>
            <a:pPr lvl="1"/>
            <a:r>
              <a:rPr lang="nb-NO" sz="1200" b="0" i="0" kern="1200" dirty="0">
                <a:solidFill>
                  <a:schemeClr val="tx1"/>
                </a:solidFill>
                <a:effectLst/>
                <a:latin typeface="+mn-lt"/>
                <a:ea typeface="+mn-ea"/>
                <a:cs typeface="+mn-cs"/>
              </a:rPr>
              <a:t>Nøkkelteknologier: </a:t>
            </a:r>
          </a:p>
          <a:p>
            <a:pPr marL="628650" lvl="1" indent="-171450">
              <a:buFont typeface="Arial" panose="020B0604020202020204" pitchFamily="34" charset="0"/>
              <a:buChar char="•"/>
            </a:pPr>
            <a:r>
              <a:rPr lang="nb-NO" sz="1200" b="1" i="0" kern="1200" dirty="0" err="1">
                <a:solidFill>
                  <a:schemeClr val="tx1"/>
                </a:solidFill>
                <a:effectLst/>
                <a:latin typeface="+mn-lt"/>
                <a:ea typeface="+mn-ea"/>
                <a:cs typeface="+mn-cs"/>
              </a:rPr>
              <a:t>Docker</a:t>
            </a:r>
            <a:r>
              <a:rPr lang="nb-NO" sz="1200" b="0" i="0" kern="1200" dirty="0">
                <a:solidFill>
                  <a:schemeClr val="tx1"/>
                </a:solidFill>
                <a:effectLst/>
                <a:latin typeface="+mn-lt"/>
                <a:ea typeface="+mn-ea"/>
                <a:cs typeface="+mn-cs"/>
              </a:rPr>
              <a:t> (container-teknologi)</a:t>
            </a:r>
          </a:p>
          <a:p>
            <a:pPr marL="628650" lvl="1" indent="-171450">
              <a:buFont typeface="Arial" panose="020B0604020202020204" pitchFamily="34" charset="0"/>
              <a:buChar char="•"/>
            </a:pPr>
            <a:r>
              <a:rPr lang="nb-NO" sz="1200" b="1" i="0" kern="1200" dirty="0" err="1">
                <a:solidFill>
                  <a:schemeClr val="tx1"/>
                </a:solidFill>
                <a:effectLst/>
                <a:latin typeface="+mn-lt"/>
                <a:ea typeface="+mn-ea"/>
                <a:cs typeface="+mn-cs"/>
              </a:rPr>
              <a:t>Kubernetes</a:t>
            </a:r>
            <a:r>
              <a:rPr lang="nb-NO" sz="1200" b="0" i="0" kern="1200" dirty="0">
                <a:solidFill>
                  <a:schemeClr val="tx1"/>
                </a:solidFill>
                <a:effectLst/>
                <a:latin typeface="+mn-lt"/>
                <a:ea typeface="+mn-ea"/>
                <a:cs typeface="+mn-cs"/>
              </a:rPr>
              <a:t> (container-orkestrering).</a:t>
            </a:r>
          </a:p>
          <a:p>
            <a:pPr marL="457200" lvl="1" indent="0">
              <a:buFont typeface="Arial" panose="020B0604020202020204" pitchFamily="34" charset="0"/>
              <a:buNone/>
            </a:pPr>
            <a:r>
              <a:rPr lang="nb-NO" sz="1200" b="0" i="0" kern="1200" dirty="0">
                <a:solidFill>
                  <a:schemeClr val="tx1"/>
                </a:solidFill>
                <a:effectLst/>
                <a:latin typeface="+mn-lt"/>
                <a:ea typeface="+mn-ea"/>
                <a:cs typeface="+mn-cs"/>
              </a:rPr>
              <a:t>	</a:t>
            </a:r>
          </a:p>
          <a:p>
            <a:pPr marL="457200" lvl="1" indent="0">
              <a:buFont typeface="Arial" panose="020B0604020202020204" pitchFamily="34" charset="0"/>
              <a:buNone/>
            </a:pPr>
            <a:r>
              <a:rPr lang="nb-NO" sz="1200" b="0" i="0" kern="1200" dirty="0">
                <a:solidFill>
                  <a:schemeClr val="tx1"/>
                </a:solidFill>
                <a:effectLst/>
                <a:latin typeface="+mn-lt"/>
                <a:ea typeface="+mn-ea"/>
                <a:cs typeface="+mn-cs"/>
              </a:rPr>
              <a:t>Fordeler:</a:t>
            </a:r>
          </a:p>
          <a:p>
            <a:pPr marL="628650" lvl="1" indent="-171450">
              <a:buFont typeface="Arial" panose="020B0604020202020204" pitchFamily="34" charset="0"/>
              <a:buChar char="•"/>
            </a:pPr>
            <a:r>
              <a:rPr lang="nb-NO" sz="1200" b="0" i="0" kern="1200" dirty="0">
                <a:solidFill>
                  <a:schemeClr val="tx1"/>
                </a:solidFill>
                <a:effectLst/>
                <a:latin typeface="+mn-lt"/>
                <a:ea typeface="+mn-ea"/>
                <a:cs typeface="+mn-cs"/>
              </a:rPr>
              <a:t>Containere er enkle å distribuere og gir konsistent kjøremiljø ("fungerer likt overalt")</a:t>
            </a:r>
          </a:p>
          <a:p>
            <a:pPr marL="628650" lvl="1" indent="-171450">
              <a:buFont typeface="Arial" panose="020B0604020202020204" pitchFamily="34" charset="0"/>
              <a:buChar char="•"/>
            </a:pPr>
            <a:r>
              <a:rPr lang="nb-NO" sz="1200" b="0" i="0" kern="1200" dirty="0">
                <a:solidFill>
                  <a:schemeClr val="tx1"/>
                </a:solidFill>
                <a:effectLst/>
                <a:latin typeface="+mn-lt"/>
                <a:ea typeface="+mn-ea"/>
                <a:cs typeface="+mn-cs"/>
              </a:rPr>
              <a:t>Løst koblet, distribuert, elastisk – som microservices</a:t>
            </a:r>
          </a:p>
        </p:txBody>
      </p:sp>
      <p:sp>
        <p:nvSpPr>
          <p:cNvPr id="4" name="Plassholder for lysbildenummer 3">
            <a:extLst>
              <a:ext uri="{FF2B5EF4-FFF2-40B4-BE49-F238E27FC236}">
                <a16:creationId xmlns:a16="http://schemas.microsoft.com/office/drawing/2014/main" id="{7917B74C-CE54-FD40-6946-055B406FEE52}"/>
              </a:ext>
            </a:extLst>
          </p:cNvPr>
          <p:cNvSpPr>
            <a:spLocks noGrp="1"/>
          </p:cNvSpPr>
          <p:nvPr>
            <p:ph type="sldNum" sz="quarter" idx="5"/>
          </p:nvPr>
        </p:nvSpPr>
        <p:spPr/>
        <p:txBody>
          <a:bodyPr/>
          <a:lstStyle/>
          <a:p>
            <a:fld id="{ED8CD5F7-2931-42C6-9B3E-A6C700901896}" type="slidenum">
              <a:rPr lang="nb-NO" smtClean="0"/>
              <a:t>36</a:t>
            </a:fld>
            <a:endParaRPr lang="nb-NO"/>
          </a:p>
        </p:txBody>
      </p:sp>
    </p:spTree>
    <p:extLst>
      <p:ext uri="{BB962C8B-B14F-4D97-AF65-F5344CB8AC3E}">
        <p14:creationId xmlns:p14="http://schemas.microsoft.com/office/powerpoint/2010/main" val="31468242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10BE0-7D20-C84E-D66F-0D78A504C2B4}"/>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44191478-F294-2A39-E59C-DB6165DBC1F8}"/>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59FC9C91-15F8-E732-EA1C-C640759AB3BC}"/>
              </a:ext>
            </a:extLst>
          </p:cNvPr>
          <p:cNvSpPr>
            <a:spLocks noGrp="1"/>
          </p:cNvSpPr>
          <p:nvPr>
            <p:ph type="body" idx="1"/>
          </p:nvPr>
        </p:nvSpPr>
        <p:spPr/>
        <p:txBody>
          <a:bodyPr/>
          <a:lstStyle/>
          <a:p>
            <a:pPr lvl="0"/>
            <a:r>
              <a:rPr lang="nb-NO" sz="1200" b="0" i="0" kern="1200" dirty="0">
                <a:solidFill>
                  <a:schemeClr val="tx1"/>
                </a:solidFill>
                <a:effectLst/>
                <a:latin typeface="+mn-lt"/>
                <a:ea typeface="+mn-ea"/>
                <a:cs typeface="+mn-cs"/>
              </a:rPr>
              <a:t>Vannfallsmodellen: </a:t>
            </a:r>
          </a:p>
          <a:p>
            <a:pPr lvl="1"/>
            <a:r>
              <a:rPr lang="nb-NO" sz="1200" b="0" i="0" kern="1200" dirty="0">
                <a:solidFill>
                  <a:schemeClr val="tx1"/>
                </a:solidFill>
                <a:effectLst/>
                <a:latin typeface="+mn-lt"/>
                <a:ea typeface="+mn-ea"/>
                <a:cs typeface="+mn-cs"/>
              </a:rPr>
              <a:t>Flere store faser gjennomført en og en, med krav først også design.</a:t>
            </a:r>
          </a:p>
          <a:p>
            <a:pPr lvl="1"/>
            <a:r>
              <a:rPr lang="nb-NO" sz="1200" b="0" i="0" kern="1200" dirty="0">
                <a:solidFill>
                  <a:schemeClr val="tx1"/>
                </a:solidFill>
                <a:effectLst/>
                <a:latin typeface="+mn-lt"/>
                <a:ea typeface="+mn-ea"/>
                <a:cs typeface="+mn-cs"/>
              </a:rPr>
              <a:t>Mye dokument overlevert fase til fase og nye folk hver fase</a:t>
            </a:r>
          </a:p>
          <a:p>
            <a:pPr lvl="1"/>
            <a:r>
              <a:rPr lang="nb-NO" sz="1200" b="0" i="0" kern="1200" dirty="0">
                <a:solidFill>
                  <a:schemeClr val="tx1"/>
                </a:solidFill>
                <a:effectLst/>
                <a:latin typeface="+mn-lt"/>
                <a:ea typeface="+mn-ea"/>
                <a:cs typeface="+mn-cs"/>
              </a:rPr>
              <a:t>Vanskelig å skalere og mange prosjekter feilet.</a:t>
            </a:r>
          </a:p>
          <a:p>
            <a:pPr lvl="1"/>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UP (</a:t>
            </a:r>
            <a:r>
              <a:rPr lang="nb-NO" sz="1200" b="0" i="0" kern="1200" dirty="0" err="1">
                <a:solidFill>
                  <a:schemeClr val="tx1"/>
                </a:solidFill>
                <a:effectLst/>
                <a:latin typeface="+mn-lt"/>
                <a:ea typeface="+mn-ea"/>
                <a:cs typeface="+mn-cs"/>
              </a:rPr>
              <a:t>Unified</a:t>
            </a:r>
            <a:r>
              <a:rPr lang="nb-NO" sz="1200" b="0" i="0" kern="1200" dirty="0">
                <a:solidFill>
                  <a:schemeClr val="tx1"/>
                </a:solidFill>
                <a:effectLst/>
                <a:latin typeface="+mn-lt"/>
                <a:ea typeface="+mn-ea"/>
                <a:cs typeface="+mn-cs"/>
              </a:rPr>
              <a:t> </a:t>
            </a:r>
            <a:r>
              <a:rPr lang="nb-NO" sz="1200" b="0" i="0" kern="1200" dirty="0" err="1">
                <a:solidFill>
                  <a:schemeClr val="tx1"/>
                </a:solidFill>
                <a:effectLst/>
                <a:latin typeface="+mn-lt"/>
                <a:ea typeface="+mn-ea"/>
                <a:cs typeface="+mn-cs"/>
              </a:rPr>
              <a:t>Process</a:t>
            </a:r>
            <a:r>
              <a:rPr lang="nb-NO" sz="1200" b="0" i="0" kern="1200" dirty="0">
                <a:solidFill>
                  <a:schemeClr val="tx1"/>
                </a:solidFill>
                <a:effectLst/>
                <a:latin typeface="+mn-lt"/>
                <a:ea typeface="+mn-ea"/>
                <a:cs typeface="+mn-cs"/>
              </a:rPr>
              <a:t>): </a:t>
            </a:r>
          </a:p>
          <a:p>
            <a:pPr lvl="1"/>
            <a:r>
              <a:rPr lang="nb-NO" sz="1200" b="0" i="0" kern="1200" dirty="0">
                <a:solidFill>
                  <a:schemeClr val="tx1"/>
                </a:solidFill>
                <a:effectLst/>
                <a:latin typeface="+mn-lt"/>
                <a:ea typeface="+mn-ea"/>
                <a:cs typeface="+mn-cs"/>
              </a:rPr>
              <a:t>innførte iterasjoner for å takle vannfallsmodellen sine problemer rundt endringer underveis.</a:t>
            </a:r>
          </a:p>
          <a:p>
            <a:pPr lvl="1"/>
            <a:r>
              <a:rPr lang="nb-NO" sz="1200" b="0" i="0" kern="1200" dirty="0">
                <a:solidFill>
                  <a:schemeClr val="tx1"/>
                </a:solidFill>
                <a:effectLst/>
                <a:latin typeface="+mn-lt"/>
                <a:ea typeface="+mn-ea"/>
                <a:cs typeface="+mn-cs"/>
              </a:rPr>
              <a:t>UML-modellering svært sentralt</a:t>
            </a:r>
          </a:p>
        </p:txBody>
      </p:sp>
      <p:sp>
        <p:nvSpPr>
          <p:cNvPr id="4" name="Plassholder for lysbildenummer 3">
            <a:extLst>
              <a:ext uri="{FF2B5EF4-FFF2-40B4-BE49-F238E27FC236}">
                <a16:creationId xmlns:a16="http://schemas.microsoft.com/office/drawing/2014/main" id="{2069290B-5175-377D-60C4-5E76BA0298A1}"/>
              </a:ext>
            </a:extLst>
          </p:cNvPr>
          <p:cNvSpPr>
            <a:spLocks noGrp="1"/>
          </p:cNvSpPr>
          <p:nvPr>
            <p:ph type="sldNum" sz="quarter" idx="5"/>
          </p:nvPr>
        </p:nvSpPr>
        <p:spPr/>
        <p:txBody>
          <a:bodyPr/>
          <a:lstStyle/>
          <a:p>
            <a:fld id="{ED8CD5F7-2931-42C6-9B3E-A6C700901896}" type="slidenum">
              <a:rPr lang="nb-NO" smtClean="0"/>
              <a:t>38</a:t>
            </a:fld>
            <a:endParaRPr lang="nb-NO"/>
          </a:p>
        </p:txBody>
      </p:sp>
    </p:spTree>
    <p:extLst>
      <p:ext uri="{BB962C8B-B14F-4D97-AF65-F5344CB8AC3E}">
        <p14:creationId xmlns:p14="http://schemas.microsoft.com/office/powerpoint/2010/main" val="5781306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ED8F1-FD87-1142-1A2F-3847319DB368}"/>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D4C2E6D4-CAB0-1912-D7C4-01B5FAA655ED}"/>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4D02FC99-87A4-A65C-9AD1-17A98E6440E4}"/>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Oppsto som reaksjon mot den tunge vannfallsmodellene. Ble kjent når </a:t>
            </a:r>
            <a:r>
              <a:rPr lang="nb-NO" sz="1200" b="0" i="1" kern="1200" dirty="0">
                <a:solidFill>
                  <a:schemeClr val="tx1"/>
                </a:solidFill>
                <a:effectLst/>
                <a:latin typeface="+mn-lt"/>
                <a:ea typeface="+mn-ea"/>
                <a:cs typeface="+mn-cs"/>
              </a:rPr>
              <a:t>The Agile </a:t>
            </a:r>
            <a:r>
              <a:rPr lang="nb-NO" sz="1200" b="0" i="1" kern="1200" dirty="0" err="1">
                <a:solidFill>
                  <a:schemeClr val="tx1"/>
                </a:solidFill>
                <a:effectLst/>
                <a:latin typeface="+mn-lt"/>
                <a:ea typeface="+mn-ea"/>
                <a:cs typeface="+mn-cs"/>
              </a:rPr>
              <a:t>Manifesto</a:t>
            </a:r>
            <a:r>
              <a:rPr lang="nb-NO" sz="1200" b="0" i="0" kern="1200" dirty="0">
                <a:solidFill>
                  <a:schemeClr val="tx1"/>
                </a:solidFill>
                <a:effectLst/>
                <a:latin typeface="+mn-lt"/>
                <a:ea typeface="+mn-ea"/>
                <a:cs typeface="+mn-cs"/>
              </a:rPr>
              <a:t> ble utgitt.</a:t>
            </a:r>
            <a:br>
              <a:rPr lang="nb-NO" sz="1200" b="0" i="0" kern="1200" dirty="0">
                <a:solidFill>
                  <a:schemeClr val="tx1"/>
                </a:solidFill>
                <a:effectLst/>
                <a:latin typeface="+mn-lt"/>
                <a:ea typeface="+mn-ea"/>
                <a:cs typeface="+mn-cs"/>
              </a:rPr>
            </a:br>
            <a:r>
              <a:rPr lang="nb-NO" sz="1200" b="0" i="1" kern="1200" dirty="0">
                <a:solidFill>
                  <a:schemeClr val="tx1"/>
                </a:solidFill>
                <a:effectLst/>
                <a:latin typeface="+mn-lt"/>
                <a:ea typeface="+mn-ea"/>
                <a:cs typeface="+mn-cs"/>
              </a:rPr>
              <a:t>Grunnleggende prinsipper: for smidig metode</a:t>
            </a:r>
            <a:endParaRPr lang="nb-NO" sz="1200" b="0" i="0" kern="1200" dirty="0">
              <a:solidFill>
                <a:schemeClr val="tx1"/>
              </a:solidFill>
              <a:effectLst/>
              <a:latin typeface="+mn-lt"/>
              <a:ea typeface="+mn-ea"/>
              <a:cs typeface="+mn-cs"/>
            </a:endParaRPr>
          </a:p>
          <a:p>
            <a:pPr marL="228600" indent="-228600">
              <a:buFont typeface="+mj-lt"/>
              <a:buAutoNum type="arabicPeriod"/>
            </a:pPr>
            <a:r>
              <a:rPr lang="nb-NO" sz="1200" b="1" i="0" kern="1200" dirty="0">
                <a:solidFill>
                  <a:schemeClr val="tx1"/>
                </a:solidFill>
                <a:effectLst/>
                <a:latin typeface="+mn-lt"/>
                <a:ea typeface="+mn-ea"/>
                <a:cs typeface="+mn-cs"/>
              </a:rPr>
              <a:t>Problem </a:t>
            </a:r>
            <a:r>
              <a:rPr lang="nb-NO" sz="1200" b="1" i="0" kern="1200" dirty="0" err="1">
                <a:solidFill>
                  <a:schemeClr val="tx1"/>
                </a:solidFill>
                <a:effectLst/>
                <a:latin typeface="+mn-lt"/>
                <a:ea typeface="+mn-ea"/>
                <a:cs typeface="+mn-cs"/>
              </a:rPr>
              <a:t>based</a:t>
            </a:r>
            <a:r>
              <a:rPr lang="nb-NO" sz="1200" b="0" i="0" kern="1200" dirty="0">
                <a:solidFill>
                  <a:schemeClr val="tx1"/>
                </a:solidFill>
                <a:effectLst/>
                <a:latin typeface="+mn-lt"/>
                <a:ea typeface="+mn-ea"/>
                <a:cs typeface="+mn-cs"/>
              </a:rPr>
              <a:t>: Større problemer brytes ned i mindre og prioriteres.</a:t>
            </a:r>
          </a:p>
          <a:p>
            <a:pPr marL="228600" indent="-228600">
              <a:buFont typeface="+mj-lt"/>
              <a:buAutoNum type="arabicPeriod"/>
            </a:pPr>
            <a:r>
              <a:rPr lang="nb-NO" sz="1200" b="1" i="0" kern="1200" dirty="0" err="1">
                <a:solidFill>
                  <a:schemeClr val="tx1"/>
                </a:solidFill>
                <a:effectLst/>
                <a:latin typeface="+mn-lt"/>
                <a:ea typeface="+mn-ea"/>
                <a:cs typeface="+mn-cs"/>
              </a:rPr>
              <a:t>Collaborative</a:t>
            </a:r>
            <a:r>
              <a:rPr lang="nb-NO" sz="1200" b="0" i="0" kern="1200" dirty="0">
                <a:solidFill>
                  <a:schemeClr val="tx1"/>
                </a:solidFill>
                <a:effectLst/>
                <a:latin typeface="+mn-lt"/>
                <a:ea typeface="+mn-ea"/>
                <a:cs typeface="+mn-cs"/>
              </a:rPr>
              <a:t>: Flere personer er en del av prosessen fra begynnelsen.</a:t>
            </a:r>
          </a:p>
          <a:p>
            <a:pPr marL="228600" indent="-228600">
              <a:buFont typeface="+mj-lt"/>
              <a:buAutoNum type="arabicPeriod"/>
            </a:pPr>
            <a:r>
              <a:rPr lang="nb-NO" sz="1200" b="1" i="0" kern="1200" dirty="0">
                <a:solidFill>
                  <a:schemeClr val="tx1"/>
                </a:solidFill>
                <a:effectLst/>
                <a:latin typeface="+mn-lt"/>
                <a:ea typeface="+mn-ea"/>
                <a:cs typeface="+mn-cs"/>
              </a:rPr>
              <a:t>Iterativ:</a:t>
            </a:r>
            <a:r>
              <a:rPr lang="nb-NO" sz="1200" b="0" i="0" kern="1200" dirty="0">
                <a:solidFill>
                  <a:schemeClr val="tx1"/>
                </a:solidFill>
                <a:effectLst/>
                <a:latin typeface="+mn-lt"/>
                <a:ea typeface="+mn-ea"/>
                <a:cs typeface="+mn-cs"/>
              </a:rPr>
              <a:t> Prosessen er iterativ</a:t>
            </a:r>
          </a:p>
          <a:p>
            <a:pPr marL="228600" indent="-228600">
              <a:buFont typeface="+mj-lt"/>
              <a:buAutoNum type="arabicPeriod"/>
            </a:pPr>
            <a:r>
              <a:rPr lang="nb-NO" sz="1200" b="1" i="0" kern="1200" dirty="0">
                <a:solidFill>
                  <a:schemeClr val="tx1"/>
                </a:solidFill>
                <a:effectLst/>
                <a:latin typeface="+mn-lt"/>
                <a:ea typeface="+mn-ea"/>
                <a:cs typeface="+mn-cs"/>
              </a:rPr>
              <a:t>Adaptiv</a:t>
            </a:r>
            <a:r>
              <a:rPr lang="nb-NO" sz="1200" b="0" i="0" kern="1200" dirty="0">
                <a:solidFill>
                  <a:schemeClr val="tx1"/>
                </a:solidFill>
                <a:effectLst/>
                <a:latin typeface="+mn-lt"/>
                <a:ea typeface="+mn-ea"/>
                <a:cs typeface="+mn-cs"/>
              </a:rPr>
              <a:t>: fremgang er adaptiv og ikke lineær.</a:t>
            </a:r>
          </a:p>
          <a:p>
            <a:pPr marL="0" indent="0">
              <a:buFont typeface="+mj-lt"/>
              <a:buNone/>
            </a:pPr>
            <a:endParaRPr lang="nb-NO" sz="1200" b="0" i="0" kern="1200" dirty="0">
              <a:solidFill>
                <a:schemeClr val="tx1"/>
              </a:solidFill>
              <a:effectLst/>
              <a:latin typeface="+mn-lt"/>
              <a:ea typeface="+mn-ea"/>
              <a:cs typeface="+mn-cs"/>
            </a:endParaRPr>
          </a:p>
          <a:p>
            <a:pPr marL="0" indent="0">
              <a:buFont typeface="+mj-lt"/>
              <a:buNone/>
            </a:pPr>
            <a:r>
              <a:rPr lang="nb-NO" sz="1200" b="0" i="0" kern="1200" dirty="0" err="1">
                <a:solidFill>
                  <a:schemeClr val="tx1"/>
                </a:solidFill>
                <a:effectLst/>
                <a:latin typeface="+mn-lt"/>
                <a:ea typeface="+mn-ea"/>
                <a:cs typeface="+mn-cs"/>
              </a:rPr>
              <a:t>Manifesto</a:t>
            </a:r>
            <a:r>
              <a:rPr lang="nb-NO" sz="1200" b="0" i="0" kern="1200" dirty="0">
                <a:solidFill>
                  <a:schemeClr val="tx1"/>
                </a:solidFill>
                <a:effectLst/>
                <a:latin typeface="+mn-lt"/>
                <a:ea typeface="+mn-ea"/>
                <a:cs typeface="+mn-cs"/>
              </a:rPr>
              <a:t> kort oppsummert:</a:t>
            </a:r>
          </a:p>
          <a:p>
            <a:pPr marL="171450" indent="-171450">
              <a:buFont typeface="Arial" panose="020B0604020202020204" pitchFamily="34" charset="0"/>
              <a:buChar char="•"/>
            </a:pPr>
            <a:r>
              <a:rPr lang="nb-NO" sz="1200" b="1" i="0" kern="1200" dirty="0">
                <a:solidFill>
                  <a:schemeClr val="tx1"/>
                </a:solidFill>
                <a:effectLst/>
                <a:latin typeface="+mn-lt"/>
                <a:ea typeface="+mn-ea"/>
                <a:cs typeface="+mn-cs"/>
              </a:rPr>
              <a:t>Individer og interaksjoner fremfor prosesser og verktøy</a:t>
            </a:r>
            <a:r>
              <a:rPr lang="nb-NO" sz="1200" b="0" i="0" kern="1200" dirty="0">
                <a:solidFill>
                  <a:schemeClr val="tx1"/>
                </a:solidFill>
                <a:effectLst/>
                <a:latin typeface="+mn-lt"/>
                <a:ea typeface="+mn-ea"/>
                <a:cs typeface="+mn-cs"/>
              </a:rPr>
              <a:t>: menneskene involvert og deres samarbeid er den viktigste faktoren for prosjektet. Prioriterer kommunikasjon og samarbeid fremfor strenge prosesser og bruk av spesifikke verktøy.</a:t>
            </a:r>
          </a:p>
          <a:p>
            <a:pPr marL="171450" indent="-171450">
              <a:buFont typeface="Arial" panose="020B0604020202020204" pitchFamily="34" charset="0"/>
              <a:buChar char="•"/>
            </a:pPr>
            <a:r>
              <a:rPr lang="nb-NO" sz="1200" b="1" i="0" kern="1200" dirty="0">
                <a:solidFill>
                  <a:schemeClr val="tx1"/>
                </a:solidFill>
                <a:effectLst/>
                <a:latin typeface="+mn-lt"/>
                <a:ea typeface="+mn-ea"/>
                <a:cs typeface="+mn-cs"/>
              </a:rPr>
              <a:t>Fungerende programvare fremfor omfattende dokumentasjon:</a:t>
            </a:r>
            <a:r>
              <a:rPr lang="nb-NO" sz="1200" b="0" i="0" kern="1200" dirty="0">
                <a:solidFill>
                  <a:schemeClr val="tx1"/>
                </a:solidFill>
                <a:effectLst/>
                <a:latin typeface="+mn-lt"/>
                <a:ea typeface="+mn-ea"/>
                <a:cs typeface="+mn-cs"/>
              </a:rPr>
              <a:t> Målet er å skape verdi gjennom programvaren som utvikles.</a:t>
            </a:r>
          </a:p>
          <a:p>
            <a:pPr marL="171450" indent="-171450">
              <a:buFont typeface="Arial" panose="020B0604020202020204" pitchFamily="34" charset="0"/>
              <a:buChar char="•"/>
            </a:pPr>
            <a:r>
              <a:rPr lang="nb-NO" sz="1200" b="1" i="0" kern="1200" dirty="0">
                <a:solidFill>
                  <a:schemeClr val="tx1"/>
                </a:solidFill>
                <a:effectLst/>
                <a:latin typeface="+mn-lt"/>
                <a:ea typeface="+mn-ea"/>
                <a:cs typeface="+mn-cs"/>
              </a:rPr>
              <a:t>Kundesamarbeid fremfor kontraktsforhandlinger:</a:t>
            </a:r>
            <a:r>
              <a:rPr lang="nb-NO" sz="1200" b="0" i="0" kern="1200" dirty="0">
                <a:solidFill>
                  <a:schemeClr val="tx1"/>
                </a:solidFill>
                <a:effectLst/>
                <a:latin typeface="+mn-lt"/>
                <a:ea typeface="+mn-ea"/>
                <a:cs typeface="+mn-cs"/>
              </a:rPr>
              <a:t> Vektlegger samarbeid med kunden for å forstå deres behov og tilpasse endringer over tid enn å fokusere på detaljerte kontrakter og opprinnelige krav.</a:t>
            </a:r>
          </a:p>
          <a:p>
            <a:pPr marL="171450" indent="-171450">
              <a:buFont typeface="Arial" panose="020B0604020202020204" pitchFamily="34" charset="0"/>
              <a:buChar char="•"/>
            </a:pPr>
            <a:r>
              <a:rPr lang="nb-NO" sz="1200" b="1" i="0" kern="1200" dirty="0">
                <a:solidFill>
                  <a:schemeClr val="tx1"/>
                </a:solidFill>
                <a:effectLst/>
                <a:latin typeface="+mn-lt"/>
                <a:ea typeface="+mn-ea"/>
                <a:cs typeface="+mn-cs"/>
              </a:rPr>
              <a:t>Reagere på endring fremfor å følge en plan:</a:t>
            </a:r>
            <a:r>
              <a:rPr lang="nb-NO" sz="1200" b="0" i="0" kern="1200" dirty="0">
                <a:solidFill>
                  <a:schemeClr val="tx1"/>
                </a:solidFill>
                <a:effectLst/>
                <a:latin typeface="+mn-lt"/>
                <a:ea typeface="+mn-ea"/>
                <a:cs typeface="+mn-cs"/>
              </a:rPr>
              <a:t> Smidig metoder er tilpasningsdyktig og fleksible. Å respondere effektivt på endrede krav og forutsetninger er viktigere enn å følge en forhåndsbestemt plan.</a:t>
            </a:r>
          </a:p>
        </p:txBody>
      </p:sp>
      <p:sp>
        <p:nvSpPr>
          <p:cNvPr id="4" name="Plassholder for lysbildenummer 3">
            <a:extLst>
              <a:ext uri="{FF2B5EF4-FFF2-40B4-BE49-F238E27FC236}">
                <a16:creationId xmlns:a16="http://schemas.microsoft.com/office/drawing/2014/main" id="{D8ABD428-6045-4059-A7CF-7376D0214CBF}"/>
              </a:ext>
            </a:extLst>
          </p:cNvPr>
          <p:cNvSpPr>
            <a:spLocks noGrp="1"/>
          </p:cNvSpPr>
          <p:nvPr>
            <p:ph type="sldNum" sz="quarter" idx="5"/>
          </p:nvPr>
        </p:nvSpPr>
        <p:spPr/>
        <p:txBody>
          <a:bodyPr/>
          <a:lstStyle/>
          <a:p>
            <a:fld id="{ED8CD5F7-2931-42C6-9B3E-A6C700901896}" type="slidenum">
              <a:rPr lang="nb-NO" smtClean="0"/>
              <a:t>39</a:t>
            </a:fld>
            <a:endParaRPr lang="nb-NO"/>
          </a:p>
        </p:txBody>
      </p:sp>
    </p:spTree>
    <p:extLst>
      <p:ext uri="{BB962C8B-B14F-4D97-AF65-F5344CB8AC3E}">
        <p14:creationId xmlns:p14="http://schemas.microsoft.com/office/powerpoint/2010/main" val="8533970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7F688-47B4-70C7-1B07-6DB1437FDB1C}"/>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FF2B627C-A22A-2957-15DA-CA58BE5039AC}"/>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47868A53-954E-FE5E-DC8E-61F31D2D4AD8}"/>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Har nesten ingen dokumentasjon og modellering. </a:t>
            </a:r>
          </a:p>
          <a:p>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Har 29 faste regler.</a:t>
            </a:r>
          </a:p>
          <a:p>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Noen regler:</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Alltid parprogrammering</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Skriv enhetstester før koding</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Integrer kun én liten endring av gangen</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Enkel, tydelig kode og hyppig </a:t>
            </a:r>
            <a:r>
              <a:rPr lang="nb-NO" sz="1200" b="0" i="0" kern="1200" dirty="0" err="1">
                <a:solidFill>
                  <a:schemeClr val="tx1"/>
                </a:solidFill>
                <a:effectLst/>
                <a:latin typeface="+mn-lt"/>
                <a:ea typeface="+mn-ea"/>
                <a:cs typeface="+mn-cs"/>
              </a:rPr>
              <a:t>refaktorering</a:t>
            </a:r>
            <a:endParaRPr lang="nb-NO"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Ha kort feedback-loop, hyppige tester og tilbakemeldinger fra kunde skal bidra til kontinuerlige endringer.</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Ha korte iterasjoner med leveranser mellom dem</a:t>
            </a:r>
          </a:p>
          <a:p>
            <a:pPr marL="0" indent="0">
              <a:buFont typeface="Arial" panose="020B0604020202020204" pitchFamily="34" charset="0"/>
              <a:buNone/>
            </a:pPr>
            <a:br>
              <a:rPr lang="nb-NO" sz="1200" b="0" i="0" kern="1200" dirty="0">
                <a:solidFill>
                  <a:schemeClr val="tx1"/>
                </a:solidFill>
                <a:effectLst/>
                <a:latin typeface="+mn-lt"/>
                <a:ea typeface="+mn-ea"/>
                <a:cs typeface="+mn-cs"/>
              </a:rPr>
            </a:br>
            <a:r>
              <a:rPr lang="nb-NO" sz="1200" b="0" i="0" kern="1200" dirty="0">
                <a:solidFill>
                  <a:schemeClr val="tx1"/>
                </a:solidFill>
                <a:effectLst/>
                <a:latin typeface="+mn-lt"/>
                <a:ea typeface="+mn-ea"/>
                <a:cs typeface="+mn-cs"/>
              </a:rPr>
              <a:t>Fem sentrale verdier innen XP:</a:t>
            </a:r>
          </a:p>
          <a:p>
            <a:pPr marL="171450" indent="-171450">
              <a:buFont typeface="Arial" panose="020B0604020202020204" pitchFamily="34" charset="0"/>
              <a:buChar char="•"/>
            </a:pPr>
            <a:r>
              <a:rPr lang="nb-NO" sz="1200" b="1" i="0" kern="1200" dirty="0">
                <a:solidFill>
                  <a:schemeClr val="tx1"/>
                </a:solidFill>
                <a:effectLst/>
                <a:latin typeface="+mn-lt"/>
                <a:ea typeface="+mn-ea"/>
                <a:cs typeface="+mn-cs"/>
              </a:rPr>
              <a:t>Communications</a:t>
            </a:r>
          </a:p>
          <a:p>
            <a:pPr marL="171450" indent="-171450">
              <a:buFont typeface="Arial" panose="020B0604020202020204" pitchFamily="34" charset="0"/>
              <a:buChar char="•"/>
            </a:pPr>
            <a:r>
              <a:rPr lang="nb-NO" sz="1200" b="1" i="0" kern="1200" dirty="0" err="1">
                <a:solidFill>
                  <a:schemeClr val="tx1"/>
                </a:solidFill>
                <a:effectLst/>
                <a:latin typeface="+mn-lt"/>
                <a:ea typeface="+mn-ea"/>
                <a:cs typeface="+mn-cs"/>
              </a:rPr>
              <a:t>Simplicity</a:t>
            </a:r>
            <a:endParaRPr lang="nb-NO" sz="1200" b="1" i="0" kern="1200" dirty="0">
              <a:solidFill>
                <a:schemeClr val="tx1"/>
              </a:solidFill>
              <a:effectLst/>
              <a:latin typeface="+mn-lt"/>
              <a:ea typeface="+mn-ea"/>
              <a:cs typeface="+mn-cs"/>
            </a:endParaRPr>
          </a:p>
          <a:p>
            <a:pPr marL="171450" indent="-171450">
              <a:buFont typeface="Arial" panose="020B0604020202020204" pitchFamily="34" charset="0"/>
              <a:buChar char="•"/>
            </a:pPr>
            <a:r>
              <a:rPr lang="nb-NO" sz="1200" b="1" i="0" kern="1200" dirty="0">
                <a:solidFill>
                  <a:schemeClr val="tx1"/>
                </a:solidFill>
                <a:effectLst/>
                <a:latin typeface="+mn-lt"/>
                <a:ea typeface="+mn-ea"/>
                <a:cs typeface="+mn-cs"/>
              </a:rPr>
              <a:t>Feedback</a:t>
            </a:r>
          </a:p>
          <a:p>
            <a:pPr marL="171450" indent="-171450">
              <a:buFont typeface="Arial" panose="020B0604020202020204" pitchFamily="34" charset="0"/>
              <a:buChar char="•"/>
            </a:pPr>
            <a:r>
              <a:rPr lang="nb-NO" sz="1200" b="1" i="0" kern="1200" dirty="0" err="1">
                <a:solidFill>
                  <a:schemeClr val="tx1"/>
                </a:solidFill>
                <a:effectLst/>
                <a:latin typeface="+mn-lt"/>
                <a:ea typeface="+mn-ea"/>
                <a:cs typeface="+mn-cs"/>
              </a:rPr>
              <a:t>Courage</a:t>
            </a:r>
            <a:endParaRPr lang="nb-NO" sz="1200" b="1" i="0" kern="1200" dirty="0">
              <a:solidFill>
                <a:schemeClr val="tx1"/>
              </a:solidFill>
              <a:effectLst/>
              <a:latin typeface="+mn-lt"/>
              <a:ea typeface="+mn-ea"/>
              <a:cs typeface="+mn-cs"/>
            </a:endParaRPr>
          </a:p>
          <a:p>
            <a:pPr marL="171450" indent="-171450">
              <a:buFont typeface="Arial" panose="020B0604020202020204" pitchFamily="34" charset="0"/>
              <a:buChar char="•"/>
            </a:pPr>
            <a:r>
              <a:rPr lang="nb-NO" sz="1200" b="1" i="0" kern="1200" dirty="0" err="1">
                <a:solidFill>
                  <a:schemeClr val="tx1"/>
                </a:solidFill>
                <a:effectLst/>
                <a:latin typeface="+mn-lt"/>
                <a:ea typeface="+mn-ea"/>
                <a:cs typeface="+mn-cs"/>
              </a:rPr>
              <a:t>Respect</a:t>
            </a:r>
            <a:endParaRPr lang="nb-NO" sz="1200" b="0" i="1" kern="1200" dirty="0">
              <a:solidFill>
                <a:schemeClr val="tx1"/>
              </a:solidFill>
              <a:effectLst/>
              <a:latin typeface="+mn-lt"/>
              <a:ea typeface="+mn-ea"/>
              <a:cs typeface="+mn-cs"/>
            </a:endParaRPr>
          </a:p>
          <a:p>
            <a:pPr marL="0" indent="0">
              <a:buFont typeface="Arial" panose="020B0604020202020204" pitchFamily="34" charset="0"/>
              <a:buNone/>
            </a:pPr>
            <a:r>
              <a:rPr lang="nb-NO" sz="1200" b="0" i="1" kern="1200" dirty="0">
                <a:solidFill>
                  <a:schemeClr val="tx1"/>
                </a:solidFill>
                <a:effectLst/>
                <a:latin typeface="+mn-lt"/>
                <a:ea typeface="+mn-ea"/>
                <a:cs typeface="+mn-cs"/>
              </a:rPr>
              <a:t>(Det trengs god kommunikasjon, koden skal simpel, tilbakemelding fra testene, teamet og kunden, man må ikke vær redd for </a:t>
            </a:r>
            <a:r>
              <a:rPr lang="nb-NO" sz="1200" b="0" i="1" kern="1200" dirty="0" err="1">
                <a:solidFill>
                  <a:schemeClr val="tx1"/>
                </a:solidFill>
                <a:effectLst/>
                <a:latin typeface="+mn-lt"/>
                <a:ea typeface="+mn-ea"/>
                <a:cs typeface="+mn-cs"/>
              </a:rPr>
              <a:t>refaktorisere</a:t>
            </a:r>
            <a:r>
              <a:rPr lang="nb-NO" sz="1200" b="0" i="1" kern="1200" dirty="0">
                <a:solidFill>
                  <a:schemeClr val="tx1"/>
                </a:solidFill>
                <a:effectLst/>
                <a:latin typeface="+mn-lt"/>
                <a:ea typeface="+mn-ea"/>
                <a:cs typeface="+mn-cs"/>
              </a:rPr>
              <a:t> dårlig kode, ha respekt for sitt og andres arbeid.)</a:t>
            </a:r>
          </a:p>
          <a:p>
            <a:endParaRPr lang="nb-NO" sz="1200" b="0" i="0" kern="1200" dirty="0">
              <a:solidFill>
                <a:schemeClr val="tx1"/>
              </a:solidFill>
              <a:effectLst/>
              <a:latin typeface="+mn-lt"/>
              <a:ea typeface="+mn-ea"/>
              <a:cs typeface="+mn-cs"/>
            </a:endParaRPr>
          </a:p>
        </p:txBody>
      </p:sp>
      <p:sp>
        <p:nvSpPr>
          <p:cNvPr id="4" name="Plassholder for lysbildenummer 3">
            <a:extLst>
              <a:ext uri="{FF2B5EF4-FFF2-40B4-BE49-F238E27FC236}">
                <a16:creationId xmlns:a16="http://schemas.microsoft.com/office/drawing/2014/main" id="{07C48346-A9E5-1038-07B2-37C2E7F3B885}"/>
              </a:ext>
            </a:extLst>
          </p:cNvPr>
          <p:cNvSpPr>
            <a:spLocks noGrp="1"/>
          </p:cNvSpPr>
          <p:nvPr>
            <p:ph type="sldNum" sz="quarter" idx="5"/>
          </p:nvPr>
        </p:nvSpPr>
        <p:spPr/>
        <p:txBody>
          <a:bodyPr/>
          <a:lstStyle/>
          <a:p>
            <a:fld id="{ED8CD5F7-2931-42C6-9B3E-A6C700901896}" type="slidenum">
              <a:rPr lang="nb-NO" smtClean="0"/>
              <a:t>40</a:t>
            </a:fld>
            <a:endParaRPr lang="nb-NO"/>
          </a:p>
        </p:txBody>
      </p:sp>
    </p:spTree>
    <p:extLst>
      <p:ext uri="{BB962C8B-B14F-4D97-AF65-F5344CB8AC3E}">
        <p14:creationId xmlns:p14="http://schemas.microsoft.com/office/powerpoint/2010/main" val="16090041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13602-19CA-4EBB-1082-CE7BFFFE1D18}"/>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C0CA9BD3-AC33-B951-48C7-BCFD1F736D7C}"/>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774D5049-797C-1D31-DFFD-4EBC5F3275C6}"/>
              </a:ext>
            </a:extLst>
          </p:cNvPr>
          <p:cNvSpPr>
            <a:spLocks noGrp="1"/>
          </p:cNvSpPr>
          <p:nvPr>
            <p:ph type="body" idx="1"/>
          </p:nvPr>
        </p:nvSpPr>
        <p:spPr/>
        <p:txBody>
          <a:bodyPr/>
          <a:lstStyle/>
          <a:p>
            <a:r>
              <a:rPr lang="nb-NO" sz="1200" b="1" i="0" kern="1200" dirty="0">
                <a:solidFill>
                  <a:schemeClr val="tx1"/>
                </a:solidFill>
                <a:effectLst/>
                <a:latin typeface="+mn-lt"/>
                <a:ea typeface="+mn-ea"/>
                <a:cs typeface="+mn-cs"/>
              </a:rPr>
              <a:t>Hva?</a:t>
            </a:r>
            <a:r>
              <a:rPr lang="nb-NO" sz="1200" b="0" i="0" kern="1200" dirty="0">
                <a:solidFill>
                  <a:schemeClr val="tx1"/>
                </a:solidFill>
                <a:effectLst/>
                <a:latin typeface="+mn-lt"/>
                <a:ea typeface="+mn-ea"/>
                <a:cs typeface="+mn-cs"/>
              </a:rPr>
              <a:t> Skriver tester for en bestemt funksjonalitet først, kjører testen for å se at den mislykkes og deretter skrive kode for at den skal bestå.</a:t>
            </a:r>
          </a:p>
          <a:p>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Videreføring av XP og har samme "regler" når det gjelder </a:t>
            </a:r>
            <a:r>
              <a:rPr lang="nb-NO" sz="1200" b="0" i="0" kern="1200" dirty="0" err="1">
                <a:solidFill>
                  <a:schemeClr val="tx1"/>
                </a:solidFill>
                <a:effectLst/>
                <a:latin typeface="+mn-lt"/>
                <a:ea typeface="+mn-ea"/>
                <a:cs typeface="+mn-cs"/>
              </a:rPr>
              <a:t>refaktorering</a:t>
            </a:r>
            <a:r>
              <a:rPr lang="nb-NO" sz="1200" b="0" i="0" kern="1200" dirty="0">
                <a:solidFill>
                  <a:schemeClr val="tx1"/>
                </a:solidFill>
                <a:effectLst/>
                <a:latin typeface="+mn-lt"/>
                <a:ea typeface="+mn-ea"/>
                <a:cs typeface="+mn-cs"/>
              </a:rPr>
              <a:t> av dårlig kode.</a:t>
            </a:r>
          </a:p>
          <a:p>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Fokus på enhetstesting og akseptansetesting.</a:t>
            </a:r>
          </a:p>
          <a:p>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Tester og krav er sammensmeltet:</a:t>
            </a:r>
          </a:p>
          <a:p>
            <a:pPr lvl="1"/>
            <a:r>
              <a:rPr lang="nb-NO" sz="1200" b="0" i="0" kern="1200" dirty="0">
                <a:solidFill>
                  <a:schemeClr val="tx1"/>
                </a:solidFill>
                <a:effectLst/>
                <a:latin typeface="+mn-lt"/>
                <a:ea typeface="+mn-ea"/>
                <a:cs typeface="+mn-cs"/>
              </a:rPr>
              <a:t>Enhetstester setter krav til hva koden kan gjøre samtidig som den tester.</a:t>
            </a:r>
          </a:p>
          <a:p>
            <a:pPr lvl="1"/>
            <a:r>
              <a:rPr lang="nb-NO" sz="1200" b="0" i="0" kern="1200" dirty="0">
                <a:solidFill>
                  <a:schemeClr val="tx1"/>
                </a:solidFill>
                <a:effectLst/>
                <a:latin typeface="+mn-lt"/>
                <a:ea typeface="+mn-ea"/>
                <a:cs typeface="+mn-cs"/>
              </a:rPr>
              <a:t>Bruker </a:t>
            </a:r>
            <a:r>
              <a:rPr lang="nb-NO" sz="1200" b="0" i="1" kern="1200" dirty="0" err="1">
                <a:solidFill>
                  <a:schemeClr val="tx1"/>
                </a:solidFill>
                <a:effectLst/>
                <a:latin typeface="+mn-lt"/>
                <a:ea typeface="+mn-ea"/>
                <a:cs typeface="+mn-cs"/>
              </a:rPr>
              <a:t>user-stories</a:t>
            </a:r>
            <a:r>
              <a:rPr lang="nb-NO" sz="1200" b="0" i="0" kern="1200" dirty="0">
                <a:solidFill>
                  <a:schemeClr val="tx1"/>
                </a:solidFill>
                <a:effectLst/>
                <a:latin typeface="+mn-lt"/>
                <a:ea typeface="+mn-ea"/>
                <a:cs typeface="+mn-cs"/>
              </a:rPr>
              <a:t> til å definere kundekrav og </a:t>
            </a:r>
            <a:r>
              <a:rPr lang="nb-NO" sz="1200" b="0" i="0" kern="1200" dirty="0" err="1">
                <a:solidFill>
                  <a:schemeClr val="tx1"/>
                </a:solidFill>
                <a:effectLst/>
                <a:latin typeface="+mn-lt"/>
                <a:ea typeface="+mn-ea"/>
                <a:cs typeface="+mn-cs"/>
              </a:rPr>
              <a:t>testcaser</a:t>
            </a:r>
            <a:r>
              <a:rPr lang="nb-NO" sz="1200" b="0" i="0" kern="1200" dirty="0">
                <a:solidFill>
                  <a:schemeClr val="tx1"/>
                </a:solidFill>
                <a:effectLst/>
                <a:latin typeface="+mn-lt"/>
                <a:ea typeface="+mn-ea"/>
                <a:cs typeface="+mn-cs"/>
              </a:rPr>
              <a:t> for akseptansetester</a:t>
            </a:r>
            <a:br>
              <a:rPr lang="nb-NO" sz="1200" b="0" i="0" kern="1200" dirty="0">
                <a:solidFill>
                  <a:schemeClr val="tx1"/>
                </a:solidFill>
                <a:effectLst/>
                <a:latin typeface="+mn-lt"/>
                <a:ea typeface="+mn-ea"/>
                <a:cs typeface="+mn-cs"/>
              </a:rPr>
            </a:br>
            <a:endParaRPr lang="nb-NO" sz="1200" b="0" i="0" kern="1200" dirty="0">
              <a:solidFill>
                <a:schemeClr val="tx1"/>
              </a:solidFill>
              <a:effectLst/>
              <a:latin typeface="+mn-lt"/>
              <a:ea typeface="+mn-ea"/>
              <a:cs typeface="+mn-cs"/>
            </a:endParaRPr>
          </a:p>
          <a:p>
            <a:pPr lvl="0"/>
            <a:r>
              <a:rPr lang="nb-NO" sz="1200" b="1" i="0" kern="1200" dirty="0">
                <a:solidFill>
                  <a:schemeClr val="tx1"/>
                </a:solidFill>
                <a:effectLst/>
                <a:latin typeface="+mn-lt"/>
                <a:ea typeface="+mn-ea"/>
                <a:cs typeface="+mn-cs"/>
              </a:rPr>
              <a:t>Fordeler</a:t>
            </a:r>
            <a:endParaRPr lang="nb-NO"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Kodekvalitet</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Testdekning</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Rask tilbakemelding</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Økt tillit</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Testene fungerer også som en form for dokumentasjon.</a:t>
            </a:r>
          </a:p>
          <a:p>
            <a:pPr marL="0" indent="0">
              <a:buFont typeface="Arial" panose="020B0604020202020204" pitchFamily="34" charset="0"/>
              <a:buNone/>
            </a:pPr>
            <a:br>
              <a:rPr lang="nb-NO" sz="1200" b="0" i="0" kern="1200" dirty="0">
                <a:solidFill>
                  <a:schemeClr val="tx1"/>
                </a:solidFill>
                <a:effectLst/>
                <a:latin typeface="+mn-lt"/>
                <a:ea typeface="+mn-ea"/>
                <a:cs typeface="+mn-cs"/>
              </a:rPr>
            </a:br>
            <a:r>
              <a:rPr lang="nb-NO" sz="1200" b="1" i="0" kern="1200" dirty="0">
                <a:solidFill>
                  <a:schemeClr val="tx1"/>
                </a:solidFill>
                <a:effectLst/>
                <a:latin typeface="+mn-lt"/>
                <a:ea typeface="+mn-ea"/>
                <a:cs typeface="+mn-cs"/>
              </a:rPr>
              <a:t>Ulemper</a:t>
            </a:r>
            <a:endParaRPr lang="nb-NO"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Lærekurve: krever endring i tenkemåte</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Tidsbruk å skrive tester</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Vedlikehold av testene</a:t>
            </a:r>
          </a:p>
        </p:txBody>
      </p:sp>
      <p:sp>
        <p:nvSpPr>
          <p:cNvPr id="4" name="Plassholder for lysbildenummer 3">
            <a:extLst>
              <a:ext uri="{FF2B5EF4-FFF2-40B4-BE49-F238E27FC236}">
                <a16:creationId xmlns:a16="http://schemas.microsoft.com/office/drawing/2014/main" id="{E9CFB352-5844-F604-41CF-08CADA46847C}"/>
              </a:ext>
            </a:extLst>
          </p:cNvPr>
          <p:cNvSpPr>
            <a:spLocks noGrp="1"/>
          </p:cNvSpPr>
          <p:nvPr>
            <p:ph type="sldNum" sz="quarter" idx="5"/>
          </p:nvPr>
        </p:nvSpPr>
        <p:spPr/>
        <p:txBody>
          <a:bodyPr/>
          <a:lstStyle/>
          <a:p>
            <a:fld id="{ED8CD5F7-2931-42C6-9B3E-A6C700901896}" type="slidenum">
              <a:rPr lang="nb-NO" smtClean="0"/>
              <a:t>41</a:t>
            </a:fld>
            <a:endParaRPr lang="nb-NO"/>
          </a:p>
        </p:txBody>
      </p:sp>
    </p:spTree>
    <p:extLst>
      <p:ext uri="{BB962C8B-B14F-4D97-AF65-F5344CB8AC3E}">
        <p14:creationId xmlns:p14="http://schemas.microsoft.com/office/powerpoint/2010/main" val="9968613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B7A07-0B8F-3B78-B0EE-65B4261BA711}"/>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992334A0-D43D-34BF-746B-1BFA9ABA3EE5}"/>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16AC6513-026D-2089-924B-5586FC04E487}"/>
              </a:ext>
            </a:extLst>
          </p:cNvPr>
          <p:cNvSpPr>
            <a:spLocks noGrp="1"/>
          </p:cNvSpPr>
          <p:nvPr>
            <p:ph type="body" idx="1"/>
          </p:nvPr>
        </p:nvSpPr>
        <p:spPr/>
        <p:txBody>
          <a:bodyPr/>
          <a:lstStyle/>
          <a:p>
            <a:r>
              <a:rPr lang="nb-NO" sz="1200" b="1" i="0" kern="1200" dirty="0">
                <a:solidFill>
                  <a:schemeClr val="tx1"/>
                </a:solidFill>
                <a:effectLst/>
                <a:latin typeface="+mn-lt"/>
                <a:ea typeface="+mn-ea"/>
                <a:cs typeface="+mn-cs"/>
              </a:rPr>
              <a:t>Hva?</a:t>
            </a:r>
            <a:r>
              <a:rPr lang="nb-NO" sz="1200" b="0" i="0" kern="1200" dirty="0">
                <a:solidFill>
                  <a:schemeClr val="tx1"/>
                </a:solidFill>
                <a:effectLst/>
                <a:latin typeface="+mn-lt"/>
                <a:ea typeface="+mn-ea"/>
                <a:cs typeface="+mn-cs"/>
              </a:rPr>
              <a:t> automatiserte akseptansetester og involverer flere interessenter. </a:t>
            </a:r>
          </a:p>
          <a:p>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Gruppa møtes for å komme med konkrete akseptkriterier i en brukerhistorie. </a:t>
            </a:r>
          </a:p>
          <a:p>
            <a:r>
              <a:rPr lang="nb-NO" sz="1200" b="0" i="0" kern="1200" dirty="0">
                <a:solidFill>
                  <a:schemeClr val="tx1"/>
                </a:solidFill>
                <a:effectLst/>
                <a:latin typeface="+mn-lt"/>
                <a:ea typeface="+mn-ea"/>
                <a:cs typeface="+mn-cs"/>
              </a:rPr>
              <a:t>Akseptkriterier skrevet </a:t>
            </a:r>
            <a:r>
              <a:rPr lang="nb-NO" sz="1200" b="0" i="0" kern="1200" dirty="0" err="1">
                <a:solidFill>
                  <a:schemeClr val="tx1"/>
                </a:solidFill>
                <a:effectLst/>
                <a:latin typeface="+mn-lt"/>
                <a:ea typeface="+mn-ea"/>
                <a:cs typeface="+mn-cs"/>
              </a:rPr>
              <a:t>vha</a:t>
            </a:r>
            <a:r>
              <a:rPr lang="nb-NO" sz="1200" b="0" i="0" kern="1200" dirty="0">
                <a:solidFill>
                  <a:schemeClr val="tx1"/>
                </a:solidFill>
                <a:effectLst/>
                <a:latin typeface="+mn-lt"/>
                <a:ea typeface="+mn-ea"/>
                <a:cs typeface="+mn-cs"/>
              </a:rPr>
              <a:t> domenespesifikt språk som UML og lagt inn i testscenario fil som konverteres til kjørbare tester, vanligvis automatisk.</a:t>
            </a:r>
          </a:p>
          <a:p>
            <a:r>
              <a:rPr lang="nb-NO" sz="1200" b="0" i="0" kern="1200" dirty="0">
                <a:solidFill>
                  <a:schemeClr val="tx1"/>
                </a:solidFill>
                <a:effectLst/>
                <a:latin typeface="+mn-lt"/>
                <a:ea typeface="+mn-ea"/>
                <a:cs typeface="+mn-cs"/>
              </a:rPr>
              <a:t>Teste applikasjonens oppførsel fra sluttbrukerens perspektiv</a:t>
            </a:r>
          </a:p>
          <a:p>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Sørger for at </a:t>
            </a:r>
            <a:r>
              <a:rPr lang="nb-NO" sz="1200" b="0" i="0" kern="1200" dirty="0" err="1">
                <a:solidFill>
                  <a:schemeClr val="tx1"/>
                </a:solidFill>
                <a:effectLst/>
                <a:latin typeface="+mn-lt"/>
                <a:ea typeface="+mn-ea"/>
                <a:cs typeface="+mn-cs"/>
              </a:rPr>
              <a:t>use</a:t>
            </a:r>
            <a:r>
              <a:rPr lang="nb-NO" sz="1200" b="0" i="0" kern="1200" dirty="0">
                <a:solidFill>
                  <a:schemeClr val="tx1"/>
                </a:solidFill>
                <a:effectLst/>
                <a:latin typeface="+mn-lt"/>
                <a:ea typeface="+mn-ea"/>
                <a:cs typeface="+mn-cs"/>
              </a:rPr>
              <a:t> cases fungerer på et høyere nivå</a:t>
            </a:r>
          </a:p>
          <a:p>
            <a:endParaRPr lang="nb-NO" sz="1200" b="0" i="0" kern="1200" dirty="0">
              <a:solidFill>
                <a:schemeClr val="tx1"/>
              </a:solidFill>
              <a:effectLst/>
              <a:latin typeface="+mn-lt"/>
              <a:ea typeface="+mn-ea"/>
              <a:cs typeface="+mn-cs"/>
            </a:endParaRPr>
          </a:p>
        </p:txBody>
      </p:sp>
      <p:sp>
        <p:nvSpPr>
          <p:cNvPr id="4" name="Plassholder for lysbildenummer 3">
            <a:extLst>
              <a:ext uri="{FF2B5EF4-FFF2-40B4-BE49-F238E27FC236}">
                <a16:creationId xmlns:a16="http://schemas.microsoft.com/office/drawing/2014/main" id="{B49DF1EE-F9F7-6098-DE8C-2EB661083AC2}"/>
              </a:ext>
            </a:extLst>
          </p:cNvPr>
          <p:cNvSpPr>
            <a:spLocks noGrp="1"/>
          </p:cNvSpPr>
          <p:nvPr>
            <p:ph type="sldNum" sz="quarter" idx="5"/>
          </p:nvPr>
        </p:nvSpPr>
        <p:spPr/>
        <p:txBody>
          <a:bodyPr/>
          <a:lstStyle/>
          <a:p>
            <a:fld id="{ED8CD5F7-2931-42C6-9B3E-A6C700901896}" type="slidenum">
              <a:rPr lang="nb-NO" smtClean="0"/>
              <a:t>42</a:t>
            </a:fld>
            <a:endParaRPr lang="nb-NO"/>
          </a:p>
        </p:txBody>
      </p:sp>
    </p:spTree>
    <p:extLst>
      <p:ext uri="{BB962C8B-B14F-4D97-AF65-F5344CB8AC3E}">
        <p14:creationId xmlns:p14="http://schemas.microsoft.com/office/powerpoint/2010/main" val="22997102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F70F2-5FBA-714D-3570-3B9DEDDBDE62}"/>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91C4AD59-D542-49D2-E768-A78E3756D75D}"/>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722C8F9B-5F08-03D1-5262-CD1D10753D8D}"/>
              </a:ext>
            </a:extLst>
          </p:cNvPr>
          <p:cNvSpPr>
            <a:spLocks noGrp="1"/>
          </p:cNvSpPr>
          <p:nvPr>
            <p:ph type="body" idx="1"/>
          </p:nvPr>
        </p:nvSpPr>
        <p:spPr/>
        <p:txBody>
          <a:bodyPr/>
          <a:lstStyle/>
          <a:p>
            <a:r>
              <a:rPr lang="nb-NO" sz="1200" b="0" i="0" kern="1200" dirty="0" err="1">
                <a:solidFill>
                  <a:schemeClr val="tx1"/>
                </a:solidFill>
                <a:effectLst/>
                <a:latin typeface="+mn-lt"/>
                <a:ea typeface="+mn-ea"/>
                <a:cs typeface="+mn-cs"/>
              </a:rPr>
              <a:t>Tidsboksbasert</a:t>
            </a:r>
            <a:r>
              <a:rPr lang="nb-NO" sz="1200" b="0" i="0" kern="1200" dirty="0">
                <a:solidFill>
                  <a:schemeClr val="tx1"/>
                </a:solidFill>
                <a:effectLst/>
                <a:latin typeface="+mn-lt"/>
                <a:ea typeface="+mn-ea"/>
                <a:cs typeface="+mn-cs"/>
              </a:rPr>
              <a:t> </a:t>
            </a:r>
            <a:r>
              <a:rPr lang="nb-NO" sz="1200" b="0" i="1" kern="1200" dirty="0">
                <a:solidFill>
                  <a:schemeClr val="tx1"/>
                </a:solidFill>
                <a:effectLst/>
                <a:latin typeface="+mn-lt"/>
                <a:ea typeface="+mn-ea"/>
                <a:cs typeface="+mn-cs"/>
              </a:rPr>
              <a:t>smidig metode</a:t>
            </a:r>
            <a:r>
              <a:rPr lang="nb-NO" sz="1200" b="0" i="0" kern="1200" dirty="0">
                <a:solidFill>
                  <a:schemeClr val="tx1"/>
                </a:solidFill>
                <a:effectLst/>
                <a:latin typeface="+mn-lt"/>
                <a:ea typeface="+mn-ea"/>
                <a:cs typeface="+mn-cs"/>
              </a:rPr>
              <a:t> som ikke forteller oss hvordan vi skal utvikle koden eller modellere krav, men hvordan vi skal jobbe og få fremgang.</a:t>
            </a:r>
          </a:p>
          <a:p>
            <a:endParaRPr lang="nb-NO"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b-NO" sz="1200" b="0" i="0" kern="1200" dirty="0">
                <a:solidFill>
                  <a:schemeClr val="tx1"/>
                </a:solidFill>
                <a:effectLst/>
                <a:latin typeface="+mn-lt"/>
                <a:ea typeface="+mn-ea"/>
                <a:cs typeface="+mn-cs"/>
              </a:rPr>
              <a:t>Fokus på kryssfunksjonalitet der utviklerteamet ikke har spesifikke roller</a:t>
            </a:r>
          </a:p>
          <a:p>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Utfører sprinter (tidsavgrensede iterasjoner) med demo mot slutten eller levert produkt</a:t>
            </a:r>
          </a:p>
          <a:p>
            <a:br>
              <a:rPr lang="nb-NO" sz="1200" b="0" i="0" kern="1200" dirty="0">
                <a:solidFill>
                  <a:schemeClr val="tx1"/>
                </a:solidFill>
                <a:effectLst/>
                <a:latin typeface="+mn-lt"/>
                <a:ea typeface="+mn-ea"/>
                <a:cs typeface="+mn-cs"/>
              </a:rPr>
            </a:br>
            <a:r>
              <a:rPr lang="nb-NO" sz="1200" b="0" i="0" kern="1200" dirty="0">
                <a:solidFill>
                  <a:schemeClr val="tx1"/>
                </a:solidFill>
                <a:effectLst/>
                <a:latin typeface="+mn-lt"/>
                <a:ea typeface="+mn-ea"/>
                <a:cs typeface="+mn-cs"/>
              </a:rPr>
              <a:t>Seremonier/møter:</a:t>
            </a:r>
          </a:p>
          <a:p>
            <a:pPr marL="171450" indent="-171450">
              <a:buFont typeface="Arial" panose="020B0604020202020204" pitchFamily="34" charset="0"/>
              <a:buChar char="•"/>
            </a:pPr>
            <a:r>
              <a:rPr lang="nb-NO" sz="1200" b="1" i="0" kern="1200" dirty="0">
                <a:solidFill>
                  <a:schemeClr val="tx1"/>
                </a:solidFill>
                <a:effectLst/>
                <a:latin typeface="+mn-lt"/>
                <a:ea typeface="+mn-ea"/>
                <a:cs typeface="+mn-cs"/>
              </a:rPr>
              <a:t>Sprint planning </a:t>
            </a:r>
            <a:r>
              <a:rPr lang="nb-NO" sz="1200" b="1" i="0" kern="1200" dirty="0" err="1">
                <a:solidFill>
                  <a:schemeClr val="tx1"/>
                </a:solidFill>
                <a:effectLst/>
                <a:latin typeface="+mn-lt"/>
                <a:ea typeface="+mn-ea"/>
                <a:cs typeface="+mn-cs"/>
              </a:rPr>
              <a:t>meeting</a:t>
            </a:r>
            <a:r>
              <a:rPr lang="nb-NO" sz="1200" b="1" i="0" kern="1200" dirty="0">
                <a:solidFill>
                  <a:schemeClr val="tx1"/>
                </a:solidFill>
                <a:effectLst/>
                <a:latin typeface="+mn-lt"/>
                <a:ea typeface="+mn-ea"/>
                <a:cs typeface="+mn-cs"/>
              </a:rPr>
              <a:t>:</a:t>
            </a:r>
            <a:r>
              <a:rPr lang="nb-NO" sz="1200" b="0" i="0" kern="1200" dirty="0">
                <a:solidFill>
                  <a:schemeClr val="tx1"/>
                </a:solidFill>
                <a:effectLst/>
                <a:latin typeface="+mn-lt"/>
                <a:ea typeface="+mn-ea"/>
                <a:cs typeface="+mn-cs"/>
              </a:rPr>
              <a:t> Product </a:t>
            </a:r>
            <a:r>
              <a:rPr lang="nb-NO" sz="1200" b="0" i="0" kern="1200" dirty="0" err="1">
                <a:solidFill>
                  <a:schemeClr val="tx1"/>
                </a:solidFill>
                <a:effectLst/>
                <a:latin typeface="+mn-lt"/>
                <a:ea typeface="+mn-ea"/>
                <a:cs typeface="+mn-cs"/>
              </a:rPr>
              <a:t>owner</a:t>
            </a:r>
            <a:r>
              <a:rPr lang="nb-NO" sz="1200" b="0" i="0" kern="1200" dirty="0">
                <a:solidFill>
                  <a:schemeClr val="tx1"/>
                </a:solidFill>
                <a:effectLst/>
                <a:latin typeface="+mn-lt"/>
                <a:ea typeface="+mn-ea"/>
                <a:cs typeface="+mn-cs"/>
              </a:rPr>
              <a:t> og utviklingsteam møter og avklarer hva som skal inngå i kommende sprint. Henter ut </a:t>
            </a:r>
            <a:r>
              <a:rPr lang="nb-NO" sz="1200" b="0" i="0" kern="1200" dirty="0" err="1">
                <a:solidFill>
                  <a:schemeClr val="tx1"/>
                </a:solidFill>
                <a:effectLst/>
                <a:latin typeface="+mn-lt"/>
                <a:ea typeface="+mn-ea"/>
                <a:cs typeface="+mn-cs"/>
              </a:rPr>
              <a:t>ProductBackLogItems</a:t>
            </a:r>
            <a:r>
              <a:rPr lang="nb-NO" sz="1200" b="0" i="0" kern="1200" dirty="0">
                <a:solidFill>
                  <a:schemeClr val="tx1"/>
                </a:solidFill>
                <a:effectLst/>
                <a:latin typeface="+mn-lt"/>
                <a:ea typeface="+mn-ea"/>
                <a:cs typeface="+mn-cs"/>
              </a:rPr>
              <a:t> fra </a:t>
            </a:r>
            <a:r>
              <a:rPr lang="nb-NO" sz="1200" b="0" i="0" kern="1200" dirty="0" err="1">
                <a:solidFill>
                  <a:schemeClr val="tx1"/>
                </a:solidFill>
                <a:effectLst/>
                <a:latin typeface="+mn-lt"/>
                <a:ea typeface="+mn-ea"/>
                <a:cs typeface="+mn-cs"/>
              </a:rPr>
              <a:t>ProductBacklog</a:t>
            </a:r>
            <a:r>
              <a:rPr lang="nb-NO" sz="1200" b="0" i="0" kern="1200" dirty="0">
                <a:solidFill>
                  <a:schemeClr val="tx1"/>
                </a:solidFill>
                <a:effectLst/>
                <a:latin typeface="+mn-lt"/>
                <a:ea typeface="+mn-ea"/>
                <a:cs typeface="+mn-cs"/>
              </a:rPr>
              <a:t>, justerer disse og legger i </a:t>
            </a:r>
            <a:r>
              <a:rPr lang="nb-NO" sz="1200" b="0" i="0" kern="1200" dirty="0" err="1">
                <a:solidFill>
                  <a:schemeClr val="tx1"/>
                </a:solidFill>
                <a:effectLst/>
                <a:latin typeface="+mn-lt"/>
                <a:ea typeface="+mn-ea"/>
                <a:cs typeface="+mn-cs"/>
              </a:rPr>
              <a:t>SprintBacklog</a:t>
            </a:r>
            <a:r>
              <a:rPr lang="nb-NO" sz="1200" b="0" i="0" kern="1200" dirty="0">
                <a:solidFill>
                  <a:schemeClr val="tx1"/>
                </a:solidFill>
                <a:effectLst/>
                <a:latin typeface="+mn-lt"/>
                <a:ea typeface="+mn-ea"/>
                <a:cs typeface="+mn-cs"/>
              </a:rPr>
              <a:t>. PO bestemmer hvilke PBI. </a:t>
            </a:r>
            <a:r>
              <a:rPr lang="nb-NO" sz="1200" b="0" i="0" kern="1200" dirty="0" err="1">
                <a:solidFill>
                  <a:schemeClr val="tx1"/>
                </a:solidFill>
                <a:effectLst/>
                <a:latin typeface="+mn-lt"/>
                <a:ea typeface="+mn-ea"/>
                <a:cs typeface="+mn-cs"/>
              </a:rPr>
              <a:t>Populerer</a:t>
            </a:r>
            <a:r>
              <a:rPr lang="nb-NO" sz="1200" b="0" i="0" kern="1200" dirty="0">
                <a:solidFill>
                  <a:schemeClr val="tx1"/>
                </a:solidFill>
                <a:effectLst/>
                <a:latin typeface="+mn-lt"/>
                <a:ea typeface="+mn-ea"/>
                <a:cs typeface="+mn-cs"/>
              </a:rPr>
              <a:t> også </a:t>
            </a:r>
            <a:r>
              <a:rPr lang="nb-NO" sz="1200" b="0" i="0" kern="1200" dirty="0" err="1">
                <a:solidFill>
                  <a:schemeClr val="tx1"/>
                </a:solidFill>
                <a:effectLst/>
                <a:latin typeface="+mn-lt"/>
                <a:ea typeface="+mn-ea"/>
                <a:cs typeface="+mn-cs"/>
              </a:rPr>
              <a:t>scrum-board</a:t>
            </a:r>
            <a:r>
              <a:rPr lang="nb-NO" sz="1200" b="0" i="0" kern="1200" dirty="0">
                <a:solidFill>
                  <a:schemeClr val="tx1"/>
                </a:solidFill>
                <a:effectLst/>
                <a:latin typeface="+mn-lt"/>
                <a:ea typeface="+mn-ea"/>
                <a:cs typeface="+mn-cs"/>
              </a:rPr>
              <a:t> med oppgaver</a:t>
            </a:r>
          </a:p>
          <a:p>
            <a:pPr marL="171450" indent="-171450">
              <a:buFont typeface="Arial" panose="020B0604020202020204" pitchFamily="34" charset="0"/>
              <a:buChar char="•"/>
            </a:pPr>
            <a:r>
              <a:rPr lang="nb-NO" sz="1200" b="1" i="0" kern="1200" dirty="0">
                <a:solidFill>
                  <a:schemeClr val="tx1"/>
                </a:solidFill>
                <a:effectLst/>
                <a:latin typeface="+mn-lt"/>
                <a:ea typeface="+mn-ea"/>
                <a:cs typeface="+mn-cs"/>
              </a:rPr>
              <a:t>Standup møte:</a:t>
            </a:r>
            <a:endParaRPr lang="nb-NO" sz="1200" b="0" i="0" kern="1200" dirty="0">
              <a:solidFill>
                <a:schemeClr val="tx1"/>
              </a:solidFill>
              <a:effectLst/>
              <a:latin typeface="+mn-lt"/>
              <a:ea typeface="+mn-ea"/>
              <a:cs typeface="+mn-cs"/>
            </a:endParaRPr>
          </a:p>
          <a:p>
            <a:pPr marL="628650" lvl="1" indent="-171450">
              <a:buFont typeface="Arial" panose="020B0604020202020204" pitchFamily="34" charset="0"/>
              <a:buChar char="•"/>
            </a:pPr>
            <a:r>
              <a:rPr lang="nb-NO" sz="1200" b="1" i="0" kern="1200" dirty="0">
                <a:solidFill>
                  <a:schemeClr val="tx1"/>
                </a:solidFill>
                <a:effectLst/>
                <a:latin typeface="+mn-lt"/>
                <a:ea typeface="+mn-ea"/>
                <a:cs typeface="+mn-cs"/>
              </a:rPr>
              <a:t>Sprint </a:t>
            </a:r>
            <a:r>
              <a:rPr lang="nb-NO" sz="1200" b="1" i="0" kern="1200" dirty="0" err="1">
                <a:solidFill>
                  <a:schemeClr val="tx1"/>
                </a:solidFill>
                <a:effectLst/>
                <a:latin typeface="+mn-lt"/>
                <a:ea typeface="+mn-ea"/>
                <a:cs typeface="+mn-cs"/>
              </a:rPr>
              <a:t>review</a:t>
            </a:r>
            <a:r>
              <a:rPr lang="nb-NO" sz="1200" b="1" i="0" kern="1200" dirty="0">
                <a:solidFill>
                  <a:schemeClr val="tx1"/>
                </a:solidFill>
                <a:effectLst/>
                <a:latin typeface="+mn-lt"/>
                <a:ea typeface="+mn-ea"/>
                <a:cs typeface="+mn-cs"/>
              </a:rPr>
              <a:t>:</a:t>
            </a:r>
            <a:r>
              <a:rPr lang="nb-NO" sz="1200" b="0" i="0" kern="1200" dirty="0">
                <a:solidFill>
                  <a:schemeClr val="tx1"/>
                </a:solidFill>
                <a:effectLst/>
                <a:latin typeface="+mn-lt"/>
                <a:ea typeface="+mn-ea"/>
                <a:cs typeface="+mn-cs"/>
              </a:rPr>
              <a:t> Utviklerteam, PO og interessenter møter etter ferdig sprint og resultat presenteres. Tilbakemelding gis og evaluering av produkt skjer.</a:t>
            </a:r>
          </a:p>
          <a:p>
            <a:pPr marL="628650" lvl="1" indent="-171450">
              <a:buFont typeface="Arial" panose="020B0604020202020204" pitchFamily="34" charset="0"/>
              <a:buChar char="•"/>
            </a:pPr>
            <a:r>
              <a:rPr lang="nb-NO" sz="1200" b="1" i="0" kern="1200" dirty="0">
                <a:solidFill>
                  <a:schemeClr val="tx1"/>
                </a:solidFill>
                <a:effectLst/>
                <a:latin typeface="+mn-lt"/>
                <a:ea typeface="+mn-ea"/>
                <a:cs typeface="+mn-cs"/>
              </a:rPr>
              <a:t>Retrospektiv:</a:t>
            </a:r>
            <a:r>
              <a:rPr lang="nb-NO" sz="1200" b="0" i="0" kern="1200" dirty="0">
                <a:solidFill>
                  <a:schemeClr val="tx1"/>
                </a:solidFill>
                <a:effectLst/>
                <a:latin typeface="+mn-lt"/>
                <a:ea typeface="+mn-ea"/>
                <a:cs typeface="+mn-cs"/>
              </a:rPr>
              <a:t> Utviklerteam innad reflekterer hva som gikk bra under </a:t>
            </a:r>
            <a:r>
              <a:rPr lang="nb-NO" sz="1200" b="0" i="0" kern="1200" dirty="0" err="1">
                <a:solidFill>
                  <a:schemeClr val="tx1"/>
                </a:solidFill>
                <a:effectLst/>
                <a:latin typeface="+mn-lt"/>
                <a:ea typeface="+mn-ea"/>
                <a:cs typeface="+mn-cs"/>
              </a:rPr>
              <a:t>spint</a:t>
            </a:r>
            <a:r>
              <a:rPr lang="nb-NO" sz="1200" b="0" i="0" kern="1200" dirty="0">
                <a:solidFill>
                  <a:schemeClr val="tx1"/>
                </a:solidFill>
                <a:effectLst/>
                <a:latin typeface="+mn-lt"/>
                <a:ea typeface="+mn-ea"/>
                <a:cs typeface="+mn-cs"/>
              </a:rPr>
              <a:t> og arbeidsprosess.</a:t>
            </a:r>
          </a:p>
          <a:p>
            <a:endParaRPr lang="nb-NO" sz="1200" b="0" i="0" kern="1200" dirty="0">
              <a:solidFill>
                <a:schemeClr val="tx1"/>
              </a:solidFill>
              <a:effectLst/>
              <a:latin typeface="+mn-lt"/>
              <a:ea typeface="+mn-ea"/>
              <a:cs typeface="+mn-cs"/>
            </a:endParaRPr>
          </a:p>
        </p:txBody>
      </p:sp>
      <p:sp>
        <p:nvSpPr>
          <p:cNvPr id="4" name="Plassholder for lysbildenummer 3">
            <a:extLst>
              <a:ext uri="{FF2B5EF4-FFF2-40B4-BE49-F238E27FC236}">
                <a16:creationId xmlns:a16="http://schemas.microsoft.com/office/drawing/2014/main" id="{999FF0D9-48FE-CD2A-C57D-9D46F1106A05}"/>
              </a:ext>
            </a:extLst>
          </p:cNvPr>
          <p:cNvSpPr>
            <a:spLocks noGrp="1"/>
          </p:cNvSpPr>
          <p:nvPr>
            <p:ph type="sldNum" sz="quarter" idx="5"/>
          </p:nvPr>
        </p:nvSpPr>
        <p:spPr/>
        <p:txBody>
          <a:bodyPr/>
          <a:lstStyle/>
          <a:p>
            <a:fld id="{ED8CD5F7-2931-42C6-9B3E-A6C700901896}" type="slidenum">
              <a:rPr lang="nb-NO" smtClean="0"/>
              <a:t>43</a:t>
            </a:fld>
            <a:endParaRPr lang="nb-NO"/>
          </a:p>
        </p:txBody>
      </p:sp>
    </p:spTree>
    <p:extLst>
      <p:ext uri="{BB962C8B-B14F-4D97-AF65-F5344CB8AC3E}">
        <p14:creationId xmlns:p14="http://schemas.microsoft.com/office/powerpoint/2010/main" val="158837281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2C1AB-7783-BDEA-EF5B-EF2506186F6B}"/>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60E8C494-10CB-263C-696A-8BBDBE86EE20}"/>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CB05841D-208A-EACA-F2FA-B189D351595F}"/>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Lik smidig metode, men med mer vekt på å ikke lagre ting uten verdi. </a:t>
            </a:r>
          </a:p>
          <a:p>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Prinsipper:</a:t>
            </a:r>
          </a:p>
          <a:p>
            <a:pPr marL="171450" indent="-171450">
              <a:buFont typeface="Arial" panose="020B0604020202020204" pitchFamily="34" charset="0"/>
              <a:buChar char="•"/>
            </a:pPr>
            <a:r>
              <a:rPr lang="nb-NO" sz="1200" b="1" i="0" kern="1200" dirty="0" err="1">
                <a:solidFill>
                  <a:schemeClr val="tx1"/>
                </a:solidFill>
                <a:effectLst/>
                <a:latin typeface="+mn-lt"/>
                <a:ea typeface="+mn-ea"/>
                <a:cs typeface="+mn-cs"/>
              </a:rPr>
              <a:t>Eliminate</a:t>
            </a:r>
            <a:r>
              <a:rPr lang="nb-NO" sz="1200" b="1" i="0" kern="1200" dirty="0">
                <a:solidFill>
                  <a:schemeClr val="tx1"/>
                </a:solidFill>
                <a:effectLst/>
                <a:latin typeface="+mn-lt"/>
                <a:ea typeface="+mn-ea"/>
                <a:cs typeface="+mn-cs"/>
              </a:rPr>
              <a:t> </a:t>
            </a:r>
            <a:r>
              <a:rPr lang="nb-NO" sz="1200" b="1" i="0" kern="1200" dirty="0" err="1">
                <a:solidFill>
                  <a:schemeClr val="tx1"/>
                </a:solidFill>
                <a:effectLst/>
                <a:latin typeface="+mn-lt"/>
                <a:ea typeface="+mn-ea"/>
                <a:cs typeface="+mn-cs"/>
              </a:rPr>
              <a:t>waste</a:t>
            </a:r>
            <a:r>
              <a:rPr lang="nb-NO" sz="1200" b="0" i="0" kern="1200" dirty="0">
                <a:solidFill>
                  <a:schemeClr val="tx1"/>
                </a:solidFill>
                <a:effectLst/>
                <a:latin typeface="+mn-lt"/>
                <a:ea typeface="+mn-ea"/>
                <a:cs typeface="+mn-cs"/>
              </a:rPr>
              <a:t>: alt som produseres må ha verdi. Altså, unngå funksjoner kunden ikke vil ha selv om du liker det, dokumentasjon som er bare flesk, mye byråkrati </a:t>
            </a:r>
            <a:r>
              <a:rPr lang="nb-NO" sz="1200" b="0" i="0" kern="1200" dirty="0" err="1">
                <a:solidFill>
                  <a:schemeClr val="tx1"/>
                </a:solidFill>
                <a:effectLst/>
                <a:latin typeface="+mn-lt"/>
                <a:ea typeface="+mn-ea"/>
                <a:cs typeface="+mn-cs"/>
              </a:rPr>
              <a:t>osv</a:t>
            </a:r>
            <a:endParaRPr lang="nb-NO"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nb-NO" sz="1200" b="1" i="0" kern="1200" dirty="0" err="1">
                <a:solidFill>
                  <a:schemeClr val="tx1"/>
                </a:solidFill>
                <a:effectLst/>
                <a:latin typeface="+mn-lt"/>
                <a:ea typeface="+mn-ea"/>
                <a:cs typeface="+mn-cs"/>
              </a:rPr>
              <a:t>Build</a:t>
            </a:r>
            <a:r>
              <a:rPr lang="nb-NO" sz="1200" b="1" i="0" kern="1200" dirty="0">
                <a:solidFill>
                  <a:schemeClr val="tx1"/>
                </a:solidFill>
                <a:effectLst/>
                <a:latin typeface="+mn-lt"/>
                <a:ea typeface="+mn-ea"/>
                <a:cs typeface="+mn-cs"/>
              </a:rPr>
              <a:t> </a:t>
            </a:r>
            <a:r>
              <a:rPr lang="nb-NO" sz="1200" b="1" i="0" kern="1200" dirty="0" err="1">
                <a:solidFill>
                  <a:schemeClr val="tx1"/>
                </a:solidFill>
                <a:effectLst/>
                <a:latin typeface="+mn-lt"/>
                <a:ea typeface="+mn-ea"/>
                <a:cs typeface="+mn-cs"/>
              </a:rPr>
              <a:t>quality</a:t>
            </a:r>
            <a:r>
              <a:rPr lang="nb-NO" sz="1200" b="1" i="0" kern="1200" dirty="0">
                <a:solidFill>
                  <a:schemeClr val="tx1"/>
                </a:solidFill>
                <a:effectLst/>
                <a:latin typeface="+mn-lt"/>
                <a:ea typeface="+mn-ea"/>
                <a:cs typeface="+mn-cs"/>
              </a:rPr>
              <a:t> in</a:t>
            </a:r>
            <a:r>
              <a:rPr lang="nb-NO" sz="1200" b="0" i="0" kern="1200" dirty="0">
                <a:solidFill>
                  <a:schemeClr val="tx1"/>
                </a:solidFill>
                <a:effectLst/>
                <a:latin typeface="+mn-lt"/>
                <a:ea typeface="+mn-ea"/>
                <a:cs typeface="+mn-cs"/>
              </a:rPr>
              <a:t>: God kvalitet på koden og systemet</a:t>
            </a:r>
          </a:p>
          <a:p>
            <a:pPr marL="171450" indent="-171450">
              <a:buFont typeface="Arial" panose="020B0604020202020204" pitchFamily="34" charset="0"/>
              <a:buChar char="•"/>
            </a:pPr>
            <a:r>
              <a:rPr lang="nb-NO" sz="1200" b="1" i="0" kern="1200" dirty="0" err="1">
                <a:solidFill>
                  <a:schemeClr val="tx1"/>
                </a:solidFill>
                <a:effectLst/>
                <a:latin typeface="+mn-lt"/>
                <a:ea typeface="+mn-ea"/>
                <a:cs typeface="+mn-cs"/>
              </a:rPr>
              <a:t>Create</a:t>
            </a:r>
            <a:r>
              <a:rPr lang="nb-NO" sz="1200" b="1" i="0" kern="1200" dirty="0">
                <a:solidFill>
                  <a:schemeClr val="tx1"/>
                </a:solidFill>
                <a:effectLst/>
                <a:latin typeface="+mn-lt"/>
                <a:ea typeface="+mn-ea"/>
                <a:cs typeface="+mn-cs"/>
              </a:rPr>
              <a:t> </a:t>
            </a:r>
            <a:r>
              <a:rPr lang="nb-NO" sz="1200" b="1" i="0" kern="1200" dirty="0" err="1">
                <a:solidFill>
                  <a:schemeClr val="tx1"/>
                </a:solidFill>
                <a:effectLst/>
                <a:latin typeface="+mn-lt"/>
                <a:ea typeface="+mn-ea"/>
                <a:cs typeface="+mn-cs"/>
              </a:rPr>
              <a:t>knowledge</a:t>
            </a:r>
            <a:r>
              <a:rPr lang="nb-NO" sz="1200" b="1" i="0" kern="1200" dirty="0">
                <a:solidFill>
                  <a:schemeClr val="tx1"/>
                </a:solidFill>
                <a:effectLst/>
                <a:latin typeface="+mn-lt"/>
                <a:ea typeface="+mn-ea"/>
                <a:cs typeface="+mn-cs"/>
              </a:rPr>
              <a:t>:</a:t>
            </a:r>
            <a:r>
              <a:rPr lang="nb-NO" sz="1200" b="0" i="0" kern="1200" dirty="0">
                <a:solidFill>
                  <a:schemeClr val="tx1"/>
                </a:solidFill>
                <a:effectLst/>
                <a:latin typeface="+mn-lt"/>
                <a:ea typeface="+mn-ea"/>
                <a:cs typeface="+mn-cs"/>
              </a:rPr>
              <a:t> Korte feedback looper mellom kunde og utvikler slik at flere ting kan testes og endringer kan gjøres hyppig.</a:t>
            </a:r>
          </a:p>
          <a:p>
            <a:pPr marL="171450" indent="-171450">
              <a:buFont typeface="Arial" panose="020B0604020202020204" pitchFamily="34" charset="0"/>
              <a:buChar char="•"/>
            </a:pPr>
            <a:r>
              <a:rPr lang="nb-NO" sz="1200" b="1" i="0" kern="1200" dirty="0" err="1">
                <a:solidFill>
                  <a:schemeClr val="tx1"/>
                </a:solidFill>
                <a:effectLst/>
                <a:latin typeface="+mn-lt"/>
                <a:ea typeface="+mn-ea"/>
                <a:cs typeface="+mn-cs"/>
              </a:rPr>
              <a:t>Defer</a:t>
            </a:r>
            <a:r>
              <a:rPr lang="nb-NO" sz="1200" b="1" i="0" kern="1200" dirty="0">
                <a:solidFill>
                  <a:schemeClr val="tx1"/>
                </a:solidFill>
                <a:effectLst/>
                <a:latin typeface="+mn-lt"/>
                <a:ea typeface="+mn-ea"/>
                <a:cs typeface="+mn-cs"/>
              </a:rPr>
              <a:t> </a:t>
            </a:r>
            <a:r>
              <a:rPr lang="nb-NO" sz="1200" b="1" i="0" kern="1200" dirty="0" err="1">
                <a:solidFill>
                  <a:schemeClr val="tx1"/>
                </a:solidFill>
                <a:effectLst/>
                <a:latin typeface="+mn-lt"/>
                <a:ea typeface="+mn-ea"/>
                <a:cs typeface="+mn-cs"/>
              </a:rPr>
              <a:t>commitment</a:t>
            </a:r>
            <a:r>
              <a:rPr lang="nb-NO" sz="1200" b="1" i="0" kern="1200" dirty="0">
                <a:solidFill>
                  <a:schemeClr val="tx1"/>
                </a:solidFill>
                <a:effectLst/>
                <a:latin typeface="+mn-lt"/>
                <a:ea typeface="+mn-ea"/>
                <a:cs typeface="+mn-cs"/>
              </a:rPr>
              <a:t>:</a:t>
            </a:r>
            <a:r>
              <a:rPr lang="nb-NO" sz="1200" b="0" i="0" kern="1200" dirty="0">
                <a:solidFill>
                  <a:schemeClr val="tx1"/>
                </a:solidFill>
                <a:effectLst/>
                <a:latin typeface="+mn-lt"/>
                <a:ea typeface="+mn-ea"/>
                <a:cs typeface="+mn-cs"/>
              </a:rPr>
              <a:t> Vent med handlinger som er irreversible til man har lært nok om konsekvensene av de handlingene</a:t>
            </a:r>
          </a:p>
          <a:p>
            <a:pPr marL="171450" indent="-171450">
              <a:buFont typeface="Arial" panose="020B0604020202020204" pitchFamily="34" charset="0"/>
              <a:buChar char="•"/>
            </a:pPr>
            <a:r>
              <a:rPr lang="nb-NO" sz="1200" b="1" i="0" kern="1200" dirty="0">
                <a:solidFill>
                  <a:schemeClr val="tx1"/>
                </a:solidFill>
                <a:effectLst/>
                <a:latin typeface="+mn-lt"/>
                <a:ea typeface="+mn-ea"/>
                <a:cs typeface="+mn-cs"/>
              </a:rPr>
              <a:t>Deliver fast:</a:t>
            </a:r>
            <a:r>
              <a:rPr lang="nb-NO" sz="1200" b="0" i="0" kern="1200" dirty="0">
                <a:solidFill>
                  <a:schemeClr val="tx1"/>
                </a:solidFill>
                <a:effectLst/>
                <a:latin typeface="+mn-lt"/>
                <a:ea typeface="+mn-ea"/>
                <a:cs typeface="+mn-cs"/>
              </a:rPr>
              <a:t> Tenk enkelt og unngå </a:t>
            </a:r>
            <a:r>
              <a:rPr lang="nb-NO" sz="1200" b="0" i="0" kern="1200" dirty="0" err="1">
                <a:solidFill>
                  <a:schemeClr val="tx1"/>
                </a:solidFill>
                <a:effectLst/>
                <a:latin typeface="+mn-lt"/>
                <a:ea typeface="+mn-ea"/>
                <a:cs typeface="+mn-cs"/>
              </a:rPr>
              <a:t>overengineering</a:t>
            </a:r>
            <a:r>
              <a:rPr lang="nb-NO" sz="1200" b="0" i="0" kern="1200" dirty="0">
                <a:solidFill>
                  <a:schemeClr val="tx1"/>
                </a:solidFill>
                <a:effectLst/>
                <a:latin typeface="+mn-lt"/>
                <a:ea typeface="+mn-ea"/>
                <a:cs typeface="+mn-cs"/>
              </a:rPr>
              <a:t>. Dette skaper unødvendig kompleksitet og administrering. </a:t>
            </a:r>
            <a:r>
              <a:rPr lang="nb-NO" sz="1200" b="0" i="0" kern="1200" dirty="0" err="1">
                <a:solidFill>
                  <a:schemeClr val="tx1"/>
                </a:solidFill>
                <a:effectLst/>
                <a:latin typeface="+mn-lt"/>
                <a:ea typeface="+mn-ea"/>
                <a:cs typeface="+mn-cs"/>
              </a:rPr>
              <a:t>Hovedfunksjonaliteten</a:t>
            </a:r>
            <a:r>
              <a:rPr lang="nb-NO" sz="1200" b="0" i="0" kern="1200" dirty="0">
                <a:solidFill>
                  <a:schemeClr val="tx1"/>
                </a:solidFill>
                <a:effectLst/>
                <a:latin typeface="+mn-lt"/>
                <a:ea typeface="+mn-ea"/>
                <a:cs typeface="+mn-cs"/>
              </a:rPr>
              <a:t> skal prioriteres og må ut i produksjon så raskt som mulig.</a:t>
            </a:r>
          </a:p>
          <a:p>
            <a:pPr marL="171450" indent="-171450">
              <a:buFont typeface="Arial" panose="020B0604020202020204" pitchFamily="34" charset="0"/>
              <a:buChar char="•"/>
            </a:pPr>
            <a:r>
              <a:rPr lang="nb-NO" sz="1200" b="1" i="0" kern="1200" dirty="0" err="1">
                <a:solidFill>
                  <a:schemeClr val="tx1"/>
                </a:solidFill>
                <a:effectLst/>
                <a:latin typeface="+mn-lt"/>
                <a:ea typeface="+mn-ea"/>
                <a:cs typeface="+mn-cs"/>
              </a:rPr>
              <a:t>Respect</a:t>
            </a:r>
            <a:r>
              <a:rPr lang="nb-NO" sz="1200" b="1" i="0" kern="1200" dirty="0">
                <a:solidFill>
                  <a:schemeClr val="tx1"/>
                </a:solidFill>
                <a:effectLst/>
                <a:latin typeface="+mn-lt"/>
                <a:ea typeface="+mn-ea"/>
                <a:cs typeface="+mn-cs"/>
              </a:rPr>
              <a:t> </a:t>
            </a:r>
            <a:r>
              <a:rPr lang="nb-NO" sz="1200" b="1" i="0" kern="1200" dirty="0" err="1">
                <a:solidFill>
                  <a:schemeClr val="tx1"/>
                </a:solidFill>
                <a:effectLst/>
                <a:latin typeface="+mn-lt"/>
                <a:ea typeface="+mn-ea"/>
                <a:cs typeface="+mn-cs"/>
              </a:rPr>
              <a:t>people</a:t>
            </a:r>
            <a:r>
              <a:rPr lang="nb-NO" sz="1200" b="1" i="0" kern="1200" dirty="0">
                <a:solidFill>
                  <a:schemeClr val="tx1"/>
                </a:solidFill>
                <a:effectLst/>
                <a:latin typeface="+mn-lt"/>
                <a:ea typeface="+mn-ea"/>
                <a:cs typeface="+mn-cs"/>
              </a:rPr>
              <a:t>:</a:t>
            </a:r>
            <a:r>
              <a:rPr lang="nb-NO" sz="1200" b="0" i="0" kern="1200" dirty="0">
                <a:solidFill>
                  <a:schemeClr val="tx1"/>
                </a:solidFill>
                <a:effectLst/>
                <a:latin typeface="+mn-lt"/>
                <a:ea typeface="+mn-ea"/>
                <a:cs typeface="+mn-cs"/>
              </a:rPr>
              <a:t> La utviklere ha ansvar over selve utviklingsprosessen og ledere fokuserer på sitt.</a:t>
            </a:r>
          </a:p>
          <a:p>
            <a:pPr marL="171450" indent="-171450">
              <a:buFont typeface="Arial" panose="020B0604020202020204" pitchFamily="34" charset="0"/>
              <a:buChar char="•"/>
            </a:pPr>
            <a:r>
              <a:rPr lang="nb-NO" sz="1200" b="1" i="0" kern="1200" dirty="0" err="1">
                <a:solidFill>
                  <a:schemeClr val="tx1"/>
                </a:solidFill>
                <a:effectLst/>
                <a:latin typeface="+mn-lt"/>
                <a:ea typeface="+mn-ea"/>
                <a:cs typeface="+mn-cs"/>
              </a:rPr>
              <a:t>Optimize</a:t>
            </a:r>
            <a:r>
              <a:rPr lang="nb-NO" sz="1200" b="1" i="0" kern="1200" dirty="0">
                <a:solidFill>
                  <a:schemeClr val="tx1"/>
                </a:solidFill>
                <a:effectLst/>
                <a:latin typeface="+mn-lt"/>
                <a:ea typeface="+mn-ea"/>
                <a:cs typeface="+mn-cs"/>
              </a:rPr>
              <a:t> </a:t>
            </a:r>
            <a:r>
              <a:rPr lang="nb-NO" sz="1200" b="1" i="0" kern="1200" dirty="0" err="1">
                <a:solidFill>
                  <a:schemeClr val="tx1"/>
                </a:solidFill>
                <a:effectLst/>
                <a:latin typeface="+mn-lt"/>
                <a:ea typeface="+mn-ea"/>
                <a:cs typeface="+mn-cs"/>
              </a:rPr>
              <a:t>the</a:t>
            </a:r>
            <a:r>
              <a:rPr lang="nb-NO" sz="1200" b="1" i="0" kern="1200" dirty="0">
                <a:solidFill>
                  <a:schemeClr val="tx1"/>
                </a:solidFill>
                <a:effectLst/>
                <a:latin typeface="+mn-lt"/>
                <a:ea typeface="+mn-ea"/>
                <a:cs typeface="+mn-cs"/>
              </a:rPr>
              <a:t> </a:t>
            </a:r>
            <a:r>
              <a:rPr lang="nb-NO" sz="1200" b="1" i="0" kern="1200" dirty="0" err="1">
                <a:solidFill>
                  <a:schemeClr val="tx1"/>
                </a:solidFill>
                <a:effectLst/>
                <a:latin typeface="+mn-lt"/>
                <a:ea typeface="+mn-ea"/>
                <a:cs typeface="+mn-cs"/>
              </a:rPr>
              <a:t>whole</a:t>
            </a:r>
            <a:r>
              <a:rPr lang="nb-NO" sz="1200" b="1" i="0" kern="1200" dirty="0">
                <a:solidFill>
                  <a:schemeClr val="tx1"/>
                </a:solidFill>
                <a:effectLst/>
                <a:latin typeface="+mn-lt"/>
                <a:ea typeface="+mn-ea"/>
                <a:cs typeface="+mn-cs"/>
              </a:rPr>
              <a:t>:</a:t>
            </a:r>
            <a:r>
              <a:rPr lang="nb-NO" sz="1200" b="0" i="0" kern="1200" dirty="0">
                <a:solidFill>
                  <a:schemeClr val="tx1"/>
                </a:solidFill>
                <a:effectLst/>
                <a:latin typeface="+mn-lt"/>
                <a:ea typeface="+mn-ea"/>
                <a:cs typeface="+mn-cs"/>
              </a:rPr>
              <a:t> Forstå helheten i et system, forstå hoveddomene og avhengigheter mellom komponenter</a:t>
            </a:r>
            <a:br>
              <a:rPr lang="nb-NO" sz="1200" b="0" i="0" kern="1200" dirty="0">
                <a:solidFill>
                  <a:schemeClr val="tx1"/>
                </a:solidFill>
                <a:effectLst/>
                <a:latin typeface="+mn-lt"/>
                <a:ea typeface="+mn-ea"/>
                <a:cs typeface="+mn-cs"/>
              </a:rPr>
            </a:br>
            <a:endParaRPr lang="nb-NO" sz="1200" b="0" i="0" kern="1200" dirty="0">
              <a:solidFill>
                <a:schemeClr val="tx1"/>
              </a:solidFill>
              <a:effectLst/>
              <a:latin typeface="+mn-lt"/>
              <a:ea typeface="+mn-ea"/>
              <a:cs typeface="+mn-cs"/>
            </a:endParaRPr>
          </a:p>
        </p:txBody>
      </p:sp>
      <p:sp>
        <p:nvSpPr>
          <p:cNvPr id="4" name="Plassholder for lysbildenummer 3">
            <a:extLst>
              <a:ext uri="{FF2B5EF4-FFF2-40B4-BE49-F238E27FC236}">
                <a16:creationId xmlns:a16="http://schemas.microsoft.com/office/drawing/2014/main" id="{199C0031-B9D2-3231-E4E4-C75FC63D1838}"/>
              </a:ext>
            </a:extLst>
          </p:cNvPr>
          <p:cNvSpPr>
            <a:spLocks noGrp="1"/>
          </p:cNvSpPr>
          <p:nvPr>
            <p:ph type="sldNum" sz="quarter" idx="5"/>
          </p:nvPr>
        </p:nvSpPr>
        <p:spPr/>
        <p:txBody>
          <a:bodyPr/>
          <a:lstStyle/>
          <a:p>
            <a:fld id="{ED8CD5F7-2931-42C6-9B3E-A6C700901896}" type="slidenum">
              <a:rPr lang="nb-NO" smtClean="0"/>
              <a:t>44</a:t>
            </a:fld>
            <a:endParaRPr lang="nb-NO"/>
          </a:p>
        </p:txBody>
      </p:sp>
    </p:spTree>
    <p:extLst>
      <p:ext uri="{BB962C8B-B14F-4D97-AF65-F5344CB8AC3E}">
        <p14:creationId xmlns:p14="http://schemas.microsoft.com/office/powerpoint/2010/main" val="21859474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B0B0E-35F1-A34E-04D5-61FC8EEF73D5}"/>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26BBC5E2-1924-F363-0717-79A7292CBF74}"/>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CCEF02BE-86A8-A25F-3C70-45C78BCCB285}"/>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Flytbasert: Fokus på å unngå flaskehalser under utvikling</a:t>
            </a:r>
          </a:p>
          <a:p>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Fokus på kontinuerlig flyt med fleksible prosesser og visuell styring uten faste iterasjoner.</a:t>
            </a:r>
          </a:p>
          <a:p>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Produkt levert kontinuerlig</a:t>
            </a:r>
          </a:p>
          <a:p>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Ingen standard møter</a:t>
            </a:r>
          </a:p>
          <a:p>
            <a:endParaRPr lang="nb-NO" sz="1200" b="0" i="0" kern="1200" dirty="0">
              <a:solidFill>
                <a:schemeClr val="tx1"/>
              </a:solidFill>
              <a:effectLst/>
              <a:latin typeface="+mn-lt"/>
              <a:ea typeface="+mn-ea"/>
              <a:cs typeface="+mn-cs"/>
            </a:endParaRPr>
          </a:p>
          <a:p>
            <a:r>
              <a:rPr lang="nb-NO" sz="1200" b="0" i="0" kern="1200" dirty="0">
                <a:solidFill>
                  <a:schemeClr val="tx1"/>
                </a:solidFill>
                <a:effectLst/>
                <a:latin typeface="+mn-lt"/>
                <a:ea typeface="+mn-ea"/>
                <a:cs typeface="+mn-cs"/>
              </a:rPr>
              <a:t>Bruker et </a:t>
            </a:r>
            <a:r>
              <a:rPr lang="nb-NO" sz="1200" b="1" i="0" kern="1200" dirty="0" err="1">
                <a:solidFill>
                  <a:schemeClr val="tx1"/>
                </a:solidFill>
                <a:effectLst/>
                <a:latin typeface="+mn-lt"/>
                <a:ea typeface="+mn-ea"/>
                <a:cs typeface="+mn-cs"/>
              </a:rPr>
              <a:t>kanban-board</a:t>
            </a:r>
            <a:r>
              <a:rPr lang="nb-NO" sz="1200" b="0" i="0" kern="1200" dirty="0">
                <a:solidFill>
                  <a:schemeClr val="tx1"/>
                </a:solidFill>
                <a:effectLst/>
                <a:latin typeface="+mn-lt"/>
                <a:ea typeface="+mn-ea"/>
                <a:cs typeface="+mn-cs"/>
              </a:rPr>
              <a:t>: Lik </a:t>
            </a:r>
            <a:r>
              <a:rPr lang="nb-NO" sz="1200" b="0" i="0" kern="1200" dirty="0" err="1">
                <a:solidFill>
                  <a:schemeClr val="tx1"/>
                </a:solidFill>
                <a:effectLst/>
                <a:latin typeface="+mn-lt"/>
                <a:ea typeface="+mn-ea"/>
                <a:cs typeface="+mn-cs"/>
              </a:rPr>
              <a:t>scrum-board</a:t>
            </a:r>
            <a:r>
              <a:rPr lang="nb-NO" sz="1200" b="0" i="0" kern="1200" dirty="0">
                <a:solidFill>
                  <a:schemeClr val="tx1"/>
                </a:solidFill>
                <a:effectLst/>
                <a:latin typeface="+mn-lt"/>
                <a:ea typeface="+mn-ea"/>
                <a:cs typeface="+mn-cs"/>
              </a:rPr>
              <a:t> bare at det er begrenset oppgaver på hver kolonne. Formål: Dersom man har lite oppgaver i kolonnen man jobber i kan man bidra i andres kolonner som har flere oppgaver.  Disse kolonnene fungerer som en flaskehals som bremser det prosessen.</a:t>
            </a:r>
          </a:p>
        </p:txBody>
      </p:sp>
      <p:sp>
        <p:nvSpPr>
          <p:cNvPr id="4" name="Plassholder for lysbildenummer 3">
            <a:extLst>
              <a:ext uri="{FF2B5EF4-FFF2-40B4-BE49-F238E27FC236}">
                <a16:creationId xmlns:a16="http://schemas.microsoft.com/office/drawing/2014/main" id="{C4A670CB-DCFA-1B85-76C1-D9A15A405C53}"/>
              </a:ext>
            </a:extLst>
          </p:cNvPr>
          <p:cNvSpPr>
            <a:spLocks noGrp="1"/>
          </p:cNvSpPr>
          <p:nvPr>
            <p:ph type="sldNum" sz="quarter" idx="5"/>
          </p:nvPr>
        </p:nvSpPr>
        <p:spPr/>
        <p:txBody>
          <a:bodyPr/>
          <a:lstStyle/>
          <a:p>
            <a:fld id="{ED8CD5F7-2931-42C6-9B3E-A6C700901896}" type="slidenum">
              <a:rPr lang="nb-NO" smtClean="0"/>
              <a:t>45</a:t>
            </a:fld>
            <a:endParaRPr lang="nb-NO"/>
          </a:p>
        </p:txBody>
      </p:sp>
    </p:spTree>
    <p:extLst>
      <p:ext uri="{BB962C8B-B14F-4D97-AF65-F5344CB8AC3E}">
        <p14:creationId xmlns:p14="http://schemas.microsoft.com/office/powerpoint/2010/main" val="351055028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C8589-95F6-0605-A9B6-401204A1E349}"/>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3A670BF4-B3E9-F6BA-7119-7CB25C2ADE8F}"/>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C59AD252-EE6E-E28A-E4F4-5CB2049B1646}"/>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Høyt fokus på domenet</a:t>
            </a:r>
          </a:p>
          <a:p>
            <a:r>
              <a:rPr lang="nb-NO" sz="1200" b="0" i="0" kern="1200" dirty="0">
                <a:solidFill>
                  <a:schemeClr val="tx1"/>
                </a:solidFill>
                <a:effectLst/>
                <a:latin typeface="+mn-lt"/>
                <a:ea typeface="+mn-ea"/>
                <a:cs typeface="+mn-cs"/>
              </a:rPr>
              <a:t>Koden skal gjenspeile virkeligheten, altså domenet</a:t>
            </a:r>
          </a:p>
          <a:p>
            <a:r>
              <a:rPr lang="nb-NO" sz="1200" b="0" i="0" kern="1200" dirty="0">
                <a:solidFill>
                  <a:schemeClr val="tx1"/>
                </a:solidFill>
                <a:effectLst/>
                <a:latin typeface="+mn-lt"/>
                <a:ea typeface="+mn-ea"/>
                <a:cs typeface="+mn-cs"/>
              </a:rPr>
              <a:t>Godt egnet for skalering og endringer</a:t>
            </a:r>
          </a:p>
          <a:p>
            <a:r>
              <a:rPr lang="nb-NO" sz="1200" b="0" i="0" kern="1200" dirty="0">
                <a:solidFill>
                  <a:schemeClr val="tx1"/>
                </a:solidFill>
                <a:effectLst/>
                <a:latin typeface="+mn-lt"/>
                <a:ea typeface="+mn-ea"/>
                <a:cs typeface="+mn-cs"/>
              </a:rPr>
              <a:t>Fokuserer på det viktigste i domenet</a:t>
            </a:r>
          </a:p>
        </p:txBody>
      </p:sp>
      <p:sp>
        <p:nvSpPr>
          <p:cNvPr id="4" name="Plassholder for lysbildenummer 3">
            <a:extLst>
              <a:ext uri="{FF2B5EF4-FFF2-40B4-BE49-F238E27FC236}">
                <a16:creationId xmlns:a16="http://schemas.microsoft.com/office/drawing/2014/main" id="{B9587EDE-D852-CF99-F632-1FD0B6F3A362}"/>
              </a:ext>
            </a:extLst>
          </p:cNvPr>
          <p:cNvSpPr>
            <a:spLocks noGrp="1"/>
          </p:cNvSpPr>
          <p:nvPr>
            <p:ph type="sldNum" sz="quarter" idx="5"/>
          </p:nvPr>
        </p:nvSpPr>
        <p:spPr/>
        <p:txBody>
          <a:bodyPr/>
          <a:lstStyle/>
          <a:p>
            <a:fld id="{ED8CD5F7-2931-42C6-9B3E-A6C700901896}" type="slidenum">
              <a:rPr lang="nb-NO" smtClean="0"/>
              <a:t>46</a:t>
            </a:fld>
            <a:endParaRPr lang="nb-NO"/>
          </a:p>
        </p:txBody>
      </p:sp>
    </p:spTree>
    <p:extLst>
      <p:ext uri="{BB962C8B-B14F-4D97-AF65-F5344CB8AC3E}">
        <p14:creationId xmlns:p14="http://schemas.microsoft.com/office/powerpoint/2010/main" val="17188120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20CC9-D479-8E33-EE0F-7A25408392E6}"/>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73FB79AF-ACAA-6835-EF9D-91C3CB8ACDD1}"/>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31EB8292-991D-4AA2-84E4-98E6EE1BF7D4}"/>
              </a:ext>
            </a:extLst>
          </p:cNvPr>
          <p:cNvSpPr>
            <a:spLocks noGrp="1"/>
          </p:cNvSpPr>
          <p:nvPr>
            <p:ph type="body" idx="1"/>
          </p:nvPr>
        </p:nvSpPr>
        <p:spPr/>
        <p:txBody>
          <a:bodyPr/>
          <a:lstStyle/>
          <a:p>
            <a:r>
              <a:rPr lang="nb-NO" sz="1200" b="0" i="0" kern="1200" dirty="0">
                <a:solidFill>
                  <a:schemeClr val="tx1"/>
                </a:solidFill>
                <a:effectLst/>
                <a:latin typeface="+mn-lt"/>
                <a:ea typeface="+mn-ea"/>
                <a:cs typeface="+mn-cs"/>
              </a:rPr>
              <a:t>En kultur og praksis som kombinerer </a:t>
            </a:r>
            <a:r>
              <a:rPr lang="nb-NO" sz="1200" b="1" i="0" kern="1200" dirty="0">
                <a:solidFill>
                  <a:schemeClr val="tx1"/>
                </a:solidFill>
                <a:effectLst/>
                <a:latin typeface="+mn-lt"/>
                <a:ea typeface="+mn-ea"/>
                <a:cs typeface="+mn-cs"/>
              </a:rPr>
              <a:t>utvikling (</a:t>
            </a:r>
            <a:r>
              <a:rPr lang="nb-NO" sz="1200" b="1" i="0" kern="1200" dirty="0" err="1">
                <a:solidFill>
                  <a:schemeClr val="tx1"/>
                </a:solidFill>
                <a:effectLst/>
                <a:latin typeface="+mn-lt"/>
                <a:ea typeface="+mn-ea"/>
                <a:cs typeface="+mn-cs"/>
              </a:rPr>
              <a:t>Dev</a:t>
            </a:r>
            <a:r>
              <a:rPr lang="nb-NO" sz="1200" b="1" i="0" kern="1200" dirty="0">
                <a:solidFill>
                  <a:schemeClr val="tx1"/>
                </a:solidFill>
                <a:effectLst/>
                <a:latin typeface="+mn-lt"/>
                <a:ea typeface="+mn-ea"/>
                <a:cs typeface="+mn-cs"/>
              </a:rPr>
              <a:t>)</a:t>
            </a:r>
            <a:r>
              <a:rPr lang="nb-NO" sz="1200" b="0" i="0" kern="1200" dirty="0">
                <a:solidFill>
                  <a:schemeClr val="tx1"/>
                </a:solidFill>
                <a:effectLst/>
                <a:latin typeface="+mn-lt"/>
                <a:ea typeface="+mn-ea"/>
                <a:cs typeface="+mn-cs"/>
              </a:rPr>
              <a:t> og </a:t>
            </a:r>
            <a:r>
              <a:rPr lang="nb-NO" sz="1200" b="1" i="0" kern="1200" dirty="0">
                <a:solidFill>
                  <a:schemeClr val="tx1"/>
                </a:solidFill>
                <a:effectLst/>
                <a:latin typeface="+mn-lt"/>
                <a:ea typeface="+mn-ea"/>
                <a:cs typeface="+mn-cs"/>
              </a:rPr>
              <a:t>drift (</a:t>
            </a:r>
            <a:r>
              <a:rPr lang="nb-NO" sz="1200" b="1" i="0" kern="1200" dirty="0" err="1">
                <a:solidFill>
                  <a:schemeClr val="tx1"/>
                </a:solidFill>
                <a:effectLst/>
                <a:latin typeface="+mn-lt"/>
                <a:ea typeface="+mn-ea"/>
                <a:cs typeface="+mn-cs"/>
              </a:rPr>
              <a:t>Ops</a:t>
            </a:r>
            <a:r>
              <a:rPr lang="nb-NO" sz="1200" b="1" i="0" kern="1200" dirty="0">
                <a:solidFill>
                  <a:schemeClr val="tx1"/>
                </a:solidFill>
                <a:effectLst/>
                <a:latin typeface="+mn-lt"/>
                <a:ea typeface="+mn-ea"/>
                <a:cs typeface="+mn-cs"/>
              </a:rPr>
              <a:t>)</a:t>
            </a:r>
            <a:r>
              <a:rPr lang="nb-NO" sz="1200" b="0" i="0" kern="1200" dirty="0">
                <a:solidFill>
                  <a:schemeClr val="tx1"/>
                </a:solidFill>
                <a:effectLst/>
                <a:latin typeface="+mn-lt"/>
                <a:ea typeface="+mn-ea"/>
                <a:cs typeface="+mn-cs"/>
              </a:rPr>
              <a:t> for å muliggjøre kontinuerlig integrasjon og leveranse.</a:t>
            </a:r>
          </a:p>
          <a:p>
            <a:endParaRPr lang="nb-NO" sz="1200" b="0" i="0" kern="1200" dirty="0">
              <a:solidFill>
                <a:schemeClr val="tx1"/>
              </a:solidFill>
              <a:effectLst/>
              <a:latin typeface="+mn-lt"/>
              <a:ea typeface="+mn-ea"/>
              <a:cs typeface="+mn-cs"/>
            </a:endParaRPr>
          </a:p>
          <a:p>
            <a:r>
              <a:rPr lang="nb-NO" sz="1200" b="1" i="0" kern="1200" dirty="0">
                <a:solidFill>
                  <a:schemeClr val="tx1"/>
                </a:solidFill>
                <a:effectLst/>
                <a:latin typeface="+mn-lt"/>
                <a:ea typeface="+mn-ea"/>
                <a:cs typeface="+mn-cs"/>
              </a:rPr>
              <a:t>Agile </a:t>
            </a:r>
            <a:r>
              <a:rPr lang="nb-NO" sz="1200" b="1" i="0" kern="1200" dirty="0" err="1">
                <a:solidFill>
                  <a:schemeClr val="tx1"/>
                </a:solidFill>
                <a:effectLst/>
                <a:latin typeface="+mn-lt"/>
                <a:ea typeface="+mn-ea"/>
                <a:cs typeface="+mn-cs"/>
              </a:rPr>
              <a:t>vs</a:t>
            </a:r>
            <a:r>
              <a:rPr lang="nb-NO" sz="1200" b="1" i="0" kern="1200" dirty="0">
                <a:solidFill>
                  <a:schemeClr val="tx1"/>
                </a:solidFill>
                <a:effectLst/>
                <a:latin typeface="+mn-lt"/>
                <a:ea typeface="+mn-ea"/>
                <a:cs typeface="+mn-cs"/>
              </a:rPr>
              <a:t> </a:t>
            </a:r>
            <a:r>
              <a:rPr lang="nb-NO" sz="1200" b="1" i="0" kern="1200" dirty="0" err="1">
                <a:solidFill>
                  <a:schemeClr val="tx1"/>
                </a:solidFill>
                <a:effectLst/>
                <a:latin typeface="+mn-lt"/>
                <a:ea typeface="+mn-ea"/>
                <a:cs typeface="+mn-cs"/>
              </a:rPr>
              <a:t>DevOps</a:t>
            </a:r>
            <a:r>
              <a:rPr lang="nb-NO" sz="1200" b="1" i="0" kern="1200" dirty="0">
                <a:solidFill>
                  <a:schemeClr val="tx1"/>
                </a:solidFill>
                <a:effectLst/>
                <a:latin typeface="+mn-lt"/>
                <a:ea typeface="+mn-ea"/>
                <a:cs typeface="+mn-cs"/>
              </a:rPr>
              <a:t>:</a:t>
            </a:r>
            <a:r>
              <a:rPr lang="nb-NO" sz="1200" b="0" i="0" kern="1200" dirty="0">
                <a:solidFill>
                  <a:schemeClr val="tx1"/>
                </a:solidFill>
                <a:effectLst/>
                <a:latin typeface="+mn-lt"/>
                <a:ea typeface="+mn-ea"/>
                <a:cs typeface="+mn-cs"/>
              </a:rPr>
              <a:t> Agile er en metode (fokus på utvikling), </a:t>
            </a:r>
            <a:r>
              <a:rPr lang="nb-NO" sz="1200" b="0" i="0" kern="1200" dirty="0" err="1">
                <a:solidFill>
                  <a:schemeClr val="tx1"/>
                </a:solidFill>
                <a:effectLst/>
                <a:latin typeface="+mn-lt"/>
                <a:ea typeface="+mn-ea"/>
                <a:cs typeface="+mn-cs"/>
              </a:rPr>
              <a:t>DevOps</a:t>
            </a:r>
            <a:r>
              <a:rPr lang="nb-NO" sz="1200" b="0" i="0" kern="1200" dirty="0">
                <a:solidFill>
                  <a:schemeClr val="tx1"/>
                </a:solidFill>
                <a:effectLst/>
                <a:latin typeface="+mn-lt"/>
                <a:ea typeface="+mn-ea"/>
                <a:cs typeface="+mn-cs"/>
              </a:rPr>
              <a:t> er en kultur (fokus på leveranse til produksjon). Kombinert: «Agile </a:t>
            </a:r>
            <a:r>
              <a:rPr lang="nb-NO" sz="1200" b="0" i="0" kern="1200" dirty="0" err="1">
                <a:solidFill>
                  <a:schemeClr val="tx1"/>
                </a:solidFill>
                <a:effectLst/>
                <a:latin typeface="+mn-lt"/>
                <a:ea typeface="+mn-ea"/>
                <a:cs typeface="+mn-cs"/>
              </a:rPr>
              <a:t>DevOps</a:t>
            </a:r>
            <a:r>
              <a:rPr lang="nb-NO" sz="1200" b="0" i="0" kern="1200" dirty="0">
                <a:solidFill>
                  <a:schemeClr val="tx1"/>
                </a:solidFill>
                <a:effectLst/>
                <a:latin typeface="+mn-lt"/>
                <a:ea typeface="+mn-ea"/>
                <a:cs typeface="+mn-cs"/>
              </a:rPr>
              <a:t>»-kultur.</a:t>
            </a:r>
          </a:p>
          <a:p>
            <a:endParaRPr lang="nb-NO" sz="1200" b="1" i="0" kern="1200" dirty="0">
              <a:solidFill>
                <a:schemeClr val="tx1"/>
              </a:solidFill>
              <a:effectLst/>
              <a:latin typeface="+mn-lt"/>
              <a:ea typeface="+mn-ea"/>
              <a:cs typeface="+mn-cs"/>
            </a:endParaRPr>
          </a:p>
          <a:p>
            <a:r>
              <a:rPr lang="nb-NO" sz="1200" b="1" i="0" kern="1200" dirty="0">
                <a:solidFill>
                  <a:schemeClr val="tx1"/>
                </a:solidFill>
                <a:effectLst/>
                <a:latin typeface="+mn-lt"/>
                <a:ea typeface="+mn-ea"/>
                <a:cs typeface="+mn-cs"/>
              </a:rPr>
              <a:t>CI (</a:t>
            </a:r>
            <a:r>
              <a:rPr lang="nb-NO" sz="1200" b="1" i="0" kern="1200" dirty="0" err="1">
                <a:solidFill>
                  <a:schemeClr val="tx1"/>
                </a:solidFill>
                <a:effectLst/>
                <a:latin typeface="+mn-lt"/>
                <a:ea typeface="+mn-ea"/>
                <a:cs typeface="+mn-cs"/>
              </a:rPr>
              <a:t>Continuous</a:t>
            </a:r>
            <a:r>
              <a:rPr lang="nb-NO" sz="1200" b="1" i="0" kern="1200" dirty="0">
                <a:solidFill>
                  <a:schemeClr val="tx1"/>
                </a:solidFill>
                <a:effectLst/>
                <a:latin typeface="+mn-lt"/>
                <a:ea typeface="+mn-ea"/>
                <a:cs typeface="+mn-cs"/>
              </a:rPr>
              <a:t> Integration):</a:t>
            </a:r>
            <a:r>
              <a:rPr lang="nb-NO" sz="1200" b="0" i="0" kern="1200" dirty="0">
                <a:solidFill>
                  <a:schemeClr val="tx1"/>
                </a:solidFill>
                <a:effectLst/>
                <a:latin typeface="+mn-lt"/>
                <a:ea typeface="+mn-ea"/>
                <a:cs typeface="+mn-cs"/>
              </a:rPr>
              <a:t> Kode integreres hyppig i en felles gren. Endringer bygges og testes automatisk.</a:t>
            </a:r>
          </a:p>
          <a:p>
            <a:endParaRPr lang="nb-NO" sz="1200" b="1" i="0" kern="1200" dirty="0">
              <a:solidFill>
                <a:schemeClr val="tx1"/>
              </a:solidFill>
              <a:effectLst/>
              <a:latin typeface="+mn-lt"/>
              <a:ea typeface="+mn-ea"/>
              <a:cs typeface="+mn-cs"/>
            </a:endParaRPr>
          </a:p>
          <a:p>
            <a:r>
              <a:rPr lang="nb-NO" sz="1200" b="1" i="0" kern="1200" dirty="0">
                <a:solidFill>
                  <a:schemeClr val="tx1"/>
                </a:solidFill>
                <a:effectLst/>
                <a:latin typeface="+mn-lt"/>
                <a:ea typeface="+mn-ea"/>
                <a:cs typeface="+mn-cs"/>
              </a:rPr>
              <a:t>CD (</a:t>
            </a:r>
            <a:r>
              <a:rPr lang="nb-NO" sz="1200" b="1" i="0" kern="1200" dirty="0" err="1">
                <a:solidFill>
                  <a:schemeClr val="tx1"/>
                </a:solidFill>
                <a:effectLst/>
                <a:latin typeface="+mn-lt"/>
                <a:ea typeface="+mn-ea"/>
                <a:cs typeface="+mn-cs"/>
              </a:rPr>
              <a:t>Continuous</a:t>
            </a:r>
            <a:r>
              <a:rPr lang="nb-NO" sz="1200" b="1" i="0" kern="1200" dirty="0">
                <a:solidFill>
                  <a:schemeClr val="tx1"/>
                </a:solidFill>
                <a:effectLst/>
                <a:latin typeface="+mn-lt"/>
                <a:ea typeface="+mn-ea"/>
                <a:cs typeface="+mn-cs"/>
              </a:rPr>
              <a:t> Delivery/Deployment):</a:t>
            </a:r>
            <a:r>
              <a:rPr lang="nb-NO" sz="1200" b="0" i="0" kern="1200" dirty="0">
                <a:solidFill>
                  <a:schemeClr val="tx1"/>
                </a:solidFill>
                <a:effectLst/>
                <a:latin typeface="+mn-lt"/>
                <a:ea typeface="+mn-ea"/>
                <a:cs typeface="+mn-cs"/>
              </a:rPr>
              <a:t> Kodeendringer </a:t>
            </a:r>
            <a:r>
              <a:rPr lang="nb-NO" sz="1200" b="0" i="0" kern="1200" dirty="0" err="1">
                <a:solidFill>
                  <a:schemeClr val="tx1"/>
                </a:solidFill>
                <a:effectLst/>
                <a:latin typeface="+mn-lt"/>
                <a:ea typeface="+mn-ea"/>
                <a:cs typeface="+mn-cs"/>
              </a:rPr>
              <a:t>deployes</a:t>
            </a:r>
            <a:r>
              <a:rPr lang="nb-NO" sz="1200" b="0" i="0" kern="1200" dirty="0">
                <a:solidFill>
                  <a:schemeClr val="tx1"/>
                </a:solidFill>
                <a:effectLst/>
                <a:latin typeface="+mn-lt"/>
                <a:ea typeface="+mn-ea"/>
                <a:cs typeface="+mn-cs"/>
              </a:rPr>
              <a:t> automatisk til produksjon.</a:t>
            </a:r>
          </a:p>
          <a:p>
            <a:endParaRPr lang="nb-NO" sz="1200" b="0" i="0" kern="1200" dirty="0">
              <a:solidFill>
                <a:schemeClr val="tx1"/>
              </a:solidFill>
              <a:effectLst/>
              <a:latin typeface="+mn-lt"/>
              <a:ea typeface="+mn-ea"/>
              <a:cs typeface="+mn-cs"/>
            </a:endParaRPr>
          </a:p>
          <a:p>
            <a:r>
              <a:rPr lang="nb-NO" sz="1200" b="0" i="0" kern="1200" dirty="0" err="1">
                <a:solidFill>
                  <a:schemeClr val="tx1"/>
                </a:solidFill>
                <a:effectLst/>
                <a:latin typeface="+mn-lt"/>
                <a:ea typeface="+mn-ea"/>
                <a:cs typeface="+mn-cs"/>
              </a:rPr>
              <a:t>DevOps</a:t>
            </a:r>
            <a:r>
              <a:rPr lang="nb-NO" sz="1200" b="0" i="0" kern="1200" dirty="0">
                <a:solidFill>
                  <a:schemeClr val="tx1"/>
                </a:solidFill>
                <a:effectLst/>
                <a:latin typeface="+mn-lt"/>
                <a:ea typeface="+mn-ea"/>
                <a:cs typeface="+mn-cs"/>
              </a:rPr>
              <a:t>-verktøy:</a:t>
            </a:r>
          </a:p>
          <a:p>
            <a:pPr lvl="1"/>
            <a:r>
              <a:rPr lang="nb-NO" sz="1200" b="0" i="0" kern="1200" dirty="0">
                <a:solidFill>
                  <a:schemeClr val="tx1"/>
                </a:solidFill>
                <a:effectLst/>
                <a:latin typeface="+mn-lt"/>
                <a:ea typeface="+mn-ea"/>
                <a:cs typeface="+mn-cs"/>
              </a:rPr>
              <a:t>Utvikling: </a:t>
            </a:r>
            <a:r>
              <a:rPr lang="nb-NO" sz="1200" b="0" i="0" kern="1200" dirty="0" err="1">
                <a:solidFill>
                  <a:schemeClr val="tx1"/>
                </a:solidFill>
                <a:effectLst/>
                <a:latin typeface="+mn-lt"/>
                <a:ea typeface="+mn-ea"/>
                <a:cs typeface="+mn-cs"/>
              </a:rPr>
              <a:t>GitLab</a:t>
            </a:r>
            <a:r>
              <a:rPr lang="nb-NO" sz="1200" b="0" i="0" kern="1200" dirty="0">
                <a:solidFill>
                  <a:schemeClr val="tx1"/>
                </a:solidFill>
                <a:effectLst/>
                <a:latin typeface="+mn-lt"/>
                <a:ea typeface="+mn-ea"/>
                <a:cs typeface="+mn-cs"/>
              </a:rPr>
              <a:t>/GitHub, </a:t>
            </a:r>
            <a:r>
              <a:rPr lang="nb-NO" sz="1200" b="0" i="0" kern="1200" dirty="0" err="1">
                <a:solidFill>
                  <a:schemeClr val="tx1"/>
                </a:solidFill>
                <a:effectLst/>
                <a:latin typeface="+mn-lt"/>
                <a:ea typeface="+mn-ea"/>
                <a:cs typeface="+mn-cs"/>
              </a:rPr>
              <a:t>Jira</a:t>
            </a:r>
            <a:r>
              <a:rPr lang="nb-NO" sz="1200" b="0" i="0" kern="1200" dirty="0">
                <a:solidFill>
                  <a:schemeClr val="tx1"/>
                </a:solidFill>
                <a:effectLst/>
                <a:latin typeface="+mn-lt"/>
                <a:ea typeface="+mn-ea"/>
                <a:cs typeface="+mn-cs"/>
              </a:rPr>
              <a:t>/</a:t>
            </a:r>
            <a:r>
              <a:rPr lang="nb-NO" sz="1200" b="0" i="0" kern="1200" dirty="0" err="1">
                <a:solidFill>
                  <a:schemeClr val="tx1"/>
                </a:solidFill>
                <a:effectLst/>
                <a:latin typeface="+mn-lt"/>
                <a:ea typeface="+mn-ea"/>
                <a:cs typeface="+mn-cs"/>
              </a:rPr>
              <a:t>Confluence</a:t>
            </a:r>
            <a:endParaRPr lang="nb-NO" sz="1200" b="0" i="0" kern="1200" dirty="0">
              <a:solidFill>
                <a:schemeClr val="tx1"/>
              </a:solidFill>
              <a:effectLst/>
              <a:latin typeface="+mn-lt"/>
              <a:ea typeface="+mn-ea"/>
              <a:cs typeface="+mn-cs"/>
            </a:endParaRPr>
          </a:p>
          <a:p>
            <a:pPr lvl="1"/>
            <a:r>
              <a:rPr lang="nb-NO" sz="1200" b="0" i="0" kern="1200" dirty="0">
                <a:solidFill>
                  <a:schemeClr val="tx1"/>
                </a:solidFill>
                <a:effectLst/>
                <a:latin typeface="+mn-lt"/>
                <a:ea typeface="+mn-ea"/>
                <a:cs typeface="+mn-cs"/>
              </a:rPr>
              <a:t>CI (bygg/test): Maven, </a:t>
            </a:r>
            <a:r>
              <a:rPr lang="nb-NO" sz="1200" b="0" i="0" kern="1200" dirty="0" err="1">
                <a:solidFill>
                  <a:schemeClr val="tx1"/>
                </a:solidFill>
                <a:effectLst/>
                <a:latin typeface="+mn-lt"/>
                <a:ea typeface="+mn-ea"/>
                <a:cs typeface="+mn-cs"/>
              </a:rPr>
              <a:t>Gradle</a:t>
            </a:r>
            <a:r>
              <a:rPr lang="nb-NO" sz="1200" b="0" i="0" kern="1200" dirty="0">
                <a:solidFill>
                  <a:schemeClr val="tx1"/>
                </a:solidFill>
                <a:effectLst/>
                <a:latin typeface="+mn-lt"/>
                <a:ea typeface="+mn-ea"/>
                <a:cs typeface="+mn-cs"/>
              </a:rPr>
              <a:t>, </a:t>
            </a:r>
            <a:r>
              <a:rPr lang="nb-NO" sz="1200" b="0" i="0" kern="1200" dirty="0" err="1">
                <a:solidFill>
                  <a:schemeClr val="tx1"/>
                </a:solidFill>
                <a:effectLst/>
                <a:latin typeface="+mn-lt"/>
                <a:ea typeface="+mn-ea"/>
                <a:cs typeface="+mn-cs"/>
              </a:rPr>
              <a:t>Jenkins</a:t>
            </a:r>
            <a:r>
              <a:rPr lang="nb-NO" sz="1200" b="0" i="0" kern="1200" dirty="0">
                <a:solidFill>
                  <a:schemeClr val="tx1"/>
                </a:solidFill>
                <a:effectLst/>
                <a:latin typeface="+mn-lt"/>
                <a:ea typeface="+mn-ea"/>
                <a:cs typeface="+mn-cs"/>
              </a:rPr>
              <a:t>, </a:t>
            </a:r>
            <a:r>
              <a:rPr lang="nb-NO" sz="1200" b="0" i="0" kern="1200" dirty="0" err="1">
                <a:solidFill>
                  <a:schemeClr val="tx1"/>
                </a:solidFill>
                <a:effectLst/>
                <a:latin typeface="+mn-lt"/>
                <a:ea typeface="+mn-ea"/>
                <a:cs typeface="+mn-cs"/>
              </a:rPr>
              <a:t>JUnit</a:t>
            </a:r>
            <a:r>
              <a:rPr lang="nb-NO" sz="1200" b="0" i="0" kern="1200" dirty="0">
                <a:solidFill>
                  <a:schemeClr val="tx1"/>
                </a:solidFill>
                <a:effectLst/>
                <a:latin typeface="+mn-lt"/>
                <a:ea typeface="+mn-ea"/>
                <a:cs typeface="+mn-cs"/>
              </a:rPr>
              <a:t>, </a:t>
            </a:r>
            <a:r>
              <a:rPr lang="nb-NO" sz="1200" b="0" i="0" kern="1200" dirty="0" err="1">
                <a:solidFill>
                  <a:schemeClr val="tx1"/>
                </a:solidFill>
                <a:effectLst/>
                <a:latin typeface="+mn-lt"/>
                <a:ea typeface="+mn-ea"/>
                <a:cs typeface="+mn-cs"/>
              </a:rPr>
              <a:t>Selenium</a:t>
            </a:r>
            <a:endParaRPr lang="nb-NO" sz="1200" b="0" i="0" kern="1200" dirty="0">
              <a:solidFill>
                <a:schemeClr val="tx1"/>
              </a:solidFill>
              <a:effectLst/>
              <a:latin typeface="+mn-lt"/>
              <a:ea typeface="+mn-ea"/>
              <a:cs typeface="+mn-cs"/>
            </a:endParaRPr>
          </a:p>
          <a:p>
            <a:pPr lvl="1"/>
            <a:r>
              <a:rPr lang="nb-NO" sz="1200" b="0" i="0" kern="1200" dirty="0">
                <a:solidFill>
                  <a:schemeClr val="tx1"/>
                </a:solidFill>
                <a:effectLst/>
                <a:latin typeface="+mn-lt"/>
                <a:ea typeface="+mn-ea"/>
                <a:cs typeface="+mn-cs"/>
              </a:rPr>
              <a:t>CD (</a:t>
            </a:r>
            <a:r>
              <a:rPr lang="nb-NO" sz="1200" b="0" i="0" kern="1200" dirty="0" err="1">
                <a:solidFill>
                  <a:schemeClr val="tx1"/>
                </a:solidFill>
                <a:effectLst/>
                <a:latin typeface="+mn-lt"/>
                <a:ea typeface="+mn-ea"/>
                <a:cs typeface="+mn-cs"/>
              </a:rPr>
              <a:t>deploy</a:t>
            </a:r>
            <a:r>
              <a:rPr lang="nb-NO" sz="1200" b="0" i="0" kern="1200" dirty="0">
                <a:solidFill>
                  <a:schemeClr val="tx1"/>
                </a:solidFill>
                <a:effectLst/>
                <a:latin typeface="+mn-lt"/>
                <a:ea typeface="+mn-ea"/>
                <a:cs typeface="+mn-cs"/>
              </a:rPr>
              <a:t>): </a:t>
            </a:r>
            <a:r>
              <a:rPr lang="nb-NO" sz="1200" b="0" i="0" kern="1200" dirty="0" err="1">
                <a:solidFill>
                  <a:schemeClr val="tx1"/>
                </a:solidFill>
                <a:effectLst/>
                <a:latin typeface="+mn-lt"/>
                <a:ea typeface="+mn-ea"/>
                <a:cs typeface="+mn-cs"/>
              </a:rPr>
              <a:t>Kubernetes</a:t>
            </a:r>
            <a:r>
              <a:rPr lang="nb-NO" sz="1200" b="0" i="0" kern="1200" dirty="0">
                <a:solidFill>
                  <a:schemeClr val="tx1"/>
                </a:solidFill>
                <a:effectLst/>
                <a:latin typeface="+mn-lt"/>
                <a:ea typeface="+mn-ea"/>
                <a:cs typeface="+mn-cs"/>
              </a:rPr>
              <a:t>, </a:t>
            </a:r>
            <a:r>
              <a:rPr lang="nb-NO" sz="1200" b="0" i="0" kern="1200" dirty="0" err="1">
                <a:solidFill>
                  <a:schemeClr val="tx1"/>
                </a:solidFill>
                <a:effectLst/>
                <a:latin typeface="+mn-lt"/>
                <a:ea typeface="+mn-ea"/>
                <a:cs typeface="+mn-cs"/>
              </a:rPr>
              <a:t>Helm</a:t>
            </a:r>
            <a:r>
              <a:rPr lang="nb-NO" sz="1200" b="0" i="0" kern="1200" dirty="0">
                <a:solidFill>
                  <a:schemeClr val="tx1"/>
                </a:solidFill>
                <a:effectLst/>
                <a:latin typeface="+mn-lt"/>
                <a:ea typeface="+mn-ea"/>
                <a:cs typeface="+mn-cs"/>
              </a:rPr>
              <a:t>, </a:t>
            </a:r>
            <a:r>
              <a:rPr lang="nb-NO" sz="1200" b="0" i="0" kern="1200" dirty="0" err="1">
                <a:solidFill>
                  <a:schemeClr val="tx1"/>
                </a:solidFill>
                <a:effectLst/>
                <a:latin typeface="+mn-lt"/>
                <a:ea typeface="+mn-ea"/>
                <a:cs typeface="+mn-cs"/>
              </a:rPr>
              <a:t>Docker</a:t>
            </a:r>
            <a:endParaRPr lang="nb-NO" sz="1200" b="0" i="0" kern="1200" dirty="0">
              <a:solidFill>
                <a:schemeClr val="tx1"/>
              </a:solidFill>
              <a:effectLst/>
              <a:latin typeface="+mn-lt"/>
              <a:ea typeface="+mn-ea"/>
              <a:cs typeface="+mn-cs"/>
            </a:endParaRPr>
          </a:p>
          <a:p>
            <a:pPr lvl="1"/>
            <a:r>
              <a:rPr lang="nb-NO" sz="1200" b="0" i="0" kern="1200" dirty="0">
                <a:solidFill>
                  <a:schemeClr val="tx1"/>
                </a:solidFill>
                <a:effectLst/>
                <a:latin typeface="+mn-lt"/>
                <a:ea typeface="+mn-ea"/>
                <a:cs typeface="+mn-cs"/>
              </a:rPr>
              <a:t>Drift/</a:t>
            </a:r>
            <a:r>
              <a:rPr lang="nb-NO" sz="1200" b="0" i="0" kern="1200" dirty="0" err="1">
                <a:solidFill>
                  <a:schemeClr val="tx1"/>
                </a:solidFill>
                <a:effectLst/>
                <a:latin typeface="+mn-lt"/>
                <a:ea typeface="+mn-ea"/>
                <a:cs typeface="+mn-cs"/>
              </a:rPr>
              <a:t>monitorering</a:t>
            </a:r>
            <a:r>
              <a:rPr lang="nb-NO" sz="1200" b="0" i="0" kern="1200" dirty="0">
                <a:solidFill>
                  <a:schemeClr val="tx1"/>
                </a:solidFill>
                <a:effectLst/>
                <a:latin typeface="+mn-lt"/>
                <a:ea typeface="+mn-ea"/>
                <a:cs typeface="+mn-cs"/>
              </a:rPr>
              <a:t>: </a:t>
            </a:r>
            <a:r>
              <a:rPr lang="nb-NO" sz="1200" b="0" i="0" kern="1200" dirty="0" err="1">
                <a:solidFill>
                  <a:schemeClr val="tx1"/>
                </a:solidFill>
                <a:effectLst/>
                <a:latin typeface="+mn-lt"/>
                <a:ea typeface="+mn-ea"/>
                <a:cs typeface="+mn-cs"/>
              </a:rPr>
              <a:t>Kibana</a:t>
            </a:r>
            <a:r>
              <a:rPr lang="nb-NO" sz="1200" b="0" i="0" kern="1200" dirty="0">
                <a:solidFill>
                  <a:schemeClr val="tx1"/>
                </a:solidFill>
                <a:effectLst/>
                <a:latin typeface="+mn-lt"/>
                <a:ea typeface="+mn-ea"/>
                <a:cs typeface="+mn-cs"/>
              </a:rPr>
              <a:t>, </a:t>
            </a:r>
            <a:r>
              <a:rPr lang="nb-NO" sz="1200" b="0" i="0" kern="1200" dirty="0" err="1">
                <a:solidFill>
                  <a:schemeClr val="tx1"/>
                </a:solidFill>
                <a:effectLst/>
                <a:latin typeface="+mn-lt"/>
                <a:ea typeface="+mn-ea"/>
                <a:cs typeface="+mn-cs"/>
              </a:rPr>
              <a:t>Grafana</a:t>
            </a:r>
            <a:endParaRPr lang="nb-NO" sz="1200" b="0" i="0" kern="1200" dirty="0">
              <a:solidFill>
                <a:schemeClr val="tx1"/>
              </a:solidFill>
              <a:effectLst/>
              <a:latin typeface="+mn-lt"/>
              <a:ea typeface="+mn-ea"/>
              <a:cs typeface="+mn-cs"/>
            </a:endParaRPr>
          </a:p>
        </p:txBody>
      </p:sp>
      <p:sp>
        <p:nvSpPr>
          <p:cNvPr id="4" name="Plassholder for lysbildenummer 3">
            <a:extLst>
              <a:ext uri="{FF2B5EF4-FFF2-40B4-BE49-F238E27FC236}">
                <a16:creationId xmlns:a16="http://schemas.microsoft.com/office/drawing/2014/main" id="{59515595-A422-E250-1D23-B064A4C2E198}"/>
              </a:ext>
            </a:extLst>
          </p:cNvPr>
          <p:cNvSpPr>
            <a:spLocks noGrp="1"/>
          </p:cNvSpPr>
          <p:nvPr>
            <p:ph type="sldNum" sz="quarter" idx="5"/>
          </p:nvPr>
        </p:nvSpPr>
        <p:spPr/>
        <p:txBody>
          <a:bodyPr/>
          <a:lstStyle/>
          <a:p>
            <a:fld id="{ED8CD5F7-2931-42C6-9B3E-A6C700901896}" type="slidenum">
              <a:rPr lang="nb-NO" smtClean="0"/>
              <a:t>47</a:t>
            </a:fld>
            <a:endParaRPr lang="nb-NO"/>
          </a:p>
        </p:txBody>
      </p:sp>
    </p:spTree>
    <p:extLst>
      <p:ext uri="{BB962C8B-B14F-4D97-AF65-F5344CB8AC3E}">
        <p14:creationId xmlns:p14="http://schemas.microsoft.com/office/powerpoint/2010/main" val="20307988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B7B79-DE4D-4F1B-EC74-A4F9D18F93A0}"/>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2C6ED7C8-CDDA-DB50-BBA0-6DA0E7D74C7F}"/>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B96B3C8B-D6DB-25A6-0698-1F765F09F7CF}"/>
              </a:ext>
            </a:extLst>
          </p:cNvPr>
          <p:cNvSpPr>
            <a:spLocks noGrp="1"/>
          </p:cNvSpPr>
          <p:nvPr>
            <p:ph type="body" idx="1"/>
          </p:nvPr>
        </p:nvSpPr>
        <p:spPr/>
        <p:txBody>
          <a:bodyPr/>
          <a:lstStyle/>
          <a:p>
            <a:r>
              <a:rPr lang="nb-NO" sz="1200" b="1" i="0" kern="1200" dirty="0" err="1">
                <a:solidFill>
                  <a:schemeClr val="tx1"/>
                </a:solidFill>
                <a:effectLst/>
                <a:latin typeface="+mn-lt"/>
                <a:ea typeface="+mn-ea"/>
                <a:cs typeface="+mn-cs"/>
              </a:rPr>
              <a:t>REpresentational</a:t>
            </a:r>
            <a:r>
              <a:rPr lang="nb-NO" sz="1200" b="1" i="0" kern="1200" dirty="0">
                <a:solidFill>
                  <a:schemeClr val="tx1"/>
                </a:solidFill>
                <a:effectLst/>
                <a:latin typeface="+mn-lt"/>
                <a:ea typeface="+mn-ea"/>
                <a:cs typeface="+mn-cs"/>
              </a:rPr>
              <a:t> State Transfer</a:t>
            </a:r>
            <a:r>
              <a:rPr lang="nb-NO" sz="1200" b="0" i="0" kern="1200" dirty="0">
                <a:solidFill>
                  <a:schemeClr val="tx1"/>
                </a:solidFill>
                <a:effectLst/>
                <a:latin typeface="+mn-lt"/>
                <a:ea typeface="+mn-ea"/>
                <a:cs typeface="+mn-cs"/>
              </a:rPr>
              <a:t> – arkitekturstil (ikke protokoll) for design av API-er.</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Basert på klient-tjener-paradigmet der klient og server utveksler representasjoner av ressurser</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Data og funksjonalitet behandles som </a:t>
            </a:r>
            <a:r>
              <a:rPr lang="nb-NO" sz="1200" b="1" i="0" kern="1200" dirty="0">
                <a:solidFill>
                  <a:schemeClr val="tx1"/>
                </a:solidFill>
                <a:effectLst/>
                <a:latin typeface="+mn-lt"/>
                <a:ea typeface="+mn-ea"/>
                <a:cs typeface="+mn-cs"/>
              </a:rPr>
              <a:t>ressurser</a:t>
            </a:r>
            <a:r>
              <a:rPr lang="nb-NO" sz="1200" b="0" i="0" kern="1200" dirty="0">
                <a:solidFill>
                  <a:schemeClr val="tx1"/>
                </a:solidFill>
                <a:effectLst/>
                <a:latin typeface="+mn-lt"/>
                <a:ea typeface="+mn-ea"/>
                <a:cs typeface="+mn-cs"/>
              </a:rPr>
              <a:t> tilgjengelig via </a:t>
            </a:r>
            <a:r>
              <a:rPr lang="nb-NO" sz="1200" b="1" i="0" kern="1200" dirty="0">
                <a:solidFill>
                  <a:schemeClr val="tx1"/>
                </a:solidFill>
                <a:effectLst/>
                <a:latin typeface="+mn-lt"/>
                <a:ea typeface="+mn-ea"/>
                <a:cs typeface="+mn-cs"/>
              </a:rPr>
              <a:t>URI-er</a:t>
            </a:r>
            <a:endParaRPr lang="nb-NO"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Ressurser manipuleres med veldefinerte HTTP-operasjoner: GET, POST, PUT, DELETE</a:t>
            </a:r>
          </a:p>
          <a:p>
            <a:pPr marL="171450" indent="-171450">
              <a:buFont typeface="Arial" panose="020B0604020202020204" pitchFamily="34" charset="0"/>
              <a:buChar char="•"/>
            </a:pPr>
            <a:r>
              <a:rPr lang="nb-NO" sz="1200" b="0" i="0" kern="1200" dirty="0">
                <a:solidFill>
                  <a:schemeClr val="tx1"/>
                </a:solidFill>
                <a:effectLst/>
                <a:latin typeface="+mn-lt"/>
                <a:ea typeface="+mn-ea"/>
                <a:cs typeface="+mn-cs"/>
              </a:rPr>
              <a:t>Eksempel: GET /</a:t>
            </a:r>
            <a:r>
              <a:rPr lang="nb-NO" sz="1200" b="0" i="0" kern="1200" dirty="0" err="1">
                <a:solidFill>
                  <a:schemeClr val="tx1"/>
                </a:solidFill>
                <a:effectLst/>
                <a:latin typeface="+mn-lt"/>
                <a:ea typeface="+mn-ea"/>
                <a:cs typeface="+mn-cs"/>
              </a:rPr>
              <a:t>candidates</a:t>
            </a:r>
            <a:r>
              <a:rPr lang="nb-NO" sz="1200" b="0" i="0" kern="1200" dirty="0">
                <a:solidFill>
                  <a:schemeClr val="tx1"/>
                </a:solidFill>
                <a:effectLst/>
                <a:latin typeface="+mn-lt"/>
                <a:ea typeface="+mn-ea"/>
                <a:cs typeface="+mn-cs"/>
              </a:rPr>
              <a:t> (hent alle), POST /</a:t>
            </a:r>
            <a:r>
              <a:rPr lang="nb-NO" sz="1200" b="0" i="0" kern="1200" dirty="0" err="1">
                <a:solidFill>
                  <a:schemeClr val="tx1"/>
                </a:solidFill>
                <a:effectLst/>
                <a:latin typeface="+mn-lt"/>
                <a:ea typeface="+mn-ea"/>
                <a:cs typeface="+mn-cs"/>
              </a:rPr>
              <a:t>candidates</a:t>
            </a:r>
            <a:r>
              <a:rPr lang="nb-NO" sz="1200" b="0" i="0" kern="1200" dirty="0">
                <a:solidFill>
                  <a:schemeClr val="tx1"/>
                </a:solidFill>
                <a:effectLst/>
                <a:latin typeface="+mn-lt"/>
                <a:ea typeface="+mn-ea"/>
                <a:cs typeface="+mn-cs"/>
              </a:rPr>
              <a:t> (legg til ny), DELETE /</a:t>
            </a:r>
            <a:r>
              <a:rPr lang="nb-NO" sz="1200" b="0" i="0" kern="1200" dirty="0" err="1">
                <a:solidFill>
                  <a:schemeClr val="tx1"/>
                </a:solidFill>
                <a:effectLst/>
                <a:latin typeface="+mn-lt"/>
                <a:ea typeface="+mn-ea"/>
                <a:cs typeface="+mn-cs"/>
              </a:rPr>
              <a:t>candidates</a:t>
            </a:r>
            <a:r>
              <a:rPr lang="nb-NO" sz="1200" b="0" i="0" kern="1200" dirty="0">
                <a:solidFill>
                  <a:schemeClr val="tx1"/>
                </a:solidFill>
                <a:effectLst/>
                <a:latin typeface="+mn-lt"/>
                <a:ea typeface="+mn-ea"/>
                <a:cs typeface="+mn-cs"/>
              </a:rPr>
              <a:t>/{id} (slett)</a:t>
            </a:r>
          </a:p>
          <a:p>
            <a:br>
              <a:rPr lang="nb-NO" dirty="0"/>
            </a:br>
            <a:endParaRPr lang="nb-NO" sz="1200" b="0" i="0" kern="1200" dirty="0">
              <a:solidFill>
                <a:schemeClr val="tx1"/>
              </a:solidFill>
              <a:effectLst/>
              <a:latin typeface="+mn-lt"/>
              <a:ea typeface="+mn-ea"/>
              <a:cs typeface="+mn-cs"/>
            </a:endParaRPr>
          </a:p>
        </p:txBody>
      </p:sp>
      <p:sp>
        <p:nvSpPr>
          <p:cNvPr id="4" name="Plassholder for lysbildenummer 3">
            <a:extLst>
              <a:ext uri="{FF2B5EF4-FFF2-40B4-BE49-F238E27FC236}">
                <a16:creationId xmlns:a16="http://schemas.microsoft.com/office/drawing/2014/main" id="{CB045914-8E23-0176-7C30-667CB00E0366}"/>
              </a:ext>
            </a:extLst>
          </p:cNvPr>
          <p:cNvSpPr>
            <a:spLocks noGrp="1"/>
          </p:cNvSpPr>
          <p:nvPr>
            <p:ph type="sldNum" sz="quarter" idx="5"/>
          </p:nvPr>
        </p:nvSpPr>
        <p:spPr/>
        <p:txBody>
          <a:bodyPr/>
          <a:lstStyle/>
          <a:p>
            <a:fld id="{ED8CD5F7-2931-42C6-9B3E-A6C700901896}" type="slidenum">
              <a:rPr lang="nb-NO" smtClean="0"/>
              <a:t>48</a:t>
            </a:fld>
            <a:endParaRPr lang="nb-NO"/>
          </a:p>
        </p:txBody>
      </p:sp>
    </p:spTree>
    <p:extLst>
      <p:ext uri="{BB962C8B-B14F-4D97-AF65-F5344CB8AC3E}">
        <p14:creationId xmlns:p14="http://schemas.microsoft.com/office/powerpoint/2010/main" val="39435470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2D28BF5-AD60-B5C4-E20A-92B9E652CDE0}"/>
              </a:ext>
            </a:extLst>
          </p:cNvPr>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a:extLst>
              <a:ext uri="{FF2B5EF4-FFF2-40B4-BE49-F238E27FC236}">
                <a16:creationId xmlns:a16="http://schemas.microsoft.com/office/drawing/2014/main" id="{026D4A89-823C-B781-3CBE-1B7E394784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a:extLst>
              <a:ext uri="{FF2B5EF4-FFF2-40B4-BE49-F238E27FC236}">
                <a16:creationId xmlns:a16="http://schemas.microsoft.com/office/drawing/2014/main" id="{6A229132-F93B-5F0A-8C49-311386950C44}"/>
              </a:ext>
            </a:extLst>
          </p:cNvPr>
          <p:cNvSpPr>
            <a:spLocks noGrp="1"/>
          </p:cNvSpPr>
          <p:nvPr>
            <p:ph type="dt" sz="half" idx="10"/>
          </p:nvPr>
        </p:nvSpPr>
        <p:spPr/>
        <p:txBody>
          <a:bodyPr/>
          <a:lstStyle/>
          <a:p>
            <a:fld id="{DAC9CA60-72B7-4BA8-A5ED-4222AC43224E}" type="datetimeFigureOut">
              <a:rPr lang="nb-NO" smtClean="0"/>
              <a:t>01.06.2026</a:t>
            </a:fld>
            <a:endParaRPr lang="nb-NO"/>
          </a:p>
        </p:txBody>
      </p:sp>
      <p:sp>
        <p:nvSpPr>
          <p:cNvPr id="5" name="Plassholder for bunntekst 4">
            <a:extLst>
              <a:ext uri="{FF2B5EF4-FFF2-40B4-BE49-F238E27FC236}">
                <a16:creationId xmlns:a16="http://schemas.microsoft.com/office/drawing/2014/main" id="{B47AC8FC-A3A8-3550-0875-4DFF83579BAB}"/>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D31B295E-F001-FD5E-938F-DBB0DA116C94}"/>
              </a:ext>
            </a:extLst>
          </p:cNvPr>
          <p:cNvSpPr>
            <a:spLocks noGrp="1"/>
          </p:cNvSpPr>
          <p:nvPr>
            <p:ph type="sldNum" sz="quarter" idx="12"/>
          </p:nvPr>
        </p:nvSpPr>
        <p:spPr/>
        <p:txBody>
          <a:bodyPr/>
          <a:lstStyle/>
          <a:p>
            <a:fld id="{74621F20-79D8-4435-90CC-3E45EE9E3354}" type="slidenum">
              <a:rPr lang="nb-NO" smtClean="0"/>
              <a:t>‹#›</a:t>
            </a:fld>
            <a:endParaRPr lang="nb-NO"/>
          </a:p>
        </p:txBody>
      </p:sp>
    </p:spTree>
    <p:extLst>
      <p:ext uri="{BB962C8B-B14F-4D97-AF65-F5344CB8AC3E}">
        <p14:creationId xmlns:p14="http://schemas.microsoft.com/office/powerpoint/2010/main" val="1455246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69AC150-6CEA-808A-E409-B35E4B6E6511}"/>
              </a:ext>
            </a:extLst>
          </p:cNvPr>
          <p:cNvSpPr>
            <a:spLocks noGrp="1"/>
          </p:cNvSpPr>
          <p:nvPr>
            <p:ph type="title"/>
          </p:nvPr>
        </p:nvSpPr>
        <p:spPr/>
        <p:txBody>
          <a:bodyPr/>
          <a:lstStyle/>
          <a:p>
            <a:r>
              <a:rPr lang="nb-NO"/>
              <a:t>Klikk for å redigere tittelstil</a:t>
            </a:r>
          </a:p>
        </p:txBody>
      </p:sp>
      <p:sp>
        <p:nvSpPr>
          <p:cNvPr id="3" name="Plassholder for innhold 2">
            <a:extLst>
              <a:ext uri="{FF2B5EF4-FFF2-40B4-BE49-F238E27FC236}">
                <a16:creationId xmlns:a16="http://schemas.microsoft.com/office/drawing/2014/main" id="{53236B76-F951-89F5-2780-EB495F229A64}"/>
              </a:ext>
            </a:extLst>
          </p:cNvPr>
          <p:cNvSpPr>
            <a:spLocks noGrp="1"/>
          </p:cNvSpPr>
          <p:nvPr>
            <p:ph idx="1"/>
          </p:nvPr>
        </p:nvSpPr>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75D22BC7-B3DF-47DA-6D04-76A95F317E6F}"/>
              </a:ext>
            </a:extLst>
          </p:cNvPr>
          <p:cNvSpPr>
            <a:spLocks noGrp="1"/>
          </p:cNvSpPr>
          <p:nvPr>
            <p:ph type="dt" sz="half" idx="10"/>
          </p:nvPr>
        </p:nvSpPr>
        <p:spPr/>
        <p:txBody>
          <a:bodyPr/>
          <a:lstStyle/>
          <a:p>
            <a:fld id="{DAC9CA60-72B7-4BA8-A5ED-4222AC43224E}" type="datetimeFigureOut">
              <a:rPr lang="nb-NO" smtClean="0"/>
              <a:t>01.06.2026</a:t>
            </a:fld>
            <a:endParaRPr lang="nb-NO"/>
          </a:p>
        </p:txBody>
      </p:sp>
      <p:sp>
        <p:nvSpPr>
          <p:cNvPr id="5" name="Plassholder for bunntekst 4">
            <a:extLst>
              <a:ext uri="{FF2B5EF4-FFF2-40B4-BE49-F238E27FC236}">
                <a16:creationId xmlns:a16="http://schemas.microsoft.com/office/drawing/2014/main" id="{7D1A1F6F-6BFE-79ED-7943-E4EEEFBB4E5A}"/>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F8C9F6DD-5518-B702-6CB1-00DF4B7C6C4D}"/>
              </a:ext>
            </a:extLst>
          </p:cNvPr>
          <p:cNvSpPr>
            <a:spLocks noGrp="1"/>
          </p:cNvSpPr>
          <p:nvPr>
            <p:ph type="sldNum" sz="quarter" idx="12"/>
          </p:nvPr>
        </p:nvSpPr>
        <p:spPr/>
        <p:txBody>
          <a:bodyPr/>
          <a:lstStyle/>
          <a:p>
            <a:fld id="{74621F20-79D8-4435-90CC-3E45EE9E3354}" type="slidenum">
              <a:rPr lang="nb-NO" smtClean="0"/>
              <a:t>‹#›</a:t>
            </a:fld>
            <a:endParaRPr lang="nb-NO"/>
          </a:p>
        </p:txBody>
      </p:sp>
    </p:spTree>
    <p:extLst>
      <p:ext uri="{BB962C8B-B14F-4D97-AF65-F5344CB8AC3E}">
        <p14:creationId xmlns:p14="http://schemas.microsoft.com/office/powerpoint/2010/main" val="1188820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734FFEC-1992-DC86-A3B1-3E15D4527C84}"/>
              </a:ext>
            </a:extLst>
          </p:cNvPr>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a:extLst>
              <a:ext uri="{FF2B5EF4-FFF2-40B4-BE49-F238E27FC236}">
                <a16:creationId xmlns:a16="http://schemas.microsoft.com/office/drawing/2014/main" id="{22B0BA88-A692-562C-739E-47351C945F8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b-NO"/>
              <a:t>Klikk for å redigere tekststiler i malen</a:t>
            </a:r>
          </a:p>
        </p:txBody>
      </p:sp>
      <p:sp>
        <p:nvSpPr>
          <p:cNvPr id="4" name="Plassholder for dato 3">
            <a:extLst>
              <a:ext uri="{FF2B5EF4-FFF2-40B4-BE49-F238E27FC236}">
                <a16:creationId xmlns:a16="http://schemas.microsoft.com/office/drawing/2014/main" id="{6C4007F8-7793-DBF7-A83F-C48C5F794B23}"/>
              </a:ext>
            </a:extLst>
          </p:cNvPr>
          <p:cNvSpPr>
            <a:spLocks noGrp="1"/>
          </p:cNvSpPr>
          <p:nvPr>
            <p:ph type="dt" sz="half" idx="10"/>
          </p:nvPr>
        </p:nvSpPr>
        <p:spPr/>
        <p:txBody>
          <a:bodyPr/>
          <a:lstStyle/>
          <a:p>
            <a:fld id="{DAC9CA60-72B7-4BA8-A5ED-4222AC43224E}" type="datetimeFigureOut">
              <a:rPr lang="nb-NO" smtClean="0"/>
              <a:t>01.06.2026</a:t>
            </a:fld>
            <a:endParaRPr lang="nb-NO"/>
          </a:p>
        </p:txBody>
      </p:sp>
      <p:sp>
        <p:nvSpPr>
          <p:cNvPr id="5" name="Plassholder for bunntekst 4">
            <a:extLst>
              <a:ext uri="{FF2B5EF4-FFF2-40B4-BE49-F238E27FC236}">
                <a16:creationId xmlns:a16="http://schemas.microsoft.com/office/drawing/2014/main" id="{76D401A2-0E56-7E52-25B7-9BCD749CA41F}"/>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21A040FD-8CEF-D025-AD4E-801E8E08277E}"/>
              </a:ext>
            </a:extLst>
          </p:cNvPr>
          <p:cNvSpPr>
            <a:spLocks noGrp="1"/>
          </p:cNvSpPr>
          <p:nvPr>
            <p:ph type="sldNum" sz="quarter" idx="12"/>
          </p:nvPr>
        </p:nvSpPr>
        <p:spPr/>
        <p:txBody>
          <a:bodyPr/>
          <a:lstStyle/>
          <a:p>
            <a:fld id="{74621F20-79D8-4435-90CC-3E45EE9E3354}" type="slidenum">
              <a:rPr lang="nb-NO" smtClean="0"/>
              <a:t>‹#›</a:t>
            </a:fld>
            <a:endParaRPr lang="nb-NO"/>
          </a:p>
        </p:txBody>
      </p:sp>
    </p:spTree>
    <p:extLst>
      <p:ext uri="{BB962C8B-B14F-4D97-AF65-F5344CB8AC3E}">
        <p14:creationId xmlns:p14="http://schemas.microsoft.com/office/powerpoint/2010/main" val="1773704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E9A3FD7E-776D-5AAA-801B-8A0E332BE091}"/>
              </a:ext>
            </a:extLst>
          </p:cNvPr>
          <p:cNvSpPr>
            <a:spLocks noGrp="1"/>
          </p:cNvSpPr>
          <p:nvPr>
            <p:ph type="title"/>
          </p:nvPr>
        </p:nvSpPr>
        <p:spPr/>
        <p:txBody>
          <a:bodyPr/>
          <a:lstStyle/>
          <a:p>
            <a:r>
              <a:rPr lang="nb-NO"/>
              <a:t>Klikk for å redigere tittelstil</a:t>
            </a:r>
          </a:p>
        </p:txBody>
      </p:sp>
      <p:sp>
        <p:nvSpPr>
          <p:cNvPr id="3" name="Plassholder for innhold 2">
            <a:extLst>
              <a:ext uri="{FF2B5EF4-FFF2-40B4-BE49-F238E27FC236}">
                <a16:creationId xmlns:a16="http://schemas.microsoft.com/office/drawing/2014/main" id="{C217A6CB-DD4C-6899-1338-B1560D8C5C85}"/>
              </a:ext>
            </a:extLst>
          </p:cNvPr>
          <p:cNvSpPr>
            <a:spLocks noGrp="1"/>
          </p:cNvSpPr>
          <p:nvPr>
            <p:ph sz="half" idx="1"/>
          </p:nvPr>
        </p:nvSpPr>
        <p:spPr>
          <a:xfrm>
            <a:off x="838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a:extLst>
              <a:ext uri="{FF2B5EF4-FFF2-40B4-BE49-F238E27FC236}">
                <a16:creationId xmlns:a16="http://schemas.microsoft.com/office/drawing/2014/main" id="{3E492719-FC16-3559-B476-B8808593CDE4}"/>
              </a:ext>
            </a:extLst>
          </p:cNvPr>
          <p:cNvSpPr>
            <a:spLocks noGrp="1"/>
          </p:cNvSpPr>
          <p:nvPr>
            <p:ph sz="half" idx="2"/>
          </p:nvPr>
        </p:nvSpPr>
        <p:spPr>
          <a:xfrm>
            <a:off x="6172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a:extLst>
              <a:ext uri="{FF2B5EF4-FFF2-40B4-BE49-F238E27FC236}">
                <a16:creationId xmlns:a16="http://schemas.microsoft.com/office/drawing/2014/main" id="{5A4C4617-04C2-C91D-BD2E-199791324E5D}"/>
              </a:ext>
            </a:extLst>
          </p:cNvPr>
          <p:cNvSpPr>
            <a:spLocks noGrp="1"/>
          </p:cNvSpPr>
          <p:nvPr>
            <p:ph type="dt" sz="half" idx="10"/>
          </p:nvPr>
        </p:nvSpPr>
        <p:spPr/>
        <p:txBody>
          <a:bodyPr/>
          <a:lstStyle/>
          <a:p>
            <a:fld id="{DAC9CA60-72B7-4BA8-A5ED-4222AC43224E}" type="datetimeFigureOut">
              <a:rPr lang="nb-NO" smtClean="0"/>
              <a:t>01.06.2026</a:t>
            </a:fld>
            <a:endParaRPr lang="nb-NO"/>
          </a:p>
        </p:txBody>
      </p:sp>
      <p:sp>
        <p:nvSpPr>
          <p:cNvPr id="6" name="Plassholder for bunntekst 5">
            <a:extLst>
              <a:ext uri="{FF2B5EF4-FFF2-40B4-BE49-F238E27FC236}">
                <a16:creationId xmlns:a16="http://schemas.microsoft.com/office/drawing/2014/main" id="{2B8A733E-F7BA-B380-4EF8-E2444DFA366E}"/>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1E42344C-3355-3E7E-2807-2BEB10E6E26D}"/>
              </a:ext>
            </a:extLst>
          </p:cNvPr>
          <p:cNvSpPr>
            <a:spLocks noGrp="1"/>
          </p:cNvSpPr>
          <p:nvPr>
            <p:ph type="sldNum" sz="quarter" idx="12"/>
          </p:nvPr>
        </p:nvSpPr>
        <p:spPr/>
        <p:txBody>
          <a:bodyPr/>
          <a:lstStyle/>
          <a:p>
            <a:fld id="{74621F20-79D8-4435-90CC-3E45EE9E3354}" type="slidenum">
              <a:rPr lang="nb-NO" smtClean="0"/>
              <a:t>‹#›</a:t>
            </a:fld>
            <a:endParaRPr lang="nb-NO"/>
          </a:p>
        </p:txBody>
      </p:sp>
    </p:spTree>
    <p:extLst>
      <p:ext uri="{BB962C8B-B14F-4D97-AF65-F5344CB8AC3E}">
        <p14:creationId xmlns:p14="http://schemas.microsoft.com/office/powerpoint/2010/main" val="1275871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08F6E6B2-53EB-BD06-F524-173011DCAF40}"/>
              </a:ext>
            </a:extLst>
          </p:cNvPr>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a:extLst>
              <a:ext uri="{FF2B5EF4-FFF2-40B4-BE49-F238E27FC236}">
                <a16:creationId xmlns:a16="http://schemas.microsoft.com/office/drawing/2014/main" id="{1BC860C4-B828-7E63-2741-F488A432E5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4" name="Plassholder for innhold 3">
            <a:extLst>
              <a:ext uri="{FF2B5EF4-FFF2-40B4-BE49-F238E27FC236}">
                <a16:creationId xmlns:a16="http://schemas.microsoft.com/office/drawing/2014/main" id="{73ED5875-8174-BFC1-09D7-F5504F243F8D}"/>
              </a:ext>
            </a:extLst>
          </p:cNvPr>
          <p:cNvSpPr>
            <a:spLocks noGrp="1"/>
          </p:cNvSpPr>
          <p:nvPr>
            <p:ph sz="half" idx="2"/>
          </p:nvPr>
        </p:nvSpPr>
        <p:spPr>
          <a:xfrm>
            <a:off x="839788" y="2505075"/>
            <a:ext cx="5157787"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a:extLst>
              <a:ext uri="{FF2B5EF4-FFF2-40B4-BE49-F238E27FC236}">
                <a16:creationId xmlns:a16="http://schemas.microsoft.com/office/drawing/2014/main" id="{1E66931E-0740-A84C-FE9E-1419388818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6" name="Plassholder for innhold 5">
            <a:extLst>
              <a:ext uri="{FF2B5EF4-FFF2-40B4-BE49-F238E27FC236}">
                <a16:creationId xmlns:a16="http://schemas.microsoft.com/office/drawing/2014/main" id="{3E9B09E7-7C9B-0C79-3605-1305B5B15C1C}"/>
              </a:ext>
            </a:extLst>
          </p:cNvPr>
          <p:cNvSpPr>
            <a:spLocks noGrp="1"/>
          </p:cNvSpPr>
          <p:nvPr>
            <p:ph sz="quarter" idx="4"/>
          </p:nvPr>
        </p:nvSpPr>
        <p:spPr>
          <a:xfrm>
            <a:off x="6172200" y="2505075"/>
            <a:ext cx="5183188"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a:extLst>
              <a:ext uri="{FF2B5EF4-FFF2-40B4-BE49-F238E27FC236}">
                <a16:creationId xmlns:a16="http://schemas.microsoft.com/office/drawing/2014/main" id="{51978AD9-DD27-B2BD-17D9-3ED2AA6A9751}"/>
              </a:ext>
            </a:extLst>
          </p:cNvPr>
          <p:cNvSpPr>
            <a:spLocks noGrp="1"/>
          </p:cNvSpPr>
          <p:nvPr>
            <p:ph type="dt" sz="half" idx="10"/>
          </p:nvPr>
        </p:nvSpPr>
        <p:spPr/>
        <p:txBody>
          <a:bodyPr/>
          <a:lstStyle/>
          <a:p>
            <a:fld id="{DAC9CA60-72B7-4BA8-A5ED-4222AC43224E}" type="datetimeFigureOut">
              <a:rPr lang="nb-NO" smtClean="0"/>
              <a:t>01.06.2026</a:t>
            </a:fld>
            <a:endParaRPr lang="nb-NO"/>
          </a:p>
        </p:txBody>
      </p:sp>
      <p:sp>
        <p:nvSpPr>
          <p:cNvPr id="8" name="Plassholder for bunntekst 7">
            <a:extLst>
              <a:ext uri="{FF2B5EF4-FFF2-40B4-BE49-F238E27FC236}">
                <a16:creationId xmlns:a16="http://schemas.microsoft.com/office/drawing/2014/main" id="{4FCCFF4B-F6E4-0D97-497F-99E419BD4226}"/>
              </a:ext>
            </a:extLst>
          </p:cNvPr>
          <p:cNvSpPr>
            <a:spLocks noGrp="1"/>
          </p:cNvSpPr>
          <p:nvPr>
            <p:ph type="ftr" sz="quarter" idx="11"/>
          </p:nvPr>
        </p:nvSpPr>
        <p:spPr/>
        <p:txBody>
          <a:bodyPr/>
          <a:lstStyle/>
          <a:p>
            <a:endParaRPr lang="nb-NO"/>
          </a:p>
        </p:txBody>
      </p:sp>
      <p:sp>
        <p:nvSpPr>
          <p:cNvPr id="9" name="Plassholder for lysbildenummer 8">
            <a:extLst>
              <a:ext uri="{FF2B5EF4-FFF2-40B4-BE49-F238E27FC236}">
                <a16:creationId xmlns:a16="http://schemas.microsoft.com/office/drawing/2014/main" id="{D5B71B90-FE79-E78D-362A-2A96E34A5389}"/>
              </a:ext>
            </a:extLst>
          </p:cNvPr>
          <p:cNvSpPr>
            <a:spLocks noGrp="1"/>
          </p:cNvSpPr>
          <p:nvPr>
            <p:ph type="sldNum" sz="quarter" idx="12"/>
          </p:nvPr>
        </p:nvSpPr>
        <p:spPr/>
        <p:txBody>
          <a:bodyPr/>
          <a:lstStyle/>
          <a:p>
            <a:fld id="{74621F20-79D8-4435-90CC-3E45EE9E3354}" type="slidenum">
              <a:rPr lang="nb-NO" smtClean="0"/>
              <a:t>‹#›</a:t>
            </a:fld>
            <a:endParaRPr lang="nb-NO"/>
          </a:p>
        </p:txBody>
      </p:sp>
    </p:spTree>
    <p:extLst>
      <p:ext uri="{BB962C8B-B14F-4D97-AF65-F5344CB8AC3E}">
        <p14:creationId xmlns:p14="http://schemas.microsoft.com/office/powerpoint/2010/main" val="1106114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99D8F0F7-494A-025A-B426-CFB77578D737}"/>
              </a:ext>
            </a:extLst>
          </p:cNvPr>
          <p:cNvSpPr>
            <a:spLocks noGrp="1"/>
          </p:cNvSpPr>
          <p:nvPr>
            <p:ph type="title"/>
          </p:nvPr>
        </p:nvSpPr>
        <p:spPr/>
        <p:txBody>
          <a:bodyPr/>
          <a:lstStyle/>
          <a:p>
            <a:r>
              <a:rPr lang="nb-NO"/>
              <a:t>Klikk for å redigere tittelstil</a:t>
            </a:r>
          </a:p>
        </p:txBody>
      </p:sp>
      <p:sp>
        <p:nvSpPr>
          <p:cNvPr id="3" name="Plassholder for dato 2">
            <a:extLst>
              <a:ext uri="{FF2B5EF4-FFF2-40B4-BE49-F238E27FC236}">
                <a16:creationId xmlns:a16="http://schemas.microsoft.com/office/drawing/2014/main" id="{619EC61A-71A5-EBA7-765E-71CD28C3ECF6}"/>
              </a:ext>
            </a:extLst>
          </p:cNvPr>
          <p:cNvSpPr>
            <a:spLocks noGrp="1"/>
          </p:cNvSpPr>
          <p:nvPr>
            <p:ph type="dt" sz="half" idx="10"/>
          </p:nvPr>
        </p:nvSpPr>
        <p:spPr/>
        <p:txBody>
          <a:bodyPr/>
          <a:lstStyle/>
          <a:p>
            <a:fld id="{DAC9CA60-72B7-4BA8-A5ED-4222AC43224E}" type="datetimeFigureOut">
              <a:rPr lang="nb-NO" smtClean="0"/>
              <a:t>01.06.2026</a:t>
            </a:fld>
            <a:endParaRPr lang="nb-NO"/>
          </a:p>
        </p:txBody>
      </p:sp>
      <p:sp>
        <p:nvSpPr>
          <p:cNvPr id="4" name="Plassholder for bunntekst 3">
            <a:extLst>
              <a:ext uri="{FF2B5EF4-FFF2-40B4-BE49-F238E27FC236}">
                <a16:creationId xmlns:a16="http://schemas.microsoft.com/office/drawing/2014/main" id="{C821A9BC-24E0-AAE2-71CD-2BC62BCB1805}"/>
              </a:ext>
            </a:extLst>
          </p:cNvPr>
          <p:cNvSpPr>
            <a:spLocks noGrp="1"/>
          </p:cNvSpPr>
          <p:nvPr>
            <p:ph type="ftr" sz="quarter" idx="11"/>
          </p:nvPr>
        </p:nvSpPr>
        <p:spPr/>
        <p:txBody>
          <a:bodyPr/>
          <a:lstStyle/>
          <a:p>
            <a:endParaRPr lang="nb-NO"/>
          </a:p>
        </p:txBody>
      </p:sp>
      <p:sp>
        <p:nvSpPr>
          <p:cNvPr id="5" name="Plassholder for lysbildenummer 4">
            <a:extLst>
              <a:ext uri="{FF2B5EF4-FFF2-40B4-BE49-F238E27FC236}">
                <a16:creationId xmlns:a16="http://schemas.microsoft.com/office/drawing/2014/main" id="{06E1CE0B-5848-4B5E-F7C6-F3AC71DE7F9E}"/>
              </a:ext>
            </a:extLst>
          </p:cNvPr>
          <p:cNvSpPr>
            <a:spLocks noGrp="1"/>
          </p:cNvSpPr>
          <p:nvPr>
            <p:ph type="sldNum" sz="quarter" idx="12"/>
          </p:nvPr>
        </p:nvSpPr>
        <p:spPr/>
        <p:txBody>
          <a:bodyPr/>
          <a:lstStyle/>
          <a:p>
            <a:fld id="{74621F20-79D8-4435-90CC-3E45EE9E3354}" type="slidenum">
              <a:rPr lang="nb-NO" smtClean="0"/>
              <a:t>‹#›</a:t>
            </a:fld>
            <a:endParaRPr lang="nb-NO"/>
          </a:p>
        </p:txBody>
      </p:sp>
    </p:spTree>
    <p:extLst>
      <p:ext uri="{BB962C8B-B14F-4D97-AF65-F5344CB8AC3E}">
        <p14:creationId xmlns:p14="http://schemas.microsoft.com/office/powerpoint/2010/main" val="2704420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a:extLst>
              <a:ext uri="{FF2B5EF4-FFF2-40B4-BE49-F238E27FC236}">
                <a16:creationId xmlns:a16="http://schemas.microsoft.com/office/drawing/2014/main" id="{D02DDA41-B0B8-6AF0-0338-9D4F3827974E}"/>
              </a:ext>
            </a:extLst>
          </p:cNvPr>
          <p:cNvSpPr>
            <a:spLocks noGrp="1"/>
          </p:cNvSpPr>
          <p:nvPr>
            <p:ph type="dt" sz="half" idx="10"/>
          </p:nvPr>
        </p:nvSpPr>
        <p:spPr/>
        <p:txBody>
          <a:bodyPr/>
          <a:lstStyle/>
          <a:p>
            <a:fld id="{DAC9CA60-72B7-4BA8-A5ED-4222AC43224E}" type="datetimeFigureOut">
              <a:rPr lang="nb-NO" smtClean="0"/>
              <a:t>01.06.2026</a:t>
            </a:fld>
            <a:endParaRPr lang="nb-NO"/>
          </a:p>
        </p:txBody>
      </p:sp>
      <p:sp>
        <p:nvSpPr>
          <p:cNvPr id="3" name="Plassholder for bunntekst 2">
            <a:extLst>
              <a:ext uri="{FF2B5EF4-FFF2-40B4-BE49-F238E27FC236}">
                <a16:creationId xmlns:a16="http://schemas.microsoft.com/office/drawing/2014/main" id="{529F0400-B0DB-D18D-4C3C-18E714778E49}"/>
              </a:ext>
            </a:extLst>
          </p:cNvPr>
          <p:cNvSpPr>
            <a:spLocks noGrp="1"/>
          </p:cNvSpPr>
          <p:nvPr>
            <p:ph type="ftr" sz="quarter" idx="11"/>
          </p:nvPr>
        </p:nvSpPr>
        <p:spPr/>
        <p:txBody>
          <a:bodyPr/>
          <a:lstStyle/>
          <a:p>
            <a:endParaRPr lang="nb-NO"/>
          </a:p>
        </p:txBody>
      </p:sp>
      <p:sp>
        <p:nvSpPr>
          <p:cNvPr id="4" name="Plassholder for lysbildenummer 3">
            <a:extLst>
              <a:ext uri="{FF2B5EF4-FFF2-40B4-BE49-F238E27FC236}">
                <a16:creationId xmlns:a16="http://schemas.microsoft.com/office/drawing/2014/main" id="{C01073C2-617C-43CE-5A2C-BF74918F0B39}"/>
              </a:ext>
            </a:extLst>
          </p:cNvPr>
          <p:cNvSpPr>
            <a:spLocks noGrp="1"/>
          </p:cNvSpPr>
          <p:nvPr>
            <p:ph type="sldNum" sz="quarter" idx="12"/>
          </p:nvPr>
        </p:nvSpPr>
        <p:spPr/>
        <p:txBody>
          <a:bodyPr/>
          <a:lstStyle/>
          <a:p>
            <a:fld id="{74621F20-79D8-4435-90CC-3E45EE9E3354}" type="slidenum">
              <a:rPr lang="nb-NO" smtClean="0"/>
              <a:t>‹#›</a:t>
            </a:fld>
            <a:endParaRPr lang="nb-NO"/>
          </a:p>
        </p:txBody>
      </p:sp>
    </p:spTree>
    <p:extLst>
      <p:ext uri="{BB962C8B-B14F-4D97-AF65-F5344CB8AC3E}">
        <p14:creationId xmlns:p14="http://schemas.microsoft.com/office/powerpoint/2010/main" val="3388011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4119493-DF0A-BC52-4E20-F721EB4135BC}"/>
              </a:ext>
            </a:extLst>
          </p:cNvPr>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a:extLst>
              <a:ext uri="{FF2B5EF4-FFF2-40B4-BE49-F238E27FC236}">
                <a16:creationId xmlns:a16="http://schemas.microsoft.com/office/drawing/2014/main" id="{7F130BD3-9933-4E91-684D-F2C41BC21E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a:extLst>
              <a:ext uri="{FF2B5EF4-FFF2-40B4-BE49-F238E27FC236}">
                <a16:creationId xmlns:a16="http://schemas.microsoft.com/office/drawing/2014/main" id="{C74864DD-57F9-AA5A-AC8B-502A8D1187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Plassholder for dato 4">
            <a:extLst>
              <a:ext uri="{FF2B5EF4-FFF2-40B4-BE49-F238E27FC236}">
                <a16:creationId xmlns:a16="http://schemas.microsoft.com/office/drawing/2014/main" id="{9551350B-626D-F882-41C4-4513ABC53F23}"/>
              </a:ext>
            </a:extLst>
          </p:cNvPr>
          <p:cNvSpPr>
            <a:spLocks noGrp="1"/>
          </p:cNvSpPr>
          <p:nvPr>
            <p:ph type="dt" sz="half" idx="10"/>
          </p:nvPr>
        </p:nvSpPr>
        <p:spPr/>
        <p:txBody>
          <a:bodyPr/>
          <a:lstStyle/>
          <a:p>
            <a:fld id="{DAC9CA60-72B7-4BA8-A5ED-4222AC43224E}" type="datetimeFigureOut">
              <a:rPr lang="nb-NO" smtClean="0"/>
              <a:t>01.06.2026</a:t>
            </a:fld>
            <a:endParaRPr lang="nb-NO"/>
          </a:p>
        </p:txBody>
      </p:sp>
      <p:sp>
        <p:nvSpPr>
          <p:cNvPr id="6" name="Plassholder for bunntekst 5">
            <a:extLst>
              <a:ext uri="{FF2B5EF4-FFF2-40B4-BE49-F238E27FC236}">
                <a16:creationId xmlns:a16="http://schemas.microsoft.com/office/drawing/2014/main" id="{9ED252EA-DE11-81B1-9382-7D32942FF893}"/>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34A3ECB6-5C04-DCE1-4CF1-5CB37747A1AF}"/>
              </a:ext>
            </a:extLst>
          </p:cNvPr>
          <p:cNvSpPr>
            <a:spLocks noGrp="1"/>
          </p:cNvSpPr>
          <p:nvPr>
            <p:ph type="sldNum" sz="quarter" idx="12"/>
          </p:nvPr>
        </p:nvSpPr>
        <p:spPr/>
        <p:txBody>
          <a:bodyPr/>
          <a:lstStyle/>
          <a:p>
            <a:fld id="{74621F20-79D8-4435-90CC-3E45EE9E3354}" type="slidenum">
              <a:rPr lang="nb-NO" smtClean="0"/>
              <a:t>‹#›</a:t>
            </a:fld>
            <a:endParaRPr lang="nb-NO"/>
          </a:p>
        </p:txBody>
      </p:sp>
    </p:spTree>
    <p:extLst>
      <p:ext uri="{BB962C8B-B14F-4D97-AF65-F5344CB8AC3E}">
        <p14:creationId xmlns:p14="http://schemas.microsoft.com/office/powerpoint/2010/main" val="2684963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9C519B4-B991-2CCF-B2EA-03F594E72955}"/>
              </a:ext>
            </a:extLst>
          </p:cNvPr>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a:extLst>
              <a:ext uri="{FF2B5EF4-FFF2-40B4-BE49-F238E27FC236}">
                <a16:creationId xmlns:a16="http://schemas.microsoft.com/office/drawing/2014/main" id="{214682F0-617D-827E-D13E-999F95D4E3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a:extLst>
              <a:ext uri="{FF2B5EF4-FFF2-40B4-BE49-F238E27FC236}">
                <a16:creationId xmlns:a16="http://schemas.microsoft.com/office/drawing/2014/main" id="{E7BA7301-1B8E-E363-A8DF-C94CF05186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Plassholder for dato 4">
            <a:extLst>
              <a:ext uri="{FF2B5EF4-FFF2-40B4-BE49-F238E27FC236}">
                <a16:creationId xmlns:a16="http://schemas.microsoft.com/office/drawing/2014/main" id="{248E4108-91DC-D756-AC13-192A23DE5E89}"/>
              </a:ext>
            </a:extLst>
          </p:cNvPr>
          <p:cNvSpPr>
            <a:spLocks noGrp="1"/>
          </p:cNvSpPr>
          <p:nvPr>
            <p:ph type="dt" sz="half" idx="10"/>
          </p:nvPr>
        </p:nvSpPr>
        <p:spPr/>
        <p:txBody>
          <a:bodyPr/>
          <a:lstStyle/>
          <a:p>
            <a:fld id="{DAC9CA60-72B7-4BA8-A5ED-4222AC43224E}" type="datetimeFigureOut">
              <a:rPr lang="nb-NO" smtClean="0"/>
              <a:t>01.06.2026</a:t>
            </a:fld>
            <a:endParaRPr lang="nb-NO"/>
          </a:p>
        </p:txBody>
      </p:sp>
      <p:sp>
        <p:nvSpPr>
          <p:cNvPr id="6" name="Plassholder for bunntekst 5">
            <a:extLst>
              <a:ext uri="{FF2B5EF4-FFF2-40B4-BE49-F238E27FC236}">
                <a16:creationId xmlns:a16="http://schemas.microsoft.com/office/drawing/2014/main" id="{B6A4C8EC-3B1E-B06E-5A75-9A20E3D70CFA}"/>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042A68D8-ED13-6692-76DF-F303D407BA8D}"/>
              </a:ext>
            </a:extLst>
          </p:cNvPr>
          <p:cNvSpPr>
            <a:spLocks noGrp="1"/>
          </p:cNvSpPr>
          <p:nvPr>
            <p:ph type="sldNum" sz="quarter" idx="12"/>
          </p:nvPr>
        </p:nvSpPr>
        <p:spPr/>
        <p:txBody>
          <a:bodyPr/>
          <a:lstStyle/>
          <a:p>
            <a:fld id="{74621F20-79D8-4435-90CC-3E45EE9E3354}" type="slidenum">
              <a:rPr lang="nb-NO" smtClean="0"/>
              <a:t>‹#›</a:t>
            </a:fld>
            <a:endParaRPr lang="nb-NO"/>
          </a:p>
        </p:txBody>
      </p:sp>
    </p:spTree>
    <p:extLst>
      <p:ext uri="{BB962C8B-B14F-4D97-AF65-F5344CB8AC3E}">
        <p14:creationId xmlns:p14="http://schemas.microsoft.com/office/powerpoint/2010/main" val="2487969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7F31919-4B38-20F1-C7FE-4FA562BFA9D2}"/>
              </a:ext>
            </a:extLst>
          </p:cNvPr>
          <p:cNvSpPr>
            <a:spLocks noGrp="1"/>
          </p:cNvSpPr>
          <p:nvPr>
            <p:ph type="title"/>
          </p:nvPr>
        </p:nvSpPr>
        <p:spPr/>
        <p:txBody>
          <a:bodyPr/>
          <a:lstStyle/>
          <a:p>
            <a:r>
              <a:rPr lang="nb-NO"/>
              <a:t>Klikk for å redigere tittelstil</a:t>
            </a:r>
          </a:p>
        </p:txBody>
      </p:sp>
      <p:sp>
        <p:nvSpPr>
          <p:cNvPr id="3" name="Plassholder for loddrett tekst 2">
            <a:extLst>
              <a:ext uri="{FF2B5EF4-FFF2-40B4-BE49-F238E27FC236}">
                <a16:creationId xmlns:a16="http://schemas.microsoft.com/office/drawing/2014/main" id="{7B85EED0-8D36-640A-FA9F-66F0DB8B5877}"/>
              </a:ext>
            </a:extLst>
          </p:cNvPr>
          <p:cNvSpPr>
            <a:spLocks noGrp="1"/>
          </p:cNvSpPr>
          <p:nvPr>
            <p:ph type="body" orient="vert" idx="1"/>
          </p:nvPr>
        </p:nvSpPr>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0A5FBC50-AC07-AE15-82A4-C17D117612E1}"/>
              </a:ext>
            </a:extLst>
          </p:cNvPr>
          <p:cNvSpPr>
            <a:spLocks noGrp="1"/>
          </p:cNvSpPr>
          <p:nvPr>
            <p:ph type="dt" sz="half" idx="10"/>
          </p:nvPr>
        </p:nvSpPr>
        <p:spPr/>
        <p:txBody>
          <a:bodyPr/>
          <a:lstStyle/>
          <a:p>
            <a:fld id="{DAC9CA60-72B7-4BA8-A5ED-4222AC43224E}" type="datetimeFigureOut">
              <a:rPr lang="nb-NO" smtClean="0"/>
              <a:t>01.06.2026</a:t>
            </a:fld>
            <a:endParaRPr lang="nb-NO"/>
          </a:p>
        </p:txBody>
      </p:sp>
      <p:sp>
        <p:nvSpPr>
          <p:cNvPr id="5" name="Plassholder for bunntekst 4">
            <a:extLst>
              <a:ext uri="{FF2B5EF4-FFF2-40B4-BE49-F238E27FC236}">
                <a16:creationId xmlns:a16="http://schemas.microsoft.com/office/drawing/2014/main" id="{522CE2C9-E046-1590-979B-F2E012EFE905}"/>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B124ADF5-7BAB-DC95-B127-5C1B67577DA6}"/>
              </a:ext>
            </a:extLst>
          </p:cNvPr>
          <p:cNvSpPr>
            <a:spLocks noGrp="1"/>
          </p:cNvSpPr>
          <p:nvPr>
            <p:ph type="sldNum" sz="quarter" idx="12"/>
          </p:nvPr>
        </p:nvSpPr>
        <p:spPr/>
        <p:txBody>
          <a:bodyPr/>
          <a:lstStyle/>
          <a:p>
            <a:fld id="{74621F20-79D8-4435-90CC-3E45EE9E3354}" type="slidenum">
              <a:rPr lang="nb-NO" smtClean="0"/>
              <a:t>‹#›</a:t>
            </a:fld>
            <a:endParaRPr lang="nb-NO"/>
          </a:p>
        </p:txBody>
      </p:sp>
    </p:spTree>
    <p:extLst>
      <p:ext uri="{BB962C8B-B14F-4D97-AF65-F5344CB8AC3E}">
        <p14:creationId xmlns:p14="http://schemas.microsoft.com/office/powerpoint/2010/main" val="2277012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a:extLst>
              <a:ext uri="{FF2B5EF4-FFF2-40B4-BE49-F238E27FC236}">
                <a16:creationId xmlns:a16="http://schemas.microsoft.com/office/drawing/2014/main" id="{93DBB6C4-2BCB-990D-9B50-2E70E2B50835}"/>
              </a:ext>
            </a:extLst>
          </p:cNvPr>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a:extLst>
              <a:ext uri="{FF2B5EF4-FFF2-40B4-BE49-F238E27FC236}">
                <a16:creationId xmlns:a16="http://schemas.microsoft.com/office/drawing/2014/main" id="{D09A2931-2848-E560-3540-487BBA1886AA}"/>
              </a:ext>
            </a:extLst>
          </p:cNvPr>
          <p:cNvSpPr>
            <a:spLocks noGrp="1"/>
          </p:cNvSpPr>
          <p:nvPr>
            <p:ph type="body" orient="vert" idx="1"/>
          </p:nvPr>
        </p:nvSpPr>
        <p:spPr>
          <a:xfrm>
            <a:off x="838200" y="365125"/>
            <a:ext cx="7734300" cy="5811838"/>
          </a:xfrm>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F308AFBE-83A1-C430-3B7E-3B1610E3DA1F}"/>
              </a:ext>
            </a:extLst>
          </p:cNvPr>
          <p:cNvSpPr>
            <a:spLocks noGrp="1"/>
          </p:cNvSpPr>
          <p:nvPr>
            <p:ph type="dt" sz="half" idx="10"/>
          </p:nvPr>
        </p:nvSpPr>
        <p:spPr/>
        <p:txBody>
          <a:bodyPr/>
          <a:lstStyle/>
          <a:p>
            <a:fld id="{DAC9CA60-72B7-4BA8-A5ED-4222AC43224E}" type="datetimeFigureOut">
              <a:rPr lang="nb-NO" smtClean="0"/>
              <a:t>01.06.2026</a:t>
            </a:fld>
            <a:endParaRPr lang="nb-NO"/>
          </a:p>
        </p:txBody>
      </p:sp>
      <p:sp>
        <p:nvSpPr>
          <p:cNvPr id="5" name="Plassholder for bunntekst 4">
            <a:extLst>
              <a:ext uri="{FF2B5EF4-FFF2-40B4-BE49-F238E27FC236}">
                <a16:creationId xmlns:a16="http://schemas.microsoft.com/office/drawing/2014/main" id="{41F9809D-5DF8-D138-DC8C-3A369FAEB33E}"/>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EC50B6BE-B4DF-85A4-172B-1B26A3D12E70}"/>
              </a:ext>
            </a:extLst>
          </p:cNvPr>
          <p:cNvSpPr>
            <a:spLocks noGrp="1"/>
          </p:cNvSpPr>
          <p:nvPr>
            <p:ph type="sldNum" sz="quarter" idx="12"/>
          </p:nvPr>
        </p:nvSpPr>
        <p:spPr/>
        <p:txBody>
          <a:bodyPr/>
          <a:lstStyle/>
          <a:p>
            <a:fld id="{74621F20-79D8-4435-90CC-3E45EE9E3354}" type="slidenum">
              <a:rPr lang="nb-NO" smtClean="0"/>
              <a:t>‹#›</a:t>
            </a:fld>
            <a:endParaRPr lang="nb-NO"/>
          </a:p>
        </p:txBody>
      </p:sp>
    </p:spTree>
    <p:extLst>
      <p:ext uri="{BB962C8B-B14F-4D97-AF65-F5344CB8AC3E}">
        <p14:creationId xmlns:p14="http://schemas.microsoft.com/office/powerpoint/2010/main" val="2860569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a:extLst>
              <a:ext uri="{FF2B5EF4-FFF2-40B4-BE49-F238E27FC236}">
                <a16:creationId xmlns:a16="http://schemas.microsoft.com/office/drawing/2014/main" id="{5ABA79E4-5F69-13DD-A9F9-E45318A9F9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a:extLst>
              <a:ext uri="{FF2B5EF4-FFF2-40B4-BE49-F238E27FC236}">
                <a16:creationId xmlns:a16="http://schemas.microsoft.com/office/drawing/2014/main" id="{F435EE1B-9A7A-A271-FEA4-E4B67EA3DA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953C15BF-63A8-7A5C-2E4B-F8C5AE9261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C9CA60-72B7-4BA8-A5ED-4222AC43224E}" type="datetimeFigureOut">
              <a:rPr lang="nb-NO" smtClean="0"/>
              <a:t>01.06.2026</a:t>
            </a:fld>
            <a:endParaRPr lang="nb-NO"/>
          </a:p>
        </p:txBody>
      </p:sp>
      <p:sp>
        <p:nvSpPr>
          <p:cNvPr id="5" name="Plassholder for bunntekst 4">
            <a:extLst>
              <a:ext uri="{FF2B5EF4-FFF2-40B4-BE49-F238E27FC236}">
                <a16:creationId xmlns:a16="http://schemas.microsoft.com/office/drawing/2014/main" id="{77B3E4C9-1800-2421-1302-6651675CF7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Plassholder for lysbildenummer 5">
            <a:extLst>
              <a:ext uri="{FF2B5EF4-FFF2-40B4-BE49-F238E27FC236}">
                <a16:creationId xmlns:a16="http://schemas.microsoft.com/office/drawing/2014/main" id="{A0C1813F-2765-0D6E-F763-0640A80328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4621F20-79D8-4435-90CC-3E45EE9E3354}" type="slidenum">
              <a:rPr lang="nb-NO" smtClean="0"/>
              <a:t>‹#›</a:t>
            </a:fld>
            <a:endParaRPr lang="nb-NO"/>
          </a:p>
        </p:txBody>
      </p:sp>
    </p:spTree>
    <p:extLst>
      <p:ext uri="{BB962C8B-B14F-4D97-AF65-F5344CB8AC3E}">
        <p14:creationId xmlns:p14="http://schemas.microsoft.com/office/powerpoint/2010/main" val="7546946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1426A10-68AD-F868-AAAB-03957A10E48D}"/>
              </a:ext>
            </a:extLst>
          </p:cNvPr>
          <p:cNvSpPr>
            <a:spLocks noGrp="1"/>
          </p:cNvSpPr>
          <p:nvPr>
            <p:ph type="ctrTitle"/>
          </p:nvPr>
        </p:nvSpPr>
        <p:spPr/>
        <p:txBody>
          <a:bodyPr/>
          <a:lstStyle/>
          <a:p>
            <a:r>
              <a:rPr lang="nb-NO" dirty="0"/>
              <a:t>IDATT1005 Systemutvikling 1</a:t>
            </a:r>
          </a:p>
        </p:txBody>
      </p:sp>
      <p:sp>
        <p:nvSpPr>
          <p:cNvPr id="3" name="Undertittel 2">
            <a:extLst>
              <a:ext uri="{FF2B5EF4-FFF2-40B4-BE49-F238E27FC236}">
                <a16:creationId xmlns:a16="http://schemas.microsoft.com/office/drawing/2014/main" id="{45BC6958-79A6-9073-E374-2BD797492CE3}"/>
              </a:ext>
            </a:extLst>
          </p:cNvPr>
          <p:cNvSpPr>
            <a:spLocks noGrp="1"/>
          </p:cNvSpPr>
          <p:nvPr>
            <p:ph type="subTitle" idx="1"/>
          </p:nvPr>
        </p:nvSpPr>
        <p:spPr/>
        <p:txBody>
          <a:bodyPr/>
          <a:lstStyle/>
          <a:p>
            <a:r>
              <a:rPr lang="nb-NO" dirty="0"/>
              <a:t>Eksamensøving</a:t>
            </a:r>
          </a:p>
        </p:txBody>
      </p:sp>
    </p:spTree>
    <p:extLst>
      <p:ext uri="{BB962C8B-B14F-4D97-AF65-F5344CB8AC3E}">
        <p14:creationId xmlns:p14="http://schemas.microsoft.com/office/powerpoint/2010/main" val="2726026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B86EE2E6-135A-2E6A-F2BA-8A92EE1842DF}"/>
              </a:ext>
            </a:extLst>
          </p:cNvPr>
          <p:cNvSpPr>
            <a:spLocks noGrp="1"/>
          </p:cNvSpPr>
          <p:nvPr>
            <p:ph type="title"/>
          </p:nvPr>
        </p:nvSpPr>
        <p:spPr/>
        <p:txBody>
          <a:bodyPr/>
          <a:lstStyle/>
          <a:p>
            <a:r>
              <a:rPr lang="nb-NO" dirty="0"/>
              <a:t>MMI</a:t>
            </a:r>
          </a:p>
        </p:txBody>
      </p:sp>
      <p:sp>
        <p:nvSpPr>
          <p:cNvPr id="3" name="Plassholder for tekst 2">
            <a:extLst>
              <a:ext uri="{FF2B5EF4-FFF2-40B4-BE49-F238E27FC236}">
                <a16:creationId xmlns:a16="http://schemas.microsoft.com/office/drawing/2014/main" id="{C95541C3-610A-08EA-BC17-4EF4A605B7FF}"/>
              </a:ext>
            </a:extLst>
          </p:cNvPr>
          <p:cNvSpPr>
            <a:spLocks noGrp="1"/>
          </p:cNvSpPr>
          <p:nvPr>
            <p:ph type="body" idx="1"/>
          </p:nvPr>
        </p:nvSpPr>
        <p:spPr/>
        <p:txBody>
          <a:bodyPr/>
          <a:lstStyle/>
          <a:p>
            <a:r>
              <a:rPr lang="nb-NO" dirty="0"/>
              <a:t>Menneske maskin interaksjon</a:t>
            </a:r>
          </a:p>
        </p:txBody>
      </p:sp>
    </p:spTree>
    <p:extLst>
      <p:ext uri="{BB962C8B-B14F-4D97-AF65-F5344CB8AC3E}">
        <p14:creationId xmlns:p14="http://schemas.microsoft.com/office/powerpoint/2010/main" val="3673285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3512F67-6D61-B9A6-6D16-746A3E7A7CA8}"/>
              </a:ext>
            </a:extLst>
          </p:cNvPr>
          <p:cNvSpPr>
            <a:spLocks noGrp="1"/>
          </p:cNvSpPr>
          <p:nvPr>
            <p:ph type="title"/>
          </p:nvPr>
        </p:nvSpPr>
        <p:spPr/>
        <p:txBody>
          <a:bodyPr/>
          <a:lstStyle/>
          <a:p>
            <a:r>
              <a:rPr lang="nb-NO" dirty="0"/>
              <a:t>Interaksjonsdesign</a:t>
            </a:r>
          </a:p>
        </p:txBody>
      </p:sp>
      <p:sp>
        <p:nvSpPr>
          <p:cNvPr id="3" name="Plassholder for innhold 2">
            <a:extLst>
              <a:ext uri="{FF2B5EF4-FFF2-40B4-BE49-F238E27FC236}">
                <a16:creationId xmlns:a16="http://schemas.microsoft.com/office/drawing/2014/main" id="{978A0EFD-1123-0524-9C36-657E10C4B287}"/>
              </a:ext>
            </a:extLst>
          </p:cNvPr>
          <p:cNvSpPr>
            <a:spLocks noGrp="1"/>
          </p:cNvSpPr>
          <p:nvPr>
            <p:ph idx="1"/>
          </p:nvPr>
        </p:nvSpPr>
        <p:spPr/>
        <p:txBody>
          <a:bodyPr/>
          <a:lstStyle/>
          <a:p>
            <a:r>
              <a:rPr lang="nb-NO" dirty="0"/>
              <a:t>Hva er definisjonen på interaksjonsdesign?</a:t>
            </a:r>
          </a:p>
          <a:p>
            <a:r>
              <a:rPr lang="nb-NO" dirty="0"/>
              <a:t>Hva er fokuset med interaksjonsdesign?</a:t>
            </a:r>
          </a:p>
          <a:p>
            <a:r>
              <a:rPr lang="nb-NO" dirty="0"/>
              <a:t>Hva er målet med interaksjonsdesign?</a:t>
            </a:r>
          </a:p>
          <a:p>
            <a:r>
              <a:rPr lang="nb-NO" dirty="0"/>
              <a:t>Hva er en modell når man jobber med </a:t>
            </a:r>
            <a:r>
              <a:rPr lang="nb-NO" dirty="0" err="1"/>
              <a:t>IxD</a:t>
            </a:r>
            <a:r>
              <a:rPr lang="nb-NO" dirty="0"/>
              <a:t>?</a:t>
            </a:r>
          </a:p>
          <a:p>
            <a:endParaRPr lang="nb-NO" dirty="0"/>
          </a:p>
          <a:p>
            <a:r>
              <a:rPr lang="nb-NO" dirty="0"/>
              <a:t>Hva er de fem dimensjonene i </a:t>
            </a:r>
            <a:r>
              <a:rPr lang="nb-NO" dirty="0" err="1"/>
              <a:t>IxD</a:t>
            </a:r>
            <a:r>
              <a:rPr lang="nb-NO" dirty="0"/>
              <a:t>?</a:t>
            </a:r>
          </a:p>
          <a:p>
            <a:r>
              <a:rPr lang="nb-NO" dirty="0"/>
              <a:t>Hva er Don Normans prinsipper om interaksjonsdesign?</a:t>
            </a:r>
          </a:p>
        </p:txBody>
      </p:sp>
      <p:grpSp>
        <p:nvGrpSpPr>
          <p:cNvPr id="8" name="Gruppe 7">
            <a:extLst>
              <a:ext uri="{FF2B5EF4-FFF2-40B4-BE49-F238E27FC236}">
                <a16:creationId xmlns:a16="http://schemas.microsoft.com/office/drawing/2014/main" id="{0C06299F-8111-7BD0-3C94-A15ED47F962B}"/>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13870437-F885-62F1-61AD-3160DF162CA5}"/>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MMI</a:t>
              </a:r>
              <a:endParaRPr lang="nb-NO" sz="2800" dirty="0"/>
            </a:p>
          </p:txBody>
        </p:sp>
        <p:sp>
          <p:nvSpPr>
            <p:cNvPr id="10" name="Plassholder for tekst 2">
              <a:extLst>
                <a:ext uri="{FF2B5EF4-FFF2-40B4-BE49-F238E27FC236}">
                  <a16:creationId xmlns:a16="http://schemas.microsoft.com/office/drawing/2014/main" id="{D292173F-361A-4945-CA5F-45C183ED63D8}"/>
                </a:ext>
              </a:extLst>
            </p:cNvPr>
            <p:cNvSpPr txBox="1">
              <a:spLocks/>
            </p:cNvSpPr>
            <p:nvPr/>
          </p:nvSpPr>
          <p:spPr>
            <a:xfrm>
              <a:off x="3699315" y="2803502"/>
              <a:ext cx="10515600" cy="1401608"/>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Menneske</a:t>
              </a:r>
              <a:r>
                <a:rPr lang="nb-NO" sz="1800" i="1" dirty="0"/>
                <a:t> maskin interaksjon</a:t>
              </a:r>
            </a:p>
          </p:txBody>
        </p:sp>
      </p:grpSp>
    </p:spTree>
    <p:extLst>
      <p:ext uri="{BB962C8B-B14F-4D97-AF65-F5344CB8AC3E}">
        <p14:creationId xmlns:p14="http://schemas.microsoft.com/office/powerpoint/2010/main" val="1459518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67C49-5130-AEA9-5970-160831FA7D9C}"/>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E0B6C399-11EB-C24D-BDBC-70C0B5771489}"/>
              </a:ext>
            </a:extLst>
          </p:cNvPr>
          <p:cNvSpPr>
            <a:spLocks noGrp="1"/>
          </p:cNvSpPr>
          <p:nvPr>
            <p:ph type="title"/>
          </p:nvPr>
        </p:nvSpPr>
        <p:spPr/>
        <p:txBody>
          <a:bodyPr/>
          <a:lstStyle/>
          <a:p>
            <a:r>
              <a:rPr lang="nb-NO" dirty="0"/>
              <a:t>Prototyping</a:t>
            </a:r>
          </a:p>
        </p:txBody>
      </p:sp>
      <p:sp>
        <p:nvSpPr>
          <p:cNvPr id="3" name="Plassholder for innhold 2">
            <a:extLst>
              <a:ext uri="{FF2B5EF4-FFF2-40B4-BE49-F238E27FC236}">
                <a16:creationId xmlns:a16="http://schemas.microsoft.com/office/drawing/2014/main" id="{1339875B-9F64-D045-C7E9-B5B62004A947}"/>
              </a:ext>
            </a:extLst>
          </p:cNvPr>
          <p:cNvSpPr>
            <a:spLocks noGrp="1"/>
          </p:cNvSpPr>
          <p:nvPr>
            <p:ph idx="1"/>
          </p:nvPr>
        </p:nvSpPr>
        <p:spPr/>
        <p:txBody>
          <a:bodyPr/>
          <a:lstStyle/>
          <a:p>
            <a:r>
              <a:rPr lang="nb-NO" dirty="0"/>
              <a:t>Hva er prototyping?</a:t>
            </a:r>
          </a:p>
          <a:p>
            <a:r>
              <a:rPr lang="nb-NO" dirty="0"/>
              <a:t>Hvorfor prototyper vi?</a:t>
            </a:r>
          </a:p>
          <a:p>
            <a:r>
              <a:rPr lang="nb-NO" dirty="0"/>
              <a:t>Hvilke dimensjoner finnes det ved prototyping?</a:t>
            </a:r>
          </a:p>
          <a:p>
            <a:r>
              <a:rPr lang="nb-NO" dirty="0"/>
              <a:t>Hva er de ulike klassene av prototyping, og hva er deres kompromisser?</a:t>
            </a:r>
          </a:p>
          <a:p>
            <a:r>
              <a:rPr lang="nb-NO" dirty="0"/>
              <a:t>Hva er de ulike aspektene ved utvikling av prototyper?</a:t>
            </a:r>
          </a:p>
        </p:txBody>
      </p:sp>
      <p:grpSp>
        <p:nvGrpSpPr>
          <p:cNvPr id="4" name="Gruppe 3">
            <a:extLst>
              <a:ext uri="{FF2B5EF4-FFF2-40B4-BE49-F238E27FC236}">
                <a16:creationId xmlns:a16="http://schemas.microsoft.com/office/drawing/2014/main" id="{EC58C4E4-857B-73D5-B850-A82B5517AF51}"/>
              </a:ext>
            </a:extLst>
          </p:cNvPr>
          <p:cNvGrpSpPr/>
          <p:nvPr/>
        </p:nvGrpSpPr>
        <p:grpSpPr>
          <a:xfrm>
            <a:off x="204225" y="6176963"/>
            <a:ext cx="11783549" cy="531016"/>
            <a:chOff x="3699315" y="1734500"/>
            <a:chExt cx="10515600" cy="2470610"/>
          </a:xfrm>
        </p:grpSpPr>
        <p:sp>
          <p:nvSpPr>
            <p:cNvPr id="5" name="Tittel 1">
              <a:extLst>
                <a:ext uri="{FF2B5EF4-FFF2-40B4-BE49-F238E27FC236}">
                  <a16:creationId xmlns:a16="http://schemas.microsoft.com/office/drawing/2014/main" id="{8618532D-63A5-2E38-F52C-DC69FC7BC029}"/>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MMI</a:t>
              </a:r>
              <a:endParaRPr lang="nb-NO" sz="2800" dirty="0"/>
            </a:p>
          </p:txBody>
        </p:sp>
        <p:sp>
          <p:nvSpPr>
            <p:cNvPr id="6" name="Plassholder for tekst 2">
              <a:extLst>
                <a:ext uri="{FF2B5EF4-FFF2-40B4-BE49-F238E27FC236}">
                  <a16:creationId xmlns:a16="http://schemas.microsoft.com/office/drawing/2014/main" id="{923933FF-ED33-1DEF-D09E-B6C610112865}"/>
                </a:ext>
              </a:extLst>
            </p:cNvPr>
            <p:cNvSpPr txBox="1">
              <a:spLocks/>
            </p:cNvSpPr>
            <p:nvPr/>
          </p:nvSpPr>
          <p:spPr>
            <a:xfrm>
              <a:off x="3699315" y="2803502"/>
              <a:ext cx="10515600" cy="1401608"/>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Menneske</a:t>
              </a:r>
              <a:r>
                <a:rPr lang="nb-NO" sz="1800" i="1" dirty="0"/>
                <a:t> maskin interaksjon</a:t>
              </a:r>
            </a:p>
          </p:txBody>
        </p:sp>
      </p:grpSp>
    </p:spTree>
    <p:extLst>
      <p:ext uri="{BB962C8B-B14F-4D97-AF65-F5344CB8AC3E}">
        <p14:creationId xmlns:p14="http://schemas.microsoft.com/office/powerpoint/2010/main" val="482260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B74C6-05B2-D6F6-1DAA-E204CF6E6AEF}"/>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BD9D3B0B-9B08-3364-3F8C-CDC17B850821}"/>
              </a:ext>
            </a:extLst>
          </p:cNvPr>
          <p:cNvSpPr>
            <a:spLocks noGrp="1"/>
          </p:cNvSpPr>
          <p:nvPr>
            <p:ph type="title"/>
          </p:nvPr>
        </p:nvSpPr>
        <p:spPr/>
        <p:txBody>
          <a:bodyPr/>
          <a:lstStyle/>
          <a:p>
            <a:r>
              <a:rPr lang="nb-NO" dirty="0"/>
              <a:t>Evaluering</a:t>
            </a:r>
          </a:p>
        </p:txBody>
      </p:sp>
      <p:sp>
        <p:nvSpPr>
          <p:cNvPr id="3" name="Plassholder for innhold 2">
            <a:extLst>
              <a:ext uri="{FF2B5EF4-FFF2-40B4-BE49-F238E27FC236}">
                <a16:creationId xmlns:a16="http://schemas.microsoft.com/office/drawing/2014/main" id="{661D967E-FAA4-4B88-8E78-60E90DB14A6C}"/>
              </a:ext>
            </a:extLst>
          </p:cNvPr>
          <p:cNvSpPr>
            <a:spLocks noGrp="1"/>
          </p:cNvSpPr>
          <p:nvPr>
            <p:ph idx="1"/>
          </p:nvPr>
        </p:nvSpPr>
        <p:spPr/>
        <p:txBody>
          <a:bodyPr/>
          <a:lstStyle/>
          <a:p>
            <a:r>
              <a:rPr lang="nb-NO" dirty="0"/>
              <a:t>Hva er evaluering?</a:t>
            </a:r>
          </a:p>
          <a:p>
            <a:r>
              <a:rPr lang="nb-NO" dirty="0"/>
              <a:t>Hva er forskjellen mellom testing og evaluering?</a:t>
            </a:r>
          </a:p>
          <a:p>
            <a:r>
              <a:rPr lang="nb-NO" dirty="0"/>
              <a:t>Hva er de ulike evalueringsformene?</a:t>
            </a:r>
          </a:p>
          <a:p>
            <a:r>
              <a:rPr lang="nb-NO" dirty="0"/>
              <a:t>Hva er de ulike evalueringene som involverer brukere?</a:t>
            </a:r>
          </a:p>
          <a:p>
            <a:r>
              <a:rPr lang="nb-NO" dirty="0"/>
              <a:t>Hva er de ulike evalueringene som </a:t>
            </a:r>
            <a:r>
              <a:rPr lang="nb-NO" i="1" dirty="0"/>
              <a:t>ikke</a:t>
            </a:r>
            <a:r>
              <a:rPr lang="nb-NO" dirty="0"/>
              <a:t> involverer brukere?</a:t>
            </a:r>
          </a:p>
          <a:p>
            <a:r>
              <a:rPr lang="nb-NO" dirty="0"/>
              <a:t>Hva er de ulike evalueringsmetodene?</a:t>
            </a:r>
          </a:p>
          <a:p>
            <a:r>
              <a:rPr lang="nb-NO" dirty="0"/>
              <a:t>Hva er de ulike evalueringsteknikkene?</a:t>
            </a:r>
          </a:p>
        </p:txBody>
      </p:sp>
      <p:grpSp>
        <p:nvGrpSpPr>
          <p:cNvPr id="4" name="Gruppe 3">
            <a:extLst>
              <a:ext uri="{FF2B5EF4-FFF2-40B4-BE49-F238E27FC236}">
                <a16:creationId xmlns:a16="http://schemas.microsoft.com/office/drawing/2014/main" id="{A4F7AA5F-FF0F-6E27-EAE7-1DCB9DF803A7}"/>
              </a:ext>
            </a:extLst>
          </p:cNvPr>
          <p:cNvGrpSpPr/>
          <p:nvPr/>
        </p:nvGrpSpPr>
        <p:grpSpPr>
          <a:xfrm>
            <a:off x="204225" y="6176963"/>
            <a:ext cx="11783549" cy="531016"/>
            <a:chOff x="3699315" y="1734500"/>
            <a:chExt cx="10515600" cy="2470610"/>
          </a:xfrm>
        </p:grpSpPr>
        <p:sp>
          <p:nvSpPr>
            <p:cNvPr id="5" name="Tittel 1">
              <a:extLst>
                <a:ext uri="{FF2B5EF4-FFF2-40B4-BE49-F238E27FC236}">
                  <a16:creationId xmlns:a16="http://schemas.microsoft.com/office/drawing/2014/main" id="{6788F14F-F6F6-19AB-61A4-F627D6CB3ADC}"/>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MMI</a:t>
              </a:r>
              <a:endParaRPr lang="nb-NO" sz="2800" dirty="0"/>
            </a:p>
          </p:txBody>
        </p:sp>
        <p:sp>
          <p:nvSpPr>
            <p:cNvPr id="6" name="Plassholder for tekst 2">
              <a:extLst>
                <a:ext uri="{FF2B5EF4-FFF2-40B4-BE49-F238E27FC236}">
                  <a16:creationId xmlns:a16="http://schemas.microsoft.com/office/drawing/2014/main" id="{00A7D986-10E6-1A23-86FD-6F0958104E09}"/>
                </a:ext>
              </a:extLst>
            </p:cNvPr>
            <p:cNvSpPr txBox="1">
              <a:spLocks/>
            </p:cNvSpPr>
            <p:nvPr/>
          </p:nvSpPr>
          <p:spPr>
            <a:xfrm>
              <a:off x="3699315" y="2803502"/>
              <a:ext cx="10515600" cy="1401608"/>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Menneske</a:t>
              </a:r>
              <a:r>
                <a:rPr lang="nb-NO" sz="1800" i="1" dirty="0"/>
                <a:t> maskin interaksjon</a:t>
              </a:r>
            </a:p>
          </p:txBody>
        </p:sp>
      </p:grpSp>
    </p:spTree>
    <p:extLst>
      <p:ext uri="{BB962C8B-B14F-4D97-AF65-F5344CB8AC3E}">
        <p14:creationId xmlns:p14="http://schemas.microsoft.com/office/powerpoint/2010/main" val="1160170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3609B-7406-D47E-3BF9-9AD624900F39}"/>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80F24960-27E7-8688-2C05-EAC33B8DD52F}"/>
              </a:ext>
            </a:extLst>
          </p:cNvPr>
          <p:cNvSpPr>
            <a:spLocks noGrp="1"/>
          </p:cNvSpPr>
          <p:nvPr>
            <p:ph type="title"/>
          </p:nvPr>
        </p:nvSpPr>
        <p:spPr/>
        <p:txBody>
          <a:bodyPr/>
          <a:lstStyle/>
          <a:p>
            <a:r>
              <a:rPr lang="nb-NO" dirty="0"/>
              <a:t>Brukertesting</a:t>
            </a:r>
          </a:p>
        </p:txBody>
      </p:sp>
      <p:sp>
        <p:nvSpPr>
          <p:cNvPr id="3" name="Plassholder for innhold 2">
            <a:extLst>
              <a:ext uri="{FF2B5EF4-FFF2-40B4-BE49-F238E27FC236}">
                <a16:creationId xmlns:a16="http://schemas.microsoft.com/office/drawing/2014/main" id="{30736579-BC9D-6FDA-4B01-91851A87B595}"/>
              </a:ext>
            </a:extLst>
          </p:cNvPr>
          <p:cNvSpPr>
            <a:spLocks noGrp="1"/>
          </p:cNvSpPr>
          <p:nvPr>
            <p:ph idx="1"/>
          </p:nvPr>
        </p:nvSpPr>
        <p:spPr/>
        <p:txBody>
          <a:bodyPr/>
          <a:lstStyle/>
          <a:p>
            <a:r>
              <a:rPr lang="nb-NO" dirty="0"/>
              <a:t>Hva er brukertesting?</a:t>
            </a:r>
          </a:p>
          <a:p>
            <a:r>
              <a:rPr lang="nb-NO" dirty="0"/>
              <a:t>Hva er definisjonen på brukertesting?</a:t>
            </a:r>
          </a:p>
          <a:p>
            <a:r>
              <a:rPr lang="nb-NO" dirty="0"/>
              <a:t>Hva er målet med brukertesting?</a:t>
            </a:r>
          </a:p>
          <a:p>
            <a:r>
              <a:rPr lang="nb-NO" dirty="0"/>
              <a:t>Hva bør brukertesting ha?</a:t>
            </a:r>
          </a:p>
        </p:txBody>
      </p:sp>
      <p:grpSp>
        <p:nvGrpSpPr>
          <p:cNvPr id="4" name="Gruppe 3">
            <a:extLst>
              <a:ext uri="{FF2B5EF4-FFF2-40B4-BE49-F238E27FC236}">
                <a16:creationId xmlns:a16="http://schemas.microsoft.com/office/drawing/2014/main" id="{6862E243-3BDE-6CB0-CCEE-0CC566C31BF4}"/>
              </a:ext>
            </a:extLst>
          </p:cNvPr>
          <p:cNvGrpSpPr/>
          <p:nvPr/>
        </p:nvGrpSpPr>
        <p:grpSpPr>
          <a:xfrm>
            <a:off x="204225" y="6176963"/>
            <a:ext cx="11783549" cy="531016"/>
            <a:chOff x="3699315" y="1734500"/>
            <a:chExt cx="10515600" cy="2470610"/>
          </a:xfrm>
        </p:grpSpPr>
        <p:sp>
          <p:nvSpPr>
            <p:cNvPr id="5" name="Tittel 1">
              <a:extLst>
                <a:ext uri="{FF2B5EF4-FFF2-40B4-BE49-F238E27FC236}">
                  <a16:creationId xmlns:a16="http://schemas.microsoft.com/office/drawing/2014/main" id="{6FF2A44D-C766-9B2E-6A8B-1FA07F89B65E}"/>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MMI</a:t>
              </a:r>
              <a:endParaRPr lang="nb-NO" sz="2800" dirty="0"/>
            </a:p>
          </p:txBody>
        </p:sp>
        <p:sp>
          <p:nvSpPr>
            <p:cNvPr id="6" name="Plassholder for tekst 2">
              <a:extLst>
                <a:ext uri="{FF2B5EF4-FFF2-40B4-BE49-F238E27FC236}">
                  <a16:creationId xmlns:a16="http://schemas.microsoft.com/office/drawing/2014/main" id="{6BFA7DD3-6B87-F88B-AEAE-C7951446034E}"/>
                </a:ext>
              </a:extLst>
            </p:cNvPr>
            <p:cNvSpPr txBox="1">
              <a:spLocks/>
            </p:cNvSpPr>
            <p:nvPr/>
          </p:nvSpPr>
          <p:spPr>
            <a:xfrm>
              <a:off x="3699315" y="2803502"/>
              <a:ext cx="10515600" cy="1401608"/>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Menneske</a:t>
              </a:r>
              <a:r>
                <a:rPr lang="nb-NO" sz="1800" i="1" dirty="0"/>
                <a:t> maskin interaksjon</a:t>
              </a:r>
            </a:p>
          </p:txBody>
        </p:sp>
      </p:grpSp>
    </p:spTree>
    <p:extLst>
      <p:ext uri="{BB962C8B-B14F-4D97-AF65-F5344CB8AC3E}">
        <p14:creationId xmlns:p14="http://schemas.microsoft.com/office/powerpoint/2010/main" val="3573753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C97CC-6B5A-836F-03A2-D96BFDD9BD54}"/>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F99C8181-5F33-2305-0B96-F451BDD79708}"/>
              </a:ext>
            </a:extLst>
          </p:cNvPr>
          <p:cNvSpPr>
            <a:spLocks noGrp="1"/>
          </p:cNvSpPr>
          <p:nvPr>
            <p:ph type="title"/>
          </p:nvPr>
        </p:nvSpPr>
        <p:spPr/>
        <p:txBody>
          <a:bodyPr/>
          <a:lstStyle/>
          <a:p>
            <a:r>
              <a:rPr lang="nb-NO" dirty="0"/>
              <a:t>Universell utforming</a:t>
            </a:r>
          </a:p>
        </p:txBody>
      </p:sp>
      <p:sp>
        <p:nvSpPr>
          <p:cNvPr id="3" name="Plassholder for innhold 2">
            <a:extLst>
              <a:ext uri="{FF2B5EF4-FFF2-40B4-BE49-F238E27FC236}">
                <a16:creationId xmlns:a16="http://schemas.microsoft.com/office/drawing/2014/main" id="{F61A9395-3811-D2F2-43C6-A6120C491373}"/>
              </a:ext>
            </a:extLst>
          </p:cNvPr>
          <p:cNvSpPr>
            <a:spLocks noGrp="1"/>
          </p:cNvSpPr>
          <p:nvPr>
            <p:ph idx="1"/>
          </p:nvPr>
        </p:nvSpPr>
        <p:spPr/>
        <p:txBody>
          <a:bodyPr/>
          <a:lstStyle/>
          <a:p>
            <a:r>
              <a:rPr lang="nb-NO" dirty="0"/>
              <a:t>Hva er definisjonen på universell utforming?</a:t>
            </a:r>
          </a:p>
          <a:p>
            <a:r>
              <a:rPr lang="nb-NO" dirty="0"/>
              <a:t>Hva er hensikten med universell utforming?</a:t>
            </a:r>
          </a:p>
          <a:p>
            <a:r>
              <a:rPr lang="nb-NO" dirty="0"/>
              <a:t>Hva handler universell utforming </a:t>
            </a:r>
            <a:r>
              <a:rPr lang="nb-NO" i="1" dirty="0"/>
              <a:t>ikke </a:t>
            </a:r>
            <a:r>
              <a:rPr lang="nb-NO" dirty="0"/>
              <a:t>om?</a:t>
            </a:r>
          </a:p>
          <a:p>
            <a:r>
              <a:rPr lang="nb-NO" dirty="0"/>
              <a:t>Hva bidrar universell utforming til?</a:t>
            </a:r>
          </a:p>
          <a:p>
            <a:endParaRPr lang="nb-NO" dirty="0"/>
          </a:p>
          <a:p>
            <a:r>
              <a:rPr lang="nb-NO" dirty="0"/>
              <a:t>Hva er prinsippene for universell utforming?</a:t>
            </a:r>
          </a:p>
          <a:p>
            <a:endParaRPr lang="nb-NO" dirty="0"/>
          </a:p>
        </p:txBody>
      </p:sp>
      <p:grpSp>
        <p:nvGrpSpPr>
          <p:cNvPr id="4" name="Gruppe 3">
            <a:extLst>
              <a:ext uri="{FF2B5EF4-FFF2-40B4-BE49-F238E27FC236}">
                <a16:creationId xmlns:a16="http://schemas.microsoft.com/office/drawing/2014/main" id="{D20D3DC8-8D87-430A-9757-CB40CA015B84}"/>
              </a:ext>
            </a:extLst>
          </p:cNvPr>
          <p:cNvGrpSpPr/>
          <p:nvPr/>
        </p:nvGrpSpPr>
        <p:grpSpPr>
          <a:xfrm>
            <a:off x="204225" y="6176963"/>
            <a:ext cx="11783549" cy="531016"/>
            <a:chOff x="3699315" y="1734500"/>
            <a:chExt cx="10515600" cy="2470610"/>
          </a:xfrm>
        </p:grpSpPr>
        <p:sp>
          <p:nvSpPr>
            <p:cNvPr id="5" name="Tittel 1">
              <a:extLst>
                <a:ext uri="{FF2B5EF4-FFF2-40B4-BE49-F238E27FC236}">
                  <a16:creationId xmlns:a16="http://schemas.microsoft.com/office/drawing/2014/main" id="{F0189B10-B1C7-223E-99E0-A407470F176A}"/>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MMI</a:t>
              </a:r>
              <a:endParaRPr lang="nb-NO" sz="2800" dirty="0"/>
            </a:p>
          </p:txBody>
        </p:sp>
        <p:sp>
          <p:nvSpPr>
            <p:cNvPr id="6" name="Plassholder for tekst 2">
              <a:extLst>
                <a:ext uri="{FF2B5EF4-FFF2-40B4-BE49-F238E27FC236}">
                  <a16:creationId xmlns:a16="http://schemas.microsoft.com/office/drawing/2014/main" id="{A76A758E-65C3-0CDF-EE48-ACE13FF0CA36}"/>
                </a:ext>
              </a:extLst>
            </p:cNvPr>
            <p:cNvSpPr txBox="1">
              <a:spLocks/>
            </p:cNvSpPr>
            <p:nvPr/>
          </p:nvSpPr>
          <p:spPr>
            <a:xfrm>
              <a:off x="3699315" y="2803502"/>
              <a:ext cx="10515600" cy="1401608"/>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Menneske</a:t>
              </a:r>
              <a:r>
                <a:rPr lang="nb-NO" sz="1800" i="1" dirty="0"/>
                <a:t> maskin interaksjon</a:t>
              </a:r>
            </a:p>
          </p:txBody>
        </p:sp>
      </p:grpSp>
    </p:spTree>
    <p:extLst>
      <p:ext uri="{BB962C8B-B14F-4D97-AF65-F5344CB8AC3E}">
        <p14:creationId xmlns:p14="http://schemas.microsoft.com/office/powerpoint/2010/main" val="2690760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4EBA3-D3E9-7D96-912D-83595A18D22F}"/>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8886021D-A499-F529-8329-A96447BB7521}"/>
              </a:ext>
            </a:extLst>
          </p:cNvPr>
          <p:cNvSpPr>
            <a:spLocks noGrp="1"/>
          </p:cNvSpPr>
          <p:nvPr>
            <p:ph type="title"/>
          </p:nvPr>
        </p:nvSpPr>
        <p:spPr/>
        <p:txBody>
          <a:bodyPr/>
          <a:lstStyle/>
          <a:p>
            <a:r>
              <a:rPr lang="nb-NO" dirty="0"/>
              <a:t>Lovkrav til universell utforming</a:t>
            </a:r>
          </a:p>
        </p:txBody>
      </p:sp>
      <p:sp>
        <p:nvSpPr>
          <p:cNvPr id="3" name="Plassholder for innhold 2">
            <a:extLst>
              <a:ext uri="{FF2B5EF4-FFF2-40B4-BE49-F238E27FC236}">
                <a16:creationId xmlns:a16="http://schemas.microsoft.com/office/drawing/2014/main" id="{1D901FE2-196E-2998-8FA0-42CAAC214EF4}"/>
              </a:ext>
            </a:extLst>
          </p:cNvPr>
          <p:cNvSpPr>
            <a:spLocks noGrp="1"/>
          </p:cNvSpPr>
          <p:nvPr>
            <p:ph idx="1"/>
          </p:nvPr>
        </p:nvSpPr>
        <p:spPr/>
        <p:txBody>
          <a:bodyPr/>
          <a:lstStyle/>
          <a:p>
            <a:r>
              <a:rPr lang="nb-NO" dirty="0"/>
              <a:t>Hvilke paragrafer omfatter likestilling og diskriminering?</a:t>
            </a:r>
          </a:p>
          <a:p>
            <a:r>
              <a:rPr lang="nb-NO" dirty="0"/>
              <a:t>Hva sier de ulike paragrafene konkret?</a:t>
            </a:r>
          </a:p>
          <a:p>
            <a:r>
              <a:rPr lang="nb-NO" dirty="0"/>
              <a:t>Når trådde disse paragrafene i kraft?</a:t>
            </a:r>
          </a:p>
          <a:p>
            <a:r>
              <a:rPr lang="nb-NO" dirty="0"/>
              <a:t>Hva er forskriften om universell utforming av IKT?</a:t>
            </a:r>
          </a:p>
          <a:p>
            <a:r>
              <a:rPr lang="nb-NO" dirty="0"/>
              <a:t>Når trådde forskriften om universell utforming av IKT i kraft?</a:t>
            </a:r>
          </a:p>
          <a:p>
            <a:r>
              <a:rPr lang="nb-NO" dirty="0"/>
              <a:t>Hva er WAD?</a:t>
            </a:r>
          </a:p>
          <a:p>
            <a:r>
              <a:rPr lang="nb-NO" dirty="0"/>
              <a:t>Når kom de nyeste kravene fra WAD?</a:t>
            </a:r>
          </a:p>
          <a:p>
            <a:r>
              <a:rPr lang="nb-NO" dirty="0"/>
              <a:t>Hvilke gode argumenter finnes det for UU?</a:t>
            </a:r>
          </a:p>
        </p:txBody>
      </p:sp>
      <p:grpSp>
        <p:nvGrpSpPr>
          <p:cNvPr id="4" name="Gruppe 3">
            <a:extLst>
              <a:ext uri="{FF2B5EF4-FFF2-40B4-BE49-F238E27FC236}">
                <a16:creationId xmlns:a16="http://schemas.microsoft.com/office/drawing/2014/main" id="{EC43FC3F-A058-9F20-AA97-CADFCF55E075}"/>
              </a:ext>
            </a:extLst>
          </p:cNvPr>
          <p:cNvGrpSpPr/>
          <p:nvPr/>
        </p:nvGrpSpPr>
        <p:grpSpPr>
          <a:xfrm>
            <a:off x="204225" y="6176963"/>
            <a:ext cx="11783549" cy="531016"/>
            <a:chOff x="3699315" y="1734500"/>
            <a:chExt cx="10515600" cy="2470610"/>
          </a:xfrm>
        </p:grpSpPr>
        <p:sp>
          <p:nvSpPr>
            <p:cNvPr id="5" name="Tittel 1">
              <a:extLst>
                <a:ext uri="{FF2B5EF4-FFF2-40B4-BE49-F238E27FC236}">
                  <a16:creationId xmlns:a16="http://schemas.microsoft.com/office/drawing/2014/main" id="{B1327692-EBB1-A062-C5C8-AB121F6A5557}"/>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MMI</a:t>
              </a:r>
              <a:endParaRPr lang="nb-NO" sz="2800" dirty="0"/>
            </a:p>
          </p:txBody>
        </p:sp>
        <p:sp>
          <p:nvSpPr>
            <p:cNvPr id="6" name="Plassholder for tekst 2">
              <a:extLst>
                <a:ext uri="{FF2B5EF4-FFF2-40B4-BE49-F238E27FC236}">
                  <a16:creationId xmlns:a16="http://schemas.microsoft.com/office/drawing/2014/main" id="{C3D06CFC-9ECB-9330-15C1-6E3EA7DD3DCD}"/>
                </a:ext>
              </a:extLst>
            </p:cNvPr>
            <p:cNvSpPr txBox="1">
              <a:spLocks/>
            </p:cNvSpPr>
            <p:nvPr/>
          </p:nvSpPr>
          <p:spPr>
            <a:xfrm>
              <a:off x="3699315" y="2803502"/>
              <a:ext cx="10515600" cy="1401608"/>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Menneske</a:t>
              </a:r>
              <a:r>
                <a:rPr lang="nb-NO" sz="1800" i="1" dirty="0"/>
                <a:t> maskin interaksjon</a:t>
              </a:r>
            </a:p>
          </p:txBody>
        </p:sp>
      </p:grpSp>
    </p:spTree>
    <p:extLst>
      <p:ext uri="{BB962C8B-B14F-4D97-AF65-F5344CB8AC3E}">
        <p14:creationId xmlns:p14="http://schemas.microsoft.com/office/powerpoint/2010/main" val="4285015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41BB2-1DB3-A1D1-0CF8-6045300F5119}"/>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8CB2FB77-8AA0-BE45-79AB-58A8F30E4E07}"/>
              </a:ext>
            </a:extLst>
          </p:cNvPr>
          <p:cNvSpPr>
            <a:spLocks noGrp="1"/>
          </p:cNvSpPr>
          <p:nvPr>
            <p:ph type="title"/>
          </p:nvPr>
        </p:nvSpPr>
        <p:spPr/>
        <p:txBody>
          <a:bodyPr/>
          <a:lstStyle/>
          <a:p>
            <a:r>
              <a:rPr lang="nb-NO" dirty="0"/>
              <a:t>WCAG 2.0</a:t>
            </a:r>
          </a:p>
        </p:txBody>
      </p:sp>
      <p:sp>
        <p:nvSpPr>
          <p:cNvPr id="3" name="Plassholder for innhold 2">
            <a:extLst>
              <a:ext uri="{FF2B5EF4-FFF2-40B4-BE49-F238E27FC236}">
                <a16:creationId xmlns:a16="http://schemas.microsoft.com/office/drawing/2014/main" id="{FD9D548B-A996-0DD2-26BD-96028457C476}"/>
              </a:ext>
            </a:extLst>
          </p:cNvPr>
          <p:cNvSpPr>
            <a:spLocks noGrp="1"/>
          </p:cNvSpPr>
          <p:nvPr>
            <p:ph idx="1"/>
          </p:nvPr>
        </p:nvSpPr>
        <p:spPr/>
        <p:txBody>
          <a:bodyPr/>
          <a:lstStyle/>
          <a:p>
            <a:r>
              <a:rPr lang="nb-NO" dirty="0"/>
              <a:t>Hva er WCAG 2.0?</a:t>
            </a:r>
          </a:p>
          <a:p>
            <a:r>
              <a:rPr lang="nb-NO" dirty="0"/>
              <a:t>Hva er målet med WCAG 2.0?</a:t>
            </a:r>
          </a:p>
          <a:p>
            <a:r>
              <a:rPr lang="nb-NO" dirty="0"/>
              <a:t>Hva er noen krav til WCAG 2.0?</a:t>
            </a:r>
          </a:p>
          <a:p>
            <a:r>
              <a:rPr lang="nb-NO" dirty="0"/>
              <a:t>Hva er prinsippene i det øverste nivået av WCAG 2.0?</a:t>
            </a:r>
          </a:p>
          <a:p>
            <a:r>
              <a:rPr lang="nb-NO" dirty="0"/>
              <a:t>Hva er det nettsider må oppfylle for å følge WCAG 2.0?</a:t>
            </a:r>
          </a:p>
        </p:txBody>
      </p:sp>
      <p:grpSp>
        <p:nvGrpSpPr>
          <p:cNvPr id="4" name="Gruppe 3">
            <a:extLst>
              <a:ext uri="{FF2B5EF4-FFF2-40B4-BE49-F238E27FC236}">
                <a16:creationId xmlns:a16="http://schemas.microsoft.com/office/drawing/2014/main" id="{2051E7A9-1422-D414-50D0-5B38D63E13A1}"/>
              </a:ext>
            </a:extLst>
          </p:cNvPr>
          <p:cNvGrpSpPr/>
          <p:nvPr/>
        </p:nvGrpSpPr>
        <p:grpSpPr>
          <a:xfrm>
            <a:off x="204225" y="6176963"/>
            <a:ext cx="11783549" cy="531016"/>
            <a:chOff x="3699315" y="1734500"/>
            <a:chExt cx="10515600" cy="2470610"/>
          </a:xfrm>
        </p:grpSpPr>
        <p:sp>
          <p:nvSpPr>
            <p:cNvPr id="5" name="Tittel 1">
              <a:extLst>
                <a:ext uri="{FF2B5EF4-FFF2-40B4-BE49-F238E27FC236}">
                  <a16:creationId xmlns:a16="http://schemas.microsoft.com/office/drawing/2014/main" id="{84742A95-75C6-66D2-A9C4-6771E709A6DB}"/>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MMI</a:t>
              </a:r>
              <a:endParaRPr lang="nb-NO" sz="2800" dirty="0"/>
            </a:p>
          </p:txBody>
        </p:sp>
        <p:sp>
          <p:nvSpPr>
            <p:cNvPr id="6" name="Plassholder for tekst 2">
              <a:extLst>
                <a:ext uri="{FF2B5EF4-FFF2-40B4-BE49-F238E27FC236}">
                  <a16:creationId xmlns:a16="http://schemas.microsoft.com/office/drawing/2014/main" id="{1670675C-0FA9-8B74-9B4A-E88E61DD8B6F}"/>
                </a:ext>
              </a:extLst>
            </p:cNvPr>
            <p:cNvSpPr txBox="1">
              <a:spLocks/>
            </p:cNvSpPr>
            <p:nvPr/>
          </p:nvSpPr>
          <p:spPr>
            <a:xfrm>
              <a:off x="3699315" y="2803502"/>
              <a:ext cx="10515600" cy="1401608"/>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Menneske</a:t>
              </a:r>
              <a:r>
                <a:rPr lang="nb-NO" sz="1800" i="1" dirty="0"/>
                <a:t> maskin interaksjon</a:t>
              </a:r>
            </a:p>
          </p:txBody>
        </p:sp>
      </p:grpSp>
    </p:spTree>
    <p:extLst>
      <p:ext uri="{BB962C8B-B14F-4D97-AF65-F5344CB8AC3E}">
        <p14:creationId xmlns:p14="http://schemas.microsoft.com/office/powerpoint/2010/main" val="52747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95244-4384-0518-9B1A-6DDD83E55EB7}"/>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6D13F59E-B8E8-6996-E538-FFD8EEDC14A9}"/>
              </a:ext>
            </a:extLst>
          </p:cNvPr>
          <p:cNvSpPr>
            <a:spLocks noGrp="1"/>
          </p:cNvSpPr>
          <p:nvPr>
            <p:ph type="title"/>
          </p:nvPr>
        </p:nvSpPr>
        <p:spPr/>
        <p:txBody>
          <a:bodyPr/>
          <a:lstStyle/>
          <a:p>
            <a:r>
              <a:rPr lang="nb-NO" dirty="0"/>
              <a:t>UML</a:t>
            </a:r>
          </a:p>
        </p:txBody>
      </p:sp>
      <p:sp>
        <p:nvSpPr>
          <p:cNvPr id="3" name="Plassholder for tekst 2">
            <a:extLst>
              <a:ext uri="{FF2B5EF4-FFF2-40B4-BE49-F238E27FC236}">
                <a16:creationId xmlns:a16="http://schemas.microsoft.com/office/drawing/2014/main" id="{B8FA0293-4923-C55F-3550-5315EC179E3B}"/>
              </a:ext>
            </a:extLst>
          </p:cNvPr>
          <p:cNvSpPr>
            <a:spLocks noGrp="1"/>
          </p:cNvSpPr>
          <p:nvPr>
            <p:ph type="body" idx="1"/>
          </p:nvPr>
        </p:nvSpPr>
        <p:spPr/>
        <p:txBody>
          <a:bodyPr/>
          <a:lstStyle/>
          <a:p>
            <a:r>
              <a:rPr lang="nb-NO" dirty="0" err="1"/>
              <a:t>Unified</a:t>
            </a:r>
            <a:r>
              <a:rPr lang="nb-NO" dirty="0"/>
              <a:t> </a:t>
            </a:r>
            <a:r>
              <a:rPr lang="nb-NO" dirty="0" err="1"/>
              <a:t>Modeling</a:t>
            </a:r>
            <a:r>
              <a:rPr lang="nb-NO" dirty="0"/>
              <a:t> Language</a:t>
            </a:r>
          </a:p>
        </p:txBody>
      </p:sp>
    </p:spTree>
    <p:extLst>
      <p:ext uri="{BB962C8B-B14F-4D97-AF65-F5344CB8AC3E}">
        <p14:creationId xmlns:p14="http://schemas.microsoft.com/office/powerpoint/2010/main" val="1634877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E0361-A5FB-6627-558D-C73C5632B442}"/>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885D3482-D55E-14F2-CF5B-6489FD3D726C}"/>
              </a:ext>
            </a:extLst>
          </p:cNvPr>
          <p:cNvSpPr>
            <a:spLocks noGrp="1"/>
          </p:cNvSpPr>
          <p:nvPr>
            <p:ph type="title"/>
          </p:nvPr>
        </p:nvSpPr>
        <p:spPr/>
        <p:txBody>
          <a:bodyPr/>
          <a:lstStyle/>
          <a:p>
            <a:r>
              <a:rPr lang="nb-NO" dirty="0"/>
              <a:t>UML</a:t>
            </a:r>
          </a:p>
        </p:txBody>
      </p:sp>
      <p:sp>
        <p:nvSpPr>
          <p:cNvPr id="3" name="Plassholder for innhold 2">
            <a:extLst>
              <a:ext uri="{FF2B5EF4-FFF2-40B4-BE49-F238E27FC236}">
                <a16:creationId xmlns:a16="http://schemas.microsoft.com/office/drawing/2014/main" id="{E7CEED31-5330-E4F8-C15C-90F7CCD561E4}"/>
              </a:ext>
            </a:extLst>
          </p:cNvPr>
          <p:cNvSpPr>
            <a:spLocks noGrp="1"/>
          </p:cNvSpPr>
          <p:nvPr>
            <p:ph idx="1"/>
          </p:nvPr>
        </p:nvSpPr>
        <p:spPr/>
        <p:txBody>
          <a:bodyPr/>
          <a:lstStyle/>
          <a:p>
            <a:r>
              <a:rPr lang="nb-NO" dirty="0"/>
              <a:t>Hvorfor UML?</a:t>
            </a:r>
          </a:p>
          <a:p>
            <a:r>
              <a:rPr lang="nb-NO" dirty="0"/>
              <a:t>Hvordan fungerer UML?</a:t>
            </a:r>
          </a:p>
          <a:p>
            <a:r>
              <a:rPr lang="nb-NO" dirty="0"/>
              <a:t>Hvilke ulike modeller finnes?</a:t>
            </a:r>
          </a:p>
        </p:txBody>
      </p:sp>
      <p:grpSp>
        <p:nvGrpSpPr>
          <p:cNvPr id="8" name="Gruppe 7">
            <a:extLst>
              <a:ext uri="{FF2B5EF4-FFF2-40B4-BE49-F238E27FC236}">
                <a16:creationId xmlns:a16="http://schemas.microsoft.com/office/drawing/2014/main" id="{B034805D-8919-6ACA-B033-487C8B0DF702}"/>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AAF3DF9D-3714-5004-535B-D9715287E97B}"/>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UML</a:t>
              </a:r>
              <a:endParaRPr lang="nb-NO" sz="2800" dirty="0"/>
            </a:p>
          </p:txBody>
        </p:sp>
        <p:sp>
          <p:nvSpPr>
            <p:cNvPr id="10" name="Plassholder for tekst 2">
              <a:extLst>
                <a:ext uri="{FF2B5EF4-FFF2-40B4-BE49-F238E27FC236}">
                  <a16:creationId xmlns:a16="http://schemas.microsoft.com/office/drawing/2014/main" id="{1E9F2F51-3C80-BDFB-3673-15B1935AEE52}"/>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err="1"/>
                <a:t>Unified</a:t>
              </a:r>
              <a:r>
                <a:rPr lang="nb-NO" sz="1600" i="1" dirty="0"/>
                <a:t> </a:t>
              </a:r>
              <a:r>
                <a:rPr lang="nb-NO" sz="1600" i="1" dirty="0" err="1"/>
                <a:t>Modeling</a:t>
              </a:r>
              <a:r>
                <a:rPr lang="nb-NO" sz="1600" i="1" dirty="0"/>
                <a:t> Language</a:t>
              </a:r>
              <a:endParaRPr lang="nb-NO" sz="1800" i="1" dirty="0"/>
            </a:p>
          </p:txBody>
        </p:sp>
      </p:grpSp>
    </p:spTree>
    <p:extLst>
      <p:ext uri="{BB962C8B-B14F-4D97-AF65-F5344CB8AC3E}">
        <p14:creationId xmlns:p14="http://schemas.microsoft.com/office/powerpoint/2010/main" val="970755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B8CE1-1A19-086D-23BB-F2926DBAA176}"/>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C2838027-592E-278B-47C7-10C976428980}"/>
              </a:ext>
            </a:extLst>
          </p:cNvPr>
          <p:cNvSpPr>
            <a:spLocks noGrp="1"/>
          </p:cNvSpPr>
          <p:nvPr>
            <p:ph type="title"/>
          </p:nvPr>
        </p:nvSpPr>
        <p:spPr/>
        <p:txBody>
          <a:bodyPr/>
          <a:lstStyle/>
          <a:p>
            <a:r>
              <a:rPr lang="nb-NO" dirty="0" err="1"/>
              <a:t>Use</a:t>
            </a:r>
            <a:r>
              <a:rPr lang="nb-NO" dirty="0"/>
              <a:t> case</a:t>
            </a:r>
          </a:p>
        </p:txBody>
      </p:sp>
      <p:sp>
        <p:nvSpPr>
          <p:cNvPr id="3" name="Plassholder for innhold 2">
            <a:extLst>
              <a:ext uri="{FF2B5EF4-FFF2-40B4-BE49-F238E27FC236}">
                <a16:creationId xmlns:a16="http://schemas.microsoft.com/office/drawing/2014/main" id="{94982728-80EA-91D5-AFD0-B9D79712FBC4}"/>
              </a:ext>
            </a:extLst>
          </p:cNvPr>
          <p:cNvSpPr>
            <a:spLocks noGrp="1"/>
          </p:cNvSpPr>
          <p:nvPr>
            <p:ph idx="1"/>
          </p:nvPr>
        </p:nvSpPr>
        <p:spPr/>
        <p:txBody>
          <a:bodyPr/>
          <a:lstStyle/>
          <a:p>
            <a:r>
              <a:rPr lang="nb-NO" dirty="0"/>
              <a:t>Hva er et </a:t>
            </a:r>
            <a:r>
              <a:rPr lang="nb-NO" dirty="0" err="1"/>
              <a:t>use</a:t>
            </a:r>
            <a:r>
              <a:rPr lang="nb-NO" dirty="0"/>
              <a:t> case diagram? </a:t>
            </a:r>
          </a:p>
          <a:p>
            <a:r>
              <a:rPr lang="nb-NO" dirty="0"/>
              <a:t>Hvordan lager man et </a:t>
            </a:r>
            <a:r>
              <a:rPr lang="nb-NO" dirty="0" err="1"/>
              <a:t>use</a:t>
            </a:r>
            <a:r>
              <a:rPr lang="nb-NO" dirty="0"/>
              <a:t> case diagram?</a:t>
            </a:r>
          </a:p>
        </p:txBody>
      </p:sp>
      <p:grpSp>
        <p:nvGrpSpPr>
          <p:cNvPr id="8" name="Gruppe 7">
            <a:extLst>
              <a:ext uri="{FF2B5EF4-FFF2-40B4-BE49-F238E27FC236}">
                <a16:creationId xmlns:a16="http://schemas.microsoft.com/office/drawing/2014/main" id="{9A0431B9-5154-72BC-2851-F7C19AB61CBB}"/>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413A99FA-CE9F-DFAA-0825-01992673519C}"/>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UML</a:t>
              </a:r>
              <a:endParaRPr lang="nb-NO" sz="2800" dirty="0"/>
            </a:p>
          </p:txBody>
        </p:sp>
        <p:sp>
          <p:nvSpPr>
            <p:cNvPr id="10" name="Plassholder for tekst 2">
              <a:extLst>
                <a:ext uri="{FF2B5EF4-FFF2-40B4-BE49-F238E27FC236}">
                  <a16:creationId xmlns:a16="http://schemas.microsoft.com/office/drawing/2014/main" id="{D2F4A11A-C806-4B0E-EF2F-AA00E2E018DA}"/>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err="1"/>
                <a:t>Unified</a:t>
              </a:r>
              <a:r>
                <a:rPr lang="nb-NO" sz="1600" i="1" dirty="0"/>
                <a:t> </a:t>
              </a:r>
              <a:r>
                <a:rPr lang="nb-NO" sz="1600" i="1" dirty="0" err="1"/>
                <a:t>Modeling</a:t>
              </a:r>
              <a:r>
                <a:rPr lang="nb-NO" sz="1600" i="1" dirty="0"/>
                <a:t> Language</a:t>
              </a:r>
              <a:endParaRPr lang="nb-NO" sz="1800" i="1" dirty="0"/>
            </a:p>
          </p:txBody>
        </p:sp>
      </p:grpSp>
    </p:spTree>
    <p:extLst>
      <p:ext uri="{BB962C8B-B14F-4D97-AF65-F5344CB8AC3E}">
        <p14:creationId xmlns:p14="http://schemas.microsoft.com/office/powerpoint/2010/main" val="13868028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9F85D-FDD3-1613-EC0A-B22932C20111}"/>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36A0ABE3-215D-B991-195D-4CEE2D777E40}"/>
              </a:ext>
            </a:extLst>
          </p:cNvPr>
          <p:cNvSpPr>
            <a:spLocks noGrp="1"/>
          </p:cNvSpPr>
          <p:nvPr>
            <p:ph type="title"/>
          </p:nvPr>
        </p:nvSpPr>
        <p:spPr/>
        <p:txBody>
          <a:bodyPr/>
          <a:lstStyle/>
          <a:p>
            <a:r>
              <a:rPr lang="nb-NO" dirty="0"/>
              <a:t>Domenemodell</a:t>
            </a:r>
          </a:p>
        </p:txBody>
      </p:sp>
      <p:sp>
        <p:nvSpPr>
          <p:cNvPr id="3" name="Plassholder for innhold 2">
            <a:extLst>
              <a:ext uri="{FF2B5EF4-FFF2-40B4-BE49-F238E27FC236}">
                <a16:creationId xmlns:a16="http://schemas.microsoft.com/office/drawing/2014/main" id="{4E824DEA-4F29-F010-2E86-E6A92BE07FF8}"/>
              </a:ext>
            </a:extLst>
          </p:cNvPr>
          <p:cNvSpPr>
            <a:spLocks noGrp="1"/>
          </p:cNvSpPr>
          <p:nvPr>
            <p:ph idx="1"/>
          </p:nvPr>
        </p:nvSpPr>
        <p:spPr/>
        <p:txBody>
          <a:bodyPr/>
          <a:lstStyle/>
          <a:p>
            <a:r>
              <a:rPr lang="nb-NO" dirty="0"/>
              <a:t>Hva er en domenemodell? </a:t>
            </a:r>
          </a:p>
          <a:p>
            <a:r>
              <a:rPr lang="nb-NO" dirty="0"/>
              <a:t>Hva er hensikten med en domenemodell?</a:t>
            </a:r>
          </a:p>
          <a:p>
            <a:r>
              <a:rPr lang="nb-NO" dirty="0"/>
              <a:t>Hva er viktig med et domenemodell?</a:t>
            </a:r>
          </a:p>
        </p:txBody>
      </p:sp>
      <p:grpSp>
        <p:nvGrpSpPr>
          <p:cNvPr id="8" name="Gruppe 7">
            <a:extLst>
              <a:ext uri="{FF2B5EF4-FFF2-40B4-BE49-F238E27FC236}">
                <a16:creationId xmlns:a16="http://schemas.microsoft.com/office/drawing/2014/main" id="{C2FB2341-1B8A-77DF-412C-85A0BBF7DA00}"/>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7295FE12-2740-C2F3-C8F0-DCC860448F09}"/>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UML</a:t>
              </a:r>
              <a:endParaRPr lang="nb-NO" sz="2800" dirty="0"/>
            </a:p>
          </p:txBody>
        </p:sp>
        <p:sp>
          <p:nvSpPr>
            <p:cNvPr id="10" name="Plassholder for tekst 2">
              <a:extLst>
                <a:ext uri="{FF2B5EF4-FFF2-40B4-BE49-F238E27FC236}">
                  <a16:creationId xmlns:a16="http://schemas.microsoft.com/office/drawing/2014/main" id="{75F57159-1E40-A719-9E9F-C702E7BC871A}"/>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err="1"/>
                <a:t>Unified</a:t>
              </a:r>
              <a:r>
                <a:rPr lang="nb-NO" sz="1600" i="1" dirty="0"/>
                <a:t> </a:t>
              </a:r>
              <a:r>
                <a:rPr lang="nb-NO" sz="1600" i="1" dirty="0" err="1"/>
                <a:t>Modeling</a:t>
              </a:r>
              <a:r>
                <a:rPr lang="nb-NO" sz="1600" i="1" dirty="0"/>
                <a:t> Language</a:t>
              </a:r>
              <a:endParaRPr lang="nb-NO" sz="1800" i="1" dirty="0"/>
            </a:p>
          </p:txBody>
        </p:sp>
      </p:grpSp>
    </p:spTree>
    <p:extLst>
      <p:ext uri="{BB962C8B-B14F-4D97-AF65-F5344CB8AC3E}">
        <p14:creationId xmlns:p14="http://schemas.microsoft.com/office/powerpoint/2010/main" val="2411461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C7827-AF49-7A7A-CDCE-A2EF05554CDE}"/>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A9ACDE30-BCE0-A351-C647-DFB50728BF93}"/>
              </a:ext>
            </a:extLst>
          </p:cNvPr>
          <p:cNvSpPr>
            <a:spLocks noGrp="1"/>
          </p:cNvSpPr>
          <p:nvPr>
            <p:ph type="title"/>
          </p:nvPr>
        </p:nvSpPr>
        <p:spPr/>
        <p:txBody>
          <a:bodyPr/>
          <a:lstStyle/>
          <a:p>
            <a:r>
              <a:rPr lang="nb-NO" dirty="0"/>
              <a:t>Sekvensdiagram</a:t>
            </a:r>
          </a:p>
        </p:txBody>
      </p:sp>
      <p:sp>
        <p:nvSpPr>
          <p:cNvPr id="3" name="Plassholder for innhold 2">
            <a:extLst>
              <a:ext uri="{FF2B5EF4-FFF2-40B4-BE49-F238E27FC236}">
                <a16:creationId xmlns:a16="http://schemas.microsoft.com/office/drawing/2014/main" id="{9C95A4F1-BB35-2C73-A947-5191FF44AFD7}"/>
              </a:ext>
            </a:extLst>
          </p:cNvPr>
          <p:cNvSpPr>
            <a:spLocks noGrp="1"/>
          </p:cNvSpPr>
          <p:nvPr>
            <p:ph idx="1"/>
          </p:nvPr>
        </p:nvSpPr>
        <p:spPr/>
        <p:txBody>
          <a:bodyPr/>
          <a:lstStyle/>
          <a:p>
            <a:r>
              <a:rPr lang="nb-NO" dirty="0"/>
              <a:t>Hva er et sekvensdiagram? </a:t>
            </a:r>
          </a:p>
          <a:p>
            <a:r>
              <a:rPr lang="nb-NO" dirty="0"/>
              <a:t>Hva er hensikten med et sekvensdiagram?</a:t>
            </a:r>
          </a:p>
          <a:p>
            <a:r>
              <a:rPr lang="nb-NO" dirty="0"/>
              <a:t>Hva representerer de ulike elementene i et sekvensdiagram?</a:t>
            </a:r>
          </a:p>
        </p:txBody>
      </p:sp>
      <p:grpSp>
        <p:nvGrpSpPr>
          <p:cNvPr id="8" name="Gruppe 7">
            <a:extLst>
              <a:ext uri="{FF2B5EF4-FFF2-40B4-BE49-F238E27FC236}">
                <a16:creationId xmlns:a16="http://schemas.microsoft.com/office/drawing/2014/main" id="{46C62CD9-5B63-AB3A-D42F-85A035408A8C}"/>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B201E93F-652A-CAEB-8D92-7AEAE51AAABA}"/>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UML</a:t>
              </a:r>
              <a:endParaRPr lang="nb-NO" sz="2800" dirty="0"/>
            </a:p>
          </p:txBody>
        </p:sp>
        <p:sp>
          <p:nvSpPr>
            <p:cNvPr id="10" name="Plassholder for tekst 2">
              <a:extLst>
                <a:ext uri="{FF2B5EF4-FFF2-40B4-BE49-F238E27FC236}">
                  <a16:creationId xmlns:a16="http://schemas.microsoft.com/office/drawing/2014/main" id="{C0D99558-6FA6-4481-5FE1-BDDB8EEB72F3}"/>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err="1"/>
                <a:t>Unified</a:t>
              </a:r>
              <a:r>
                <a:rPr lang="nb-NO" sz="1600" i="1" dirty="0"/>
                <a:t> </a:t>
              </a:r>
              <a:r>
                <a:rPr lang="nb-NO" sz="1600" i="1" dirty="0" err="1"/>
                <a:t>Modeling</a:t>
              </a:r>
              <a:r>
                <a:rPr lang="nb-NO" sz="1600" i="1" dirty="0"/>
                <a:t> Language</a:t>
              </a:r>
              <a:endParaRPr lang="nb-NO" sz="1800" i="1" dirty="0"/>
            </a:p>
          </p:txBody>
        </p:sp>
      </p:grpSp>
    </p:spTree>
    <p:extLst>
      <p:ext uri="{BB962C8B-B14F-4D97-AF65-F5344CB8AC3E}">
        <p14:creationId xmlns:p14="http://schemas.microsoft.com/office/powerpoint/2010/main" val="1384718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04CB0-EEFD-D295-6EBC-83142986A395}"/>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FECE11F6-A785-C9B1-BAD7-FA4BE68A5DAE}"/>
              </a:ext>
            </a:extLst>
          </p:cNvPr>
          <p:cNvSpPr>
            <a:spLocks noGrp="1"/>
          </p:cNvSpPr>
          <p:nvPr>
            <p:ph type="title"/>
          </p:nvPr>
        </p:nvSpPr>
        <p:spPr/>
        <p:txBody>
          <a:bodyPr/>
          <a:lstStyle/>
          <a:p>
            <a:r>
              <a:rPr lang="nb-NO" dirty="0"/>
              <a:t>Aktivitetsdiagram</a:t>
            </a:r>
          </a:p>
        </p:txBody>
      </p:sp>
      <p:sp>
        <p:nvSpPr>
          <p:cNvPr id="3" name="Plassholder for innhold 2">
            <a:extLst>
              <a:ext uri="{FF2B5EF4-FFF2-40B4-BE49-F238E27FC236}">
                <a16:creationId xmlns:a16="http://schemas.microsoft.com/office/drawing/2014/main" id="{0926AA79-D09F-BA4D-2031-F01B13A6B15D}"/>
              </a:ext>
            </a:extLst>
          </p:cNvPr>
          <p:cNvSpPr>
            <a:spLocks noGrp="1"/>
          </p:cNvSpPr>
          <p:nvPr>
            <p:ph idx="1"/>
          </p:nvPr>
        </p:nvSpPr>
        <p:spPr/>
        <p:txBody>
          <a:bodyPr/>
          <a:lstStyle/>
          <a:p>
            <a:r>
              <a:rPr lang="nb-NO" dirty="0"/>
              <a:t>Hva er et aktivitetsdiagram? </a:t>
            </a:r>
          </a:p>
          <a:p>
            <a:r>
              <a:rPr lang="nb-NO" dirty="0"/>
              <a:t>Hva er hensikten med et aktivitetsdiagram?</a:t>
            </a:r>
          </a:p>
          <a:p>
            <a:r>
              <a:rPr lang="nb-NO" dirty="0"/>
              <a:t>Hva representerer de ulike elementene i et aktivitetsdiagram?</a:t>
            </a:r>
          </a:p>
        </p:txBody>
      </p:sp>
      <p:grpSp>
        <p:nvGrpSpPr>
          <p:cNvPr id="8" name="Gruppe 7">
            <a:extLst>
              <a:ext uri="{FF2B5EF4-FFF2-40B4-BE49-F238E27FC236}">
                <a16:creationId xmlns:a16="http://schemas.microsoft.com/office/drawing/2014/main" id="{1C4D8030-F9DE-C2C1-646C-4C507F308B4A}"/>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3AFB3621-F4CF-52FD-E419-F1AAA83B5EAF}"/>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UML</a:t>
              </a:r>
              <a:endParaRPr lang="nb-NO" sz="2800" dirty="0"/>
            </a:p>
          </p:txBody>
        </p:sp>
        <p:sp>
          <p:nvSpPr>
            <p:cNvPr id="10" name="Plassholder for tekst 2">
              <a:extLst>
                <a:ext uri="{FF2B5EF4-FFF2-40B4-BE49-F238E27FC236}">
                  <a16:creationId xmlns:a16="http://schemas.microsoft.com/office/drawing/2014/main" id="{6874FD51-8115-5357-8A1D-4019BABB4E32}"/>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err="1"/>
                <a:t>Unified</a:t>
              </a:r>
              <a:r>
                <a:rPr lang="nb-NO" sz="1600" i="1" dirty="0"/>
                <a:t> </a:t>
              </a:r>
              <a:r>
                <a:rPr lang="nb-NO" sz="1600" i="1" dirty="0" err="1"/>
                <a:t>Modeling</a:t>
              </a:r>
              <a:r>
                <a:rPr lang="nb-NO" sz="1600" i="1" dirty="0"/>
                <a:t> Language</a:t>
              </a:r>
              <a:endParaRPr lang="nb-NO" sz="1800" i="1" dirty="0"/>
            </a:p>
          </p:txBody>
        </p:sp>
      </p:grpSp>
    </p:spTree>
    <p:extLst>
      <p:ext uri="{BB962C8B-B14F-4D97-AF65-F5344CB8AC3E}">
        <p14:creationId xmlns:p14="http://schemas.microsoft.com/office/powerpoint/2010/main" val="42259933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899A2-4A0D-C30B-3C14-DB2B01407B8C}"/>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52E3C8A1-8A57-B030-60EC-07212D5DE780}"/>
              </a:ext>
            </a:extLst>
          </p:cNvPr>
          <p:cNvSpPr>
            <a:spLocks noGrp="1"/>
          </p:cNvSpPr>
          <p:nvPr>
            <p:ph type="title"/>
          </p:nvPr>
        </p:nvSpPr>
        <p:spPr/>
        <p:txBody>
          <a:bodyPr/>
          <a:lstStyle/>
          <a:p>
            <a:r>
              <a:rPr lang="nb-NO" dirty="0"/>
              <a:t>Klassediagram</a:t>
            </a:r>
          </a:p>
        </p:txBody>
      </p:sp>
      <p:sp>
        <p:nvSpPr>
          <p:cNvPr id="3" name="Plassholder for innhold 2">
            <a:extLst>
              <a:ext uri="{FF2B5EF4-FFF2-40B4-BE49-F238E27FC236}">
                <a16:creationId xmlns:a16="http://schemas.microsoft.com/office/drawing/2014/main" id="{48C17643-FB5F-B9A8-3B3A-C58CC37D169D}"/>
              </a:ext>
            </a:extLst>
          </p:cNvPr>
          <p:cNvSpPr>
            <a:spLocks noGrp="1"/>
          </p:cNvSpPr>
          <p:nvPr>
            <p:ph idx="1"/>
          </p:nvPr>
        </p:nvSpPr>
        <p:spPr/>
        <p:txBody>
          <a:bodyPr/>
          <a:lstStyle/>
          <a:p>
            <a:r>
              <a:rPr lang="nb-NO" dirty="0"/>
              <a:t>Hva er et klassediagram? </a:t>
            </a:r>
          </a:p>
          <a:p>
            <a:r>
              <a:rPr lang="nb-NO" dirty="0"/>
              <a:t>Hva er hensikten med et klassediagram?</a:t>
            </a:r>
          </a:p>
          <a:p>
            <a:r>
              <a:rPr lang="nb-NO" dirty="0"/>
              <a:t>Hva representerer de ulike elementene i et klassediagram?</a:t>
            </a:r>
          </a:p>
          <a:p>
            <a:r>
              <a:rPr lang="nb-NO" dirty="0"/>
              <a:t>Når brukes et klassediagram, og hvorfor brukes det da?</a:t>
            </a:r>
          </a:p>
        </p:txBody>
      </p:sp>
      <p:grpSp>
        <p:nvGrpSpPr>
          <p:cNvPr id="8" name="Gruppe 7">
            <a:extLst>
              <a:ext uri="{FF2B5EF4-FFF2-40B4-BE49-F238E27FC236}">
                <a16:creationId xmlns:a16="http://schemas.microsoft.com/office/drawing/2014/main" id="{0973E33B-4CED-2593-0E68-008DC860C6C2}"/>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1B04B4AD-760E-030D-4262-E4BA5B11B91F}"/>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UML</a:t>
              </a:r>
              <a:endParaRPr lang="nb-NO" sz="2800" dirty="0"/>
            </a:p>
          </p:txBody>
        </p:sp>
        <p:sp>
          <p:nvSpPr>
            <p:cNvPr id="10" name="Plassholder for tekst 2">
              <a:extLst>
                <a:ext uri="{FF2B5EF4-FFF2-40B4-BE49-F238E27FC236}">
                  <a16:creationId xmlns:a16="http://schemas.microsoft.com/office/drawing/2014/main" id="{7D72D99E-A8A5-8099-AA75-258C8294DB41}"/>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err="1"/>
                <a:t>Unified</a:t>
              </a:r>
              <a:r>
                <a:rPr lang="nb-NO" sz="1600" i="1" dirty="0"/>
                <a:t> </a:t>
              </a:r>
              <a:r>
                <a:rPr lang="nb-NO" sz="1600" i="1" dirty="0" err="1"/>
                <a:t>Modeling</a:t>
              </a:r>
              <a:r>
                <a:rPr lang="nb-NO" sz="1600" i="1" dirty="0"/>
                <a:t> Language</a:t>
              </a:r>
              <a:endParaRPr lang="nb-NO" sz="1800" i="1" dirty="0"/>
            </a:p>
          </p:txBody>
        </p:sp>
      </p:grpSp>
    </p:spTree>
    <p:extLst>
      <p:ext uri="{BB962C8B-B14F-4D97-AF65-F5344CB8AC3E}">
        <p14:creationId xmlns:p14="http://schemas.microsoft.com/office/powerpoint/2010/main" val="21317182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63DF5-23F2-D1FA-F9A4-A8552AEC70D2}"/>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A7D28115-D7B8-D469-A826-83CC12E0759A}"/>
              </a:ext>
            </a:extLst>
          </p:cNvPr>
          <p:cNvSpPr>
            <a:spLocks noGrp="1"/>
          </p:cNvSpPr>
          <p:nvPr>
            <p:ph type="title"/>
          </p:nvPr>
        </p:nvSpPr>
        <p:spPr/>
        <p:txBody>
          <a:bodyPr/>
          <a:lstStyle/>
          <a:p>
            <a:r>
              <a:rPr lang="nb-NO" dirty="0"/>
              <a:t>Pakkediagram</a:t>
            </a:r>
          </a:p>
        </p:txBody>
      </p:sp>
      <p:sp>
        <p:nvSpPr>
          <p:cNvPr id="3" name="Plassholder for innhold 2">
            <a:extLst>
              <a:ext uri="{FF2B5EF4-FFF2-40B4-BE49-F238E27FC236}">
                <a16:creationId xmlns:a16="http://schemas.microsoft.com/office/drawing/2014/main" id="{55A6CC03-0FDB-D42E-BE7B-DBE0373B0208}"/>
              </a:ext>
            </a:extLst>
          </p:cNvPr>
          <p:cNvSpPr>
            <a:spLocks noGrp="1"/>
          </p:cNvSpPr>
          <p:nvPr>
            <p:ph idx="1"/>
          </p:nvPr>
        </p:nvSpPr>
        <p:spPr/>
        <p:txBody>
          <a:bodyPr/>
          <a:lstStyle/>
          <a:p>
            <a:r>
              <a:rPr lang="nb-NO" dirty="0"/>
              <a:t>Hva er et pakkediagram? </a:t>
            </a:r>
          </a:p>
          <a:p>
            <a:r>
              <a:rPr lang="nb-NO" dirty="0"/>
              <a:t>Hva er hensikten med et pakkediagram?</a:t>
            </a:r>
          </a:p>
          <a:p>
            <a:r>
              <a:rPr lang="nb-NO" dirty="0"/>
              <a:t>Hvordan brukes et pakkediagram?</a:t>
            </a:r>
          </a:p>
        </p:txBody>
      </p:sp>
      <p:grpSp>
        <p:nvGrpSpPr>
          <p:cNvPr id="8" name="Gruppe 7">
            <a:extLst>
              <a:ext uri="{FF2B5EF4-FFF2-40B4-BE49-F238E27FC236}">
                <a16:creationId xmlns:a16="http://schemas.microsoft.com/office/drawing/2014/main" id="{AEF2B7BC-8BDB-B1E8-32F4-CA4B03FD9CF3}"/>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C955A5F0-9DA6-C3D9-8E47-C22F33192269}"/>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UML</a:t>
              </a:r>
              <a:endParaRPr lang="nb-NO" sz="2800" dirty="0"/>
            </a:p>
          </p:txBody>
        </p:sp>
        <p:sp>
          <p:nvSpPr>
            <p:cNvPr id="10" name="Plassholder for tekst 2">
              <a:extLst>
                <a:ext uri="{FF2B5EF4-FFF2-40B4-BE49-F238E27FC236}">
                  <a16:creationId xmlns:a16="http://schemas.microsoft.com/office/drawing/2014/main" id="{F6D986A0-42A5-E807-08AC-4B089F8468F6}"/>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err="1"/>
                <a:t>Unified</a:t>
              </a:r>
              <a:r>
                <a:rPr lang="nb-NO" sz="1600" i="1" dirty="0"/>
                <a:t> </a:t>
              </a:r>
              <a:r>
                <a:rPr lang="nb-NO" sz="1600" i="1" dirty="0" err="1"/>
                <a:t>Modeling</a:t>
              </a:r>
              <a:r>
                <a:rPr lang="nb-NO" sz="1600" i="1" dirty="0"/>
                <a:t> Language</a:t>
              </a:r>
              <a:endParaRPr lang="nb-NO" sz="1800" i="1" dirty="0"/>
            </a:p>
          </p:txBody>
        </p:sp>
      </p:grpSp>
    </p:spTree>
    <p:extLst>
      <p:ext uri="{BB962C8B-B14F-4D97-AF65-F5344CB8AC3E}">
        <p14:creationId xmlns:p14="http://schemas.microsoft.com/office/powerpoint/2010/main" val="775738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B22F8-F0F2-B6F3-24BC-64D7A0146C50}"/>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EF5F1F68-86BB-DEAD-B812-1CCC9A5C1408}"/>
              </a:ext>
            </a:extLst>
          </p:cNvPr>
          <p:cNvSpPr>
            <a:spLocks noGrp="1"/>
          </p:cNvSpPr>
          <p:nvPr>
            <p:ph type="title"/>
          </p:nvPr>
        </p:nvSpPr>
        <p:spPr/>
        <p:txBody>
          <a:bodyPr/>
          <a:lstStyle/>
          <a:p>
            <a:r>
              <a:rPr lang="nb-NO" dirty="0"/>
              <a:t>Tilstandsmaskindiagram</a:t>
            </a:r>
          </a:p>
        </p:txBody>
      </p:sp>
      <p:sp>
        <p:nvSpPr>
          <p:cNvPr id="3" name="Plassholder for innhold 2">
            <a:extLst>
              <a:ext uri="{FF2B5EF4-FFF2-40B4-BE49-F238E27FC236}">
                <a16:creationId xmlns:a16="http://schemas.microsoft.com/office/drawing/2014/main" id="{D6A577E9-47ED-5A87-5C13-816A0E5DF403}"/>
              </a:ext>
            </a:extLst>
          </p:cNvPr>
          <p:cNvSpPr>
            <a:spLocks noGrp="1"/>
          </p:cNvSpPr>
          <p:nvPr>
            <p:ph idx="1"/>
          </p:nvPr>
        </p:nvSpPr>
        <p:spPr/>
        <p:txBody>
          <a:bodyPr/>
          <a:lstStyle/>
          <a:p>
            <a:r>
              <a:rPr lang="nb-NO" dirty="0"/>
              <a:t>Hva er et tilstandsmaskindiagram? </a:t>
            </a:r>
          </a:p>
          <a:p>
            <a:r>
              <a:rPr lang="nb-NO" dirty="0"/>
              <a:t>Hva er hensikten med et tilstandsmaskindiagram?</a:t>
            </a:r>
          </a:p>
          <a:p>
            <a:r>
              <a:rPr lang="nb-NO" dirty="0"/>
              <a:t>Hva er viktig for et tilstandsmaskindiagram?</a:t>
            </a:r>
          </a:p>
          <a:p>
            <a:r>
              <a:rPr lang="nb-NO" dirty="0"/>
              <a:t>Hvilke hoved elementer består et tilstandsmaskindiagram av?</a:t>
            </a:r>
          </a:p>
          <a:p>
            <a:r>
              <a:rPr lang="nb-NO" dirty="0"/>
              <a:t>Hvilke andre UML-diagrammer samspiller tilstandsmaskindiagrammer med?</a:t>
            </a:r>
          </a:p>
          <a:p>
            <a:r>
              <a:rPr lang="nb-NO" dirty="0"/>
              <a:t>Hvordan samspiller tilstandsmaskindiagrammer med andre UML-diagrammer?</a:t>
            </a:r>
          </a:p>
        </p:txBody>
      </p:sp>
      <p:grpSp>
        <p:nvGrpSpPr>
          <p:cNvPr id="8" name="Gruppe 7">
            <a:extLst>
              <a:ext uri="{FF2B5EF4-FFF2-40B4-BE49-F238E27FC236}">
                <a16:creationId xmlns:a16="http://schemas.microsoft.com/office/drawing/2014/main" id="{116659BB-D1E5-61A3-AF10-DA54E286D842}"/>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3555C1F6-6208-71C3-0D55-3D071DE9AEB6}"/>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UML</a:t>
              </a:r>
              <a:endParaRPr lang="nb-NO" sz="2800" dirty="0"/>
            </a:p>
          </p:txBody>
        </p:sp>
        <p:sp>
          <p:nvSpPr>
            <p:cNvPr id="10" name="Plassholder for tekst 2">
              <a:extLst>
                <a:ext uri="{FF2B5EF4-FFF2-40B4-BE49-F238E27FC236}">
                  <a16:creationId xmlns:a16="http://schemas.microsoft.com/office/drawing/2014/main" id="{48CF34C2-7D8D-7FB5-100F-93A34623E270}"/>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err="1"/>
                <a:t>Unified</a:t>
              </a:r>
              <a:r>
                <a:rPr lang="nb-NO" sz="1600" i="1" dirty="0"/>
                <a:t> </a:t>
              </a:r>
              <a:r>
                <a:rPr lang="nb-NO" sz="1600" i="1" dirty="0" err="1"/>
                <a:t>Modeling</a:t>
              </a:r>
              <a:r>
                <a:rPr lang="nb-NO" sz="1600" i="1" dirty="0"/>
                <a:t> Language</a:t>
              </a:r>
              <a:endParaRPr lang="nb-NO" sz="1800" i="1" dirty="0"/>
            </a:p>
          </p:txBody>
        </p:sp>
      </p:grpSp>
    </p:spTree>
    <p:extLst>
      <p:ext uri="{BB962C8B-B14F-4D97-AF65-F5344CB8AC3E}">
        <p14:creationId xmlns:p14="http://schemas.microsoft.com/office/powerpoint/2010/main" val="42864621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A6561-F088-E1FF-6014-3846B45EDF65}"/>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DB43926E-68FC-6E20-BB2F-CFA9E6EFC199}"/>
              </a:ext>
            </a:extLst>
          </p:cNvPr>
          <p:cNvSpPr>
            <a:spLocks noGrp="1"/>
          </p:cNvSpPr>
          <p:nvPr>
            <p:ph type="title"/>
          </p:nvPr>
        </p:nvSpPr>
        <p:spPr/>
        <p:txBody>
          <a:bodyPr/>
          <a:lstStyle/>
          <a:p>
            <a:r>
              <a:rPr lang="nb-NO" dirty="0"/>
              <a:t>Brukerhistorier</a:t>
            </a:r>
          </a:p>
        </p:txBody>
      </p:sp>
      <p:sp>
        <p:nvSpPr>
          <p:cNvPr id="3" name="Plassholder for innhold 2">
            <a:extLst>
              <a:ext uri="{FF2B5EF4-FFF2-40B4-BE49-F238E27FC236}">
                <a16:creationId xmlns:a16="http://schemas.microsoft.com/office/drawing/2014/main" id="{BB19476D-FC69-7D01-BEB6-9A67371FD762}"/>
              </a:ext>
            </a:extLst>
          </p:cNvPr>
          <p:cNvSpPr>
            <a:spLocks noGrp="1"/>
          </p:cNvSpPr>
          <p:nvPr>
            <p:ph idx="1"/>
          </p:nvPr>
        </p:nvSpPr>
        <p:spPr/>
        <p:txBody>
          <a:bodyPr/>
          <a:lstStyle/>
          <a:p>
            <a:r>
              <a:rPr lang="nb-NO" dirty="0"/>
              <a:t>Hva er brukerhistorier? </a:t>
            </a:r>
          </a:p>
          <a:p>
            <a:r>
              <a:rPr lang="nb-NO" dirty="0"/>
              <a:t>Hvem skriver vanligvis brukerhistorier?</a:t>
            </a:r>
          </a:p>
          <a:p>
            <a:r>
              <a:rPr lang="nb-NO" dirty="0"/>
              <a:t>Hvilket format bruker brukerhistorier?</a:t>
            </a:r>
          </a:p>
          <a:p>
            <a:r>
              <a:rPr lang="nb-NO" dirty="0"/>
              <a:t>Hvordan modelleres brukerhistorier?</a:t>
            </a:r>
          </a:p>
        </p:txBody>
      </p:sp>
      <p:grpSp>
        <p:nvGrpSpPr>
          <p:cNvPr id="8" name="Gruppe 7">
            <a:extLst>
              <a:ext uri="{FF2B5EF4-FFF2-40B4-BE49-F238E27FC236}">
                <a16:creationId xmlns:a16="http://schemas.microsoft.com/office/drawing/2014/main" id="{46F9EEBE-CF47-E5F6-5E7F-140F0490765D}"/>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92191A00-B054-D2B8-593D-6CBF07A2DF3C}"/>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UML</a:t>
              </a:r>
              <a:endParaRPr lang="nb-NO" sz="2800" dirty="0"/>
            </a:p>
          </p:txBody>
        </p:sp>
        <p:sp>
          <p:nvSpPr>
            <p:cNvPr id="10" name="Plassholder for tekst 2">
              <a:extLst>
                <a:ext uri="{FF2B5EF4-FFF2-40B4-BE49-F238E27FC236}">
                  <a16:creationId xmlns:a16="http://schemas.microsoft.com/office/drawing/2014/main" id="{CCDC0183-A53E-7712-E7FB-7EE6E6A19BE7}"/>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err="1"/>
                <a:t>Unified</a:t>
              </a:r>
              <a:r>
                <a:rPr lang="nb-NO" sz="1600" i="1" dirty="0"/>
                <a:t> </a:t>
              </a:r>
              <a:r>
                <a:rPr lang="nb-NO" sz="1600" i="1" dirty="0" err="1"/>
                <a:t>Modeling</a:t>
              </a:r>
              <a:r>
                <a:rPr lang="nb-NO" sz="1600" i="1" dirty="0"/>
                <a:t> Language</a:t>
              </a:r>
              <a:endParaRPr lang="nb-NO" sz="1800" i="1" dirty="0"/>
            </a:p>
          </p:txBody>
        </p:sp>
      </p:grpSp>
    </p:spTree>
    <p:extLst>
      <p:ext uri="{BB962C8B-B14F-4D97-AF65-F5344CB8AC3E}">
        <p14:creationId xmlns:p14="http://schemas.microsoft.com/office/powerpoint/2010/main" val="32130601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6DB54-0ED1-C8E0-DB25-95AD84D42698}"/>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9B8CF66B-B43B-6134-56AA-2BA487311859}"/>
              </a:ext>
            </a:extLst>
          </p:cNvPr>
          <p:cNvSpPr>
            <a:spLocks noGrp="1"/>
          </p:cNvSpPr>
          <p:nvPr>
            <p:ph type="title"/>
          </p:nvPr>
        </p:nvSpPr>
        <p:spPr/>
        <p:txBody>
          <a:bodyPr/>
          <a:lstStyle/>
          <a:p>
            <a:r>
              <a:rPr lang="nb-NO" dirty="0"/>
              <a:t>Programvarearkitektur</a:t>
            </a:r>
          </a:p>
        </p:txBody>
      </p:sp>
      <p:sp>
        <p:nvSpPr>
          <p:cNvPr id="3" name="Plassholder for tekst 2">
            <a:extLst>
              <a:ext uri="{FF2B5EF4-FFF2-40B4-BE49-F238E27FC236}">
                <a16:creationId xmlns:a16="http://schemas.microsoft.com/office/drawing/2014/main" id="{E2CB749D-56ED-7872-2654-2BF59083562D}"/>
              </a:ext>
            </a:extLst>
          </p:cNvPr>
          <p:cNvSpPr>
            <a:spLocks noGrp="1"/>
          </p:cNvSpPr>
          <p:nvPr>
            <p:ph type="body" idx="1"/>
          </p:nvPr>
        </p:nvSpPr>
        <p:spPr/>
        <p:txBody>
          <a:bodyPr/>
          <a:lstStyle/>
          <a:p>
            <a:r>
              <a:rPr lang="nb-NO" dirty="0"/>
              <a:t>Alt fra kildekoden til produktet</a:t>
            </a:r>
          </a:p>
        </p:txBody>
      </p:sp>
    </p:spTree>
    <p:extLst>
      <p:ext uri="{BB962C8B-B14F-4D97-AF65-F5344CB8AC3E}">
        <p14:creationId xmlns:p14="http://schemas.microsoft.com/office/powerpoint/2010/main" val="6183601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0C781-197E-D96E-AE3F-62246C6616EA}"/>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79A3789A-6F92-BEA0-4C97-C3702EA94132}"/>
              </a:ext>
            </a:extLst>
          </p:cNvPr>
          <p:cNvSpPr>
            <a:spLocks noGrp="1"/>
          </p:cNvSpPr>
          <p:nvPr>
            <p:ph type="title"/>
          </p:nvPr>
        </p:nvSpPr>
        <p:spPr/>
        <p:txBody>
          <a:bodyPr/>
          <a:lstStyle/>
          <a:p>
            <a:r>
              <a:rPr lang="nb-NO" dirty="0"/>
              <a:t>Programvarearkitektur</a:t>
            </a:r>
          </a:p>
        </p:txBody>
      </p:sp>
      <p:sp>
        <p:nvSpPr>
          <p:cNvPr id="3" name="Plassholder for innhold 2">
            <a:extLst>
              <a:ext uri="{FF2B5EF4-FFF2-40B4-BE49-F238E27FC236}">
                <a16:creationId xmlns:a16="http://schemas.microsoft.com/office/drawing/2014/main" id="{E67C7196-0780-B196-BDD6-3487E57A1FDB}"/>
              </a:ext>
            </a:extLst>
          </p:cNvPr>
          <p:cNvSpPr>
            <a:spLocks noGrp="1"/>
          </p:cNvSpPr>
          <p:nvPr>
            <p:ph idx="1"/>
          </p:nvPr>
        </p:nvSpPr>
        <p:spPr/>
        <p:txBody>
          <a:bodyPr/>
          <a:lstStyle/>
          <a:p>
            <a:r>
              <a:rPr lang="nb-NO" dirty="0"/>
              <a:t>Hva handler programvarearkitektur om?</a:t>
            </a:r>
          </a:p>
          <a:p>
            <a:r>
              <a:rPr lang="nb-NO" dirty="0"/>
              <a:t>Hva er IEEE?</a:t>
            </a:r>
          </a:p>
          <a:p>
            <a:r>
              <a:rPr lang="nb-NO" dirty="0"/>
              <a:t>Hva er definisjonen på programvarearkitektur i følge IEEE?</a:t>
            </a:r>
          </a:p>
        </p:txBody>
      </p:sp>
      <p:grpSp>
        <p:nvGrpSpPr>
          <p:cNvPr id="8" name="Gruppe 7">
            <a:extLst>
              <a:ext uri="{FF2B5EF4-FFF2-40B4-BE49-F238E27FC236}">
                <a16:creationId xmlns:a16="http://schemas.microsoft.com/office/drawing/2014/main" id="{3F8E7234-B731-30F8-73A5-17B04374F47F}"/>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6D9F3D40-3E7E-0E9F-B0C7-05A41B1B1657}"/>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Programvarearkitektur</a:t>
              </a:r>
              <a:endParaRPr lang="nb-NO" sz="2800" dirty="0"/>
            </a:p>
          </p:txBody>
        </p:sp>
        <p:sp>
          <p:nvSpPr>
            <p:cNvPr id="10" name="Plassholder for tekst 2">
              <a:extLst>
                <a:ext uri="{FF2B5EF4-FFF2-40B4-BE49-F238E27FC236}">
                  <a16:creationId xmlns:a16="http://schemas.microsoft.com/office/drawing/2014/main" id="{E72E5D4D-8115-F310-1645-96D7B221DE9B}"/>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Alt fra kildekoden til produktet</a:t>
              </a:r>
            </a:p>
          </p:txBody>
        </p:sp>
      </p:grpSp>
    </p:spTree>
    <p:extLst>
      <p:ext uri="{BB962C8B-B14F-4D97-AF65-F5344CB8AC3E}">
        <p14:creationId xmlns:p14="http://schemas.microsoft.com/office/powerpoint/2010/main" val="36702223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7EBDF-3869-56B2-7907-0E25440105B9}"/>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5FCE2161-CC13-8458-C599-2B806B68BF87}"/>
              </a:ext>
            </a:extLst>
          </p:cNvPr>
          <p:cNvSpPr>
            <a:spLocks noGrp="1"/>
          </p:cNvSpPr>
          <p:nvPr>
            <p:ph type="title"/>
          </p:nvPr>
        </p:nvSpPr>
        <p:spPr/>
        <p:txBody>
          <a:bodyPr/>
          <a:lstStyle/>
          <a:p>
            <a:r>
              <a:rPr lang="nb-NO" dirty="0"/>
              <a:t>Hvorfor arkitektur?</a:t>
            </a:r>
          </a:p>
        </p:txBody>
      </p:sp>
      <p:sp>
        <p:nvSpPr>
          <p:cNvPr id="3" name="Plassholder for innhold 2">
            <a:extLst>
              <a:ext uri="{FF2B5EF4-FFF2-40B4-BE49-F238E27FC236}">
                <a16:creationId xmlns:a16="http://schemas.microsoft.com/office/drawing/2014/main" id="{00DD3284-6E82-66FD-E4B3-DC76FC6CE7CF}"/>
              </a:ext>
            </a:extLst>
          </p:cNvPr>
          <p:cNvSpPr>
            <a:spLocks noGrp="1"/>
          </p:cNvSpPr>
          <p:nvPr>
            <p:ph idx="1"/>
          </p:nvPr>
        </p:nvSpPr>
        <p:spPr/>
        <p:txBody>
          <a:bodyPr/>
          <a:lstStyle/>
          <a:p>
            <a:r>
              <a:rPr lang="nb-NO" dirty="0"/>
              <a:t>Hva handler programvarearkitektur om?</a:t>
            </a:r>
          </a:p>
          <a:p>
            <a:r>
              <a:rPr lang="nb-NO" dirty="0"/>
              <a:t>Hva er IEEE?</a:t>
            </a:r>
          </a:p>
          <a:p>
            <a:r>
              <a:rPr lang="nb-NO" dirty="0"/>
              <a:t>Hva er definisjonen på programvarearkitektur i følge IEEE?</a:t>
            </a:r>
          </a:p>
        </p:txBody>
      </p:sp>
      <p:grpSp>
        <p:nvGrpSpPr>
          <p:cNvPr id="8" name="Gruppe 7">
            <a:extLst>
              <a:ext uri="{FF2B5EF4-FFF2-40B4-BE49-F238E27FC236}">
                <a16:creationId xmlns:a16="http://schemas.microsoft.com/office/drawing/2014/main" id="{EF438DB5-B1FC-A432-9453-C8E84C036CFD}"/>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C7B3B5A5-B717-2665-1799-DD9F4F69DEFF}"/>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Programvarearkitektur</a:t>
              </a:r>
              <a:endParaRPr lang="nb-NO" sz="2800" dirty="0"/>
            </a:p>
          </p:txBody>
        </p:sp>
        <p:sp>
          <p:nvSpPr>
            <p:cNvPr id="10" name="Plassholder for tekst 2">
              <a:extLst>
                <a:ext uri="{FF2B5EF4-FFF2-40B4-BE49-F238E27FC236}">
                  <a16:creationId xmlns:a16="http://schemas.microsoft.com/office/drawing/2014/main" id="{D06E2ACF-126A-A2A3-DCFE-49C2D5EE80EC}"/>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Alt fra kildekoden til produktet</a:t>
              </a:r>
            </a:p>
          </p:txBody>
        </p:sp>
      </p:grpSp>
    </p:spTree>
    <p:extLst>
      <p:ext uri="{BB962C8B-B14F-4D97-AF65-F5344CB8AC3E}">
        <p14:creationId xmlns:p14="http://schemas.microsoft.com/office/powerpoint/2010/main" val="275366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0964C-2E82-FC27-D29E-17B57BC22930}"/>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A4DF017B-52B2-656C-92A6-5F6EE9D07888}"/>
              </a:ext>
            </a:extLst>
          </p:cNvPr>
          <p:cNvSpPr>
            <a:spLocks noGrp="1"/>
          </p:cNvSpPr>
          <p:nvPr>
            <p:ph type="title"/>
          </p:nvPr>
        </p:nvSpPr>
        <p:spPr/>
        <p:txBody>
          <a:bodyPr/>
          <a:lstStyle/>
          <a:p>
            <a:r>
              <a:rPr lang="nb-NO" dirty="0"/>
              <a:t>Kompleksitetshåndtering</a:t>
            </a:r>
          </a:p>
        </p:txBody>
      </p:sp>
      <p:sp>
        <p:nvSpPr>
          <p:cNvPr id="3" name="Plassholder for innhold 2">
            <a:extLst>
              <a:ext uri="{FF2B5EF4-FFF2-40B4-BE49-F238E27FC236}">
                <a16:creationId xmlns:a16="http://schemas.microsoft.com/office/drawing/2014/main" id="{7501B836-3291-69D7-A6CB-14898D16B05E}"/>
              </a:ext>
            </a:extLst>
          </p:cNvPr>
          <p:cNvSpPr>
            <a:spLocks noGrp="1"/>
          </p:cNvSpPr>
          <p:nvPr>
            <p:ph idx="1"/>
          </p:nvPr>
        </p:nvSpPr>
        <p:spPr/>
        <p:txBody>
          <a:bodyPr/>
          <a:lstStyle/>
          <a:p>
            <a:r>
              <a:rPr lang="nb-NO" dirty="0"/>
              <a:t>Hva handler programvarearkitektur om?</a:t>
            </a:r>
          </a:p>
          <a:p>
            <a:r>
              <a:rPr lang="nb-NO" dirty="0"/>
              <a:t>Hva er IEEE?</a:t>
            </a:r>
          </a:p>
          <a:p>
            <a:r>
              <a:rPr lang="nb-NO" dirty="0"/>
              <a:t>Hva er definisjonen på programvarearkitektur i følge IEEE?</a:t>
            </a:r>
          </a:p>
        </p:txBody>
      </p:sp>
      <p:grpSp>
        <p:nvGrpSpPr>
          <p:cNvPr id="8" name="Gruppe 7">
            <a:extLst>
              <a:ext uri="{FF2B5EF4-FFF2-40B4-BE49-F238E27FC236}">
                <a16:creationId xmlns:a16="http://schemas.microsoft.com/office/drawing/2014/main" id="{AEB05792-A2E1-1332-2024-AB9BBBB914AE}"/>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1D4F9235-132A-5BEF-FAAA-3AD085ECDB3B}"/>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Programvarearkitektur</a:t>
              </a:r>
              <a:endParaRPr lang="nb-NO" sz="2800" dirty="0"/>
            </a:p>
          </p:txBody>
        </p:sp>
        <p:sp>
          <p:nvSpPr>
            <p:cNvPr id="10" name="Plassholder for tekst 2">
              <a:extLst>
                <a:ext uri="{FF2B5EF4-FFF2-40B4-BE49-F238E27FC236}">
                  <a16:creationId xmlns:a16="http://schemas.microsoft.com/office/drawing/2014/main" id="{77B4EF9B-1FA0-0BE7-E024-2703C098E17F}"/>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Alt fra kildekoden til produktet</a:t>
              </a:r>
            </a:p>
          </p:txBody>
        </p:sp>
      </p:grpSp>
    </p:spTree>
    <p:extLst>
      <p:ext uri="{BB962C8B-B14F-4D97-AF65-F5344CB8AC3E}">
        <p14:creationId xmlns:p14="http://schemas.microsoft.com/office/powerpoint/2010/main" val="16886133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B9C6E-BD5F-A6CA-553E-ED7057E95E2D}"/>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66448A98-2F2E-8812-868E-C053A72A55D7}"/>
              </a:ext>
            </a:extLst>
          </p:cNvPr>
          <p:cNvSpPr>
            <a:spLocks noGrp="1"/>
          </p:cNvSpPr>
          <p:nvPr>
            <p:ph type="title"/>
          </p:nvPr>
        </p:nvSpPr>
        <p:spPr/>
        <p:txBody>
          <a:bodyPr/>
          <a:lstStyle/>
          <a:p>
            <a:r>
              <a:rPr lang="nb-NO" dirty="0" err="1"/>
              <a:t>Standalone</a:t>
            </a:r>
            <a:r>
              <a:rPr lang="nb-NO" dirty="0"/>
              <a:t> </a:t>
            </a:r>
            <a:r>
              <a:rPr lang="nb-NO" dirty="0" err="1"/>
              <a:t>application</a:t>
            </a:r>
            <a:endParaRPr lang="nb-NO" dirty="0"/>
          </a:p>
        </p:txBody>
      </p:sp>
      <p:sp>
        <p:nvSpPr>
          <p:cNvPr id="3" name="Plassholder for innhold 2">
            <a:extLst>
              <a:ext uri="{FF2B5EF4-FFF2-40B4-BE49-F238E27FC236}">
                <a16:creationId xmlns:a16="http://schemas.microsoft.com/office/drawing/2014/main" id="{CBEE0185-D773-5C7A-CE48-BBD05BA87DB2}"/>
              </a:ext>
            </a:extLst>
          </p:cNvPr>
          <p:cNvSpPr>
            <a:spLocks noGrp="1"/>
          </p:cNvSpPr>
          <p:nvPr>
            <p:ph idx="1"/>
          </p:nvPr>
        </p:nvSpPr>
        <p:spPr/>
        <p:txBody>
          <a:bodyPr/>
          <a:lstStyle/>
          <a:p>
            <a:r>
              <a:rPr lang="nb-NO" dirty="0"/>
              <a:t>Hvordan er en </a:t>
            </a:r>
            <a:r>
              <a:rPr lang="nb-NO" dirty="0" err="1"/>
              <a:t>standalone</a:t>
            </a:r>
            <a:r>
              <a:rPr lang="nb-NO" dirty="0"/>
              <a:t> </a:t>
            </a:r>
            <a:r>
              <a:rPr lang="nb-NO" dirty="0" err="1"/>
              <a:t>application</a:t>
            </a:r>
            <a:r>
              <a:rPr lang="nb-NO" dirty="0"/>
              <a:t> delt opp?</a:t>
            </a:r>
          </a:p>
          <a:p>
            <a:r>
              <a:rPr lang="nb-NO" dirty="0"/>
              <a:t>Hvilket bruksområde har en </a:t>
            </a:r>
            <a:r>
              <a:rPr lang="nb-NO" dirty="0" err="1"/>
              <a:t>standalone</a:t>
            </a:r>
            <a:r>
              <a:rPr lang="nb-NO" dirty="0"/>
              <a:t> </a:t>
            </a:r>
            <a:r>
              <a:rPr lang="nb-NO" dirty="0" err="1"/>
              <a:t>application</a:t>
            </a:r>
            <a:r>
              <a:rPr lang="nb-NO" dirty="0"/>
              <a:t>?</a:t>
            </a:r>
          </a:p>
          <a:p>
            <a:r>
              <a:rPr lang="nb-NO" dirty="0"/>
              <a:t>Hvilke fordeler og ulemper er det ved en </a:t>
            </a:r>
            <a:r>
              <a:rPr lang="nb-NO" dirty="0" err="1"/>
              <a:t>standalone</a:t>
            </a:r>
            <a:r>
              <a:rPr lang="nb-NO" dirty="0"/>
              <a:t> </a:t>
            </a:r>
            <a:r>
              <a:rPr lang="nb-NO" dirty="0" err="1"/>
              <a:t>application</a:t>
            </a:r>
            <a:r>
              <a:rPr lang="nb-NO" dirty="0"/>
              <a:t>?</a:t>
            </a:r>
          </a:p>
        </p:txBody>
      </p:sp>
      <p:grpSp>
        <p:nvGrpSpPr>
          <p:cNvPr id="8" name="Gruppe 7">
            <a:extLst>
              <a:ext uri="{FF2B5EF4-FFF2-40B4-BE49-F238E27FC236}">
                <a16:creationId xmlns:a16="http://schemas.microsoft.com/office/drawing/2014/main" id="{FB50FFF3-254C-222A-2936-C78208899CB8}"/>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CAB7E47D-490C-54E1-BF6F-73DCBCD97D74}"/>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Programvarearkitektur</a:t>
              </a:r>
              <a:endParaRPr lang="nb-NO" sz="2800" dirty="0"/>
            </a:p>
          </p:txBody>
        </p:sp>
        <p:sp>
          <p:nvSpPr>
            <p:cNvPr id="10" name="Plassholder for tekst 2">
              <a:extLst>
                <a:ext uri="{FF2B5EF4-FFF2-40B4-BE49-F238E27FC236}">
                  <a16:creationId xmlns:a16="http://schemas.microsoft.com/office/drawing/2014/main" id="{92FACED7-C53A-28CF-5603-B1088648B8DC}"/>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Modeller</a:t>
              </a:r>
            </a:p>
          </p:txBody>
        </p:sp>
      </p:grpSp>
    </p:spTree>
    <p:extLst>
      <p:ext uri="{BB962C8B-B14F-4D97-AF65-F5344CB8AC3E}">
        <p14:creationId xmlns:p14="http://schemas.microsoft.com/office/powerpoint/2010/main" val="14007565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FF1C2-EFB5-2620-9C38-9B9DAFC491CD}"/>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1141E5B3-937C-41B5-989C-36F9E2899038}"/>
              </a:ext>
            </a:extLst>
          </p:cNvPr>
          <p:cNvSpPr>
            <a:spLocks noGrp="1"/>
          </p:cNvSpPr>
          <p:nvPr>
            <p:ph type="title"/>
          </p:nvPr>
        </p:nvSpPr>
        <p:spPr/>
        <p:txBody>
          <a:bodyPr/>
          <a:lstStyle/>
          <a:p>
            <a:r>
              <a:rPr lang="nb-NO" dirty="0"/>
              <a:t>Klient - tjener arkitektur</a:t>
            </a:r>
          </a:p>
        </p:txBody>
      </p:sp>
      <p:sp>
        <p:nvSpPr>
          <p:cNvPr id="3" name="Plassholder for innhold 2">
            <a:extLst>
              <a:ext uri="{FF2B5EF4-FFF2-40B4-BE49-F238E27FC236}">
                <a16:creationId xmlns:a16="http://schemas.microsoft.com/office/drawing/2014/main" id="{5A8E5A3F-F46C-0ABB-5138-ECC9C3D08CA1}"/>
              </a:ext>
            </a:extLst>
          </p:cNvPr>
          <p:cNvSpPr>
            <a:spLocks noGrp="1"/>
          </p:cNvSpPr>
          <p:nvPr>
            <p:ph idx="1"/>
          </p:nvPr>
        </p:nvSpPr>
        <p:spPr/>
        <p:txBody>
          <a:bodyPr/>
          <a:lstStyle/>
          <a:p>
            <a:r>
              <a:rPr lang="nb-NO" dirty="0"/>
              <a:t>Hvordan er klient - tjener arkitektur delt opp?</a:t>
            </a:r>
          </a:p>
          <a:p>
            <a:r>
              <a:rPr lang="nb-NO" dirty="0"/>
              <a:t>Hvordan fungerer en klient - tjener arkitektur?</a:t>
            </a:r>
          </a:p>
          <a:p>
            <a:r>
              <a:rPr lang="nb-NO" dirty="0"/>
              <a:t>Hvilke fordeler og ulemper er det ved en klient - tjener arkitektur?</a:t>
            </a:r>
          </a:p>
          <a:p>
            <a:endParaRPr lang="nb-NO" dirty="0"/>
          </a:p>
        </p:txBody>
      </p:sp>
      <p:grpSp>
        <p:nvGrpSpPr>
          <p:cNvPr id="8" name="Gruppe 7">
            <a:extLst>
              <a:ext uri="{FF2B5EF4-FFF2-40B4-BE49-F238E27FC236}">
                <a16:creationId xmlns:a16="http://schemas.microsoft.com/office/drawing/2014/main" id="{87643C2C-3A0D-AD21-ABC5-62511331D7F7}"/>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3A410640-343A-981C-3525-386F17F32992}"/>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Programvarearkitektur</a:t>
              </a:r>
              <a:endParaRPr lang="nb-NO" sz="2800" dirty="0"/>
            </a:p>
          </p:txBody>
        </p:sp>
        <p:sp>
          <p:nvSpPr>
            <p:cNvPr id="10" name="Plassholder for tekst 2">
              <a:extLst>
                <a:ext uri="{FF2B5EF4-FFF2-40B4-BE49-F238E27FC236}">
                  <a16:creationId xmlns:a16="http://schemas.microsoft.com/office/drawing/2014/main" id="{EA20FF71-01C1-2C43-2FFF-69498286A67D}"/>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Modeller</a:t>
              </a:r>
            </a:p>
          </p:txBody>
        </p:sp>
      </p:grpSp>
    </p:spTree>
    <p:extLst>
      <p:ext uri="{BB962C8B-B14F-4D97-AF65-F5344CB8AC3E}">
        <p14:creationId xmlns:p14="http://schemas.microsoft.com/office/powerpoint/2010/main" val="40698937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1BF05-7F63-0289-9D25-F0BD943BCC5A}"/>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5FBD414F-577C-F7FB-5C47-F8D3A776C5E7}"/>
              </a:ext>
            </a:extLst>
          </p:cNvPr>
          <p:cNvSpPr>
            <a:spLocks noGrp="1"/>
          </p:cNvSpPr>
          <p:nvPr>
            <p:ph type="title"/>
          </p:nvPr>
        </p:nvSpPr>
        <p:spPr/>
        <p:txBody>
          <a:bodyPr/>
          <a:lstStyle/>
          <a:p>
            <a:r>
              <a:rPr lang="nb-NO" dirty="0"/>
              <a:t>Tre-lags-arkitektur</a:t>
            </a:r>
          </a:p>
        </p:txBody>
      </p:sp>
      <p:sp>
        <p:nvSpPr>
          <p:cNvPr id="3" name="Plassholder for innhold 2">
            <a:extLst>
              <a:ext uri="{FF2B5EF4-FFF2-40B4-BE49-F238E27FC236}">
                <a16:creationId xmlns:a16="http://schemas.microsoft.com/office/drawing/2014/main" id="{1F5EFEE4-125C-1093-8C32-BF777FC64B88}"/>
              </a:ext>
            </a:extLst>
          </p:cNvPr>
          <p:cNvSpPr>
            <a:spLocks noGrp="1"/>
          </p:cNvSpPr>
          <p:nvPr>
            <p:ph idx="1"/>
          </p:nvPr>
        </p:nvSpPr>
        <p:spPr/>
        <p:txBody>
          <a:bodyPr/>
          <a:lstStyle/>
          <a:p>
            <a:r>
              <a:rPr lang="nb-NO" dirty="0"/>
              <a:t>Hvordan er en tre-lags-arkitektur delt opp?</a:t>
            </a:r>
          </a:p>
          <a:p>
            <a:r>
              <a:rPr lang="nb-NO" dirty="0"/>
              <a:t>Hvordan fungerer tre-lags-arkitektur?</a:t>
            </a:r>
          </a:p>
          <a:p>
            <a:r>
              <a:rPr lang="nb-NO" dirty="0"/>
              <a:t>Hvilke fordeler og ulemper er det ved tre-lags-arkitektur?</a:t>
            </a:r>
          </a:p>
        </p:txBody>
      </p:sp>
      <p:grpSp>
        <p:nvGrpSpPr>
          <p:cNvPr id="8" name="Gruppe 7">
            <a:extLst>
              <a:ext uri="{FF2B5EF4-FFF2-40B4-BE49-F238E27FC236}">
                <a16:creationId xmlns:a16="http://schemas.microsoft.com/office/drawing/2014/main" id="{B479BF15-74FB-381F-9DE3-563B6C62476A}"/>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9C36F6D9-C73C-A750-032C-307AE51BB67C}"/>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Programvarearkitektur</a:t>
              </a:r>
              <a:endParaRPr lang="nb-NO" sz="2800" dirty="0"/>
            </a:p>
          </p:txBody>
        </p:sp>
        <p:sp>
          <p:nvSpPr>
            <p:cNvPr id="10" name="Plassholder for tekst 2">
              <a:extLst>
                <a:ext uri="{FF2B5EF4-FFF2-40B4-BE49-F238E27FC236}">
                  <a16:creationId xmlns:a16="http://schemas.microsoft.com/office/drawing/2014/main" id="{4C9BFE35-72FE-8B57-A4D7-7A827434D9D4}"/>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Modeller</a:t>
              </a:r>
            </a:p>
          </p:txBody>
        </p:sp>
      </p:grpSp>
    </p:spTree>
    <p:extLst>
      <p:ext uri="{BB962C8B-B14F-4D97-AF65-F5344CB8AC3E}">
        <p14:creationId xmlns:p14="http://schemas.microsoft.com/office/powerpoint/2010/main" val="12698864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E54AB-3388-DF07-F5AD-1F4832809A95}"/>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7571E930-7033-F3AD-4653-142E3FA9C101}"/>
              </a:ext>
            </a:extLst>
          </p:cNvPr>
          <p:cNvSpPr>
            <a:spLocks noGrp="1"/>
          </p:cNvSpPr>
          <p:nvPr>
            <p:ph type="title"/>
          </p:nvPr>
        </p:nvSpPr>
        <p:spPr/>
        <p:txBody>
          <a:bodyPr/>
          <a:lstStyle/>
          <a:p>
            <a:r>
              <a:rPr lang="nb-NO" dirty="0"/>
              <a:t>Master-slave </a:t>
            </a:r>
            <a:r>
              <a:rPr lang="nb-NO" dirty="0" err="1"/>
              <a:t>pattern</a:t>
            </a:r>
            <a:endParaRPr lang="nb-NO" dirty="0"/>
          </a:p>
        </p:txBody>
      </p:sp>
      <p:sp>
        <p:nvSpPr>
          <p:cNvPr id="3" name="Plassholder for innhold 2">
            <a:extLst>
              <a:ext uri="{FF2B5EF4-FFF2-40B4-BE49-F238E27FC236}">
                <a16:creationId xmlns:a16="http://schemas.microsoft.com/office/drawing/2014/main" id="{E9D68DEF-5740-E58C-DB5E-C8B733C86A25}"/>
              </a:ext>
            </a:extLst>
          </p:cNvPr>
          <p:cNvSpPr>
            <a:spLocks noGrp="1"/>
          </p:cNvSpPr>
          <p:nvPr>
            <p:ph idx="1"/>
          </p:nvPr>
        </p:nvSpPr>
        <p:spPr/>
        <p:txBody>
          <a:bodyPr/>
          <a:lstStyle/>
          <a:p>
            <a:r>
              <a:rPr lang="nb-NO" dirty="0"/>
              <a:t>Hvordan er en master-slave </a:t>
            </a:r>
            <a:r>
              <a:rPr lang="nb-NO" dirty="0" err="1"/>
              <a:t>pattern</a:t>
            </a:r>
            <a:r>
              <a:rPr lang="nb-NO" dirty="0"/>
              <a:t> delt opp?</a:t>
            </a:r>
          </a:p>
          <a:p>
            <a:r>
              <a:rPr lang="nb-NO" dirty="0"/>
              <a:t>Hvordan fungerer master-slave </a:t>
            </a:r>
            <a:r>
              <a:rPr lang="nb-NO" dirty="0" err="1"/>
              <a:t>pattern</a:t>
            </a:r>
            <a:r>
              <a:rPr lang="nb-NO" dirty="0"/>
              <a:t>?</a:t>
            </a:r>
          </a:p>
          <a:p>
            <a:r>
              <a:rPr lang="nb-NO" dirty="0"/>
              <a:t>Hvilke fordeler og ulemper er det ved master-slave </a:t>
            </a:r>
            <a:r>
              <a:rPr lang="nb-NO" dirty="0" err="1"/>
              <a:t>pattern</a:t>
            </a:r>
            <a:r>
              <a:rPr lang="nb-NO" dirty="0"/>
              <a:t>?</a:t>
            </a:r>
          </a:p>
          <a:p>
            <a:r>
              <a:rPr lang="nb-NO" dirty="0"/>
              <a:t>Hvor brukes master-slave </a:t>
            </a:r>
            <a:r>
              <a:rPr lang="nb-NO" dirty="0" err="1"/>
              <a:t>pattern</a:t>
            </a:r>
            <a:r>
              <a:rPr lang="nb-NO" dirty="0"/>
              <a:t>?</a:t>
            </a:r>
          </a:p>
          <a:p>
            <a:endParaRPr lang="nb-NO" dirty="0"/>
          </a:p>
        </p:txBody>
      </p:sp>
      <p:grpSp>
        <p:nvGrpSpPr>
          <p:cNvPr id="8" name="Gruppe 7">
            <a:extLst>
              <a:ext uri="{FF2B5EF4-FFF2-40B4-BE49-F238E27FC236}">
                <a16:creationId xmlns:a16="http://schemas.microsoft.com/office/drawing/2014/main" id="{C36C6BBC-52EE-2C16-ACF7-30F29B933AE9}"/>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B3106E08-D330-0642-ADC6-4031FF8419B0}"/>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Programvarearkitektur</a:t>
              </a:r>
              <a:endParaRPr lang="nb-NO" sz="2800" dirty="0"/>
            </a:p>
          </p:txBody>
        </p:sp>
        <p:sp>
          <p:nvSpPr>
            <p:cNvPr id="10" name="Plassholder for tekst 2">
              <a:extLst>
                <a:ext uri="{FF2B5EF4-FFF2-40B4-BE49-F238E27FC236}">
                  <a16:creationId xmlns:a16="http://schemas.microsoft.com/office/drawing/2014/main" id="{03C1AC8F-649B-B085-5BB3-A054D50853F0}"/>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Modeller</a:t>
              </a:r>
            </a:p>
          </p:txBody>
        </p:sp>
      </p:grpSp>
    </p:spTree>
    <p:extLst>
      <p:ext uri="{BB962C8B-B14F-4D97-AF65-F5344CB8AC3E}">
        <p14:creationId xmlns:p14="http://schemas.microsoft.com/office/powerpoint/2010/main" val="3752594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A7FEB-14A9-29BA-B57A-F1EE8E6DC9C0}"/>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52268E13-418D-6D76-8CDD-9E5BF1CFE3F9}"/>
              </a:ext>
            </a:extLst>
          </p:cNvPr>
          <p:cNvSpPr>
            <a:spLocks noGrp="1"/>
          </p:cNvSpPr>
          <p:nvPr>
            <p:ph type="title"/>
          </p:nvPr>
        </p:nvSpPr>
        <p:spPr/>
        <p:txBody>
          <a:bodyPr/>
          <a:lstStyle/>
          <a:p>
            <a:r>
              <a:rPr lang="nb-NO" dirty="0"/>
              <a:t>Pipe-filter </a:t>
            </a:r>
            <a:r>
              <a:rPr lang="nb-NO" dirty="0" err="1"/>
              <a:t>pattern</a:t>
            </a:r>
            <a:endParaRPr lang="nb-NO" dirty="0"/>
          </a:p>
        </p:txBody>
      </p:sp>
      <p:sp>
        <p:nvSpPr>
          <p:cNvPr id="3" name="Plassholder for innhold 2">
            <a:extLst>
              <a:ext uri="{FF2B5EF4-FFF2-40B4-BE49-F238E27FC236}">
                <a16:creationId xmlns:a16="http://schemas.microsoft.com/office/drawing/2014/main" id="{C78D5E47-9E05-8B05-F64B-B0A39E85C779}"/>
              </a:ext>
            </a:extLst>
          </p:cNvPr>
          <p:cNvSpPr>
            <a:spLocks noGrp="1"/>
          </p:cNvSpPr>
          <p:nvPr>
            <p:ph idx="1"/>
          </p:nvPr>
        </p:nvSpPr>
        <p:spPr/>
        <p:txBody>
          <a:bodyPr/>
          <a:lstStyle/>
          <a:p>
            <a:r>
              <a:rPr lang="nb-NO" dirty="0"/>
              <a:t>Hvordan er pipe-filter </a:t>
            </a:r>
            <a:r>
              <a:rPr lang="nb-NO" dirty="0" err="1"/>
              <a:t>pattern</a:t>
            </a:r>
            <a:r>
              <a:rPr lang="nb-NO" dirty="0"/>
              <a:t> delt opp?</a:t>
            </a:r>
          </a:p>
          <a:p>
            <a:r>
              <a:rPr lang="nb-NO" dirty="0"/>
              <a:t>Hvordan fungerer pipe-filter </a:t>
            </a:r>
            <a:r>
              <a:rPr lang="nb-NO" dirty="0" err="1"/>
              <a:t>pattern</a:t>
            </a:r>
            <a:r>
              <a:rPr lang="nb-NO" dirty="0"/>
              <a:t>?</a:t>
            </a:r>
          </a:p>
          <a:p>
            <a:r>
              <a:rPr lang="nb-NO" dirty="0"/>
              <a:t>Hvilke fordeler og ulemper er det ved pipe-filter </a:t>
            </a:r>
            <a:r>
              <a:rPr lang="nb-NO" dirty="0" err="1"/>
              <a:t>pattern</a:t>
            </a:r>
            <a:r>
              <a:rPr lang="nb-NO" dirty="0"/>
              <a:t>?</a:t>
            </a:r>
          </a:p>
          <a:p>
            <a:r>
              <a:rPr lang="nb-NO" dirty="0"/>
              <a:t>Hvor brukes pipe-filter </a:t>
            </a:r>
            <a:r>
              <a:rPr lang="nb-NO" dirty="0" err="1"/>
              <a:t>pattern</a:t>
            </a:r>
            <a:r>
              <a:rPr lang="nb-NO" dirty="0"/>
              <a:t>?</a:t>
            </a:r>
          </a:p>
          <a:p>
            <a:endParaRPr lang="nb-NO" dirty="0"/>
          </a:p>
        </p:txBody>
      </p:sp>
      <p:grpSp>
        <p:nvGrpSpPr>
          <p:cNvPr id="8" name="Gruppe 7">
            <a:extLst>
              <a:ext uri="{FF2B5EF4-FFF2-40B4-BE49-F238E27FC236}">
                <a16:creationId xmlns:a16="http://schemas.microsoft.com/office/drawing/2014/main" id="{C3A84D66-DA8D-A836-695E-60F9FF230E7E}"/>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EDA5D120-8C7F-3D5F-8233-300F60C8240A}"/>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Programvarearkitektur</a:t>
              </a:r>
              <a:endParaRPr lang="nb-NO" sz="2800" dirty="0"/>
            </a:p>
          </p:txBody>
        </p:sp>
        <p:sp>
          <p:nvSpPr>
            <p:cNvPr id="10" name="Plassholder for tekst 2">
              <a:extLst>
                <a:ext uri="{FF2B5EF4-FFF2-40B4-BE49-F238E27FC236}">
                  <a16:creationId xmlns:a16="http://schemas.microsoft.com/office/drawing/2014/main" id="{E591F9B7-E3CE-0CB9-64BB-D40EC9243908}"/>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Modeller</a:t>
              </a:r>
            </a:p>
          </p:txBody>
        </p:sp>
      </p:grpSp>
    </p:spTree>
    <p:extLst>
      <p:ext uri="{BB962C8B-B14F-4D97-AF65-F5344CB8AC3E}">
        <p14:creationId xmlns:p14="http://schemas.microsoft.com/office/powerpoint/2010/main" val="30713903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36CB9-B97A-F88A-D868-B6C6B19F2E15}"/>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383013A0-277F-7CF2-D935-5DBA1F1D4F83}"/>
              </a:ext>
            </a:extLst>
          </p:cNvPr>
          <p:cNvSpPr>
            <a:spLocks noGrp="1"/>
          </p:cNvSpPr>
          <p:nvPr>
            <p:ph type="title"/>
          </p:nvPr>
        </p:nvSpPr>
        <p:spPr/>
        <p:txBody>
          <a:bodyPr/>
          <a:lstStyle/>
          <a:p>
            <a:r>
              <a:rPr lang="nb-NO" dirty="0"/>
              <a:t>Broker </a:t>
            </a:r>
            <a:r>
              <a:rPr lang="nb-NO" dirty="0" err="1"/>
              <a:t>pattern</a:t>
            </a:r>
            <a:endParaRPr lang="nb-NO" dirty="0"/>
          </a:p>
        </p:txBody>
      </p:sp>
      <p:sp>
        <p:nvSpPr>
          <p:cNvPr id="3" name="Plassholder for innhold 2">
            <a:extLst>
              <a:ext uri="{FF2B5EF4-FFF2-40B4-BE49-F238E27FC236}">
                <a16:creationId xmlns:a16="http://schemas.microsoft.com/office/drawing/2014/main" id="{40715E23-12A8-4ECE-D5C9-E7E20260B367}"/>
              </a:ext>
            </a:extLst>
          </p:cNvPr>
          <p:cNvSpPr>
            <a:spLocks noGrp="1"/>
          </p:cNvSpPr>
          <p:nvPr>
            <p:ph idx="1"/>
          </p:nvPr>
        </p:nvSpPr>
        <p:spPr/>
        <p:txBody>
          <a:bodyPr/>
          <a:lstStyle/>
          <a:p>
            <a:r>
              <a:rPr lang="nb-NO" dirty="0"/>
              <a:t>Hvordan er broker </a:t>
            </a:r>
            <a:r>
              <a:rPr lang="nb-NO" dirty="0" err="1"/>
              <a:t>pattern</a:t>
            </a:r>
            <a:r>
              <a:rPr lang="nb-NO" dirty="0"/>
              <a:t> delt opp?</a:t>
            </a:r>
          </a:p>
          <a:p>
            <a:r>
              <a:rPr lang="nb-NO" dirty="0"/>
              <a:t>Hvordan fungerer broker </a:t>
            </a:r>
            <a:r>
              <a:rPr lang="nb-NO" dirty="0" err="1"/>
              <a:t>pattern</a:t>
            </a:r>
            <a:r>
              <a:rPr lang="nb-NO" dirty="0"/>
              <a:t>?</a:t>
            </a:r>
          </a:p>
          <a:p>
            <a:r>
              <a:rPr lang="nb-NO" dirty="0"/>
              <a:t>Hvilke fordeler og ulemper er det ved broker </a:t>
            </a:r>
            <a:r>
              <a:rPr lang="nb-NO" dirty="0" err="1"/>
              <a:t>pattern</a:t>
            </a:r>
            <a:r>
              <a:rPr lang="nb-NO" dirty="0"/>
              <a:t>?</a:t>
            </a:r>
          </a:p>
          <a:p>
            <a:r>
              <a:rPr lang="nb-NO" dirty="0"/>
              <a:t>Hvor brukes broker </a:t>
            </a:r>
            <a:r>
              <a:rPr lang="nb-NO" dirty="0" err="1"/>
              <a:t>pattern</a:t>
            </a:r>
            <a:r>
              <a:rPr lang="nb-NO" dirty="0"/>
              <a:t>?</a:t>
            </a:r>
          </a:p>
          <a:p>
            <a:endParaRPr lang="nb-NO" dirty="0"/>
          </a:p>
          <a:p>
            <a:endParaRPr lang="nb-NO" dirty="0"/>
          </a:p>
        </p:txBody>
      </p:sp>
      <p:grpSp>
        <p:nvGrpSpPr>
          <p:cNvPr id="8" name="Gruppe 7">
            <a:extLst>
              <a:ext uri="{FF2B5EF4-FFF2-40B4-BE49-F238E27FC236}">
                <a16:creationId xmlns:a16="http://schemas.microsoft.com/office/drawing/2014/main" id="{CEE72BED-0123-67FB-12FB-406C555EBF57}"/>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99FA0166-95D7-543A-A442-5CB7FFACA227}"/>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Programvarearkitektur</a:t>
              </a:r>
              <a:endParaRPr lang="nb-NO" sz="2800" dirty="0"/>
            </a:p>
          </p:txBody>
        </p:sp>
        <p:sp>
          <p:nvSpPr>
            <p:cNvPr id="10" name="Plassholder for tekst 2">
              <a:extLst>
                <a:ext uri="{FF2B5EF4-FFF2-40B4-BE49-F238E27FC236}">
                  <a16:creationId xmlns:a16="http://schemas.microsoft.com/office/drawing/2014/main" id="{C49F356B-AD5B-7821-610F-27AD6F132797}"/>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Modeller</a:t>
              </a:r>
            </a:p>
          </p:txBody>
        </p:sp>
      </p:grpSp>
    </p:spTree>
    <p:extLst>
      <p:ext uri="{BB962C8B-B14F-4D97-AF65-F5344CB8AC3E}">
        <p14:creationId xmlns:p14="http://schemas.microsoft.com/office/powerpoint/2010/main" val="18537286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52BEF-BF0C-5B11-C724-D1B912117D70}"/>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AA81E400-CE94-3E3B-9C56-BE008313B482}"/>
              </a:ext>
            </a:extLst>
          </p:cNvPr>
          <p:cNvSpPr>
            <a:spLocks noGrp="1"/>
          </p:cNvSpPr>
          <p:nvPr>
            <p:ph type="title"/>
          </p:nvPr>
        </p:nvSpPr>
        <p:spPr/>
        <p:txBody>
          <a:bodyPr/>
          <a:lstStyle/>
          <a:p>
            <a:r>
              <a:rPr lang="nb-NO" dirty="0"/>
              <a:t>Peer to Peer </a:t>
            </a:r>
            <a:r>
              <a:rPr lang="nb-NO" dirty="0" err="1"/>
              <a:t>pattern</a:t>
            </a:r>
            <a:endParaRPr lang="nb-NO" dirty="0"/>
          </a:p>
        </p:txBody>
      </p:sp>
      <p:sp>
        <p:nvSpPr>
          <p:cNvPr id="3" name="Plassholder for innhold 2">
            <a:extLst>
              <a:ext uri="{FF2B5EF4-FFF2-40B4-BE49-F238E27FC236}">
                <a16:creationId xmlns:a16="http://schemas.microsoft.com/office/drawing/2014/main" id="{86098BE5-CC26-82D2-49F2-718490EE2009}"/>
              </a:ext>
            </a:extLst>
          </p:cNvPr>
          <p:cNvSpPr>
            <a:spLocks noGrp="1"/>
          </p:cNvSpPr>
          <p:nvPr>
            <p:ph idx="1"/>
          </p:nvPr>
        </p:nvSpPr>
        <p:spPr/>
        <p:txBody>
          <a:bodyPr/>
          <a:lstStyle/>
          <a:p>
            <a:r>
              <a:rPr lang="nb-NO" dirty="0"/>
              <a:t>Hvordan er peer to peer </a:t>
            </a:r>
            <a:r>
              <a:rPr lang="nb-NO" dirty="0" err="1"/>
              <a:t>pattern</a:t>
            </a:r>
            <a:r>
              <a:rPr lang="nb-NO" dirty="0"/>
              <a:t> delt opp?</a:t>
            </a:r>
          </a:p>
          <a:p>
            <a:r>
              <a:rPr lang="nb-NO" dirty="0"/>
              <a:t>Hvordan fungerer peer to peer </a:t>
            </a:r>
            <a:r>
              <a:rPr lang="nb-NO" dirty="0" err="1"/>
              <a:t>pattern</a:t>
            </a:r>
            <a:r>
              <a:rPr lang="nb-NO" dirty="0"/>
              <a:t>?</a:t>
            </a:r>
          </a:p>
          <a:p>
            <a:r>
              <a:rPr lang="nb-NO" dirty="0"/>
              <a:t>Hvilke fordeler og ulemper er det ved peer to peer </a:t>
            </a:r>
            <a:r>
              <a:rPr lang="nb-NO" dirty="0" err="1"/>
              <a:t>pattern</a:t>
            </a:r>
            <a:r>
              <a:rPr lang="nb-NO" dirty="0"/>
              <a:t>?</a:t>
            </a:r>
          </a:p>
          <a:p>
            <a:r>
              <a:rPr lang="nb-NO" dirty="0"/>
              <a:t>Hvor brukes peer to peer </a:t>
            </a:r>
            <a:r>
              <a:rPr lang="nb-NO" dirty="0" err="1"/>
              <a:t>pattern</a:t>
            </a:r>
            <a:r>
              <a:rPr lang="nb-NO" dirty="0"/>
              <a:t>?</a:t>
            </a:r>
          </a:p>
        </p:txBody>
      </p:sp>
      <p:grpSp>
        <p:nvGrpSpPr>
          <p:cNvPr id="8" name="Gruppe 7">
            <a:extLst>
              <a:ext uri="{FF2B5EF4-FFF2-40B4-BE49-F238E27FC236}">
                <a16:creationId xmlns:a16="http://schemas.microsoft.com/office/drawing/2014/main" id="{C24EDF8A-E7FD-AB3C-9C69-C6A13857A72E}"/>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21652497-914A-98BE-D99D-DEC8A7CD7F36}"/>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Programvarearkitektur</a:t>
              </a:r>
              <a:endParaRPr lang="nb-NO" sz="2800" dirty="0"/>
            </a:p>
          </p:txBody>
        </p:sp>
        <p:sp>
          <p:nvSpPr>
            <p:cNvPr id="10" name="Plassholder for tekst 2">
              <a:extLst>
                <a:ext uri="{FF2B5EF4-FFF2-40B4-BE49-F238E27FC236}">
                  <a16:creationId xmlns:a16="http://schemas.microsoft.com/office/drawing/2014/main" id="{5159EC7D-3C92-97C9-C5F6-BEBED8ED9F24}"/>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Modeller</a:t>
              </a:r>
            </a:p>
          </p:txBody>
        </p:sp>
      </p:grpSp>
    </p:spTree>
    <p:extLst>
      <p:ext uri="{BB962C8B-B14F-4D97-AF65-F5344CB8AC3E}">
        <p14:creationId xmlns:p14="http://schemas.microsoft.com/office/powerpoint/2010/main" val="26013371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891DF-A2F1-B754-DF31-A580159A0AA1}"/>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2F5EAC77-8743-E593-6620-046652055FF8}"/>
              </a:ext>
            </a:extLst>
          </p:cNvPr>
          <p:cNvSpPr>
            <a:spLocks noGrp="1"/>
          </p:cNvSpPr>
          <p:nvPr>
            <p:ph type="title"/>
          </p:nvPr>
        </p:nvSpPr>
        <p:spPr/>
        <p:txBody>
          <a:bodyPr/>
          <a:lstStyle/>
          <a:p>
            <a:r>
              <a:rPr lang="nb-NO" dirty="0" err="1"/>
              <a:t>Event</a:t>
            </a:r>
            <a:r>
              <a:rPr lang="nb-NO" dirty="0"/>
              <a:t>-bus </a:t>
            </a:r>
            <a:r>
              <a:rPr lang="nb-NO" dirty="0" err="1"/>
              <a:t>pattern</a:t>
            </a:r>
            <a:endParaRPr lang="nb-NO" dirty="0"/>
          </a:p>
        </p:txBody>
      </p:sp>
      <p:sp>
        <p:nvSpPr>
          <p:cNvPr id="3" name="Plassholder for innhold 2">
            <a:extLst>
              <a:ext uri="{FF2B5EF4-FFF2-40B4-BE49-F238E27FC236}">
                <a16:creationId xmlns:a16="http://schemas.microsoft.com/office/drawing/2014/main" id="{92CFEE55-3707-5EEA-B160-98237624DC95}"/>
              </a:ext>
            </a:extLst>
          </p:cNvPr>
          <p:cNvSpPr>
            <a:spLocks noGrp="1"/>
          </p:cNvSpPr>
          <p:nvPr>
            <p:ph idx="1"/>
          </p:nvPr>
        </p:nvSpPr>
        <p:spPr/>
        <p:txBody>
          <a:bodyPr/>
          <a:lstStyle/>
          <a:p>
            <a:r>
              <a:rPr lang="nb-NO" dirty="0"/>
              <a:t>Hvordan er </a:t>
            </a:r>
            <a:r>
              <a:rPr lang="nb-NO" dirty="0" err="1"/>
              <a:t>event</a:t>
            </a:r>
            <a:r>
              <a:rPr lang="nb-NO" dirty="0"/>
              <a:t>-bus </a:t>
            </a:r>
            <a:r>
              <a:rPr lang="nb-NO" dirty="0" err="1"/>
              <a:t>pattern</a:t>
            </a:r>
            <a:r>
              <a:rPr lang="nb-NO" dirty="0"/>
              <a:t> delt opp?</a:t>
            </a:r>
          </a:p>
          <a:p>
            <a:r>
              <a:rPr lang="nb-NO" dirty="0"/>
              <a:t>Hvordan fungerer </a:t>
            </a:r>
            <a:r>
              <a:rPr lang="nb-NO" dirty="0" err="1"/>
              <a:t>event</a:t>
            </a:r>
            <a:r>
              <a:rPr lang="nb-NO" dirty="0"/>
              <a:t>-bus </a:t>
            </a:r>
            <a:r>
              <a:rPr lang="nb-NO" dirty="0" err="1"/>
              <a:t>pattern</a:t>
            </a:r>
            <a:r>
              <a:rPr lang="nb-NO" dirty="0"/>
              <a:t>?</a:t>
            </a:r>
          </a:p>
          <a:p>
            <a:r>
              <a:rPr lang="nb-NO" dirty="0"/>
              <a:t>Hvilke fordeler og ulemper er det ved </a:t>
            </a:r>
            <a:r>
              <a:rPr lang="nb-NO" dirty="0" err="1"/>
              <a:t>event</a:t>
            </a:r>
            <a:r>
              <a:rPr lang="nb-NO" dirty="0"/>
              <a:t>-bus </a:t>
            </a:r>
            <a:r>
              <a:rPr lang="nb-NO" dirty="0" err="1"/>
              <a:t>pattern</a:t>
            </a:r>
            <a:r>
              <a:rPr lang="nb-NO" dirty="0"/>
              <a:t>?</a:t>
            </a:r>
          </a:p>
          <a:p>
            <a:r>
              <a:rPr lang="nb-NO" dirty="0"/>
              <a:t>Hvor brukes </a:t>
            </a:r>
            <a:r>
              <a:rPr lang="nb-NO" dirty="0" err="1"/>
              <a:t>event</a:t>
            </a:r>
            <a:r>
              <a:rPr lang="nb-NO" dirty="0"/>
              <a:t>-bus </a:t>
            </a:r>
            <a:r>
              <a:rPr lang="nb-NO" dirty="0" err="1"/>
              <a:t>pattern</a:t>
            </a:r>
            <a:r>
              <a:rPr lang="nb-NO" dirty="0"/>
              <a:t>?</a:t>
            </a:r>
          </a:p>
          <a:p>
            <a:endParaRPr lang="nb-NO" dirty="0"/>
          </a:p>
        </p:txBody>
      </p:sp>
      <p:grpSp>
        <p:nvGrpSpPr>
          <p:cNvPr id="8" name="Gruppe 7">
            <a:extLst>
              <a:ext uri="{FF2B5EF4-FFF2-40B4-BE49-F238E27FC236}">
                <a16:creationId xmlns:a16="http://schemas.microsoft.com/office/drawing/2014/main" id="{32C973CE-341C-8BB0-43FE-05D90E38505D}"/>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CB5EB297-53AD-0CBF-68E4-F300B25E5250}"/>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Programvarearkitektur</a:t>
              </a:r>
              <a:endParaRPr lang="nb-NO" sz="2800" dirty="0"/>
            </a:p>
          </p:txBody>
        </p:sp>
        <p:sp>
          <p:nvSpPr>
            <p:cNvPr id="10" name="Plassholder for tekst 2">
              <a:extLst>
                <a:ext uri="{FF2B5EF4-FFF2-40B4-BE49-F238E27FC236}">
                  <a16:creationId xmlns:a16="http://schemas.microsoft.com/office/drawing/2014/main" id="{0E1B9A92-A7F0-DBFB-FE6F-275DC007ED37}"/>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Modeller</a:t>
              </a:r>
            </a:p>
          </p:txBody>
        </p:sp>
      </p:grpSp>
    </p:spTree>
    <p:extLst>
      <p:ext uri="{BB962C8B-B14F-4D97-AF65-F5344CB8AC3E}">
        <p14:creationId xmlns:p14="http://schemas.microsoft.com/office/powerpoint/2010/main" val="35960125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5C5A0-471D-DDA0-0844-10F897E17F31}"/>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D86AC824-21DE-8F75-90BE-57B2B081D10C}"/>
              </a:ext>
            </a:extLst>
          </p:cNvPr>
          <p:cNvSpPr>
            <a:spLocks noGrp="1"/>
          </p:cNvSpPr>
          <p:nvPr>
            <p:ph type="title"/>
          </p:nvPr>
        </p:nvSpPr>
        <p:spPr/>
        <p:txBody>
          <a:bodyPr/>
          <a:lstStyle/>
          <a:p>
            <a:r>
              <a:rPr lang="nb-NO" dirty="0"/>
              <a:t>MVC</a:t>
            </a:r>
          </a:p>
        </p:txBody>
      </p:sp>
      <p:sp>
        <p:nvSpPr>
          <p:cNvPr id="3" name="Plassholder for innhold 2">
            <a:extLst>
              <a:ext uri="{FF2B5EF4-FFF2-40B4-BE49-F238E27FC236}">
                <a16:creationId xmlns:a16="http://schemas.microsoft.com/office/drawing/2014/main" id="{90072C9A-FD4A-477A-1402-1BCF5AF2E92F}"/>
              </a:ext>
            </a:extLst>
          </p:cNvPr>
          <p:cNvSpPr>
            <a:spLocks noGrp="1"/>
          </p:cNvSpPr>
          <p:nvPr>
            <p:ph idx="1"/>
          </p:nvPr>
        </p:nvSpPr>
        <p:spPr/>
        <p:txBody>
          <a:bodyPr/>
          <a:lstStyle/>
          <a:p>
            <a:r>
              <a:rPr lang="nb-NO" dirty="0"/>
              <a:t>Hvordan er MVC delt opp?</a:t>
            </a:r>
          </a:p>
          <a:p>
            <a:r>
              <a:rPr lang="nb-NO" dirty="0"/>
              <a:t>Hvordan fungerer MVC?</a:t>
            </a:r>
          </a:p>
          <a:p>
            <a:r>
              <a:rPr lang="nb-NO" dirty="0"/>
              <a:t>Hvilke fordeler og ulemper er det ved MVC?</a:t>
            </a:r>
          </a:p>
          <a:p>
            <a:r>
              <a:rPr lang="nb-NO" dirty="0"/>
              <a:t>Hvor brukes MVC?</a:t>
            </a:r>
          </a:p>
        </p:txBody>
      </p:sp>
      <p:grpSp>
        <p:nvGrpSpPr>
          <p:cNvPr id="8" name="Gruppe 7">
            <a:extLst>
              <a:ext uri="{FF2B5EF4-FFF2-40B4-BE49-F238E27FC236}">
                <a16:creationId xmlns:a16="http://schemas.microsoft.com/office/drawing/2014/main" id="{26D5491C-12CD-B5CF-2974-A0BC69529CB8}"/>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57D5EAA7-FC98-9749-5D6C-C13A9681AB8E}"/>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Programvarearkitektur</a:t>
              </a:r>
              <a:endParaRPr lang="nb-NO" sz="2800" dirty="0"/>
            </a:p>
          </p:txBody>
        </p:sp>
        <p:sp>
          <p:nvSpPr>
            <p:cNvPr id="10" name="Plassholder for tekst 2">
              <a:extLst>
                <a:ext uri="{FF2B5EF4-FFF2-40B4-BE49-F238E27FC236}">
                  <a16:creationId xmlns:a16="http://schemas.microsoft.com/office/drawing/2014/main" id="{B6495A6C-1B8F-24D7-1A7D-85B1BA5AA161}"/>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Modeller</a:t>
              </a:r>
            </a:p>
          </p:txBody>
        </p:sp>
      </p:grpSp>
    </p:spTree>
    <p:extLst>
      <p:ext uri="{BB962C8B-B14F-4D97-AF65-F5344CB8AC3E}">
        <p14:creationId xmlns:p14="http://schemas.microsoft.com/office/powerpoint/2010/main" val="19397551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E1917-44FC-7744-BA64-A295D32C9526}"/>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F17D5083-ACCA-5B53-E77B-F079F46971F9}"/>
              </a:ext>
            </a:extLst>
          </p:cNvPr>
          <p:cNvSpPr>
            <a:spLocks noGrp="1"/>
          </p:cNvSpPr>
          <p:nvPr>
            <p:ph type="title"/>
          </p:nvPr>
        </p:nvSpPr>
        <p:spPr/>
        <p:txBody>
          <a:bodyPr/>
          <a:lstStyle/>
          <a:p>
            <a:r>
              <a:rPr lang="nb-NO" dirty="0"/>
              <a:t>Microservice</a:t>
            </a:r>
          </a:p>
        </p:txBody>
      </p:sp>
      <p:sp>
        <p:nvSpPr>
          <p:cNvPr id="3" name="Plassholder for innhold 2">
            <a:extLst>
              <a:ext uri="{FF2B5EF4-FFF2-40B4-BE49-F238E27FC236}">
                <a16:creationId xmlns:a16="http://schemas.microsoft.com/office/drawing/2014/main" id="{0669724E-0089-2E67-F37F-5BEA69BCFE07}"/>
              </a:ext>
            </a:extLst>
          </p:cNvPr>
          <p:cNvSpPr>
            <a:spLocks noGrp="1"/>
          </p:cNvSpPr>
          <p:nvPr>
            <p:ph idx="1"/>
          </p:nvPr>
        </p:nvSpPr>
        <p:spPr/>
        <p:txBody>
          <a:bodyPr/>
          <a:lstStyle/>
          <a:p>
            <a:r>
              <a:rPr lang="nb-NO" dirty="0"/>
              <a:t>Hva er microservice basert på?</a:t>
            </a:r>
          </a:p>
          <a:p>
            <a:r>
              <a:rPr lang="nb-NO" dirty="0"/>
              <a:t>Hvordan er microservice delt opp?</a:t>
            </a:r>
          </a:p>
          <a:p>
            <a:r>
              <a:rPr lang="nb-NO" dirty="0"/>
              <a:t>Hvordan fungerer microservice?</a:t>
            </a:r>
          </a:p>
          <a:p>
            <a:r>
              <a:rPr lang="nb-NO" dirty="0"/>
              <a:t>Hvilke fordeler og ulemper er det ved microservice?</a:t>
            </a:r>
          </a:p>
          <a:p>
            <a:r>
              <a:rPr lang="nb-NO" dirty="0"/>
              <a:t>Hvor brukes microservice?</a:t>
            </a:r>
          </a:p>
        </p:txBody>
      </p:sp>
      <p:grpSp>
        <p:nvGrpSpPr>
          <p:cNvPr id="8" name="Gruppe 7">
            <a:extLst>
              <a:ext uri="{FF2B5EF4-FFF2-40B4-BE49-F238E27FC236}">
                <a16:creationId xmlns:a16="http://schemas.microsoft.com/office/drawing/2014/main" id="{009B4530-4D8C-D380-7DE0-94464507377C}"/>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28516674-1EBC-EE97-2E4F-CD5A70C8329F}"/>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Programvarearkitektur</a:t>
              </a:r>
              <a:endParaRPr lang="nb-NO" sz="2800" dirty="0"/>
            </a:p>
          </p:txBody>
        </p:sp>
        <p:sp>
          <p:nvSpPr>
            <p:cNvPr id="10" name="Plassholder for tekst 2">
              <a:extLst>
                <a:ext uri="{FF2B5EF4-FFF2-40B4-BE49-F238E27FC236}">
                  <a16:creationId xmlns:a16="http://schemas.microsoft.com/office/drawing/2014/main" id="{E435D0BA-06FD-23D4-6A3A-EBD4CFECFFCE}"/>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Modeller</a:t>
              </a:r>
            </a:p>
          </p:txBody>
        </p:sp>
      </p:grpSp>
    </p:spTree>
    <p:extLst>
      <p:ext uri="{BB962C8B-B14F-4D97-AF65-F5344CB8AC3E}">
        <p14:creationId xmlns:p14="http://schemas.microsoft.com/office/powerpoint/2010/main" val="27424115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58732-361F-C880-840E-82920299A8CA}"/>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3F255087-1F2F-73AF-4822-3072817E1FCE}"/>
              </a:ext>
            </a:extLst>
          </p:cNvPr>
          <p:cNvSpPr>
            <a:spLocks noGrp="1"/>
          </p:cNvSpPr>
          <p:nvPr>
            <p:ph type="title"/>
          </p:nvPr>
        </p:nvSpPr>
        <p:spPr/>
        <p:txBody>
          <a:bodyPr/>
          <a:lstStyle/>
          <a:p>
            <a:r>
              <a:rPr lang="nb-NO" dirty="0"/>
              <a:t>Monolittarkitektur</a:t>
            </a:r>
          </a:p>
        </p:txBody>
      </p:sp>
      <p:sp>
        <p:nvSpPr>
          <p:cNvPr id="3" name="Plassholder for innhold 2">
            <a:extLst>
              <a:ext uri="{FF2B5EF4-FFF2-40B4-BE49-F238E27FC236}">
                <a16:creationId xmlns:a16="http://schemas.microsoft.com/office/drawing/2014/main" id="{CDA1B41E-3DD6-1E17-8184-6A57D19FD40E}"/>
              </a:ext>
            </a:extLst>
          </p:cNvPr>
          <p:cNvSpPr>
            <a:spLocks noGrp="1"/>
          </p:cNvSpPr>
          <p:nvPr>
            <p:ph idx="1"/>
          </p:nvPr>
        </p:nvSpPr>
        <p:spPr/>
        <p:txBody>
          <a:bodyPr/>
          <a:lstStyle/>
          <a:p>
            <a:r>
              <a:rPr lang="nb-NO" dirty="0"/>
              <a:t>Hvordan er monolottarkitektur delt opp?</a:t>
            </a:r>
          </a:p>
          <a:p>
            <a:r>
              <a:rPr lang="nb-NO" dirty="0"/>
              <a:t>Hvordan fungerer monolottarkitektur?</a:t>
            </a:r>
          </a:p>
          <a:p>
            <a:r>
              <a:rPr lang="nb-NO" dirty="0"/>
              <a:t>Hvilke fordeler og ulemper er det ved monolottarkitektur?</a:t>
            </a:r>
          </a:p>
          <a:p>
            <a:r>
              <a:rPr lang="nb-NO" dirty="0"/>
              <a:t>Hvor brukes monolottarkitektur?</a:t>
            </a:r>
          </a:p>
        </p:txBody>
      </p:sp>
      <p:grpSp>
        <p:nvGrpSpPr>
          <p:cNvPr id="8" name="Gruppe 7">
            <a:extLst>
              <a:ext uri="{FF2B5EF4-FFF2-40B4-BE49-F238E27FC236}">
                <a16:creationId xmlns:a16="http://schemas.microsoft.com/office/drawing/2014/main" id="{544C0B1F-9CC7-7B81-469C-C5601D477421}"/>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AD4BD6F9-4A7C-867C-1B3B-50625A848989}"/>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Programvarearkitektur</a:t>
              </a:r>
              <a:endParaRPr lang="nb-NO" sz="2800" dirty="0"/>
            </a:p>
          </p:txBody>
        </p:sp>
        <p:sp>
          <p:nvSpPr>
            <p:cNvPr id="10" name="Plassholder for tekst 2">
              <a:extLst>
                <a:ext uri="{FF2B5EF4-FFF2-40B4-BE49-F238E27FC236}">
                  <a16:creationId xmlns:a16="http://schemas.microsoft.com/office/drawing/2014/main" id="{B60B7F6A-ED45-7FB2-E70A-65EAA2B9480B}"/>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Modeller</a:t>
              </a:r>
            </a:p>
          </p:txBody>
        </p:sp>
      </p:grpSp>
    </p:spTree>
    <p:extLst>
      <p:ext uri="{BB962C8B-B14F-4D97-AF65-F5344CB8AC3E}">
        <p14:creationId xmlns:p14="http://schemas.microsoft.com/office/powerpoint/2010/main" val="38185200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CBF8A-CA28-865A-D6CC-AB77370C9B59}"/>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A453E4F3-C1D0-CE99-66FF-C58B88859983}"/>
              </a:ext>
            </a:extLst>
          </p:cNvPr>
          <p:cNvSpPr>
            <a:spLocks noGrp="1"/>
          </p:cNvSpPr>
          <p:nvPr>
            <p:ph type="title"/>
          </p:nvPr>
        </p:nvSpPr>
        <p:spPr/>
        <p:txBody>
          <a:bodyPr/>
          <a:lstStyle/>
          <a:p>
            <a:r>
              <a:rPr lang="nb-NO" dirty="0" err="1"/>
              <a:t>Plugin</a:t>
            </a:r>
            <a:r>
              <a:rPr lang="nb-NO" dirty="0"/>
              <a:t>-basert arkitektur</a:t>
            </a:r>
          </a:p>
        </p:txBody>
      </p:sp>
      <p:sp>
        <p:nvSpPr>
          <p:cNvPr id="3" name="Plassholder for innhold 2">
            <a:extLst>
              <a:ext uri="{FF2B5EF4-FFF2-40B4-BE49-F238E27FC236}">
                <a16:creationId xmlns:a16="http://schemas.microsoft.com/office/drawing/2014/main" id="{DB13B5B8-C0FC-8734-61AF-A33B75BA15AF}"/>
              </a:ext>
            </a:extLst>
          </p:cNvPr>
          <p:cNvSpPr>
            <a:spLocks noGrp="1"/>
          </p:cNvSpPr>
          <p:nvPr>
            <p:ph idx="1"/>
          </p:nvPr>
        </p:nvSpPr>
        <p:spPr/>
        <p:txBody>
          <a:bodyPr/>
          <a:lstStyle/>
          <a:p>
            <a:r>
              <a:rPr lang="nb-NO" dirty="0"/>
              <a:t>Hvordan er </a:t>
            </a:r>
            <a:r>
              <a:rPr lang="nb-NO" dirty="0" err="1"/>
              <a:t>plugin</a:t>
            </a:r>
            <a:r>
              <a:rPr lang="nb-NO" dirty="0"/>
              <a:t>-basert arkitektur delt opp?</a:t>
            </a:r>
          </a:p>
          <a:p>
            <a:r>
              <a:rPr lang="nb-NO" dirty="0"/>
              <a:t>Hvordan fungerer </a:t>
            </a:r>
            <a:r>
              <a:rPr lang="nb-NO" dirty="0" err="1"/>
              <a:t>plugin</a:t>
            </a:r>
            <a:r>
              <a:rPr lang="nb-NO" dirty="0"/>
              <a:t>-basert arkitektur?</a:t>
            </a:r>
          </a:p>
          <a:p>
            <a:r>
              <a:rPr lang="nb-NO" dirty="0"/>
              <a:t>Hvilke fordeler og ulemper er det ved </a:t>
            </a:r>
            <a:r>
              <a:rPr lang="nb-NO" dirty="0" err="1"/>
              <a:t>plugin</a:t>
            </a:r>
            <a:r>
              <a:rPr lang="nb-NO" dirty="0"/>
              <a:t>-basert arkitektur?</a:t>
            </a:r>
          </a:p>
          <a:p>
            <a:r>
              <a:rPr lang="nb-NO" dirty="0"/>
              <a:t>Hvor brukes </a:t>
            </a:r>
            <a:r>
              <a:rPr lang="nb-NO" dirty="0" err="1"/>
              <a:t>plugin</a:t>
            </a:r>
            <a:r>
              <a:rPr lang="nb-NO" dirty="0"/>
              <a:t>-basert arkitektur? Gi noen eksempler</a:t>
            </a:r>
          </a:p>
          <a:p>
            <a:endParaRPr lang="nb-NO" dirty="0"/>
          </a:p>
        </p:txBody>
      </p:sp>
      <p:grpSp>
        <p:nvGrpSpPr>
          <p:cNvPr id="8" name="Gruppe 7">
            <a:extLst>
              <a:ext uri="{FF2B5EF4-FFF2-40B4-BE49-F238E27FC236}">
                <a16:creationId xmlns:a16="http://schemas.microsoft.com/office/drawing/2014/main" id="{87759A0D-BCB4-9CBE-9F22-F603A5FF8706}"/>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CACAAE7F-A38C-AB01-20F2-4376AAC1A809}"/>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Programvarearkitektur</a:t>
              </a:r>
              <a:endParaRPr lang="nb-NO" sz="2800" dirty="0"/>
            </a:p>
          </p:txBody>
        </p:sp>
        <p:sp>
          <p:nvSpPr>
            <p:cNvPr id="10" name="Plassholder for tekst 2">
              <a:extLst>
                <a:ext uri="{FF2B5EF4-FFF2-40B4-BE49-F238E27FC236}">
                  <a16:creationId xmlns:a16="http://schemas.microsoft.com/office/drawing/2014/main" id="{E5741AAE-7FCB-CF45-197F-16C0791F6349}"/>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Modeller</a:t>
              </a:r>
            </a:p>
          </p:txBody>
        </p:sp>
      </p:grpSp>
    </p:spTree>
    <p:extLst>
      <p:ext uri="{BB962C8B-B14F-4D97-AF65-F5344CB8AC3E}">
        <p14:creationId xmlns:p14="http://schemas.microsoft.com/office/powerpoint/2010/main" val="362265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9F2BE-A558-B2C5-0D4D-3C290F172161}"/>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FD65F705-A490-463C-3A5A-F44B99298B2F}"/>
              </a:ext>
            </a:extLst>
          </p:cNvPr>
          <p:cNvSpPr>
            <a:spLocks noGrp="1"/>
          </p:cNvSpPr>
          <p:nvPr>
            <p:ph type="title"/>
          </p:nvPr>
        </p:nvSpPr>
        <p:spPr/>
        <p:txBody>
          <a:bodyPr/>
          <a:lstStyle/>
          <a:p>
            <a:r>
              <a:rPr lang="nb-NO" dirty="0"/>
              <a:t>Deployment-arkitekturer</a:t>
            </a:r>
          </a:p>
        </p:txBody>
      </p:sp>
      <p:sp>
        <p:nvSpPr>
          <p:cNvPr id="3" name="Plassholder for innhold 2">
            <a:extLst>
              <a:ext uri="{FF2B5EF4-FFF2-40B4-BE49-F238E27FC236}">
                <a16:creationId xmlns:a16="http://schemas.microsoft.com/office/drawing/2014/main" id="{A6F34CB0-D728-384E-C7A5-FE8A61F30F59}"/>
              </a:ext>
            </a:extLst>
          </p:cNvPr>
          <p:cNvSpPr>
            <a:spLocks noGrp="1"/>
          </p:cNvSpPr>
          <p:nvPr>
            <p:ph idx="1"/>
          </p:nvPr>
        </p:nvSpPr>
        <p:spPr/>
        <p:txBody>
          <a:bodyPr/>
          <a:lstStyle/>
          <a:p>
            <a:r>
              <a:rPr lang="nb-NO" dirty="0"/>
              <a:t>Hva er tradisjonell </a:t>
            </a:r>
            <a:r>
              <a:rPr lang="nb-NO" dirty="0" err="1"/>
              <a:t>deployment</a:t>
            </a:r>
            <a:r>
              <a:rPr lang="nb-NO" dirty="0"/>
              <a:t>?</a:t>
            </a:r>
          </a:p>
          <a:p>
            <a:r>
              <a:rPr lang="nb-NO" dirty="0"/>
              <a:t>Hva er fordeler og ulemper med tradisjonell </a:t>
            </a:r>
            <a:r>
              <a:rPr lang="nb-NO" dirty="0" err="1"/>
              <a:t>deployment</a:t>
            </a:r>
            <a:r>
              <a:rPr lang="nb-NO" dirty="0"/>
              <a:t>?</a:t>
            </a:r>
          </a:p>
          <a:p>
            <a:r>
              <a:rPr lang="nb-NO" dirty="0"/>
              <a:t>Hva er </a:t>
            </a:r>
            <a:r>
              <a:rPr lang="nb-NO" dirty="0" err="1"/>
              <a:t>virtualisering</a:t>
            </a:r>
            <a:r>
              <a:rPr lang="nb-NO" dirty="0"/>
              <a:t> (VMs)?</a:t>
            </a:r>
          </a:p>
          <a:p>
            <a:r>
              <a:rPr lang="nb-NO" dirty="0"/>
              <a:t>Hva er fordeler og ulemper med </a:t>
            </a:r>
            <a:r>
              <a:rPr lang="nb-NO" dirty="0" err="1"/>
              <a:t>virtualisering</a:t>
            </a:r>
            <a:r>
              <a:rPr lang="nb-NO" dirty="0"/>
              <a:t>?</a:t>
            </a:r>
          </a:p>
          <a:p>
            <a:r>
              <a:rPr lang="nb-NO" dirty="0"/>
              <a:t>Hva er container-</a:t>
            </a:r>
            <a:r>
              <a:rPr lang="nb-NO" dirty="0" err="1"/>
              <a:t>deployment</a:t>
            </a:r>
            <a:r>
              <a:rPr lang="nb-NO" dirty="0"/>
              <a:t>?</a:t>
            </a:r>
          </a:p>
          <a:p>
            <a:r>
              <a:rPr lang="nb-NO" dirty="0"/>
              <a:t>Hvilke nøkkelteknologier bruker container-</a:t>
            </a:r>
            <a:r>
              <a:rPr lang="nb-NO" dirty="0" err="1"/>
              <a:t>deployment</a:t>
            </a:r>
            <a:r>
              <a:rPr lang="nb-NO" dirty="0"/>
              <a:t>, og hvordan?</a:t>
            </a:r>
          </a:p>
          <a:p>
            <a:r>
              <a:rPr lang="nb-NO" dirty="0"/>
              <a:t>Hva er fordeler og ulemper med container-</a:t>
            </a:r>
            <a:r>
              <a:rPr lang="nb-NO" dirty="0" err="1"/>
              <a:t>deployment</a:t>
            </a:r>
            <a:r>
              <a:rPr lang="nb-NO" dirty="0"/>
              <a:t>?</a:t>
            </a:r>
          </a:p>
          <a:p>
            <a:endParaRPr lang="nb-NO" dirty="0"/>
          </a:p>
        </p:txBody>
      </p:sp>
      <p:grpSp>
        <p:nvGrpSpPr>
          <p:cNvPr id="8" name="Gruppe 7">
            <a:extLst>
              <a:ext uri="{FF2B5EF4-FFF2-40B4-BE49-F238E27FC236}">
                <a16:creationId xmlns:a16="http://schemas.microsoft.com/office/drawing/2014/main" id="{24769A75-EDFC-E791-D8FA-B8F3D7AD4FDC}"/>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9D39BC1B-CE77-9F35-DBE0-239E2EE2B30D}"/>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Programvarearkitektur</a:t>
              </a:r>
              <a:endParaRPr lang="nb-NO" sz="2800" dirty="0"/>
            </a:p>
          </p:txBody>
        </p:sp>
        <p:sp>
          <p:nvSpPr>
            <p:cNvPr id="10" name="Plassholder for tekst 2">
              <a:extLst>
                <a:ext uri="{FF2B5EF4-FFF2-40B4-BE49-F238E27FC236}">
                  <a16:creationId xmlns:a16="http://schemas.microsoft.com/office/drawing/2014/main" id="{B08BFE09-055B-AD15-3416-E3B26705650A}"/>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Deployment</a:t>
              </a:r>
            </a:p>
          </p:txBody>
        </p:sp>
      </p:grpSp>
    </p:spTree>
    <p:extLst>
      <p:ext uri="{BB962C8B-B14F-4D97-AF65-F5344CB8AC3E}">
        <p14:creationId xmlns:p14="http://schemas.microsoft.com/office/powerpoint/2010/main" val="33703937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6C14A-E8B6-BE37-8A1A-7263FBD57D59}"/>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02B8D080-6FD0-9FA3-B02C-A7B6C46D3D81}"/>
              </a:ext>
            </a:extLst>
          </p:cNvPr>
          <p:cNvSpPr>
            <a:spLocks noGrp="1"/>
          </p:cNvSpPr>
          <p:nvPr>
            <p:ph type="title"/>
          </p:nvPr>
        </p:nvSpPr>
        <p:spPr/>
        <p:txBody>
          <a:bodyPr/>
          <a:lstStyle/>
          <a:p>
            <a:r>
              <a:rPr lang="nb-NO" dirty="0"/>
              <a:t>Systemutviklingsmetodikk</a:t>
            </a:r>
          </a:p>
        </p:txBody>
      </p:sp>
      <p:sp>
        <p:nvSpPr>
          <p:cNvPr id="3" name="Plassholder for tekst 2">
            <a:extLst>
              <a:ext uri="{FF2B5EF4-FFF2-40B4-BE49-F238E27FC236}">
                <a16:creationId xmlns:a16="http://schemas.microsoft.com/office/drawing/2014/main" id="{BC3992E5-94B1-5E50-6D0A-E88B92E82795}"/>
              </a:ext>
            </a:extLst>
          </p:cNvPr>
          <p:cNvSpPr>
            <a:spLocks noGrp="1"/>
          </p:cNvSpPr>
          <p:nvPr>
            <p:ph type="body" idx="1"/>
          </p:nvPr>
        </p:nvSpPr>
        <p:spPr/>
        <p:txBody>
          <a:bodyPr/>
          <a:lstStyle/>
          <a:p>
            <a:r>
              <a:rPr lang="nb-NO" dirty="0"/>
              <a:t>Metoder</a:t>
            </a:r>
          </a:p>
        </p:txBody>
      </p:sp>
    </p:spTree>
    <p:extLst>
      <p:ext uri="{BB962C8B-B14F-4D97-AF65-F5344CB8AC3E}">
        <p14:creationId xmlns:p14="http://schemas.microsoft.com/office/powerpoint/2010/main" val="4627272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B8094-A29B-ADF3-58D7-D8268F1DF3CD}"/>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D0ACD833-888D-662E-B180-3202292A49E1}"/>
              </a:ext>
            </a:extLst>
          </p:cNvPr>
          <p:cNvSpPr>
            <a:spLocks noGrp="1"/>
          </p:cNvSpPr>
          <p:nvPr>
            <p:ph type="title"/>
          </p:nvPr>
        </p:nvSpPr>
        <p:spPr/>
        <p:txBody>
          <a:bodyPr/>
          <a:lstStyle/>
          <a:p>
            <a:r>
              <a:rPr lang="nb-NO" dirty="0"/>
              <a:t>Før smidig metoder</a:t>
            </a:r>
          </a:p>
        </p:txBody>
      </p:sp>
      <p:sp>
        <p:nvSpPr>
          <p:cNvPr id="3" name="Plassholder for innhold 2">
            <a:extLst>
              <a:ext uri="{FF2B5EF4-FFF2-40B4-BE49-F238E27FC236}">
                <a16:creationId xmlns:a16="http://schemas.microsoft.com/office/drawing/2014/main" id="{98BCB61C-9E4B-EE4E-83E9-C57F2F68F382}"/>
              </a:ext>
            </a:extLst>
          </p:cNvPr>
          <p:cNvSpPr>
            <a:spLocks noGrp="1"/>
          </p:cNvSpPr>
          <p:nvPr>
            <p:ph idx="1"/>
          </p:nvPr>
        </p:nvSpPr>
        <p:spPr/>
        <p:txBody>
          <a:bodyPr/>
          <a:lstStyle/>
          <a:p>
            <a:r>
              <a:rPr lang="nb-NO" dirty="0"/>
              <a:t>Hvilke metoder fantes før smidig metoder?</a:t>
            </a:r>
          </a:p>
          <a:p>
            <a:r>
              <a:rPr lang="nb-NO" dirty="0"/>
              <a:t>Hvordan fungerer disse metodene?</a:t>
            </a:r>
          </a:p>
          <a:p>
            <a:r>
              <a:rPr lang="nb-NO" dirty="0"/>
              <a:t>Hvorfor ble de valgt? </a:t>
            </a:r>
          </a:p>
          <a:p>
            <a:r>
              <a:rPr lang="nb-NO" dirty="0"/>
              <a:t>Hvilke fordeler og ulemper har disse metodene?</a:t>
            </a:r>
          </a:p>
          <a:p>
            <a:endParaRPr lang="nb-NO" dirty="0"/>
          </a:p>
        </p:txBody>
      </p:sp>
      <p:grpSp>
        <p:nvGrpSpPr>
          <p:cNvPr id="8" name="Gruppe 7">
            <a:extLst>
              <a:ext uri="{FF2B5EF4-FFF2-40B4-BE49-F238E27FC236}">
                <a16:creationId xmlns:a16="http://schemas.microsoft.com/office/drawing/2014/main" id="{4F2BF56B-D9F5-DEDC-C5E4-87C4C0D3F83F}"/>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6BA40E38-9BAA-3769-4102-76A5878A787D}"/>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Systemutviklingsmetodikk</a:t>
              </a:r>
              <a:endParaRPr lang="nb-NO" sz="2800" dirty="0"/>
            </a:p>
          </p:txBody>
        </p:sp>
        <p:sp>
          <p:nvSpPr>
            <p:cNvPr id="10" name="Plassholder for tekst 2">
              <a:extLst>
                <a:ext uri="{FF2B5EF4-FFF2-40B4-BE49-F238E27FC236}">
                  <a16:creationId xmlns:a16="http://schemas.microsoft.com/office/drawing/2014/main" id="{41022379-2955-1768-E2C7-768B82CFBF0C}"/>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Metodikk</a:t>
              </a:r>
            </a:p>
          </p:txBody>
        </p:sp>
      </p:grpSp>
    </p:spTree>
    <p:extLst>
      <p:ext uri="{BB962C8B-B14F-4D97-AF65-F5344CB8AC3E}">
        <p14:creationId xmlns:p14="http://schemas.microsoft.com/office/powerpoint/2010/main" val="34746599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06C26-68A5-B1A2-28FB-6ED8C8BD761F}"/>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FCF50856-6242-EF5C-A073-5CEEB480C536}"/>
              </a:ext>
            </a:extLst>
          </p:cNvPr>
          <p:cNvSpPr>
            <a:spLocks noGrp="1"/>
          </p:cNvSpPr>
          <p:nvPr>
            <p:ph type="title"/>
          </p:nvPr>
        </p:nvSpPr>
        <p:spPr/>
        <p:txBody>
          <a:bodyPr/>
          <a:lstStyle/>
          <a:p>
            <a:r>
              <a:rPr lang="nb-NO" dirty="0"/>
              <a:t>Smidige metoder</a:t>
            </a:r>
          </a:p>
        </p:txBody>
      </p:sp>
      <p:sp>
        <p:nvSpPr>
          <p:cNvPr id="3" name="Plassholder for innhold 2">
            <a:extLst>
              <a:ext uri="{FF2B5EF4-FFF2-40B4-BE49-F238E27FC236}">
                <a16:creationId xmlns:a16="http://schemas.microsoft.com/office/drawing/2014/main" id="{736EC421-5BB8-F144-D077-2696F1D7E7DA}"/>
              </a:ext>
            </a:extLst>
          </p:cNvPr>
          <p:cNvSpPr>
            <a:spLocks noGrp="1"/>
          </p:cNvSpPr>
          <p:nvPr>
            <p:ph idx="1"/>
          </p:nvPr>
        </p:nvSpPr>
        <p:spPr/>
        <p:txBody>
          <a:bodyPr/>
          <a:lstStyle/>
          <a:p>
            <a:r>
              <a:rPr lang="nb-NO" dirty="0"/>
              <a:t>Hvorfor oppstod smidige metoder?</a:t>
            </a:r>
          </a:p>
          <a:p>
            <a:r>
              <a:rPr lang="nb-NO" dirty="0"/>
              <a:t>Hvordan ble smidige metoder kjent?</a:t>
            </a:r>
          </a:p>
          <a:p>
            <a:r>
              <a:rPr lang="nb-NO" dirty="0"/>
              <a:t>Hva er de grunnleggende prinsippene for smidig metode?</a:t>
            </a:r>
          </a:p>
          <a:p>
            <a:r>
              <a:rPr lang="nb-NO" dirty="0"/>
              <a:t>Kort oppsummert, hva består manifestet av?</a:t>
            </a:r>
          </a:p>
        </p:txBody>
      </p:sp>
      <p:grpSp>
        <p:nvGrpSpPr>
          <p:cNvPr id="8" name="Gruppe 7">
            <a:extLst>
              <a:ext uri="{FF2B5EF4-FFF2-40B4-BE49-F238E27FC236}">
                <a16:creationId xmlns:a16="http://schemas.microsoft.com/office/drawing/2014/main" id="{2D7AF8FF-065F-4DA8-5ED5-0441B1B4C352}"/>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EE3A6FFB-60A7-BD9E-947E-9B910E466E93}"/>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Systemutviklingsmetodikk</a:t>
              </a:r>
              <a:endParaRPr lang="nb-NO" sz="2800" dirty="0"/>
            </a:p>
          </p:txBody>
        </p:sp>
        <p:sp>
          <p:nvSpPr>
            <p:cNvPr id="10" name="Plassholder for tekst 2">
              <a:extLst>
                <a:ext uri="{FF2B5EF4-FFF2-40B4-BE49-F238E27FC236}">
                  <a16:creationId xmlns:a16="http://schemas.microsoft.com/office/drawing/2014/main" id="{6AE9110B-6665-E5BE-C26D-77D2012A2B53}"/>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Metodikk</a:t>
              </a:r>
            </a:p>
          </p:txBody>
        </p:sp>
      </p:grpSp>
    </p:spTree>
    <p:extLst>
      <p:ext uri="{BB962C8B-B14F-4D97-AF65-F5344CB8AC3E}">
        <p14:creationId xmlns:p14="http://schemas.microsoft.com/office/powerpoint/2010/main" val="15038722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31CA3-F0B4-A337-3408-65C39A6C9420}"/>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C4B7DDF8-9E0F-429C-7BA4-85E5B380D04F}"/>
              </a:ext>
            </a:extLst>
          </p:cNvPr>
          <p:cNvSpPr>
            <a:spLocks noGrp="1"/>
          </p:cNvSpPr>
          <p:nvPr>
            <p:ph type="title"/>
          </p:nvPr>
        </p:nvSpPr>
        <p:spPr/>
        <p:txBody>
          <a:bodyPr/>
          <a:lstStyle/>
          <a:p>
            <a:r>
              <a:rPr lang="nb-NO" dirty="0"/>
              <a:t>Extreme Programming</a:t>
            </a:r>
          </a:p>
        </p:txBody>
      </p:sp>
      <p:sp>
        <p:nvSpPr>
          <p:cNvPr id="3" name="Plassholder for innhold 2">
            <a:extLst>
              <a:ext uri="{FF2B5EF4-FFF2-40B4-BE49-F238E27FC236}">
                <a16:creationId xmlns:a16="http://schemas.microsoft.com/office/drawing/2014/main" id="{D2096B53-85E4-7FD9-1EA1-5A649AC3123C}"/>
              </a:ext>
            </a:extLst>
          </p:cNvPr>
          <p:cNvSpPr>
            <a:spLocks noGrp="1"/>
          </p:cNvSpPr>
          <p:nvPr>
            <p:ph idx="1"/>
          </p:nvPr>
        </p:nvSpPr>
        <p:spPr/>
        <p:txBody>
          <a:bodyPr/>
          <a:lstStyle/>
          <a:p>
            <a:r>
              <a:rPr lang="nb-NO" dirty="0"/>
              <a:t>Hva kjennetegner XP?</a:t>
            </a:r>
          </a:p>
          <a:p>
            <a:r>
              <a:rPr lang="nb-NO" dirty="0"/>
              <a:t>Hvor mange regler har XP?</a:t>
            </a:r>
          </a:p>
          <a:p>
            <a:r>
              <a:rPr lang="nb-NO" dirty="0"/>
              <a:t>Hva er noen av reglene for XP?</a:t>
            </a:r>
          </a:p>
          <a:p>
            <a:r>
              <a:rPr lang="nb-NO" dirty="0"/>
              <a:t>Hva er de sentrale verdiene innen XP?</a:t>
            </a:r>
          </a:p>
        </p:txBody>
      </p:sp>
      <p:grpSp>
        <p:nvGrpSpPr>
          <p:cNvPr id="8" name="Gruppe 7">
            <a:extLst>
              <a:ext uri="{FF2B5EF4-FFF2-40B4-BE49-F238E27FC236}">
                <a16:creationId xmlns:a16="http://schemas.microsoft.com/office/drawing/2014/main" id="{1B64CD98-AB7D-717A-569E-7A7C24BBA06C}"/>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61D3549D-DF5E-B728-AFFF-D96BD313BC57}"/>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Systemutviklingsmetodikk</a:t>
              </a:r>
              <a:endParaRPr lang="nb-NO" sz="2800" dirty="0"/>
            </a:p>
          </p:txBody>
        </p:sp>
        <p:sp>
          <p:nvSpPr>
            <p:cNvPr id="10" name="Plassholder for tekst 2">
              <a:extLst>
                <a:ext uri="{FF2B5EF4-FFF2-40B4-BE49-F238E27FC236}">
                  <a16:creationId xmlns:a16="http://schemas.microsoft.com/office/drawing/2014/main" id="{0137C597-8684-0A77-C668-102BE1BD55B8}"/>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Smidige metoder</a:t>
              </a:r>
            </a:p>
          </p:txBody>
        </p:sp>
      </p:grpSp>
    </p:spTree>
    <p:extLst>
      <p:ext uri="{BB962C8B-B14F-4D97-AF65-F5344CB8AC3E}">
        <p14:creationId xmlns:p14="http://schemas.microsoft.com/office/powerpoint/2010/main" val="347871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924A5-818D-7B3D-E116-D07B3A6AC93F}"/>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1C488B2A-0B15-975D-7043-1B1FBD0B30B7}"/>
              </a:ext>
            </a:extLst>
          </p:cNvPr>
          <p:cNvSpPr>
            <a:spLocks noGrp="1"/>
          </p:cNvSpPr>
          <p:nvPr>
            <p:ph type="title"/>
          </p:nvPr>
        </p:nvSpPr>
        <p:spPr/>
        <p:txBody>
          <a:bodyPr/>
          <a:lstStyle/>
          <a:p>
            <a:r>
              <a:rPr lang="nb-NO" dirty="0"/>
              <a:t>Test-Driven </a:t>
            </a:r>
            <a:r>
              <a:rPr lang="nb-NO" dirty="0" err="1"/>
              <a:t>develompent</a:t>
            </a:r>
            <a:endParaRPr lang="nb-NO" dirty="0"/>
          </a:p>
        </p:txBody>
      </p:sp>
      <p:sp>
        <p:nvSpPr>
          <p:cNvPr id="3" name="Plassholder for innhold 2">
            <a:extLst>
              <a:ext uri="{FF2B5EF4-FFF2-40B4-BE49-F238E27FC236}">
                <a16:creationId xmlns:a16="http://schemas.microsoft.com/office/drawing/2014/main" id="{4848C30D-DA9F-9285-FD56-C0F6AB62E4A3}"/>
              </a:ext>
            </a:extLst>
          </p:cNvPr>
          <p:cNvSpPr>
            <a:spLocks noGrp="1"/>
          </p:cNvSpPr>
          <p:nvPr>
            <p:ph idx="1"/>
          </p:nvPr>
        </p:nvSpPr>
        <p:spPr/>
        <p:txBody>
          <a:bodyPr/>
          <a:lstStyle/>
          <a:p>
            <a:r>
              <a:rPr lang="nb-NO" dirty="0"/>
              <a:t>Hva er TDD?</a:t>
            </a:r>
          </a:p>
          <a:p>
            <a:r>
              <a:rPr lang="nb-NO" dirty="0"/>
              <a:t>Hvilken sammenheng har TDD og XP?</a:t>
            </a:r>
          </a:p>
          <a:p>
            <a:r>
              <a:rPr lang="nb-NO" dirty="0"/>
              <a:t>Hva legger TDD fokus på?</a:t>
            </a:r>
          </a:p>
          <a:p>
            <a:r>
              <a:rPr lang="nb-NO" dirty="0"/>
              <a:t>Hvordan er tester og krav beskrevet med TDD, og hva er sammenhengen?</a:t>
            </a:r>
          </a:p>
          <a:p>
            <a:r>
              <a:rPr lang="nb-NO" dirty="0"/>
              <a:t>Hvilke fordeler og ulemper har TDD?</a:t>
            </a:r>
          </a:p>
        </p:txBody>
      </p:sp>
      <p:grpSp>
        <p:nvGrpSpPr>
          <p:cNvPr id="8" name="Gruppe 7">
            <a:extLst>
              <a:ext uri="{FF2B5EF4-FFF2-40B4-BE49-F238E27FC236}">
                <a16:creationId xmlns:a16="http://schemas.microsoft.com/office/drawing/2014/main" id="{8D7FEA86-AD40-0C0D-2D3D-15712E797042}"/>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C5D64A75-F08E-74A4-016E-77F4CCEE49C0}"/>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Systemutviklingsmetodikk</a:t>
              </a:r>
              <a:endParaRPr lang="nb-NO" sz="2800" dirty="0"/>
            </a:p>
          </p:txBody>
        </p:sp>
        <p:sp>
          <p:nvSpPr>
            <p:cNvPr id="10" name="Plassholder for tekst 2">
              <a:extLst>
                <a:ext uri="{FF2B5EF4-FFF2-40B4-BE49-F238E27FC236}">
                  <a16:creationId xmlns:a16="http://schemas.microsoft.com/office/drawing/2014/main" id="{F59F1C8B-572E-D302-4E1B-61B3A8289FCD}"/>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Smidige metoder</a:t>
              </a:r>
            </a:p>
          </p:txBody>
        </p:sp>
      </p:grpSp>
    </p:spTree>
    <p:extLst>
      <p:ext uri="{BB962C8B-B14F-4D97-AF65-F5344CB8AC3E}">
        <p14:creationId xmlns:p14="http://schemas.microsoft.com/office/powerpoint/2010/main" val="826818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16465-D87B-92A4-32EA-9AD0A0751E6D}"/>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8859D1C6-D2FA-F61F-A18E-DC477647D413}"/>
              </a:ext>
            </a:extLst>
          </p:cNvPr>
          <p:cNvSpPr>
            <a:spLocks noGrp="1"/>
          </p:cNvSpPr>
          <p:nvPr>
            <p:ph type="title"/>
          </p:nvPr>
        </p:nvSpPr>
        <p:spPr/>
        <p:txBody>
          <a:bodyPr/>
          <a:lstStyle/>
          <a:p>
            <a:r>
              <a:rPr lang="nb-NO" dirty="0" err="1"/>
              <a:t>Behavior</a:t>
            </a:r>
            <a:r>
              <a:rPr lang="nb-NO" dirty="0"/>
              <a:t>-Driven </a:t>
            </a:r>
            <a:r>
              <a:rPr lang="nb-NO" dirty="0" err="1"/>
              <a:t>develompent</a:t>
            </a:r>
            <a:endParaRPr lang="nb-NO" dirty="0"/>
          </a:p>
        </p:txBody>
      </p:sp>
      <p:sp>
        <p:nvSpPr>
          <p:cNvPr id="3" name="Plassholder for innhold 2">
            <a:extLst>
              <a:ext uri="{FF2B5EF4-FFF2-40B4-BE49-F238E27FC236}">
                <a16:creationId xmlns:a16="http://schemas.microsoft.com/office/drawing/2014/main" id="{F937E4BA-54A0-A060-E4AA-5037AEDDB883}"/>
              </a:ext>
            </a:extLst>
          </p:cNvPr>
          <p:cNvSpPr>
            <a:spLocks noGrp="1"/>
          </p:cNvSpPr>
          <p:nvPr>
            <p:ph idx="1"/>
          </p:nvPr>
        </p:nvSpPr>
        <p:spPr/>
        <p:txBody>
          <a:bodyPr/>
          <a:lstStyle/>
          <a:p>
            <a:r>
              <a:rPr lang="nb-NO" dirty="0"/>
              <a:t>Hva er BDD?</a:t>
            </a:r>
          </a:p>
          <a:p>
            <a:r>
              <a:rPr lang="nb-NO" dirty="0"/>
              <a:t>Hvordan gjennomføres BDD?</a:t>
            </a:r>
          </a:p>
          <a:p>
            <a:r>
              <a:rPr lang="nb-NO" dirty="0"/>
              <a:t>Hva sørger BDD for?</a:t>
            </a:r>
          </a:p>
          <a:p>
            <a:r>
              <a:rPr lang="nb-NO" dirty="0"/>
              <a:t>Hvilke fordeler og ulemper har BDD?</a:t>
            </a:r>
          </a:p>
        </p:txBody>
      </p:sp>
      <p:grpSp>
        <p:nvGrpSpPr>
          <p:cNvPr id="8" name="Gruppe 7">
            <a:extLst>
              <a:ext uri="{FF2B5EF4-FFF2-40B4-BE49-F238E27FC236}">
                <a16:creationId xmlns:a16="http://schemas.microsoft.com/office/drawing/2014/main" id="{C909E0F4-50EE-24AF-88C8-CB741C6FC491}"/>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389F4BE6-4A1D-7848-7EC7-F87AB0C40FB9}"/>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Systemutviklingsmetodikk</a:t>
              </a:r>
              <a:endParaRPr lang="nb-NO" sz="2800" dirty="0"/>
            </a:p>
          </p:txBody>
        </p:sp>
        <p:sp>
          <p:nvSpPr>
            <p:cNvPr id="10" name="Plassholder for tekst 2">
              <a:extLst>
                <a:ext uri="{FF2B5EF4-FFF2-40B4-BE49-F238E27FC236}">
                  <a16:creationId xmlns:a16="http://schemas.microsoft.com/office/drawing/2014/main" id="{50163313-54E3-EE37-F776-647AB4C522D4}"/>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Smidige metoder</a:t>
              </a:r>
            </a:p>
          </p:txBody>
        </p:sp>
      </p:grpSp>
    </p:spTree>
    <p:extLst>
      <p:ext uri="{BB962C8B-B14F-4D97-AF65-F5344CB8AC3E}">
        <p14:creationId xmlns:p14="http://schemas.microsoft.com/office/powerpoint/2010/main" val="4789574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BBF65-C748-A2B4-2C4F-89F4459C1B52}"/>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2607802E-F9CD-18EB-86E5-C53C76377B92}"/>
              </a:ext>
            </a:extLst>
          </p:cNvPr>
          <p:cNvSpPr>
            <a:spLocks noGrp="1"/>
          </p:cNvSpPr>
          <p:nvPr>
            <p:ph type="title"/>
          </p:nvPr>
        </p:nvSpPr>
        <p:spPr/>
        <p:txBody>
          <a:bodyPr/>
          <a:lstStyle/>
          <a:p>
            <a:r>
              <a:rPr lang="nb-NO" dirty="0" err="1"/>
              <a:t>Scrum</a:t>
            </a:r>
            <a:endParaRPr lang="nb-NO" dirty="0"/>
          </a:p>
        </p:txBody>
      </p:sp>
      <p:sp>
        <p:nvSpPr>
          <p:cNvPr id="3" name="Plassholder for innhold 2">
            <a:extLst>
              <a:ext uri="{FF2B5EF4-FFF2-40B4-BE49-F238E27FC236}">
                <a16:creationId xmlns:a16="http://schemas.microsoft.com/office/drawing/2014/main" id="{BD6985B9-0AA9-1F4D-AEA2-1F25C2780407}"/>
              </a:ext>
            </a:extLst>
          </p:cNvPr>
          <p:cNvSpPr>
            <a:spLocks noGrp="1"/>
          </p:cNvSpPr>
          <p:nvPr>
            <p:ph idx="1"/>
          </p:nvPr>
        </p:nvSpPr>
        <p:spPr/>
        <p:txBody>
          <a:bodyPr/>
          <a:lstStyle/>
          <a:p>
            <a:r>
              <a:rPr lang="nb-NO" dirty="0"/>
              <a:t>Hva er </a:t>
            </a:r>
            <a:r>
              <a:rPr lang="nb-NO" dirty="0" err="1"/>
              <a:t>Scrum</a:t>
            </a:r>
            <a:r>
              <a:rPr lang="nb-NO" dirty="0"/>
              <a:t>?</a:t>
            </a:r>
          </a:p>
          <a:p>
            <a:r>
              <a:rPr lang="nb-NO" dirty="0"/>
              <a:t>Hva legger </a:t>
            </a:r>
            <a:r>
              <a:rPr lang="nb-NO" dirty="0" err="1"/>
              <a:t>Scrum</a:t>
            </a:r>
            <a:r>
              <a:rPr lang="nb-NO" dirty="0"/>
              <a:t> fokus på?</a:t>
            </a:r>
          </a:p>
          <a:p>
            <a:r>
              <a:rPr lang="nb-NO" dirty="0"/>
              <a:t>Hvordan er </a:t>
            </a:r>
            <a:r>
              <a:rPr lang="nb-NO" dirty="0" err="1"/>
              <a:t>Scrum</a:t>
            </a:r>
            <a:r>
              <a:rPr lang="nb-NO" dirty="0"/>
              <a:t> bygd opp?</a:t>
            </a:r>
          </a:p>
          <a:p>
            <a:r>
              <a:rPr lang="nb-NO" dirty="0"/>
              <a:t>Hvilke seremonier består </a:t>
            </a:r>
            <a:r>
              <a:rPr lang="nb-NO" dirty="0" err="1"/>
              <a:t>Scrum</a:t>
            </a:r>
            <a:r>
              <a:rPr lang="nb-NO" dirty="0"/>
              <a:t> av, og hva omfatter de?</a:t>
            </a:r>
          </a:p>
        </p:txBody>
      </p:sp>
      <p:grpSp>
        <p:nvGrpSpPr>
          <p:cNvPr id="8" name="Gruppe 7">
            <a:extLst>
              <a:ext uri="{FF2B5EF4-FFF2-40B4-BE49-F238E27FC236}">
                <a16:creationId xmlns:a16="http://schemas.microsoft.com/office/drawing/2014/main" id="{BBF7FC7D-D9C6-EA3F-5F4B-021DC856B1A2}"/>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A365F842-0BD1-9C7C-6C04-AC8597C7E9EC}"/>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Systemutviklingsmetodikk</a:t>
              </a:r>
              <a:endParaRPr lang="nb-NO" sz="2800" dirty="0"/>
            </a:p>
          </p:txBody>
        </p:sp>
        <p:sp>
          <p:nvSpPr>
            <p:cNvPr id="10" name="Plassholder for tekst 2">
              <a:extLst>
                <a:ext uri="{FF2B5EF4-FFF2-40B4-BE49-F238E27FC236}">
                  <a16:creationId xmlns:a16="http://schemas.microsoft.com/office/drawing/2014/main" id="{0A498567-F653-0DA6-6BED-25103AE94117}"/>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Smidige metoder</a:t>
              </a:r>
            </a:p>
          </p:txBody>
        </p:sp>
      </p:grpSp>
    </p:spTree>
    <p:extLst>
      <p:ext uri="{BB962C8B-B14F-4D97-AF65-F5344CB8AC3E}">
        <p14:creationId xmlns:p14="http://schemas.microsoft.com/office/powerpoint/2010/main" val="33849412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83651-6CD5-132B-866C-7C7635437078}"/>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577D19D6-9980-03BE-3CF6-36B9A309A253}"/>
              </a:ext>
            </a:extLst>
          </p:cNvPr>
          <p:cNvSpPr>
            <a:spLocks noGrp="1"/>
          </p:cNvSpPr>
          <p:nvPr>
            <p:ph type="title"/>
          </p:nvPr>
        </p:nvSpPr>
        <p:spPr/>
        <p:txBody>
          <a:bodyPr/>
          <a:lstStyle/>
          <a:p>
            <a:r>
              <a:rPr lang="nb-NO" dirty="0"/>
              <a:t>Lean</a:t>
            </a:r>
          </a:p>
        </p:txBody>
      </p:sp>
      <p:sp>
        <p:nvSpPr>
          <p:cNvPr id="3" name="Plassholder for innhold 2">
            <a:extLst>
              <a:ext uri="{FF2B5EF4-FFF2-40B4-BE49-F238E27FC236}">
                <a16:creationId xmlns:a16="http://schemas.microsoft.com/office/drawing/2014/main" id="{97366FD9-E3BF-DDB5-D30A-F1CF661EA979}"/>
              </a:ext>
            </a:extLst>
          </p:cNvPr>
          <p:cNvSpPr>
            <a:spLocks noGrp="1"/>
          </p:cNvSpPr>
          <p:nvPr>
            <p:ph idx="1"/>
          </p:nvPr>
        </p:nvSpPr>
        <p:spPr/>
        <p:txBody>
          <a:bodyPr/>
          <a:lstStyle/>
          <a:p>
            <a:r>
              <a:rPr lang="nb-NO" dirty="0"/>
              <a:t>Hva er Lean?</a:t>
            </a:r>
          </a:p>
          <a:p>
            <a:r>
              <a:rPr lang="nb-NO" dirty="0"/>
              <a:t>Hvilke prinsipper består Lean av, og hva betyr de?</a:t>
            </a:r>
          </a:p>
        </p:txBody>
      </p:sp>
      <p:grpSp>
        <p:nvGrpSpPr>
          <p:cNvPr id="8" name="Gruppe 7">
            <a:extLst>
              <a:ext uri="{FF2B5EF4-FFF2-40B4-BE49-F238E27FC236}">
                <a16:creationId xmlns:a16="http://schemas.microsoft.com/office/drawing/2014/main" id="{D16DFFA9-501C-2162-50A3-1EC6EE303078}"/>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11183363-B61E-DFDC-6CAD-05D82AF2CE79}"/>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Systemutviklingsmetodikk</a:t>
              </a:r>
              <a:endParaRPr lang="nb-NO" sz="2800" dirty="0"/>
            </a:p>
          </p:txBody>
        </p:sp>
        <p:sp>
          <p:nvSpPr>
            <p:cNvPr id="10" name="Plassholder for tekst 2">
              <a:extLst>
                <a:ext uri="{FF2B5EF4-FFF2-40B4-BE49-F238E27FC236}">
                  <a16:creationId xmlns:a16="http://schemas.microsoft.com/office/drawing/2014/main" id="{EB66612B-4F3F-8034-34B4-6CCA1DF86F0E}"/>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Metodikk</a:t>
              </a:r>
            </a:p>
          </p:txBody>
        </p:sp>
      </p:grpSp>
    </p:spTree>
    <p:extLst>
      <p:ext uri="{BB962C8B-B14F-4D97-AF65-F5344CB8AC3E}">
        <p14:creationId xmlns:p14="http://schemas.microsoft.com/office/powerpoint/2010/main" val="31381544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50379-DD77-D7AE-40E8-9A21E08D3292}"/>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6BEF81E6-EA04-F7CF-D3A0-0C99DB4403E8}"/>
              </a:ext>
            </a:extLst>
          </p:cNvPr>
          <p:cNvSpPr>
            <a:spLocks noGrp="1"/>
          </p:cNvSpPr>
          <p:nvPr>
            <p:ph type="title"/>
          </p:nvPr>
        </p:nvSpPr>
        <p:spPr/>
        <p:txBody>
          <a:bodyPr/>
          <a:lstStyle/>
          <a:p>
            <a:r>
              <a:rPr lang="nb-NO" dirty="0" err="1"/>
              <a:t>Kanban</a:t>
            </a:r>
            <a:endParaRPr lang="nb-NO" dirty="0"/>
          </a:p>
        </p:txBody>
      </p:sp>
      <p:sp>
        <p:nvSpPr>
          <p:cNvPr id="3" name="Plassholder for innhold 2">
            <a:extLst>
              <a:ext uri="{FF2B5EF4-FFF2-40B4-BE49-F238E27FC236}">
                <a16:creationId xmlns:a16="http://schemas.microsoft.com/office/drawing/2014/main" id="{60A2239B-67A3-02F8-D97B-DB0DE48BD3F2}"/>
              </a:ext>
            </a:extLst>
          </p:cNvPr>
          <p:cNvSpPr>
            <a:spLocks noGrp="1"/>
          </p:cNvSpPr>
          <p:nvPr>
            <p:ph idx="1"/>
          </p:nvPr>
        </p:nvSpPr>
        <p:spPr/>
        <p:txBody>
          <a:bodyPr>
            <a:normAutofit/>
          </a:bodyPr>
          <a:lstStyle/>
          <a:p>
            <a:r>
              <a:rPr lang="nb-NO" dirty="0"/>
              <a:t>Hva er bakgrunnen for </a:t>
            </a:r>
            <a:r>
              <a:rPr lang="nb-NO" dirty="0" err="1"/>
              <a:t>Kanban</a:t>
            </a:r>
            <a:r>
              <a:rPr lang="nb-NO" dirty="0"/>
              <a:t>, og hvorfor er det det?</a:t>
            </a:r>
          </a:p>
          <a:p>
            <a:r>
              <a:rPr lang="nb-NO" dirty="0"/>
              <a:t>Hva har </a:t>
            </a:r>
            <a:r>
              <a:rPr lang="nb-NO" dirty="0" err="1"/>
              <a:t>Kanban</a:t>
            </a:r>
            <a:r>
              <a:rPr lang="nb-NO" dirty="0"/>
              <a:t> fokus på?</a:t>
            </a:r>
          </a:p>
          <a:p>
            <a:r>
              <a:rPr lang="nb-NO" dirty="0"/>
              <a:t>Hvordan er produktet levert?</a:t>
            </a:r>
          </a:p>
          <a:p>
            <a:r>
              <a:rPr lang="nb-NO" dirty="0"/>
              <a:t>Hvordan er </a:t>
            </a:r>
            <a:r>
              <a:rPr lang="nb-NO" dirty="0" err="1"/>
              <a:t>Kanban</a:t>
            </a:r>
            <a:r>
              <a:rPr lang="nb-NO" dirty="0"/>
              <a:t> gjennomført?</a:t>
            </a:r>
          </a:p>
          <a:p>
            <a:r>
              <a:rPr lang="nb-NO" dirty="0"/>
              <a:t>Hva tar </a:t>
            </a:r>
            <a:r>
              <a:rPr lang="nb-NO" dirty="0" err="1"/>
              <a:t>Kanban</a:t>
            </a:r>
            <a:r>
              <a:rPr lang="nb-NO" dirty="0"/>
              <a:t> i bruk?</a:t>
            </a:r>
          </a:p>
          <a:p>
            <a:r>
              <a:rPr lang="nb-NO" dirty="0"/>
              <a:t>Hvordan er </a:t>
            </a:r>
            <a:r>
              <a:rPr lang="nb-NO" dirty="0" err="1"/>
              <a:t>Kanban</a:t>
            </a:r>
            <a:r>
              <a:rPr lang="nb-NO" dirty="0"/>
              <a:t> bygd opp, og hvordan er dette ulikt fra </a:t>
            </a:r>
            <a:r>
              <a:rPr lang="nb-NO" dirty="0" err="1"/>
              <a:t>Scrum</a:t>
            </a:r>
            <a:r>
              <a:rPr lang="nb-NO" dirty="0"/>
              <a:t>?</a:t>
            </a:r>
          </a:p>
          <a:p>
            <a:r>
              <a:rPr lang="nb-NO" dirty="0"/>
              <a:t>Hva er formålet med </a:t>
            </a:r>
            <a:r>
              <a:rPr lang="nb-NO" dirty="0" err="1"/>
              <a:t>Kanbans</a:t>
            </a:r>
            <a:r>
              <a:rPr lang="nb-NO" dirty="0"/>
              <a:t> oppbygning?</a:t>
            </a:r>
          </a:p>
          <a:p>
            <a:r>
              <a:rPr lang="nb-NO" dirty="0"/>
              <a:t>Hva er </a:t>
            </a:r>
            <a:r>
              <a:rPr lang="nb-NO" dirty="0" err="1"/>
              <a:t>bivrikningen</a:t>
            </a:r>
            <a:r>
              <a:rPr lang="nb-NO" dirty="0"/>
              <a:t> av </a:t>
            </a:r>
            <a:r>
              <a:rPr lang="nb-NO" dirty="0" err="1"/>
              <a:t>Kanbans</a:t>
            </a:r>
            <a:r>
              <a:rPr lang="nb-NO" dirty="0"/>
              <a:t> oppbygning?</a:t>
            </a:r>
          </a:p>
        </p:txBody>
      </p:sp>
      <p:grpSp>
        <p:nvGrpSpPr>
          <p:cNvPr id="8" name="Gruppe 7">
            <a:extLst>
              <a:ext uri="{FF2B5EF4-FFF2-40B4-BE49-F238E27FC236}">
                <a16:creationId xmlns:a16="http://schemas.microsoft.com/office/drawing/2014/main" id="{D6770C54-215D-09C3-EF0F-CAF6EB0D9D7A}"/>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D3E394F0-806F-10AC-8783-9A68FCFF76F5}"/>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Systemutviklingsmetodikk</a:t>
              </a:r>
              <a:endParaRPr lang="nb-NO" sz="2800" dirty="0"/>
            </a:p>
          </p:txBody>
        </p:sp>
        <p:sp>
          <p:nvSpPr>
            <p:cNvPr id="10" name="Plassholder for tekst 2">
              <a:extLst>
                <a:ext uri="{FF2B5EF4-FFF2-40B4-BE49-F238E27FC236}">
                  <a16:creationId xmlns:a16="http://schemas.microsoft.com/office/drawing/2014/main" id="{9C06B256-AB5E-ECEF-9879-91A48140667B}"/>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Lean</a:t>
              </a:r>
            </a:p>
          </p:txBody>
        </p:sp>
      </p:grpSp>
    </p:spTree>
    <p:extLst>
      <p:ext uri="{BB962C8B-B14F-4D97-AF65-F5344CB8AC3E}">
        <p14:creationId xmlns:p14="http://schemas.microsoft.com/office/powerpoint/2010/main" val="21023298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F3C80-BE88-92B8-45EE-01E9A0038A91}"/>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A8CAE860-6D78-FF98-94AD-F72B79EAAFB6}"/>
              </a:ext>
            </a:extLst>
          </p:cNvPr>
          <p:cNvSpPr>
            <a:spLocks noGrp="1"/>
          </p:cNvSpPr>
          <p:nvPr>
            <p:ph type="title"/>
          </p:nvPr>
        </p:nvSpPr>
        <p:spPr/>
        <p:txBody>
          <a:bodyPr/>
          <a:lstStyle/>
          <a:p>
            <a:r>
              <a:rPr lang="nb-NO" dirty="0" err="1"/>
              <a:t>Domain</a:t>
            </a:r>
            <a:r>
              <a:rPr lang="nb-NO" dirty="0"/>
              <a:t>-Driven Design</a:t>
            </a:r>
          </a:p>
        </p:txBody>
      </p:sp>
      <p:sp>
        <p:nvSpPr>
          <p:cNvPr id="3" name="Plassholder for innhold 2">
            <a:extLst>
              <a:ext uri="{FF2B5EF4-FFF2-40B4-BE49-F238E27FC236}">
                <a16:creationId xmlns:a16="http://schemas.microsoft.com/office/drawing/2014/main" id="{24B7F55E-542B-EF20-A2EA-E7E2884D33E2}"/>
              </a:ext>
            </a:extLst>
          </p:cNvPr>
          <p:cNvSpPr>
            <a:spLocks noGrp="1"/>
          </p:cNvSpPr>
          <p:nvPr>
            <p:ph idx="1"/>
          </p:nvPr>
        </p:nvSpPr>
        <p:spPr/>
        <p:txBody>
          <a:bodyPr>
            <a:normAutofit/>
          </a:bodyPr>
          <a:lstStyle/>
          <a:p>
            <a:r>
              <a:rPr lang="nb-NO" dirty="0"/>
              <a:t>Hva har </a:t>
            </a:r>
            <a:r>
              <a:rPr lang="nb-NO" dirty="0" err="1"/>
              <a:t>Domain</a:t>
            </a:r>
            <a:r>
              <a:rPr lang="nb-NO" dirty="0"/>
              <a:t>-Driven Design fokus på?</a:t>
            </a:r>
          </a:p>
          <a:p>
            <a:r>
              <a:rPr lang="nb-NO" dirty="0"/>
              <a:t>Hva kjennetegner </a:t>
            </a:r>
            <a:r>
              <a:rPr lang="nb-NO" dirty="0" err="1"/>
              <a:t>Domain</a:t>
            </a:r>
            <a:r>
              <a:rPr lang="nb-NO" dirty="0"/>
              <a:t>-Driven Design?</a:t>
            </a:r>
          </a:p>
          <a:p>
            <a:r>
              <a:rPr lang="nb-NO" dirty="0"/>
              <a:t>Hva er </a:t>
            </a:r>
            <a:r>
              <a:rPr lang="nb-NO" dirty="0" err="1"/>
              <a:t>Domain</a:t>
            </a:r>
            <a:r>
              <a:rPr lang="nb-NO" dirty="0"/>
              <a:t>-Driven Design godt egnet for?</a:t>
            </a:r>
          </a:p>
          <a:p>
            <a:r>
              <a:rPr lang="nb-NO" dirty="0"/>
              <a:t>Hva er prioritert mest under utvikling ved </a:t>
            </a:r>
            <a:r>
              <a:rPr lang="nb-NO" dirty="0" err="1"/>
              <a:t>Domain</a:t>
            </a:r>
            <a:r>
              <a:rPr lang="nb-NO" dirty="0"/>
              <a:t>-Driven Design?</a:t>
            </a:r>
          </a:p>
        </p:txBody>
      </p:sp>
      <p:grpSp>
        <p:nvGrpSpPr>
          <p:cNvPr id="8" name="Gruppe 7">
            <a:extLst>
              <a:ext uri="{FF2B5EF4-FFF2-40B4-BE49-F238E27FC236}">
                <a16:creationId xmlns:a16="http://schemas.microsoft.com/office/drawing/2014/main" id="{9B4C3A3C-6F4F-3AFF-2F5B-10E5EE36404E}"/>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48ABD318-3A33-8F88-8CD7-BEE7EB598664}"/>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Systemutviklingsmetodikk</a:t>
              </a:r>
              <a:endParaRPr lang="nb-NO" sz="2800" dirty="0"/>
            </a:p>
          </p:txBody>
        </p:sp>
        <p:sp>
          <p:nvSpPr>
            <p:cNvPr id="10" name="Plassholder for tekst 2">
              <a:extLst>
                <a:ext uri="{FF2B5EF4-FFF2-40B4-BE49-F238E27FC236}">
                  <a16:creationId xmlns:a16="http://schemas.microsoft.com/office/drawing/2014/main" id="{79FE8DB4-3119-4442-E84F-CD941602AE95}"/>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Lean</a:t>
              </a:r>
            </a:p>
          </p:txBody>
        </p:sp>
      </p:grpSp>
    </p:spTree>
    <p:extLst>
      <p:ext uri="{BB962C8B-B14F-4D97-AF65-F5344CB8AC3E}">
        <p14:creationId xmlns:p14="http://schemas.microsoft.com/office/powerpoint/2010/main" val="18737351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25868-0818-7614-C1A2-D2793713463A}"/>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3474AD40-D0C0-C8A6-79AB-F74BB481575F}"/>
              </a:ext>
            </a:extLst>
          </p:cNvPr>
          <p:cNvSpPr>
            <a:spLocks noGrp="1"/>
          </p:cNvSpPr>
          <p:nvPr>
            <p:ph type="title"/>
          </p:nvPr>
        </p:nvSpPr>
        <p:spPr/>
        <p:txBody>
          <a:bodyPr/>
          <a:lstStyle/>
          <a:p>
            <a:r>
              <a:rPr lang="nb-NO" dirty="0" err="1"/>
              <a:t>DevOps</a:t>
            </a:r>
            <a:endParaRPr lang="nb-NO" dirty="0"/>
          </a:p>
        </p:txBody>
      </p:sp>
      <p:sp>
        <p:nvSpPr>
          <p:cNvPr id="3" name="Plassholder for innhold 2">
            <a:extLst>
              <a:ext uri="{FF2B5EF4-FFF2-40B4-BE49-F238E27FC236}">
                <a16:creationId xmlns:a16="http://schemas.microsoft.com/office/drawing/2014/main" id="{D57A3C9E-F8B0-BAD5-C1A9-D970C3C7C5A7}"/>
              </a:ext>
            </a:extLst>
          </p:cNvPr>
          <p:cNvSpPr>
            <a:spLocks noGrp="1"/>
          </p:cNvSpPr>
          <p:nvPr>
            <p:ph idx="1"/>
          </p:nvPr>
        </p:nvSpPr>
        <p:spPr/>
        <p:txBody>
          <a:bodyPr>
            <a:normAutofit/>
          </a:bodyPr>
          <a:lstStyle/>
          <a:p>
            <a:r>
              <a:rPr lang="nb-NO" dirty="0"/>
              <a:t>Hva er </a:t>
            </a:r>
            <a:r>
              <a:rPr lang="nb-NO" dirty="0" err="1"/>
              <a:t>DevOps</a:t>
            </a:r>
            <a:r>
              <a:rPr lang="nb-NO" dirty="0"/>
              <a:t>?</a:t>
            </a:r>
          </a:p>
          <a:p>
            <a:r>
              <a:rPr lang="nb-NO" dirty="0"/>
              <a:t>Hva sikrer </a:t>
            </a:r>
            <a:r>
              <a:rPr lang="nb-NO" dirty="0" err="1"/>
              <a:t>DevOps</a:t>
            </a:r>
            <a:r>
              <a:rPr lang="nb-NO" dirty="0"/>
              <a:t>?</a:t>
            </a:r>
          </a:p>
          <a:p>
            <a:r>
              <a:rPr lang="nb-NO" dirty="0"/>
              <a:t>Hva er forskjellen på Agile og </a:t>
            </a:r>
            <a:r>
              <a:rPr lang="nb-NO" dirty="0" err="1"/>
              <a:t>DevOps</a:t>
            </a:r>
            <a:r>
              <a:rPr lang="nb-NO" dirty="0"/>
              <a:t>, og hva er deres relasjon?</a:t>
            </a:r>
          </a:p>
          <a:p>
            <a:r>
              <a:rPr lang="nb-NO" dirty="0"/>
              <a:t>Hva er CI?</a:t>
            </a:r>
          </a:p>
          <a:p>
            <a:r>
              <a:rPr lang="nb-NO" dirty="0"/>
              <a:t>Hva er CD?</a:t>
            </a:r>
          </a:p>
          <a:p>
            <a:r>
              <a:rPr lang="nb-NO" dirty="0"/>
              <a:t>Hva er de ulike </a:t>
            </a:r>
            <a:r>
              <a:rPr lang="nb-NO" dirty="0" err="1"/>
              <a:t>DevOps</a:t>
            </a:r>
            <a:r>
              <a:rPr lang="nb-NO" dirty="0"/>
              <a:t> verktøyene?</a:t>
            </a:r>
          </a:p>
          <a:p>
            <a:pPr marL="0" indent="0">
              <a:buNone/>
            </a:pPr>
            <a:endParaRPr lang="nb-NO" dirty="0"/>
          </a:p>
        </p:txBody>
      </p:sp>
      <p:grpSp>
        <p:nvGrpSpPr>
          <p:cNvPr id="8" name="Gruppe 7">
            <a:extLst>
              <a:ext uri="{FF2B5EF4-FFF2-40B4-BE49-F238E27FC236}">
                <a16:creationId xmlns:a16="http://schemas.microsoft.com/office/drawing/2014/main" id="{6EFF6B4E-7D54-E82E-599A-1468E61A291B}"/>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1DE8807A-8770-81C4-EEA6-DB4822EB1A61}"/>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Systemutviklingsmetodikk</a:t>
              </a:r>
              <a:endParaRPr lang="nb-NO" sz="2800" dirty="0"/>
            </a:p>
          </p:txBody>
        </p:sp>
        <p:sp>
          <p:nvSpPr>
            <p:cNvPr id="10" name="Plassholder for tekst 2">
              <a:extLst>
                <a:ext uri="{FF2B5EF4-FFF2-40B4-BE49-F238E27FC236}">
                  <a16:creationId xmlns:a16="http://schemas.microsoft.com/office/drawing/2014/main" id="{7A9D38B1-D1FC-290D-8615-8652B96809AD}"/>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Metodikk</a:t>
              </a:r>
            </a:p>
          </p:txBody>
        </p:sp>
      </p:grpSp>
    </p:spTree>
    <p:extLst>
      <p:ext uri="{BB962C8B-B14F-4D97-AF65-F5344CB8AC3E}">
        <p14:creationId xmlns:p14="http://schemas.microsoft.com/office/powerpoint/2010/main" val="2948386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779C8-EA9B-7307-110C-9931C692250C}"/>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90F3BE80-5C89-38DE-3162-FB4CA6DF0093}"/>
              </a:ext>
            </a:extLst>
          </p:cNvPr>
          <p:cNvSpPr>
            <a:spLocks noGrp="1"/>
          </p:cNvSpPr>
          <p:nvPr>
            <p:ph type="title"/>
          </p:nvPr>
        </p:nvSpPr>
        <p:spPr/>
        <p:txBody>
          <a:bodyPr/>
          <a:lstStyle/>
          <a:p>
            <a:r>
              <a:rPr lang="nb-NO" dirty="0"/>
              <a:t>REST</a:t>
            </a:r>
          </a:p>
        </p:txBody>
      </p:sp>
      <p:sp>
        <p:nvSpPr>
          <p:cNvPr id="3" name="Plassholder for innhold 2">
            <a:extLst>
              <a:ext uri="{FF2B5EF4-FFF2-40B4-BE49-F238E27FC236}">
                <a16:creationId xmlns:a16="http://schemas.microsoft.com/office/drawing/2014/main" id="{8682764C-82A0-B6C2-998C-12E0E8FC2246}"/>
              </a:ext>
            </a:extLst>
          </p:cNvPr>
          <p:cNvSpPr>
            <a:spLocks noGrp="1"/>
          </p:cNvSpPr>
          <p:nvPr>
            <p:ph idx="1"/>
          </p:nvPr>
        </p:nvSpPr>
        <p:spPr/>
        <p:txBody>
          <a:bodyPr>
            <a:normAutofit/>
          </a:bodyPr>
          <a:lstStyle/>
          <a:p>
            <a:r>
              <a:rPr lang="nb-NO" dirty="0"/>
              <a:t>Hva er REST?</a:t>
            </a:r>
          </a:p>
          <a:p>
            <a:r>
              <a:rPr lang="nb-NO" dirty="0"/>
              <a:t>Hva er REST basert på?</a:t>
            </a:r>
          </a:p>
          <a:p>
            <a:r>
              <a:rPr lang="nb-NO" dirty="0"/>
              <a:t>Hvordan blir data og funksjonalitet behandlet?</a:t>
            </a:r>
          </a:p>
          <a:p>
            <a:r>
              <a:rPr lang="nb-NO" dirty="0"/>
              <a:t>Hvordan manipuleres det som blir behandlet?</a:t>
            </a:r>
          </a:p>
          <a:p>
            <a:r>
              <a:rPr lang="nb-NO" dirty="0"/>
              <a:t>Hva er de ulike manipulerings metodene?</a:t>
            </a:r>
          </a:p>
        </p:txBody>
      </p:sp>
      <p:grpSp>
        <p:nvGrpSpPr>
          <p:cNvPr id="8" name="Gruppe 7">
            <a:extLst>
              <a:ext uri="{FF2B5EF4-FFF2-40B4-BE49-F238E27FC236}">
                <a16:creationId xmlns:a16="http://schemas.microsoft.com/office/drawing/2014/main" id="{A427B68E-8DFF-60BC-378A-1478DBA9C113}"/>
              </a:ext>
            </a:extLst>
          </p:cNvPr>
          <p:cNvGrpSpPr/>
          <p:nvPr/>
        </p:nvGrpSpPr>
        <p:grpSpPr>
          <a:xfrm>
            <a:off x="204225" y="6176963"/>
            <a:ext cx="11783549" cy="531016"/>
            <a:chOff x="3699315" y="1734500"/>
            <a:chExt cx="10515600" cy="2470610"/>
          </a:xfrm>
        </p:grpSpPr>
        <p:sp>
          <p:nvSpPr>
            <p:cNvPr id="9" name="Tittel 1">
              <a:extLst>
                <a:ext uri="{FF2B5EF4-FFF2-40B4-BE49-F238E27FC236}">
                  <a16:creationId xmlns:a16="http://schemas.microsoft.com/office/drawing/2014/main" id="{810AB5DC-483E-73A5-BE74-B5FB17225E4F}"/>
                </a:ext>
              </a:extLst>
            </p:cNvPr>
            <p:cNvSpPr txBox="1">
              <a:spLocks/>
            </p:cNvSpPr>
            <p:nvPr/>
          </p:nvSpPr>
          <p:spPr>
            <a:xfrm>
              <a:off x="3699315" y="1734500"/>
              <a:ext cx="10515600" cy="1401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nb-NO" sz="2000" dirty="0"/>
                <a:t>Systemutviklingsmetodikk</a:t>
              </a:r>
              <a:endParaRPr lang="nb-NO" sz="2800" dirty="0"/>
            </a:p>
          </p:txBody>
        </p:sp>
        <p:sp>
          <p:nvSpPr>
            <p:cNvPr id="10" name="Plassholder for tekst 2">
              <a:extLst>
                <a:ext uri="{FF2B5EF4-FFF2-40B4-BE49-F238E27FC236}">
                  <a16:creationId xmlns:a16="http://schemas.microsoft.com/office/drawing/2014/main" id="{B8D3E00D-3216-1694-EDFB-C3E3CC3F0769}"/>
                </a:ext>
              </a:extLst>
            </p:cNvPr>
            <p:cNvSpPr txBox="1">
              <a:spLocks/>
            </p:cNvSpPr>
            <p:nvPr/>
          </p:nvSpPr>
          <p:spPr>
            <a:xfrm>
              <a:off x="3699315" y="2803502"/>
              <a:ext cx="10515600" cy="140160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nb-NO" sz="1600" i="1" dirty="0"/>
                <a:t>Metodikk</a:t>
              </a:r>
            </a:p>
          </p:txBody>
        </p:sp>
      </p:grpSp>
    </p:spTree>
    <p:extLst>
      <p:ext uri="{BB962C8B-B14F-4D97-AF65-F5344CB8AC3E}">
        <p14:creationId xmlns:p14="http://schemas.microsoft.com/office/powerpoint/2010/main" val="2451612928"/>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252</TotalTime>
  <Words>5385</Words>
  <Application>Microsoft Office PowerPoint</Application>
  <PresentationFormat>Widescreen</PresentationFormat>
  <Paragraphs>753</Paragraphs>
  <Slides>48</Slides>
  <Notes>43</Notes>
  <HiddenSlides>0</HiddenSlides>
  <MMClips>0</MMClips>
  <ScaleCrop>false</ScaleCrop>
  <HeadingPairs>
    <vt:vector size="6" baseType="variant">
      <vt:variant>
        <vt:lpstr>Brukte skrifter</vt:lpstr>
      </vt:variant>
      <vt:variant>
        <vt:i4>3</vt:i4>
      </vt:variant>
      <vt:variant>
        <vt:lpstr>Tema</vt:lpstr>
      </vt:variant>
      <vt:variant>
        <vt:i4>1</vt:i4>
      </vt:variant>
      <vt:variant>
        <vt:lpstr>Lysbildetitler</vt:lpstr>
      </vt:variant>
      <vt:variant>
        <vt:i4>48</vt:i4>
      </vt:variant>
    </vt:vector>
  </HeadingPairs>
  <TitlesOfParts>
    <vt:vector size="52" baseType="lpstr">
      <vt:lpstr>Aptos</vt:lpstr>
      <vt:lpstr>Aptos Display</vt:lpstr>
      <vt:lpstr>Arial</vt:lpstr>
      <vt:lpstr>Office-tema</vt:lpstr>
      <vt:lpstr>IDATT1005 Systemutvikling 1</vt:lpstr>
      <vt:lpstr>MMI</vt:lpstr>
      <vt:lpstr>Interaksjonsdesign</vt:lpstr>
      <vt:lpstr>Prototyping</vt:lpstr>
      <vt:lpstr>Evaluering</vt:lpstr>
      <vt:lpstr>Brukertesting</vt:lpstr>
      <vt:lpstr>Universell utforming</vt:lpstr>
      <vt:lpstr>Lovkrav til universell utforming</vt:lpstr>
      <vt:lpstr>WCAG 2.0</vt:lpstr>
      <vt:lpstr>UML</vt:lpstr>
      <vt:lpstr>UML</vt:lpstr>
      <vt:lpstr>Use case</vt:lpstr>
      <vt:lpstr>Domenemodell</vt:lpstr>
      <vt:lpstr>Sekvensdiagram</vt:lpstr>
      <vt:lpstr>Aktivitetsdiagram</vt:lpstr>
      <vt:lpstr>Klassediagram</vt:lpstr>
      <vt:lpstr>Pakkediagram</vt:lpstr>
      <vt:lpstr>Tilstandsmaskindiagram</vt:lpstr>
      <vt:lpstr>Brukerhistorier</vt:lpstr>
      <vt:lpstr>Programvarearkitektur</vt:lpstr>
      <vt:lpstr>Programvarearkitektur</vt:lpstr>
      <vt:lpstr>Hvorfor arkitektur?</vt:lpstr>
      <vt:lpstr>Kompleksitetshåndtering</vt:lpstr>
      <vt:lpstr>Standalone application</vt:lpstr>
      <vt:lpstr>Klient - tjener arkitektur</vt:lpstr>
      <vt:lpstr>Tre-lags-arkitektur</vt:lpstr>
      <vt:lpstr>Master-slave pattern</vt:lpstr>
      <vt:lpstr>Pipe-filter pattern</vt:lpstr>
      <vt:lpstr>Broker pattern</vt:lpstr>
      <vt:lpstr>Peer to Peer pattern</vt:lpstr>
      <vt:lpstr>Event-bus pattern</vt:lpstr>
      <vt:lpstr>MVC</vt:lpstr>
      <vt:lpstr>Microservice</vt:lpstr>
      <vt:lpstr>Monolittarkitektur</vt:lpstr>
      <vt:lpstr>Plugin-basert arkitektur</vt:lpstr>
      <vt:lpstr>Deployment-arkitekturer</vt:lpstr>
      <vt:lpstr>Systemutviklingsmetodikk</vt:lpstr>
      <vt:lpstr>Før smidig metoder</vt:lpstr>
      <vt:lpstr>Smidige metoder</vt:lpstr>
      <vt:lpstr>Extreme Programming</vt:lpstr>
      <vt:lpstr>Test-Driven develompent</vt:lpstr>
      <vt:lpstr>Behavior-Driven develompent</vt:lpstr>
      <vt:lpstr>Scrum</vt:lpstr>
      <vt:lpstr>Lean</vt:lpstr>
      <vt:lpstr>Kanban</vt:lpstr>
      <vt:lpstr>Domain-Driven Design</vt:lpstr>
      <vt:lpstr>DevOps</vt:lpstr>
      <vt:lpstr>REST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Elias Alexander Wiklund Ottersbo</dc:creator>
  <cp:lastModifiedBy>Elias Alexander Wiklund Ottersbo</cp:lastModifiedBy>
  <cp:revision>191</cp:revision>
  <dcterms:created xsi:type="dcterms:W3CDTF">2026-06-01T12:44:36Z</dcterms:created>
  <dcterms:modified xsi:type="dcterms:W3CDTF">2026-06-01T16:57:20Z</dcterms:modified>
</cp:coreProperties>
</file>