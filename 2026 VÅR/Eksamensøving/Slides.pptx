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82" r:id="rId26"/>
    <p:sldId id="283" r:id="rId27"/>
    <p:sldId id="285" r:id="rId28"/>
    <p:sldId id="284" r:id="rId29"/>
    <p:sldId id="286" r:id="rId30"/>
    <p:sldId id="287" r:id="rId31"/>
    <p:sldId id="288" r:id="rId32"/>
    <p:sldId id="289" r:id="rId33"/>
    <p:sldId id="290" r:id="rId34"/>
    <p:sldId id="291" r:id="rId35"/>
    <p:sldId id="292" r:id="rId36"/>
    <p:sldId id="281"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Lst>
  <p:sldSz cx="12192000" cy="6858000"/>
  <p:notesSz cx="6858000" cy="9144000"/>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65407" autoAdjust="0"/>
  </p:normalViewPr>
  <p:slideViewPr>
    <p:cSldViewPr snapToGrid="0">
      <p:cViewPr varScale="1">
        <p:scale>
          <a:sx n="76" d="100"/>
          <a:sy n="76" d="100"/>
        </p:scale>
        <p:origin x="1962" y="96"/>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F512DD-A1B3-40DA-B83F-1D1009635570}" type="datetimeFigureOut">
              <a:rPr lang="nb-NO" smtClean="0"/>
              <a:t>01.06.2026</a:t>
            </a:fld>
            <a:endParaRPr lang="nb-NO"/>
          </a:p>
        </p:txBody>
      </p:sp>
      <p:sp>
        <p:nvSpPr>
          <p:cNvPr id="4" name="Plassholder for lysbil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b-NO"/>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CD5F7-2931-42C6-9B3E-A6C700901896}" type="slidenum">
              <a:rPr lang="nb-NO" smtClean="0"/>
              <a:t>‹#›</a:t>
            </a:fld>
            <a:endParaRPr lang="nb-NO"/>
          </a:p>
        </p:txBody>
      </p:sp>
    </p:spTree>
    <p:extLst>
      <p:ext uri="{BB962C8B-B14F-4D97-AF65-F5344CB8AC3E}">
        <p14:creationId xmlns:p14="http://schemas.microsoft.com/office/powerpoint/2010/main" val="2689678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txBody>
          <a:bodyPr/>
          <a:lstStyle/>
          <a:p>
            <a:endParaRPr lang="nb-NO"/>
          </a:p>
        </p:txBody>
      </p:sp>
      <p:sp>
        <p:nvSpPr>
          <p:cNvPr id="3" name="Plassholder for notater 2"/>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utforme hvordan brukere samhandler med digitale produkter. Skape intuitive, effektive og meningsfulle opplevelser for brukerne.</a:t>
            </a:r>
          </a:p>
          <a:p>
            <a:r>
              <a:rPr lang="nb-NO" sz="1200" b="1" i="0" kern="1200" dirty="0">
                <a:solidFill>
                  <a:schemeClr val="tx1"/>
                </a:solidFill>
                <a:effectLst/>
                <a:latin typeface="+mn-lt"/>
                <a:ea typeface="+mn-ea"/>
                <a:cs typeface="+mn-cs"/>
              </a:rPr>
              <a:t>Fokus:</a:t>
            </a:r>
            <a:r>
              <a:rPr lang="nb-NO" sz="1200" b="0" i="0" kern="1200" dirty="0">
                <a:solidFill>
                  <a:schemeClr val="tx1"/>
                </a:solidFill>
                <a:effectLst/>
                <a:latin typeface="+mn-lt"/>
                <a:ea typeface="+mn-ea"/>
                <a:cs typeface="+mn-cs"/>
              </a:rPr>
              <a:t> å forstå brukerens behov, mål og kontekst og designe UI og </a:t>
            </a:r>
            <a:r>
              <a:rPr lang="nb-NO" sz="1200" b="0" i="0" kern="1200" dirty="0" err="1">
                <a:solidFill>
                  <a:schemeClr val="tx1"/>
                </a:solidFill>
                <a:effectLst/>
                <a:latin typeface="+mn-lt"/>
                <a:ea typeface="+mn-ea"/>
                <a:cs typeface="+mn-cs"/>
              </a:rPr>
              <a:t>interaksjonsmønstrer</a:t>
            </a:r>
            <a:r>
              <a:rPr lang="nb-NO" sz="1200" b="0" i="0" kern="1200" dirty="0">
                <a:solidFill>
                  <a:schemeClr val="tx1"/>
                </a:solidFill>
                <a:effectLst/>
                <a:latin typeface="+mn-lt"/>
                <a:ea typeface="+mn-ea"/>
                <a:cs typeface="+mn-cs"/>
              </a:rPr>
              <a:t> som passer</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skape brukeropplevelser som er intuitive, effektive, </a:t>
            </a:r>
            <a:r>
              <a:rPr lang="nb-NO" sz="1200" b="0" i="0" kern="1200" dirty="0" err="1">
                <a:solidFill>
                  <a:schemeClr val="tx1"/>
                </a:solidFill>
                <a:effectLst/>
                <a:latin typeface="+mn-lt"/>
                <a:ea typeface="+mn-ea"/>
                <a:cs typeface="+mn-cs"/>
              </a:rPr>
              <a:t>tilfredstillende</a:t>
            </a:r>
            <a:r>
              <a:rPr lang="nb-NO" sz="1200" b="0" i="0" kern="1200" dirty="0">
                <a:solidFill>
                  <a:schemeClr val="tx1"/>
                </a:solidFill>
                <a:effectLst/>
                <a:latin typeface="+mn-lt"/>
                <a:ea typeface="+mn-ea"/>
                <a:cs typeface="+mn-cs"/>
              </a:rPr>
              <a:t> og engasjerende.</a:t>
            </a:r>
          </a:p>
          <a:p>
            <a:r>
              <a:rPr lang="nb-NO" sz="1200" b="1" i="0" kern="1200" dirty="0">
                <a:solidFill>
                  <a:schemeClr val="tx1"/>
                </a:solidFill>
                <a:effectLst/>
                <a:latin typeface="+mn-lt"/>
                <a:ea typeface="+mn-ea"/>
                <a:cs typeface="+mn-cs"/>
              </a:rPr>
              <a:t>Modell når man jobber med </a:t>
            </a:r>
            <a:r>
              <a:rPr lang="nb-NO" sz="1200" b="1" i="0" kern="1200" dirty="0" err="1">
                <a:solidFill>
                  <a:schemeClr val="tx1"/>
                </a:solidFill>
                <a:effectLst/>
                <a:latin typeface="+mn-lt"/>
                <a:ea typeface="+mn-ea"/>
                <a:cs typeface="+mn-cs"/>
              </a:rPr>
              <a:t>IxD</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Er en Iterativ prosess lik moderne utviklingsmetoder</a:t>
            </a:r>
          </a:p>
          <a:p>
            <a:endParaRPr lang="nb-NO" dirty="0"/>
          </a:p>
          <a:p>
            <a:endParaRPr lang="nb-NO" dirty="0"/>
          </a:p>
          <a:p>
            <a:r>
              <a:rPr lang="nb-NO" sz="1200" b="0" i="0" kern="1200" dirty="0">
                <a:solidFill>
                  <a:schemeClr val="tx1"/>
                </a:solidFill>
                <a:effectLst/>
                <a:latin typeface="+mn-lt"/>
                <a:ea typeface="+mn-ea"/>
                <a:cs typeface="+mn-cs"/>
              </a:rPr>
              <a:t>De ulike dimensjonene som man bruker til å kommunisere med en bruker:</a:t>
            </a:r>
          </a:p>
          <a:p>
            <a:pPr marL="228600" indent="-228600">
              <a:buFont typeface="+mj-lt"/>
              <a:buAutoNum type="arabicPeriod"/>
            </a:pPr>
            <a:r>
              <a:rPr lang="nb-NO" sz="1200" b="1" i="0" kern="1200" dirty="0">
                <a:solidFill>
                  <a:schemeClr val="tx1"/>
                </a:solidFill>
                <a:effectLst/>
                <a:latin typeface="+mn-lt"/>
                <a:ea typeface="+mn-ea"/>
                <a:cs typeface="+mn-cs"/>
              </a:rPr>
              <a:t>Ord</a:t>
            </a:r>
            <a:r>
              <a:rPr lang="nb-NO" sz="1200" b="0" i="0" kern="1200" dirty="0">
                <a:solidFill>
                  <a:schemeClr val="tx1"/>
                </a:solidFill>
                <a:effectLst/>
                <a:latin typeface="+mn-lt"/>
                <a:ea typeface="+mn-ea"/>
                <a:cs typeface="+mn-cs"/>
              </a:rPr>
              <a:t> - forståelig og tilgjengelig</a:t>
            </a:r>
          </a:p>
          <a:p>
            <a:pPr marL="228600" indent="-228600">
              <a:buFont typeface="+mj-lt"/>
              <a:buAutoNum type="arabicPeriod"/>
            </a:pPr>
            <a:r>
              <a:rPr lang="nb-NO" sz="1200" b="1" i="0" kern="1200" dirty="0">
                <a:solidFill>
                  <a:schemeClr val="tx1"/>
                </a:solidFill>
                <a:effectLst/>
                <a:latin typeface="+mn-lt"/>
                <a:ea typeface="+mn-ea"/>
                <a:cs typeface="+mn-cs"/>
              </a:rPr>
              <a:t>Visuell representasjon</a:t>
            </a:r>
            <a:r>
              <a:rPr lang="nb-NO" sz="1200" b="0" i="0" kern="1200" dirty="0">
                <a:solidFill>
                  <a:schemeClr val="tx1"/>
                </a:solidFill>
                <a:effectLst/>
                <a:latin typeface="+mn-lt"/>
                <a:ea typeface="+mn-ea"/>
                <a:cs typeface="+mn-cs"/>
              </a:rPr>
              <a:t> - grafiske elementene</a:t>
            </a:r>
          </a:p>
          <a:p>
            <a:pPr marL="228600" indent="-228600">
              <a:buFont typeface="+mj-lt"/>
              <a:buAutoNum type="arabicPeriod"/>
            </a:pPr>
            <a:r>
              <a:rPr lang="nb-NO" sz="1200" b="1" i="0" kern="1200" dirty="0">
                <a:solidFill>
                  <a:schemeClr val="tx1"/>
                </a:solidFill>
                <a:effectLst/>
                <a:latin typeface="+mn-lt"/>
                <a:ea typeface="+mn-ea"/>
                <a:cs typeface="+mn-cs"/>
              </a:rPr>
              <a:t>Fysiske objekter og rom</a:t>
            </a:r>
            <a:endParaRPr lang="nb-NO" sz="1200" b="0" i="0" kern="1200" dirty="0">
              <a:solidFill>
                <a:schemeClr val="tx1"/>
              </a:solidFill>
              <a:effectLst/>
              <a:latin typeface="+mn-lt"/>
              <a:ea typeface="+mn-ea"/>
              <a:cs typeface="+mn-cs"/>
            </a:endParaRPr>
          </a:p>
          <a:p>
            <a:pPr marL="228600" indent="-228600">
              <a:buFont typeface="+mj-lt"/>
              <a:buAutoNum type="arabicPeriod"/>
            </a:pPr>
            <a:r>
              <a:rPr lang="nb-NO" sz="1200" b="1" i="0" kern="1200" dirty="0">
                <a:solidFill>
                  <a:schemeClr val="tx1"/>
                </a:solidFill>
                <a:effectLst/>
                <a:latin typeface="+mn-lt"/>
                <a:ea typeface="+mn-ea"/>
                <a:cs typeface="+mn-cs"/>
              </a:rPr>
              <a:t>Tid</a:t>
            </a:r>
            <a:r>
              <a:rPr lang="nb-NO" sz="1200" b="0" i="0" kern="1200" dirty="0">
                <a:solidFill>
                  <a:schemeClr val="tx1"/>
                </a:solidFill>
                <a:effectLst/>
                <a:latin typeface="+mn-lt"/>
                <a:ea typeface="+mn-ea"/>
                <a:cs typeface="+mn-cs"/>
              </a:rPr>
              <a:t> - brukt på de første 3 dimensjonene</a:t>
            </a:r>
          </a:p>
          <a:p>
            <a:pPr marL="228600" indent="-228600">
              <a:buFont typeface="+mj-lt"/>
              <a:buAutoNum type="arabicPeriod"/>
            </a:pPr>
            <a:r>
              <a:rPr lang="nb-NO" sz="1200" b="1" i="0" kern="1200" dirty="0">
                <a:solidFill>
                  <a:schemeClr val="tx1"/>
                </a:solidFill>
                <a:effectLst/>
                <a:latin typeface="+mn-lt"/>
                <a:ea typeface="+mn-ea"/>
                <a:cs typeface="+mn-cs"/>
              </a:rPr>
              <a:t>Oppførsel</a:t>
            </a:r>
            <a:r>
              <a:rPr lang="nb-NO" sz="1200" b="0" i="0" kern="1200" dirty="0">
                <a:solidFill>
                  <a:schemeClr val="tx1"/>
                </a:solidFill>
                <a:effectLst/>
                <a:latin typeface="+mn-lt"/>
                <a:ea typeface="+mn-ea"/>
                <a:cs typeface="+mn-cs"/>
              </a:rPr>
              <a:t> - følelsene og reaksjonene brukeren får når de samhandler med produktet</a:t>
            </a:r>
          </a:p>
          <a:p>
            <a:endParaRPr lang="nb-NO" dirty="0"/>
          </a:p>
          <a:p>
            <a:endParaRPr lang="nb-NO" dirty="0"/>
          </a:p>
          <a:p>
            <a:r>
              <a:rPr lang="nb-NO" dirty="0"/>
              <a:t>Don Normans prinsipper om interaksjonsdesign:</a:t>
            </a:r>
          </a:p>
          <a:p>
            <a:pPr marL="228600" indent="-228600">
              <a:buFont typeface="+mj-lt"/>
              <a:buAutoNum type="arabicPeriod"/>
            </a:pPr>
            <a:r>
              <a:rPr lang="nb-NO" sz="1200" b="1" i="0" kern="1200" dirty="0">
                <a:solidFill>
                  <a:schemeClr val="tx1"/>
                </a:solidFill>
                <a:effectLst/>
                <a:latin typeface="+mn-lt"/>
                <a:ea typeface="+mn-ea"/>
                <a:cs typeface="+mn-cs"/>
              </a:rPr>
              <a:t>Synlighet på funksjoner</a:t>
            </a:r>
            <a:r>
              <a:rPr lang="nb-NO" sz="1200" b="0" i="0" kern="1200" dirty="0">
                <a:solidFill>
                  <a:schemeClr val="tx1"/>
                </a:solidFill>
                <a:effectLst/>
                <a:latin typeface="+mn-lt"/>
                <a:ea typeface="+mn-ea"/>
                <a:cs typeface="+mn-cs"/>
              </a:rPr>
              <a:t> - vise at de er til stede og hvordan de skal brukes. Brukeren burde gjenkjenne lett hvilke funksjoner som er tilgjengelig. Motsatt; funksjoner som ikke er nødvendig til gitt tid burde ikke være synlig</a:t>
            </a:r>
          </a:p>
          <a:p>
            <a:pPr marL="228600" indent="-228600">
              <a:buFont typeface="+mj-lt"/>
              <a:buAutoNum type="arabicPeriod"/>
            </a:pPr>
            <a:r>
              <a:rPr lang="nb-NO" sz="1200" b="1" i="0" kern="1200" dirty="0">
                <a:solidFill>
                  <a:schemeClr val="tx1"/>
                </a:solidFill>
                <a:effectLst/>
                <a:latin typeface="+mn-lt"/>
                <a:ea typeface="+mn-ea"/>
                <a:cs typeface="+mn-cs"/>
              </a:rPr>
              <a:t>Feedback</a:t>
            </a:r>
            <a:r>
              <a:rPr lang="nb-NO" sz="1200" b="0" i="0" kern="1200" dirty="0">
                <a:solidFill>
                  <a:schemeClr val="tx1"/>
                </a:solidFill>
                <a:effectLst/>
                <a:latin typeface="+mn-lt"/>
                <a:ea typeface="+mn-ea"/>
                <a:cs typeface="+mn-cs"/>
              </a:rPr>
              <a:t>: signaliserer til brukeren hva som foregår gjennom. Gjøres gjennom lyder, visualiseringer, fysisk osv.</a:t>
            </a:r>
          </a:p>
          <a:p>
            <a:pPr marL="228600" indent="-228600">
              <a:buFont typeface="+mj-lt"/>
              <a:buAutoNum type="arabicPeriod"/>
            </a:pPr>
            <a:r>
              <a:rPr lang="nb-NO" sz="1200" b="1" i="0" kern="1200" dirty="0">
                <a:solidFill>
                  <a:schemeClr val="tx1"/>
                </a:solidFill>
                <a:effectLst/>
                <a:latin typeface="+mn-lt"/>
                <a:ea typeface="+mn-ea"/>
                <a:cs typeface="+mn-cs"/>
              </a:rPr>
              <a:t>Begrensninger:</a:t>
            </a:r>
            <a:r>
              <a:rPr lang="nb-NO" sz="1200" b="0" i="0" kern="1200" dirty="0">
                <a:solidFill>
                  <a:schemeClr val="tx1"/>
                </a:solidFill>
                <a:effectLst/>
                <a:latin typeface="+mn-lt"/>
                <a:ea typeface="+mn-ea"/>
                <a:cs typeface="+mn-cs"/>
              </a:rPr>
              <a:t> begrenser brukeren ulike former for interaksjon som er mulig å gjøre i et gitt øyeblikk. Gjør det lettere å lede brukeren gjennom prosessen og gjøre applikasjonen mer brukervennlig</a:t>
            </a:r>
          </a:p>
          <a:p>
            <a:pPr marL="228600" indent="-228600">
              <a:buFont typeface="+mj-lt"/>
              <a:buAutoNum type="arabicPeriod"/>
            </a:pPr>
            <a:r>
              <a:rPr lang="nb-NO" sz="1200" b="1" i="0" kern="1200" dirty="0" err="1">
                <a:solidFill>
                  <a:schemeClr val="tx1"/>
                </a:solidFill>
                <a:effectLst/>
                <a:latin typeface="+mn-lt"/>
                <a:ea typeface="+mn-ea"/>
                <a:cs typeface="+mn-cs"/>
              </a:rPr>
              <a:t>Avbilding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Konsept til hvordan en funksjon </a:t>
            </a:r>
            <a:r>
              <a:rPr lang="nb-NO" sz="1200" b="0" i="0" kern="1200" dirty="0" err="1">
                <a:solidFill>
                  <a:schemeClr val="tx1"/>
                </a:solidFill>
                <a:effectLst/>
                <a:latin typeface="+mn-lt"/>
                <a:ea typeface="+mn-ea"/>
                <a:cs typeface="+mn-cs"/>
              </a:rPr>
              <a:t>irl</a:t>
            </a:r>
            <a:r>
              <a:rPr lang="nb-NO" sz="1200" b="0" i="0" kern="1200" dirty="0">
                <a:solidFill>
                  <a:schemeClr val="tx1"/>
                </a:solidFill>
                <a:effectLst/>
                <a:latin typeface="+mn-lt"/>
                <a:ea typeface="+mn-ea"/>
                <a:cs typeface="+mn-cs"/>
              </a:rPr>
              <a:t> oversettes til interaksjonsmuligheter i applikasjonen. Burde en stryken på lys justert med knapp, hjul, </a:t>
            </a:r>
            <a:r>
              <a:rPr lang="nb-NO" sz="1200" b="0" i="0" kern="1200" dirty="0" err="1">
                <a:solidFill>
                  <a:schemeClr val="tx1"/>
                </a:solidFill>
                <a:effectLst/>
                <a:latin typeface="+mn-lt"/>
                <a:ea typeface="+mn-ea"/>
                <a:cs typeface="+mn-cs"/>
              </a:rPr>
              <a:t>slider</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elns</a:t>
            </a:r>
            <a:r>
              <a:rPr lang="nb-NO" sz="1200" b="0" i="0" kern="1200" dirty="0">
                <a:solidFill>
                  <a:schemeClr val="tx1"/>
                </a:solidFill>
                <a:effectLst/>
                <a:latin typeface="+mn-lt"/>
                <a:ea typeface="+mn-ea"/>
                <a:cs typeface="+mn-cs"/>
              </a:rPr>
              <a:t>.</a:t>
            </a:r>
          </a:p>
          <a:p>
            <a:pPr marL="228600" indent="-228600">
              <a:buFont typeface="+mj-lt"/>
              <a:buAutoNum type="arabicPeriod"/>
            </a:pPr>
            <a:r>
              <a:rPr lang="nb-NO" sz="1200" b="1" i="0" kern="1200" dirty="0">
                <a:solidFill>
                  <a:schemeClr val="tx1"/>
                </a:solidFill>
                <a:effectLst/>
                <a:latin typeface="+mn-lt"/>
                <a:ea typeface="+mn-ea"/>
                <a:cs typeface="+mn-cs"/>
              </a:rPr>
              <a:t>Konsistens</a:t>
            </a:r>
            <a:r>
              <a:rPr lang="nb-NO" sz="1200" b="0" i="0" kern="1200" dirty="0">
                <a:solidFill>
                  <a:schemeClr val="tx1"/>
                </a:solidFill>
                <a:effectLst/>
                <a:latin typeface="+mn-lt"/>
                <a:ea typeface="+mn-ea"/>
                <a:cs typeface="+mn-cs"/>
              </a:rPr>
              <a:t>: lage ting slikt at brukeren gjør lignende ting på lignende måter flere steder i applikasjonen.</a:t>
            </a:r>
          </a:p>
          <a:p>
            <a:pPr marL="228600" indent="-228600">
              <a:buFont typeface="+mj-lt"/>
              <a:buAutoNum type="arabicPeriod"/>
            </a:pPr>
            <a:r>
              <a:rPr lang="nb-NO" sz="1200" b="1" i="0" kern="1200" dirty="0" err="1">
                <a:solidFill>
                  <a:schemeClr val="tx1"/>
                </a:solidFill>
                <a:effectLst/>
                <a:latin typeface="+mn-lt"/>
                <a:ea typeface="+mn-ea"/>
                <a:cs typeface="+mn-cs"/>
              </a:rPr>
              <a:t>Tilbydelser</a:t>
            </a:r>
            <a:r>
              <a:rPr lang="nb-NO" sz="1200" b="0" i="0" kern="1200" dirty="0">
                <a:solidFill>
                  <a:schemeClr val="tx1"/>
                </a:solidFill>
                <a:effectLst/>
                <a:latin typeface="+mn-lt"/>
                <a:ea typeface="+mn-ea"/>
                <a:cs typeface="+mn-cs"/>
              </a:rPr>
              <a:t>: hvilke handlinger en bruker </a:t>
            </a:r>
            <a:r>
              <a:rPr lang="nb-NO" sz="1200" b="0" i="1" kern="1200" dirty="0">
                <a:solidFill>
                  <a:schemeClr val="tx1"/>
                </a:solidFill>
                <a:effectLst/>
                <a:latin typeface="+mn-lt"/>
                <a:ea typeface="+mn-ea"/>
                <a:cs typeface="+mn-cs"/>
              </a:rPr>
              <a:t>opplever</a:t>
            </a:r>
            <a:r>
              <a:rPr lang="nb-NO" sz="1200" b="0" i="0" kern="1200" dirty="0">
                <a:solidFill>
                  <a:schemeClr val="tx1"/>
                </a:solidFill>
                <a:effectLst/>
                <a:latin typeface="+mn-lt"/>
                <a:ea typeface="+mn-ea"/>
                <a:cs typeface="+mn-cs"/>
              </a:rPr>
              <a:t> at hun kan gjøre med et system. Henger med hvordan systemet er laget og brukerens erfaring med andre systemer.</a:t>
            </a:r>
          </a:p>
          <a:p>
            <a:pPr marL="228600" indent="-228600">
              <a:buFont typeface="+mj-lt"/>
              <a:buAutoNum type="arabicPeriod"/>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Prinsippene ment for å diskutere og beskrive brukskvaliteten til UI, og ikke som en sjekkliste for interaksjonsdesign.</a:t>
            </a:r>
          </a:p>
          <a:p>
            <a:endParaRPr lang="nb-NO" dirty="0"/>
          </a:p>
        </p:txBody>
      </p:sp>
      <p:sp>
        <p:nvSpPr>
          <p:cNvPr id="4" name="Plassholder for lysbildenummer 3"/>
          <p:cNvSpPr>
            <a:spLocks noGrp="1"/>
          </p:cNvSpPr>
          <p:nvPr>
            <p:ph type="sldNum" sz="quarter" idx="5"/>
          </p:nvPr>
        </p:nvSpPr>
        <p:spPr/>
        <p:txBody>
          <a:bodyPr/>
          <a:lstStyle/>
          <a:p>
            <a:fld id="{ED8CD5F7-2931-42C6-9B3E-A6C700901896}" type="slidenum">
              <a:rPr lang="nb-NO" smtClean="0"/>
              <a:t>3</a:t>
            </a:fld>
            <a:endParaRPr lang="nb-NO"/>
          </a:p>
        </p:txBody>
      </p:sp>
    </p:spTree>
    <p:extLst>
      <p:ext uri="{BB962C8B-B14F-4D97-AF65-F5344CB8AC3E}">
        <p14:creationId xmlns:p14="http://schemas.microsoft.com/office/powerpoint/2010/main" val="31753437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F9803-3274-0E51-5254-8F62CD72042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0350012-70BF-B2A4-A081-435B8180EC4E}"/>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2268F86-C8DF-3B2F-4CEC-ACB32A46395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Dimensjoner ved prototyping: </a:t>
            </a:r>
          </a:p>
          <a:p>
            <a:pPr marL="228600" indent="-228600">
              <a:buAutoNum type="arabicPeriod"/>
            </a:pPr>
            <a:r>
              <a:rPr lang="nb-NO" sz="1200" b="1" i="0" kern="1200" dirty="0">
                <a:solidFill>
                  <a:schemeClr val="tx1"/>
                </a:solidFill>
                <a:effectLst/>
                <a:latin typeface="+mn-lt"/>
                <a:ea typeface="+mn-ea"/>
                <a:cs typeface="+mn-cs"/>
              </a:rPr>
              <a:t>Utseende</a:t>
            </a:r>
          </a:p>
          <a:p>
            <a:pPr marL="228600" indent="-228600">
              <a:buAutoNum type="arabicPeriod"/>
            </a:pPr>
            <a:r>
              <a:rPr lang="nb-NO" sz="1200" b="1" i="0" kern="1200" dirty="0">
                <a:solidFill>
                  <a:schemeClr val="tx1"/>
                </a:solidFill>
                <a:effectLst/>
                <a:latin typeface="+mn-lt"/>
                <a:ea typeface="+mn-ea"/>
                <a:cs typeface="+mn-cs"/>
              </a:rPr>
              <a:t>Innhold</a:t>
            </a:r>
          </a:p>
          <a:p>
            <a:pPr marL="228600" indent="-228600">
              <a:buAutoNum type="arabicPeriod"/>
            </a:pPr>
            <a:r>
              <a:rPr lang="nb-NO" sz="1200" b="1" i="0" kern="1200" dirty="0">
                <a:solidFill>
                  <a:schemeClr val="tx1"/>
                </a:solidFill>
                <a:effectLst/>
                <a:latin typeface="+mn-lt"/>
                <a:ea typeface="+mn-ea"/>
                <a:cs typeface="+mn-cs"/>
              </a:rPr>
              <a:t>Funksjonalitet</a:t>
            </a:r>
          </a:p>
          <a:p>
            <a:pPr marL="228600" indent="-228600">
              <a:buAutoNum type="arabicPeriod"/>
            </a:pPr>
            <a:r>
              <a:rPr lang="nb-NO" sz="1200" b="1" i="0" kern="1200" dirty="0">
                <a:solidFill>
                  <a:schemeClr val="tx1"/>
                </a:solidFill>
                <a:effectLst/>
                <a:latin typeface="+mn-lt"/>
                <a:ea typeface="+mn-ea"/>
                <a:cs typeface="+mn-cs"/>
              </a:rPr>
              <a:t>Interaktivitet</a:t>
            </a:r>
          </a:p>
          <a:p>
            <a:pPr marL="228600" indent="-228600">
              <a:buAutoNum type="arabicPeriod"/>
            </a:pPr>
            <a:r>
              <a:rPr lang="nb-NO" sz="1200" b="1" i="0" kern="1200" dirty="0">
                <a:solidFill>
                  <a:schemeClr val="tx1"/>
                </a:solidFill>
                <a:effectLst/>
                <a:latin typeface="+mn-lt"/>
                <a:ea typeface="+mn-ea"/>
                <a:cs typeface="+mn-cs"/>
              </a:rPr>
              <a:t>romlig struktur</a:t>
            </a:r>
          </a:p>
          <a:p>
            <a:pPr marL="0" indent="0">
              <a:buNone/>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Klasser og kompromisser: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Horisontal prototyper</a:t>
            </a:r>
            <a:r>
              <a:rPr lang="nb-NO" sz="1200" b="0" i="0" kern="1200" dirty="0">
                <a:solidFill>
                  <a:schemeClr val="tx1"/>
                </a:solidFill>
                <a:effectLst/>
                <a:latin typeface="+mn-lt"/>
                <a:ea typeface="+mn-ea"/>
                <a:cs typeface="+mn-cs"/>
              </a:rPr>
              <a:t>: lite </a:t>
            </a:r>
            <a:r>
              <a:rPr lang="nb-NO" sz="1200" b="0" i="0" kern="1200" dirty="0" err="1">
                <a:solidFill>
                  <a:schemeClr val="tx1"/>
                </a:solidFill>
                <a:effectLst/>
                <a:latin typeface="+mn-lt"/>
                <a:ea typeface="+mn-ea"/>
                <a:cs typeface="+mn-cs"/>
              </a:rPr>
              <a:t>dypde</a:t>
            </a:r>
            <a:r>
              <a:rPr lang="nb-NO" sz="1200" b="0" i="0" kern="1200" dirty="0">
                <a:solidFill>
                  <a:schemeClr val="tx1"/>
                </a:solidFill>
                <a:effectLst/>
                <a:latin typeface="+mn-lt"/>
                <a:ea typeface="+mn-ea"/>
                <a:cs typeface="+mn-cs"/>
              </a:rPr>
              <a:t> og brukes til høynivåpresentasjoner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Vertikal prototype</a:t>
            </a:r>
            <a:r>
              <a:rPr lang="nb-NO" sz="1200" b="0" i="0" kern="1200" dirty="0">
                <a:solidFill>
                  <a:schemeClr val="tx1"/>
                </a:solidFill>
                <a:effectLst/>
                <a:latin typeface="+mn-lt"/>
                <a:ea typeface="+mn-ea"/>
                <a:cs typeface="+mn-cs"/>
              </a:rPr>
              <a:t>: mye </a:t>
            </a:r>
            <a:r>
              <a:rPr lang="nb-NO" sz="1200" b="0" i="0" kern="1200" dirty="0" err="1">
                <a:solidFill>
                  <a:schemeClr val="tx1"/>
                </a:solidFill>
                <a:effectLst/>
                <a:latin typeface="+mn-lt"/>
                <a:ea typeface="+mn-ea"/>
                <a:cs typeface="+mn-cs"/>
              </a:rPr>
              <a:t>dypde</a:t>
            </a:r>
            <a:endParaRPr lang="nb-NO" sz="1200" b="0" i="0" kern="1200" dirty="0">
              <a:solidFill>
                <a:schemeClr val="tx1"/>
              </a:solidFill>
              <a:effectLst/>
              <a:latin typeface="+mn-lt"/>
              <a:ea typeface="+mn-ea"/>
              <a:cs typeface="+mn-cs"/>
            </a:endParaRPr>
          </a:p>
          <a:p>
            <a:pPr marL="171450" indent="-171450">
              <a:buFontTx/>
              <a:buChar char="-"/>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Aspekter ved utvikling av prototyper: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Evolusjonære prototyper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Bruk og kast</a:t>
            </a:r>
          </a:p>
          <a:p>
            <a:pPr marL="171450" lvl="0" indent="-171450">
              <a:buFont typeface="Arial" panose="020B0604020202020204" pitchFamily="34" charset="0"/>
              <a:buChar char="•"/>
            </a:pPr>
            <a:r>
              <a:rPr lang="nb-NO" sz="1200" b="1" i="0" kern="1200" dirty="0" err="1">
                <a:solidFill>
                  <a:schemeClr val="tx1"/>
                </a:solidFill>
                <a:effectLst/>
                <a:latin typeface="+mn-lt"/>
                <a:ea typeface="+mn-ea"/>
                <a:cs typeface="+mn-cs"/>
              </a:rPr>
              <a:t>Lavoppløslige</a:t>
            </a:r>
            <a:r>
              <a:rPr lang="nb-NO" sz="1200" b="1" i="0" kern="1200" dirty="0">
                <a:solidFill>
                  <a:schemeClr val="tx1"/>
                </a:solidFill>
                <a:effectLst/>
                <a:latin typeface="+mn-lt"/>
                <a:ea typeface="+mn-ea"/>
                <a:cs typeface="+mn-cs"/>
              </a:rPr>
              <a:t> prototyper</a:t>
            </a:r>
            <a:r>
              <a:rPr lang="nb-NO" sz="1200" b="0" i="0" kern="1200" dirty="0">
                <a:solidFill>
                  <a:schemeClr val="tx1"/>
                </a:solidFill>
                <a:effectLst/>
                <a:latin typeface="+mn-lt"/>
                <a:ea typeface="+mn-ea"/>
                <a:cs typeface="+mn-cs"/>
              </a:rPr>
              <a:t>: lite interaksjon</a:t>
            </a:r>
          </a:p>
          <a:p>
            <a:pPr marL="171450" lvl="0" indent="-171450">
              <a:buFont typeface="Arial" panose="020B0604020202020204" pitchFamily="34" charset="0"/>
              <a:buChar char="•"/>
            </a:pPr>
            <a:r>
              <a:rPr lang="nb-NO" sz="1200" b="1" i="0" kern="1200" dirty="0" err="1">
                <a:solidFill>
                  <a:schemeClr val="tx1"/>
                </a:solidFill>
                <a:effectLst/>
                <a:latin typeface="+mn-lt"/>
                <a:ea typeface="+mn-ea"/>
                <a:cs typeface="+mn-cs"/>
              </a:rPr>
              <a:t>Høyoppløslige</a:t>
            </a:r>
            <a:r>
              <a:rPr lang="nb-NO" sz="1200" b="1" i="0" kern="1200" dirty="0">
                <a:solidFill>
                  <a:schemeClr val="tx1"/>
                </a:solidFill>
                <a:effectLst/>
                <a:latin typeface="+mn-lt"/>
                <a:ea typeface="+mn-ea"/>
                <a:cs typeface="+mn-cs"/>
              </a:rPr>
              <a:t> prototyper</a:t>
            </a:r>
            <a:r>
              <a:rPr lang="nb-NO" sz="1200" b="0" i="0" kern="1200" dirty="0">
                <a:solidFill>
                  <a:schemeClr val="tx1"/>
                </a:solidFill>
                <a:effectLst/>
                <a:latin typeface="+mn-lt"/>
                <a:ea typeface="+mn-ea"/>
                <a:cs typeface="+mn-cs"/>
              </a:rPr>
              <a:t>: mye interaksjon</a:t>
            </a:r>
          </a:p>
          <a:p>
            <a:pPr marL="0" indent="0">
              <a:buFontTx/>
              <a:buNone/>
            </a:pP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8CEDC831-AE07-422E-9181-A9D7DCE1D973}"/>
              </a:ext>
            </a:extLst>
          </p:cNvPr>
          <p:cNvSpPr>
            <a:spLocks noGrp="1"/>
          </p:cNvSpPr>
          <p:nvPr>
            <p:ph type="sldNum" sz="quarter" idx="5"/>
          </p:nvPr>
        </p:nvSpPr>
        <p:spPr/>
        <p:txBody>
          <a:bodyPr/>
          <a:lstStyle/>
          <a:p>
            <a:fld id="{ED8CD5F7-2931-42C6-9B3E-A6C700901896}" type="slidenum">
              <a:rPr lang="nb-NO" smtClean="0"/>
              <a:t>4</a:t>
            </a:fld>
            <a:endParaRPr lang="nb-NO"/>
          </a:p>
        </p:txBody>
      </p:sp>
    </p:spTree>
    <p:extLst>
      <p:ext uri="{BB962C8B-B14F-4D97-AF65-F5344CB8AC3E}">
        <p14:creationId xmlns:p14="http://schemas.microsoft.com/office/powerpoint/2010/main" val="20506765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2D2EC-8A5E-00D0-F1F7-C615C6FEA83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994A0EC-2BC5-C13E-18EC-CF933CEB1189}"/>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2571AEE-3B6A-09A1-620E-C4E73F7208FC}"/>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Er å finne verdien av noe. Bredt begrep som inkluderer: tester, formelle modeller, gjennomgang, prototyper</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Testing vs Evaluering: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Testing:</a:t>
            </a:r>
            <a:r>
              <a:rPr lang="nb-NO" sz="1200" b="0" i="0" kern="1200" dirty="0">
                <a:solidFill>
                  <a:schemeClr val="tx1"/>
                </a:solidFill>
                <a:effectLst/>
                <a:latin typeface="+mn-lt"/>
                <a:ea typeface="+mn-ea"/>
                <a:cs typeface="+mn-cs"/>
              </a:rPr>
              <a:t> Avdekke feil (verifisering – </a:t>
            </a:r>
            <a:r>
              <a:rPr lang="nb-NO" sz="1200" b="0" i="1" kern="1200" dirty="0" err="1">
                <a:solidFill>
                  <a:schemeClr val="tx1"/>
                </a:solidFill>
                <a:effectLst/>
                <a:latin typeface="+mn-lt"/>
                <a:ea typeface="+mn-ea"/>
                <a:cs typeface="+mn-cs"/>
              </a:rPr>
              <a:t>are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we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building</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the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product</a:t>
            </a:r>
            <a:r>
              <a:rPr lang="nb-NO" sz="1200" b="0" i="1" kern="1200" dirty="0">
                <a:solidFill>
                  <a:schemeClr val="tx1"/>
                </a:solidFill>
                <a:effectLst/>
                <a:latin typeface="+mn-lt"/>
                <a:ea typeface="+mn-ea"/>
                <a:cs typeface="+mn-cs"/>
              </a:rPr>
              <a:t> right?</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Evaluering:</a:t>
            </a:r>
            <a:r>
              <a:rPr lang="nb-NO" sz="1200" b="0" i="0" kern="1200" dirty="0">
                <a:solidFill>
                  <a:schemeClr val="tx1"/>
                </a:solidFill>
                <a:effectLst/>
                <a:latin typeface="+mn-lt"/>
                <a:ea typeface="+mn-ea"/>
                <a:cs typeface="+mn-cs"/>
              </a:rPr>
              <a:t> Vurdere nytteverdi/brukeropplevelse (validering – </a:t>
            </a:r>
            <a:r>
              <a:rPr lang="nb-NO" sz="1200" b="0" i="1" kern="1200" dirty="0" err="1">
                <a:solidFill>
                  <a:schemeClr val="tx1"/>
                </a:solidFill>
                <a:effectLst/>
                <a:latin typeface="+mn-lt"/>
                <a:ea typeface="+mn-ea"/>
                <a:cs typeface="+mn-cs"/>
              </a:rPr>
              <a:t>are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we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building</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the</a:t>
            </a:r>
            <a:r>
              <a:rPr lang="nb-NO" sz="1200" b="0" i="1" kern="1200" dirty="0">
                <a:solidFill>
                  <a:schemeClr val="tx1"/>
                </a:solidFill>
                <a:effectLst/>
                <a:latin typeface="+mn-lt"/>
                <a:ea typeface="+mn-ea"/>
                <a:cs typeface="+mn-cs"/>
              </a:rPr>
              <a:t> right </a:t>
            </a:r>
            <a:r>
              <a:rPr lang="nb-NO" sz="1200" b="0" i="1" kern="1200" dirty="0" err="1">
                <a:solidFill>
                  <a:schemeClr val="tx1"/>
                </a:solidFill>
                <a:effectLst/>
                <a:latin typeface="+mn-lt"/>
                <a:ea typeface="+mn-ea"/>
                <a:cs typeface="+mn-cs"/>
              </a:rPr>
              <a:t>product</a:t>
            </a:r>
            <a:r>
              <a:rPr lang="nb-NO" sz="1200" b="0" i="1"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Inkluderer også testing.</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Alt som kan gi brukeren en idé om den endelige løsningen kan evalueres.</a:t>
            </a:r>
          </a:p>
          <a:p>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Evalueringsformer: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Formativ</a:t>
            </a:r>
            <a:r>
              <a:rPr lang="nb-NO" sz="1200" b="0" i="0" kern="1200" dirty="0">
                <a:solidFill>
                  <a:schemeClr val="tx1"/>
                </a:solidFill>
                <a:effectLst/>
                <a:latin typeface="+mn-lt"/>
                <a:ea typeface="+mn-ea"/>
                <a:cs typeface="+mn-cs"/>
              </a:rPr>
              <a:t>: man gjør en evaluering for å påvirke utviklingen og sikre at designende man jobber med oppfyller kravene, utføres underveis.</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Summativ</a:t>
            </a:r>
            <a:r>
              <a:rPr lang="nb-NO" sz="1200" b="0" i="0" kern="1200" dirty="0">
                <a:solidFill>
                  <a:schemeClr val="tx1"/>
                </a:solidFill>
                <a:effectLst/>
                <a:latin typeface="+mn-lt"/>
                <a:ea typeface="+mn-ea"/>
                <a:cs typeface="+mn-cs"/>
              </a:rPr>
              <a:t>: evaluering av sluttproduktet</a:t>
            </a:r>
          </a:p>
          <a:p>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 som involverer brukere</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Brukertester</a:t>
            </a:r>
            <a:r>
              <a:rPr lang="nb-NO" sz="1200" b="0" i="0" kern="1200" dirty="0">
                <a:solidFill>
                  <a:schemeClr val="tx1"/>
                </a:solidFill>
                <a:effectLst/>
                <a:latin typeface="+mn-lt"/>
                <a:ea typeface="+mn-ea"/>
                <a:cs typeface="+mn-cs"/>
              </a:rPr>
              <a:t> - lar en bruker bruke produktet i kontrollerte omgivelser og observer hva som blir brukt, feil, interaksjoner osv.</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A/B tester </a:t>
            </a:r>
            <a:r>
              <a:rPr lang="nb-NO" sz="1200" b="0" i="0" kern="1200" dirty="0">
                <a:solidFill>
                  <a:schemeClr val="tx1"/>
                </a:solidFill>
                <a:effectLst/>
                <a:latin typeface="+mn-lt"/>
                <a:ea typeface="+mn-ea"/>
                <a:cs typeface="+mn-cs"/>
              </a:rPr>
              <a:t>- lager to eller flere varianter av et design, presenterer brukere for en tilfeldig variant og ser hvilken variant som presterer best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Feltstudier</a:t>
            </a:r>
            <a:r>
              <a:rPr lang="nb-NO" sz="1200" b="0" i="0" kern="1200" dirty="0">
                <a:solidFill>
                  <a:schemeClr val="tx1"/>
                </a:solidFill>
                <a:effectLst/>
                <a:latin typeface="+mn-lt"/>
                <a:ea typeface="+mn-ea"/>
                <a:cs typeface="+mn-cs"/>
              </a:rPr>
              <a:t> - naturlige omgivelser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Opportunistiske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evaluering</a:t>
            </a:r>
            <a:r>
              <a:rPr lang="nb-NO" sz="1200" b="0" i="0" kern="1200" dirty="0">
                <a:solidFill>
                  <a:schemeClr val="tx1"/>
                </a:solidFill>
                <a:effectLst/>
                <a:latin typeface="+mn-lt"/>
                <a:ea typeface="+mn-ea"/>
                <a:cs typeface="+mn-cs"/>
              </a:rPr>
              <a:t> - en bruker gi tilbakemelding på en spesifikk ide eller problemstilling</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 som ikke involverer brukere</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Heuristiske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gjennomganger</a:t>
            </a:r>
            <a:r>
              <a:rPr lang="nb-NO" sz="1200" b="0" i="0" kern="1200" dirty="0">
                <a:solidFill>
                  <a:schemeClr val="tx1"/>
                </a:solidFill>
                <a:effectLst/>
                <a:latin typeface="+mn-lt"/>
                <a:ea typeface="+mn-ea"/>
                <a:cs typeface="+mn-cs"/>
              </a:rPr>
              <a:t> - evaluer produkt gjennom regler og retningslinjer for brukerkvalitet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Pluralistiske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gjennomganger</a:t>
            </a:r>
            <a:r>
              <a:rPr lang="nb-NO" sz="1200" b="0" i="0" kern="1200" dirty="0">
                <a:solidFill>
                  <a:schemeClr val="tx1"/>
                </a:solidFill>
                <a:effectLst/>
                <a:latin typeface="+mn-lt"/>
                <a:ea typeface="+mn-ea"/>
                <a:cs typeface="+mn-cs"/>
              </a:rPr>
              <a:t> - brukere, utviklere og brukerkvalitetseksperter jobber sammen gjennom viktige scenarioer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Prediktive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modeller</a:t>
            </a:r>
            <a:r>
              <a:rPr lang="nb-NO" sz="1200" b="0" i="0" kern="1200" dirty="0">
                <a:solidFill>
                  <a:schemeClr val="tx1"/>
                </a:solidFill>
                <a:effectLst/>
                <a:latin typeface="+mn-lt"/>
                <a:ea typeface="+mn-ea"/>
                <a:cs typeface="+mn-cs"/>
              </a:rPr>
              <a:t> - maskinlæringsmodeller som prøver å forutsi brukeropplevelse</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Evalueringsmetoder (</a:t>
            </a:r>
            <a:r>
              <a:rPr lang="nb-NO" sz="1200" b="0" i="1" kern="1200" dirty="0">
                <a:solidFill>
                  <a:schemeClr val="tx1"/>
                </a:solidFill>
                <a:effectLst/>
                <a:latin typeface="+mn-lt"/>
                <a:ea typeface="+mn-ea"/>
                <a:cs typeface="+mn-cs"/>
              </a:rPr>
              <a:t>Metoder</a:t>
            </a:r>
            <a:r>
              <a:rPr lang="nb-NO" sz="1200" b="0" i="0" kern="1200" dirty="0">
                <a:solidFill>
                  <a:schemeClr val="tx1"/>
                </a:solidFill>
                <a:effectLst/>
                <a:latin typeface="+mn-lt"/>
                <a:ea typeface="+mn-ea"/>
                <a:cs typeface="+mn-cs"/>
              </a:rPr>
              <a:t>): </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Observasjon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Spørre brukere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Direkte testing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Spørre eksperter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modellere</a:t>
            </a:r>
          </a:p>
          <a:p>
            <a:pPr marL="171450" lvl="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lvl="0" indent="0">
              <a:buFont typeface="Arial" panose="020B0604020202020204" pitchFamily="34" charset="0"/>
              <a:buNone/>
            </a:pPr>
            <a:r>
              <a:rPr lang="nb-NO" sz="1200" b="0" i="0" kern="1200" dirty="0">
                <a:solidFill>
                  <a:schemeClr val="tx1"/>
                </a:solidFill>
                <a:effectLst/>
                <a:latin typeface="+mn-lt"/>
                <a:ea typeface="+mn-ea"/>
                <a:cs typeface="+mn-cs"/>
              </a:rPr>
              <a:t>Evalueringsteknikker (</a:t>
            </a:r>
            <a:r>
              <a:rPr lang="nb-NO" sz="1200" b="0" i="1" kern="1200" dirty="0">
                <a:solidFill>
                  <a:schemeClr val="tx1"/>
                </a:solidFill>
                <a:effectLst/>
                <a:latin typeface="+mn-lt"/>
                <a:ea typeface="+mn-ea"/>
                <a:cs typeface="+mn-cs"/>
              </a:rPr>
              <a:t>Metoder for data</a:t>
            </a:r>
            <a:r>
              <a:rPr lang="nb-NO" sz="1200" b="0" i="0" kern="1200" dirty="0">
                <a:solidFill>
                  <a:schemeClr val="tx1"/>
                </a:solidFill>
                <a:effectLst/>
                <a:latin typeface="+mn-lt"/>
                <a:ea typeface="+mn-ea"/>
                <a:cs typeface="+mn-cs"/>
              </a:rPr>
              <a: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Kodevalidering</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i forskjellige nettleser og på forskjellige plattformer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fleksibiliteten til et design</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grad av universell utfordring og brukerkvalitet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feilmeldinger</a:t>
            </a:r>
          </a:p>
        </p:txBody>
      </p:sp>
      <p:sp>
        <p:nvSpPr>
          <p:cNvPr id="4" name="Plassholder for lysbildenummer 3">
            <a:extLst>
              <a:ext uri="{FF2B5EF4-FFF2-40B4-BE49-F238E27FC236}">
                <a16:creationId xmlns:a16="http://schemas.microsoft.com/office/drawing/2014/main" id="{FC9E0B70-D471-3512-5E6C-0763B2C21D45}"/>
              </a:ext>
            </a:extLst>
          </p:cNvPr>
          <p:cNvSpPr>
            <a:spLocks noGrp="1"/>
          </p:cNvSpPr>
          <p:nvPr>
            <p:ph type="sldNum" sz="quarter" idx="5"/>
          </p:nvPr>
        </p:nvSpPr>
        <p:spPr/>
        <p:txBody>
          <a:bodyPr/>
          <a:lstStyle/>
          <a:p>
            <a:fld id="{ED8CD5F7-2931-42C6-9B3E-A6C700901896}" type="slidenum">
              <a:rPr lang="nb-NO" smtClean="0"/>
              <a:t>5</a:t>
            </a:fld>
            <a:endParaRPr lang="nb-NO"/>
          </a:p>
        </p:txBody>
      </p:sp>
    </p:spTree>
    <p:extLst>
      <p:ext uri="{BB962C8B-B14F-4D97-AF65-F5344CB8AC3E}">
        <p14:creationId xmlns:p14="http://schemas.microsoft.com/office/powerpoint/2010/main" val="36702477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C6D6-37FB-4C87-2389-23994066545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F4432D1-EA41-0ABC-30F5-5BCA36E308B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AC20AA3-68AB-A922-D79D-11A76B8CCBE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Definisjon: Simulerer en reell situasjon der testing inkluderer konkrete oppgaver. Observerer brukeren og brukes til å evaluere brukervennligheten.</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få innsikt man trenger for å gjøre produktet enklere å bruke</a:t>
            </a:r>
          </a:p>
          <a:p>
            <a:r>
              <a:rPr lang="nb-NO" sz="1200" b="0" i="0" kern="1200" dirty="0">
                <a:solidFill>
                  <a:schemeClr val="tx1"/>
                </a:solidFill>
                <a:effectLst/>
                <a:latin typeface="+mn-lt"/>
                <a:ea typeface="+mn-ea"/>
                <a:cs typeface="+mn-cs"/>
              </a:rPr>
              <a:t>Brukertest burde ha spesifikke og begrenset hensikt. Problem -&gt; formål med brukertest</a:t>
            </a:r>
          </a:p>
          <a:p>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CD1D5EB-1569-FE9A-C7DF-EA415AF05BA5}"/>
              </a:ext>
            </a:extLst>
          </p:cNvPr>
          <p:cNvSpPr>
            <a:spLocks noGrp="1"/>
          </p:cNvSpPr>
          <p:nvPr>
            <p:ph type="sldNum" sz="quarter" idx="5"/>
          </p:nvPr>
        </p:nvSpPr>
        <p:spPr/>
        <p:txBody>
          <a:bodyPr/>
          <a:lstStyle/>
          <a:p>
            <a:fld id="{ED8CD5F7-2931-42C6-9B3E-A6C700901896}" type="slidenum">
              <a:rPr lang="nb-NO" smtClean="0"/>
              <a:t>6</a:t>
            </a:fld>
            <a:endParaRPr lang="nb-NO"/>
          </a:p>
        </p:txBody>
      </p:sp>
    </p:spTree>
    <p:extLst>
      <p:ext uri="{BB962C8B-B14F-4D97-AF65-F5344CB8AC3E}">
        <p14:creationId xmlns:p14="http://schemas.microsoft.com/office/powerpoint/2010/main" val="2160106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85BB9-5AF5-0EDC-1E94-AE652D968C2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EBCB4F4-0CA4-94AF-D9DC-A4D5C041C64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E82C65C-D296-ECB0-95F1-4082A584474E}"/>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Går ut på at løsninger skal være utformet slik at de kan benyttes av flest mulig uten å diskriminere.</a:t>
            </a:r>
          </a:p>
          <a:p>
            <a:r>
              <a:rPr lang="nb-NO" sz="1200" b="1" i="0" kern="1200" dirty="0">
                <a:solidFill>
                  <a:schemeClr val="tx1"/>
                </a:solidFill>
                <a:effectLst/>
                <a:latin typeface="+mn-lt"/>
                <a:ea typeface="+mn-ea"/>
                <a:cs typeface="+mn-cs"/>
              </a:rPr>
              <a:t>Hensikt</a:t>
            </a:r>
            <a:r>
              <a:rPr lang="nb-NO" sz="1200" b="0" i="0" kern="1200" dirty="0">
                <a:solidFill>
                  <a:schemeClr val="tx1"/>
                </a:solidFill>
                <a:effectLst/>
                <a:latin typeface="+mn-lt"/>
                <a:ea typeface="+mn-ea"/>
                <a:cs typeface="+mn-cs"/>
              </a:rPr>
              <a:t>: Produktet kan brukes av alle typer brukere uavhengig av fysisk begrensninger og kunnskapsnivå.</a:t>
            </a:r>
          </a:p>
          <a:p>
            <a:r>
              <a:rPr lang="nb-NO" sz="1200" b="1" i="0" kern="1200" dirty="0">
                <a:solidFill>
                  <a:schemeClr val="tx1"/>
                </a:solidFill>
                <a:effectLst/>
                <a:latin typeface="+mn-lt"/>
                <a:ea typeface="+mn-ea"/>
                <a:cs typeface="+mn-cs"/>
              </a:rPr>
              <a:t>Handler ikke om: </a:t>
            </a:r>
            <a:r>
              <a:rPr lang="nb-NO" sz="1200" b="0" i="0" kern="1200" dirty="0">
                <a:solidFill>
                  <a:schemeClr val="tx1"/>
                </a:solidFill>
                <a:effectLst/>
                <a:latin typeface="+mn-lt"/>
                <a:ea typeface="+mn-ea"/>
                <a:cs typeface="+mn-cs"/>
              </a:rPr>
              <a:t>å</a:t>
            </a:r>
            <a:r>
              <a:rPr lang="nb-NO" sz="1200" b="1" i="0" kern="1200" dirty="0">
                <a:solidFill>
                  <a:schemeClr val="tx1"/>
                </a:solidFill>
                <a:effectLst/>
                <a:latin typeface="+mn-lt"/>
                <a:ea typeface="+mn-ea"/>
                <a:cs typeface="+mn-cs"/>
              </a:rPr>
              <a:t> </a:t>
            </a:r>
            <a:r>
              <a:rPr lang="nb-NO" sz="1200" b="0" i="0" kern="1200" dirty="0">
                <a:solidFill>
                  <a:schemeClr val="tx1"/>
                </a:solidFill>
                <a:effectLst/>
                <a:latin typeface="+mn-lt"/>
                <a:ea typeface="+mn-ea"/>
                <a:cs typeface="+mn-cs"/>
              </a:rPr>
              <a:t>lage tilleggsløsninger for de med spesielle behov, men lage ting som i utgangspunktet kan brukes av alle</a:t>
            </a:r>
          </a:p>
          <a:p>
            <a:r>
              <a:rPr lang="nb-NO" sz="1200" b="1" i="0" kern="1200" dirty="0">
                <a:solidFill>
                  <a:schemeClr val="tx1"/>
                </a:solidFill>
                <a:effectLst/>
                <a:latin typeface="+mn-lt"/>
                <a:ea typeface="+mn-ea"/>
                <a:cs typeface="+mn-cs"/>
              </a:rPr>
              <a:t>Bidrar til: </a:t>
            </a:r>
            <a:r>
              <a:rPr lang="nb-NO" sz="1200" b="0" i="0" kern="1200" dirty="0">
                <a:solidFill>
                  <a:schemeClr val="tx1"/>
                </a:solidFill>
                <a:effectLst/>
                <a:latin typeface="+mn-lt"/>
                <a:ea typeface="+mn-ea"/>
                <a:cs typeface="+mn-cs"/>
              </a:rPr>
              <a:t>likeverdig deltakelse i samfunnet og øker brukervennligheten for alle og samtidig reduserer behov for individuelle tilpasninger.</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Prinsipper for universell utforming (Central for Universal Design):</a:t>
            </a:r>
          </a:p>
          <a:p>
            <a:pPr marL="228600" indent="-228600">
              <a:buFont typeface="+mj-lt"/>
              <a:buAutoNum type="arabicPeriod"/>
            </a:pPr>
            <a:r>
              <a:rPr lang="nb-NO" sz="1200" b="1" i="0" kern="1200" dirty="0">
                <a:solidFill>
                  <a:schemeClr val="tx1"/>
                </a:solidFill>
                <a:effectLst/>
                <a:latin typeface="+mn-lt"/>
                <a:ea typeface="+mn-ea"/>
                <a:cs typeface="+mn-cs"/>
              </a:rPr>
              <a:t>Enkel og intuitiv i bruk</a:t>
            </a:r>
            <a:r>
              <a:rPr lang="nb-NO" sz="1200" b="0" i="0" kern="1200" dirty="0">
                <a:solidFill>
                  <a:schemeClr val="tx1"/>
                </a:solidFill>
                <a:effectLst/>
                <a:latin typeface="+mn-lt"/>
                <a:ea typeface="+mn-ea"/>
                <a:cs typeface="+mn-cs"/>
              </a:rPr>
              <a:t>: Utformingen skal være lett å forstå uten hensyn til brukerens erfaring, kunnskap, språkferdigheter eller konsentrasjonsnivå.</a:t>
            </a:r>
          </a:p>
          <a:p>
            <a:pPr marL="228600" indent="-228600">
              <a:buFont typeface="+mj-lt"/>
              <a:buAutoNum type="arabicPeriod"/>
            </a:pPr>
            <a:r>
              <a:rPr lang="nb-NO" sz="1200" b="1" i="0" kern="1200" dirty="0">
                <a:solidFill>
                  <a:schemeClr val="tx1"/>
                </a:solidFill>
                <a:effectLst/>
                <a:latin typeface="+mn-lt"/>
                <a:ea typeface="+mn-ea"/>
                <a:cs typeface="+mn-cs"/>
              </a:rPr>
              <a:t>Forståelig informasjon</a:t>
            </a:r>
            <a:r>
              <a:rPr lang="nb-NO" sz="1200" b="0" i="0" kern="1200" dirty="0">
                <a:solidFill>
                  <a:schemeClr val="tx1"/>
                </a:solidFill>
                <a:effectLst/>
                <a:latin typeface="+mn-lt"/>
                <a:ea typeface="+mn-ea"/>
                <a:cs typeface="+mn-cs"/>
              </a:rPr>
              <a:t>: Utformingen skal kommunisere nødvendig informasjon til brukeren på en effektiv måte.</a:t>
            </a:r>
          </a:p>
          <a:p>
            <a:pPr marL="228600" indent="-228600">
              <a:buFont typeface="+mj-lt"/>
              <a:buAutoNum type="arabicPeriod"/>
            </a:pPr>
            <a:r>
              <a:rPr lang="nb-NO" sz="1200" b="1" i="0" kern="1200" dirty="0">
                <a:solidFill>
                  <a:schemeClr val="tx1"/>
                </a:solidFill>
                <a:effectLst/>
                <a:latin typeface="+mn-lt"/>
                <a:ea typeface="+mn-ea"/>
                <a:cs typeface="+mn-cs"/>
              </a:rPr>
              <a:t>Toleranse for feil</a:t>
            </a:r>
            <a:r>
              <a:rPr lang="nb-NO" sz="1200" b="0" i="0" kern="1200" dirty="0">
                <a:solidFill>
                  <a:schemeClr val="tx1"/>
                </a:solidFill>
                <a:effectLst/>
                <a:latin typeface="+mn-lt"/>
                <a:ea typeface="+mn-ea"/>
                <a:cs typeface="+mn-cs"/>
              </a:rPr>
              <a:t>: Utformingen skal minimalisere farer og skader som kan gi ugunstige konsekvenser, eller minimalisere utilsiktede handlinger.</a:t>
            </a:r>
          </a:p>
          <a:p>
            <a:pPr marL="228600" indent="-228600">
              <a:buFont typeface="+mj-lt"/>
              <a:buAutoNum type="arabicPeriod"/>
            </a:pPr>
            <a:r>
              <a:rPr lang="nb-NO" sz="1200" b="1" i="0" kern="1200" dirty="0">
                <a:solidFill>
                  <a:schemeClr val="tx1"/>
                </a:solidFill>
                <a:effectLst/>
                <a:latin typeface="+mn-lt"/>
                <a:ea typeface="+mn-ea"/>
                <a:cs typeface="+mn-cs"/>
              </a:rPr>
              <a:t>Like muligheter for alle</a:t>
            </a:r>
            <a:r>
              <a:rPr lang="nb-NO" sz="1200" b="0" i="0" kern="1200" dirty="0">
                <a:solidFill>
                  <a:schemeClr val="tx1"/>
                </a:solidFill>
                <a:effectLst/>
                <a:latin typeface="+mn-lt"/>
                <a:ea typeface="+mn-ea"/>
                <a:cs typeface="+mn-cs"/>
              </a:rPr>
              <a:t>: Utformingen skal være brukbar og tilgjengelig for personer med ulike ferdigheter.</a:t>
            </a:r>
          </a:p>
          <a:p>
            <a:pPr marL="228600" indent="-228600">
              <a:buFont typeface="+mj-lt"/>
              <a:buAutoNum type="arabicPeriod"/>
            </a:pPr>
            <a:r>
              <a:rPr lang="nb-NO" sz="1200" b="1" i="0" kern="1200" dirty="0">
                <a:solidFill>
                  <a:schemeClr val="tx1"/>
                </a:solidFill>
                <a:effectLst/>
                <a:latin typeface="+mn-lt"/>
                <a:ea typeface="+mn-ea"/>
                <a:cs typeface="+mn-cs"/>
              </a:rPr>
              <a:t>Fleksibel i bruk</a:t>
            </a:r>
            <a:r>
              <a:rPr lang="nb-NO" sz="1200" b="0" i="0" kern="1200" dirty="0">
                <a:solidFill>
                  <a:schemeClr val="tx1"/>
                </a:solidFill>
                <a:effectLst/>
                <a:latin typeface="+mn-lt"/>
                <a:ea typeface="+mn-ea"/>
                <a:cs typeface="+mn-cs"/>
              </a:rPr>
              <a:t>: Uansett individuelle preferanser og ferdigheter. Den synshemmede skal kunne høre, den hørselhemmede se og så videre.</a:t>
            </a:r>
          </a:p>
          <a:p>
            <a:pPr marL="228600" indent="-228600">
              <a:buFont typeface="+mj-lt"/>
              <a:buAutoNum type="arabicPeriod"/>
            </a:pPr>
            <a:r>
              <a:rPr lang="nb-NO" sz="1200" b="1" i="0" kern="1200" dirty="0">
                <a:solidFill>
                  <a:schemeClr val="tx1"/>
                </a:solidFill>
                <a:effectLst/>
                <a:latin typeface="+mn-lt"/>
                <a:ea typeface="+mn-ea"/>
                <a:cs typeface="+mn-cs"/>
              </a:rPr>
              <a:t>Lav fysisk anstrengelse</a:t>
            </a:r>
            <a:r>
              <a:rPr lang="nb-NO" sz="1200" b="0" i="0" kern="1200" dirty="0">
                <a:solidFill>
                  <a:schemeClr val="tx1"/>
                </a:solidFill>
                <a:effectLst/>
                <a:latin typeface="+mn-lt"/>
                <a:ea typeface="+mn-ea"/>
                <a:cs typeface="+mn-cs"/>
              </a:rPr>
              <a:t>: Utformingen skal kunne brukes effektivt og bekvemt med minimum besvær.</a:t>
            </a:r>
          </a:p>
          <a:p>
            <a:pPr marL="228600" indent="-228600">
              <a:buFont typeface="+mj-lt"/>
              <a:buAutoNum type="arabicPeriod"/>
            </a:pPr>
            <a:r>
              <a:rPr lang="nb-NO" sz="1200" b="1" i="0" kern="1200" dirty="0">
                <a:solidFill>
                  <a:schemeClr val="tx1"/>
                </a:solidFill>
                <a:effectLst/>
                <a:latin typeface="+mn-lt"/>
                <a:ea typeface="+mn-ea"/>
                <a:cs typeface="+mn-cs"/>
              </a:rPr>
              <a:t>Størrelse og plass for tilgang og bruk:</a:t>
            </a:r>
            <a:r>
              <a:rPr lang="nb-NO" sz="1200" b="0" i="0" kern="1200" dirty="0">
                <a:solidFill>
                  <a:schemeClr val="tx1"/>
                </a:solidFill>
                <a:effectLst/>
                <a:latin typeface="+mn-lt"/>
                <a:ea typeface="+mn-ea"/>
                <a:cs typeface="+mn-cs"/>
              </a:rPr>
              <a:t> Hensiktsmessig størrelse og plass skal muliggjøre: </a:t>
            </a:r>
          </a:p>
          <a:p>
            <a:pPr marL="685800" lvl="1" indent="-228600">
              <a:buFont typeface="+mj-lt"/>
              <a:buAutoNum type="arabicPeriod"/>
            </a:pPr>
            <a:r>
              <a:rPr lang="nb-NO" sz="1200" b="0" i="0" kern="1200" dirty="0">
                <a:solidFill>
                  <a:schemeClr val="tx1"/>
                </a:solidFill>
                <a:effectLst/>
                <a:latin typeface="+mn-lt"/>
                <a:ea typeface="+mn-ea"/>
                <a:cs typeface="+mn-cs"/>
              </a:rPr>
              <a:t>Tilgang</a:t>
            </a:r>
          </a:p>
          <a:p>
            <a:pPr marL="685800" lvl="1" indent="-228600">
              <a:buFont typeface="+mj-lt"/>
              <a:buAutoNum type="arabicPeriod"/>
            </a:pPr>
            <a:r>
              <a:rPr lang="nb-NO" sz="1200" b="0" i="0" kern="1200" dirty="0">
                <a:solidFill>
                  <a:schemeClr val="tx1"/>
                </a:solidFill>
                <a:effectLst/>
                <a:latin typeface="+mn-lt"/>
                <a:ea typeface="+mn-ea"/>
                <a:cs typeface="+mn-cs"/>
              </a:rPr>
              <a:t>Rekkevidde </a:t>
            </a:r>
          </a:p>
          <a:p>
            <a:pPr marL="685800" lvl="1" indent="-228600">
              <a:buFont typeface="+mj-lt"/>
              <a:buAutoNum type="arabicPeriod"/>
            </a:pPr>
            <a:r>
              <a:rPr lang="nb-NO" sz="1200" b="0" i="0" kern="1200" dirty="0">
                <a:solidFill>
                  <a:schemeClr val="tx1"/>
                </a:solidFill>
                <a:effectLst/>
                <a:latin typeface="+mn-lt"/>
                <a:ea typeface="+mn-ea"/>
                <a:cs typeface="+mn-cs"/>
              </a:rPr>
              <a:t>Betjening og bruk, uavhengig av brukeren kroppsstørrelse, kroppsstilling og mobilitet.</a:t>
            </a:r>
          </a:p>
          <a:p>
            <a:pPr marL="0" lvl="0" indent="0">
              <a:buFont typeface="+mj-lt"/>
              <a:buNone/>
            </a:pPr>
            <a:r>
              <a:rPr lang="nb-NO" sz="1200" b="0" i="0" kern="1200" dirty="0">
                <a:solidFill>
                  <a:schemeClr val="tx1"/>
                </a:solidFill>
                <a:effectLst/>
                <a:latin typeface="+mn-lt"/>
                <a:ea typeface="+mn-ea"/>
                <a:cs typeface="+mn-cs"/>
              </a:rPr>
              <a:t>      </a:t>
            </a:r>
          </a:p>
          <a:p>
            <a:pPr marL="0" lvl="0" indent="0">
              <a:buFont typeface="+mj-lt"/>
              <a:buNone/>
            </a:pPr>
            <a:r>
              <a:rPr lang="nb-NO" sz="1200" b="0" i="0" kern="1200" dirty="0">
                <a:solidFill>
                  <a:schemeClr val="tx1"/>
                </a:solidFill>
                <a:effectLst/>
                <a:latin typeface="+mn-lt"/>
                <a:ea typeface="+mn-ea"/>
                <a:cs typeface="+mn-cs"/>
              </a:rPr>
              <a:t>Diskriminerings- og tilgjengelighetsloven stiller krav om universell utforming til offentlige og private virksomheter</a:t>
            </a:r>
          </a:p>
        </p:txBody>
      </p:sp>
      <p:sp>
        <p:nvSpPr>
          <p:cNvPr id="4" name="Plassholder for lysbildenummer 3">
            <a:extLst>
              <a:ext uri="{FF2B5EF4-FFF2-40B4-BE49-F238E27FC236}">
                <a16:creationId xmlns:a16="http://schemas.microsoft.com/office/drawing/2014/main" id="{8F18DEC4-B041-F79F-AC72-63AD08A046B4}"/>
              </a:ext>
            </a:extLst>
          </p:cNvPr>
          <p:cNvSpPr>
            <a:spLocks noGrp="1"/>
          </p:cNvSpPr>
          <p:nvPr>
            <p:ph type="sldNum" sz="quarter" idx="5"/>
          </p:nvPr>
        </p:nvSpPr>
        <p:spPr/>
        <p:txBody>
          <a:bodyPr/>
          <a:lstStyle/>
          <a:p>
            <a:fld id="{ED8CD5F7-2931-42C6-9B3E-A6C700901896}" type="slidenum">
              <a:rPr lang="nb-NO" smtClean="0"/>
              <a:t>7</a:t>
            </a:fld>
            <a:endParaRPr lang="nb-NO"/>
          </a:p>
        </p:txBody>
      </p:sp>
    </p:spTree>
    <p:extLst>
      <p:ext uri="{BB962C8B-B14F-4D97-AF65-F5344CB8AC3E}">
        <p14:creationId xmlns:p14="http://schemas.microsoft.com/office/powerpoint/2010/main" val="16470430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BACCA-A5D6-694E-35A0-2FFC6310088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4985DE4-D941-BF42-3BC8-8FE2E3727E89}"/>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46B6B9B-9A93-F4EA-A63E-936F4E204605}"/>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Lov om likestilling og forbud mot diskriminering (§18, §19a, §41):</a:t>
            </a:r>
            <a:r>
              <a:rPr lang="nb-NO" sz="1200" b="0" i="0" kern="1200" dirty="0">
                <a:solidFill>
                  <a:schemeClr val="tx1"/>
                </a:solidFill>
                <a:effectLst/>
                <a:latin typeface="+mn-lt"/>
                <a:ea typeface="+mn-ea"/>
                <a:cs typeface="+mn-cs"/>
              </a:rPr>
              <a:t> trådte i kraft 1. januar 2018.</a:t>
            </a:r>
          </a:p>
          <a:p>
            <a:pPr lvl="1"/>
            <a:r>
              <a:rPr lang="nb-NO" sz="1200" b="0" i="0" kern="1200" dirty="0">
                <a:solidFill>
                  <a:schemeClr val="tx1"/>
                </a:solidFill>
                <a:effectLst/>
                <a:latin typeface="+mn-lt"/>
                <a:ea typeface="+mn-ea"/>
                <a:cs typeface="+mn-cs"/>
              </a:rPr>
              <a:t>§17: Offentlige og private virksomheter rettet mot allmennheten har plikt til universell utforming av alminnelige funksjoner</a:t>
            </a:r>
          </a:p>
          <a:p>
            <a:pPr lvl="1"/>
            <a:r>
              <a:rPr lang="nb-NO" sz="1200" b="0" i="0" kern="1200" dirty="0">
                <a:solidFill>
                  <a:schemeClr val="tx1"/>
                </a:solidFill>
                <a:effectLst/>
                <a:latin typeface="+mn-lt"/>
                <a:ea typeface="+mn-ea"/>
                <a:cs typeface="+mn-cs"/>
              </a:rPr>
              <a:t>§18: IKT-løsninger som underbygger virksomhetens alminnelige funksjoner skal være universelt utformet</a:t>
            </a:r>
          </a:p>
          <a:p>
            <a:pPr lvl="1"/>
            <a:r>
              <a:rPr lang="nb-NO" sz="1200" b="0" i="0" kern="1200" dirty="0">
                <a:solidFill>
                  <a:schemeClr val="tx1"/>
                </a:solidFill>
                <a:effectLst/>
                <a:latin typeface="+mn-lt"/>
                <a:ea typeface="+mn-ea"/>
                <a:cs typeface="+mn-cs"/>
              </a:rPr>
              <a:t>§41: Eksisterende IKT-løsninger skal være universelt utformet fra 1. januar 2021</a:t>
            </a:r>
          </a:p>
          <a:p>
            <a:pPr lvl="1"/>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Forskrift om universell utforming av IKT:</a:t>
            </a:r>
            <a:r>
              <a:rPr lang="nb-NO" sz="1200" b="0" i="0" kern="1200" dirty="0">
                <a:solidFill>
                  <a:schemeClr val="tx1"/>
                </a:solidFill>
                <a:effectLst/>
                <a:latin typeface="+mn-lt"/>
                <a:ea typeface="+mn-ea"/>
                <a:cs typeface="+mn-cs"/>
              </a:rPr>
              <a:t> trådte i kraft 1. juli 2013</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EUs </a:t>
            </a:r>
            <a:r>
              <a:rPr lang="nb-NO" sz="1200" b="1" i="0" kern="1200" dirty="0" err="1">
                <a:solidFill>
                  <a:schemeClr val="tx1"/>
                </a:solidFill>
                <a:effectLst/>
                <a:latin typeface="+mn-lt"/>
                <a:ea typeface="+mn-ea"/>
                <a:cs typeface="+mn-cs"/>
              </a:rPr>
              <a:t>Webdirektiv</a:t>
            </a:r>
            <a:r>
              <a:rPr lang="nb-NO" sz="1200" b="1" i="0" kern="1200" dirty="0">
                <a:solidFill>
                  <a:schemeClr val="tx1"/>
                </a:solidFill>
                <a:effectLst/>
                <a:latin typeface="+mn-lt"/>
                <a:ea typeface="+mn-ea"/>
                <a:cs typeface="+mn-cs"/>
              </a:rPr>
              <a:t> (WAD):</a:t>
            </a:r>
            <a:r>
              <a:rPr lang="nb-NO" sz="1200" b="0" i="0" kern="1200" dirty="0">
                <a:solidFill>
                  <a:schemeClr val="tx1"/>
                </a:solidFill>
                <a:effectLst/>
                <a:latin typeface="+mn-lt"/>
                <a:ea typeface="+mn-ea"/>
                <a:cs typeface="+mn-cs"/>
              </a:rPr>
              <a:t> oppdatert regelverk, nye krav gjaldt fra 1. februar 2023</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Gode argumenter for UU:</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Mer inkluderende (nesten 1 million opplever utfordringer på nettet)</a:t>
            </a:r>
          </a:p>
          <a:p>
            <a:pPr lvl="1"/>
            <a:r>
              <a:rPr lang="nb-NO" sz="1200" b="0" i="0" kern="1200" dirty="0">
                <a:solidFill>
                  <a:schemeClr val="tx1"/>
                </a:solidFill>
                <a:effectLst/>
                <a:latin typeface="+mn-lt"/>
                <a:ea typeface="+mn-ea"/>
                <a:cs typeface="+mn-cs"/>
              </a:rPr>
              <a:t>Enklere å bruke (god informasjonsstruktur, enkel navigasjon)</a:t>
            </a:r>
          </a:p>
          <a:p>
            <a:pPr lvl="1"/>
            <a:r>
              <a:rPr lang="nb-NO" sz="1200" b="0" i="0" kern="1200" dirty="0">
                <a:solidFill>
                  <a:schemeClr val="tx1"/>
                </a:solidFill>
                <a:effectLst/>
                <a:latin typeface="+mn-lt"/>
                <a:ea typeface="+mn-ea"/>
                <a:cs typeface="+mn-cs"/>
              </a:rPr>
              <a:t>Mer mobiltilpasset (store knapper, god kontrast fungerer på mobilskjerm)</a:t>
            </a:r>
          </a:p>
          <a:p>
            <a:pPr lvl="1"/>
            <a:r>
              <a:rPr lang="nb-NO" sz="1200" b="0" i="0" kern="1200" dirty="0">
                <a:solidFill>
                  <a:schemeClr val="tx1"/>
                </a:solidFill>
                <a:effectLst/>
                <a:latin typeface="+mn-lt"/>
                <a:ea typeface="+mn-ea"/>
                <a:cs typeface="+mn-cs"/>
              </a:rPr>
              <a:t>Mer synlig for Google (god kodestandard = bedre SEO)</a:t>
            </a:r>
          </a:p>
          <a:p>
            <a:pPr lvl="1"/>
            <a:r>
              <a:rPr lang="nb-NO" sz="1200" b="0" i="0" kern="1200" dirty="0">
                <a:solidFill>
                  <a:schemeClr val="tx1"/>
                </a:solidFill>
                <a:effectLst/>
                <a:latin typeface="+mn-lt"/>
                <a:ea typeface="+mn-ea"/>
                <a:cs typeface="+mn-cs"/>
              </a:rPr>
              <a:t>Mer lønnsomt (økt omsetning, færre henvendelser til support)</a:t>
            </a:r>
          </a:p>
        </p:txBody>
      </p:sp>
      <p:sp>
        <p:nvSpPr>
          <p:cNvPr id="4" name="Plassholder for lysbildenummer 3">
            <a:extLst>
              <a:ext uri="{FF2B5EF4-FFF2-40B4-BE49-F238E27FC236}">
                <a16:creationId xmlns:a16="http://schemas.microsoft.com/office/drawing/2014/main" id="{6B638214-F50B-91EE-AEE0-F9E163F98129}"/>
              </a:ext>
            </a:extLst>
          </p:cNvPr>
          <p:cNvSpPr>
            <a:spLocks noGrp="1"/>
          </p:cNvSpPr>
          <p:nvPr>
            <p:ph type="sldNum" sz="quarter" idx="5"/>
          </p:nvPr>
        </p:nvSpPr>
        <p:spPr/>
        <p:txBody>
          <a:bodyPr/>
          <a:lstStyle/>
          <a:p>
            <a:fld id="{ED8CD5F7-2931-42C6-9B3E-A6C700901896}" type="slidenum">
              <a:rPr lang="nb-NO" smtClean="0"/>
              <a:t>8</a:t>
            </a:fld>
            <a:endParaRPr lang="nb-NO"/>
          </a:p>
        </p:txBody>
      </p:sp>
    </p:spTree>
    <p:extLst>
      <p:ext uri="{BB962C8B-B14F-4D97-AF65-F5344CB8AC3E}">
        <p14:creationId xmlns:p14="http://schemas.microsoft.com/office/powerpoint/2010/main" val="35926418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94A35-168E-5783-FCFF-C240DD642A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8A0DF0B-0AAD-90DB-E0A0-579A1281381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7EC1141-22BE-1286-68D2-EC85E226EC5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Retningslinjer som ser utviklet for å hjelpe utviklere til å lage nettsteder som er tilgjengelig for alle, </a:t>
            </a:r>
            <a:r>
              <a:rPr lang="nb-NO" sz="1200" b="0" i="0" kern="1200" dirty="0" err="1">
                <a:solidFill>
                  <a:schemeClr val="tx1"/>
                </a:solidFill>
                <a:effectLst/>
                <a:latin typeface="+mn-lt"/>
                <a:ea typeface="+mn-ea"/>
                <a:cs typeface="+mn-cs"/>
              </a:rPr>
              <a:t>inkl</a:t>
            </a:r>
            <a:r>
              <a:rPr lang="nb-NO" sz="1200" b="0" i="0" kern="1200" dirty="0">
                <a:solidFill>
                  <a:schemeClr val="tx1"/>
                </a:solidFill>
                <a:effectLst/>
                <a:latin typeface="+mn-lt"/>
                <a:ea typeface="+mn-ea"/>
                <a:cs typeface="+mn-cs"/>
              </a:rPr>
              <a:t> personer med funksjonsnedsettelser.</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sikre at folk, uavhengig av faktorer som kjønn, alder, og funksjonshemninger får tilgang til den samme informasjonen.</a:t>
            </a:r>
          </a:p>
          <a:p>
            <a:r>
              <a:rPr lang="nb-NO" sz="1200" b="0" i="0" kern="1200" dirty="0">
                <a:solidFill>
                  <a:schemeClr val="tx1"/>
                </a:solidFill>
                <a:effectLst/>
                <a:latin typeface="+mn-lt"/>
                <a:ea typeface="+mn-ea"/>
                <a:cs typeface="+mn-cs"/>
              </a:rPr>
              <a:t>Noen krav:</a:t>
            </a:r>
          </a:p>
          <a:p>
            <a:pPr lvl="1"/>
            <a:r>
              <a:rPr lang="nb-NO" sz="1200" b="0" i="0" kern="1200" dirty="0">
                <a:solidFill>
                  <a:schemeClr val="tx1"/>
                </a:solidFill>
                <a:effectLst/>
                <a:latin typeface="+mn-lt"/>
                <a:ea typeface="+mn-ea"/>
                <a:cs typeface="+mn-cs"/>
              </a:rPr>
              <a:t>Alt av innhold skal være tilgjengelig via tastaturnavigering</a:t>
            </a:r>
          </a:p>
          <a:p>
            <a:pPr lvl="1"/>
            <a:r>
              <a:rPr lang="nb-NO" sz="1200" b="0" i="0" kern="1200" dirty="0">
                <a:solidFill>
                  <a:schemeClr val="tx1"/>
                </a:solidFill>
                <a:effectLst/>
                <a:latin typeface="+mn-lt"/>
                <a:ea typeface="+mn-ea"/>
                <a:cs typeface="+mn-cs"/>
              </a:rPr>
              <a:t>Bilder skal ha alt-funksjon</a:t>
            </a:r>
          </a:p>
          <a:p>
            <a:pPr lvl="1"/>
            <a:r>
              <a:rPr lang="nb-NO" sz="1200" b="0" i="0" kern="1200" dirty="0">
                <a:solidFill>
                  <a:schemeClr val="tx1"/>
                </a:solidFill>
                <a:effectLst/>
                <a:latin typeface="+mn-lt"/>
                <a:ea typeface="+mn-ea"/>
                <a:cs typeface="+mn-cs"/>
              </a:rPr>
              <a:t>Video skal ha teksting eller alternativ lydspor</a:t>
            </a:r>
          </a:p>
          <a:p>
            <a:pPr lvl="1"/>
            <a:r>
              <a:rPr lang="nb-NO" sz="1200" b="0" i="0" kern="1200" dirty="0">
                <a:solidFill>
                  <a:schemeClr val="tx1"/>
                </a:solidFill>
                <a:effectLst/>
                <a:latin typeface="+mn-lt"/>
                <a:ea typeface="+mn-ea"/>
                <a:cs typeface="+mn-cs"/>
              </a:rPr>
              <a:t>Formater skal være lett å forstå</a:t>
            </a:r>
          </a:p>
          <a:p>
            <a:pPr lvl="1"/>
            <a:r>
              <a:rPr lang="nb-NO" sz="1200" b="0" i="0" kern="1200" dirty="0">
                <a:solidFill>
                  <a:schemeClr val="tx1"/>
                </a:solidFill>
                <a:effectLst/>
                <a:latin typeface="+mn-lt"/>
                <a:ea typeface="+mn-ea"/>
                <a:cs typeface="+mn-cs"/>
              </a:rPr>
              <a:t>Innhold skal være lett å forstå</a:t>
            </a:r>
          </a:p>
          <a:p>
            <a:r>
              <a:rPr lang="nb-NO" sz="1200" b="0" i="0" kern="1200" dirty="0">
                <a:solidFill>
                  <a:schemeClr val="tx1"/>
                </a:solidFill>
                <a:effectLst/>
                <a:latin typeface="+mn-lt"/>
                <a:ea typeface="+mn-ea"/>
                <a:cs typeface="+mn-cs"/>
              </a:rPr>
              <a:t>Øverste nivå i WCAG retningslinjer er det fire prinsipper:</a:t>
            </a:r>
          </a:p>
          <a:p>
            <a:pPr lvl="1"/>
            <a:r>
              <a:rPr lang="nb-NO" sz="1200" b="0" i="0" kern="1200" dirty="0">
                <a:solidFill>
                  <a:schemeClr val="tx1"/>
                </a:solidFill>
                <a:effectLst/>
                <a:latin typeface="+mn-lt"/>
                <a:ea typeface="+mn-ea"/>
                <a:cs typeface="+mn-cs"/>
              </a:rPr>
              <a:t>Mulig å oppfatte</a:t>
            </a:r>
          </a:p>
          <a:p>
            <a:pPr lvl="1"/>
            <a:r>
              <a:rPr lang="nb-NO" sz="1200" b="0" i="0" kern="1200" dirty="0">
                <a:solidFill>
                  <a:schemeClr val="tx1"/>
                </a:solidFill>
                <a:effectLst/>
                <a:latin typeface="+mn-lt"/>
                <a:ea typeface="+mn-ea"/>
                <a:cs typeface="+mn-cs"/>
              </a:rPr>
              <a:t>Mulig å betjene</a:t>
            </a:r>
          </a:p>
          <a:p>
            <a:pPr lvl="1"/>
            <a:r>
              <a:rPr lang="nb-NO" sz="1200" b="0" i="0" kern="1200" dirty="0">
                <a:solidFill>
                  <a:schemeClr val="tx1"/>
                </a:solidFill>
                <a:effectLst/>
                <a:latin typeface="+mn-lt"/>
                <a:ea typeface="+mn-ea"/>
                <a:cs typeface="+mn-cs"/>
              </a:rPr>
              <a:t>Forståelig</a:t>
            </a:r>
          </a:p>
          <a:p>
            <a:pPr lvl="1"/>
            <a:r>
              <a:rPr lang="nb-NO" sz="1200" b="0" i="0" kern="1200" dirty="0">
                <a:solidFill>
                  <a:schemeClr val="tx1"/>
                </a:solidFill>
                <a:effectLst/>
                <a:latin typeface="+mn-lt"/>
                <a:ea typeface="+mn-ea"/>
                <a:cs typeface="+mn-cs"/>
              </a:rPr>
              <a:t>Robusthet</a:t>
            </a:r>
          </a:p>
          <a:p>
            <a:r>
              <a:rPr lang="nb-NO" sz="1200" b="0" i="0" kern="1200" dirty="0">
                <a:solidFill>
                  <a:schemeClr val="tx1"/>
                </a:solidFill>
                <a:effectLst/>
                <a:latin typeface="+mn-lt"/>
                <a:ea typeface="+mn-ea"/>
                <a:cs typeface="+mn-cs"/>
              </a:rPr>
              <a:t>12 retningslinjer på nivået under som deles på 61 kriterier som nettsider må oppfylle. ex: kontrastbruken i tekst som må vise kontrastforhold med bakgrunnen slik at fargeblinde og svaksynte kan lese</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EDBD18DD-30EF-460F-5143-263F61BD3B24}"/>
              </a:ext>
            </a:extLst>
          </p:cNvPr>
          <p:cNvSpPr>
            <a:spLocks noGrp="1"/>
          </p:cNvSpPr>
          <p:nvPr>
            <p:ph type="sldNum" sz="quarter" idx="5"/>
          </p:nvPr>
        </p:nvSpPr>
        <p:spPr/>
        <p:txBody>
          <a:bodyPr/>
          <a:lstStyle/>
          <a:p>
            <a:fld id="{ED8CD5F7-2931-42C6-9B3E-A6C700901896}" type="slidenum">
              <a:rPr lang="nb-NO" smtClean="0"/>
              <a:t>9</a:t>
            </a:fld>
            <a:endParaRPr lang="nb-NO"/>
          </a:p>
        </p:txBody>
      </p:sp>
    </p:spTree>
    <p:extLst>
      <p:ext uri="{BB962C8B-B14F-4D97-AF65-F5344CB8AC3E}">
        <p14:creationId xmlns:p14="http://schemas.microsoft.com/office/powerpoint/2010/main" val="17025721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697B-5EF0-8D27-64CF-629B5254615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9326B03-05E2-E80D-3E7F-0A81CED0952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C55EC1A-3940-87A5-69D2-852EF5AE6C0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Visualiserer konsept på en mer oversiktlig måte. Kan brukes der og da og for dokumentasjon etter.</a:t>
            </a:r>
          </a:p>
          <a:p>
            <a:r>
              <a:rPr lang="nb-NO" sz="1200" b="0" i="0" kern="1200" dirty="0">
                <a:solidFill>
                  <a:schemeClr val="tx1"/>
                </a:solidFill>
                <a:effectLst/>
                <a:latin typeface="+mn-lt"/>
                <a:ea typeface="+mn-ea"/>
                <a:cs typeface="+mn-cs"/>
              </a:rPr>
              <a:t>Uttrykker mye informasjon med en modell</a:t>
            </a:r>
          </a:p>
        </p:txBody>
      </p:sp>
      <p:sp>
        <p:nvSpPr>
          <p:cNvPr id="4" name="Plassholder for lysbildenummer 3">
            <a:extLst>
              <a:ext uri="{FF2B5EF4-FFF2-40B4-BE49-F238E27FC236}">
                <a16:creationId xmlns:a16="http://schemas.microsoft.com/office/drawing/2014/main" id="{DFB8770B-A8F7-506E-198E-8FC8CF16F7F5}"/>
              </a:ext>
            </a:extLst>
          </p:cNvPr>
          <p:cNvSpPr>
            <a:spLocks noGrp="1"/>
          </p:cNvSpPr>
          <p:nvPr>
            <p:ph type="sldNum" sz="quarter" idx="5"/>
          </p:nvPr>
        </p:nvSpPr>
        <p:spPr/>
        <p:txBody>
          <a:bodyPr/>
          <a:lstStyle/>
          <a:p>
            <a:fld id="{ED8CD5F7-2931-42C6-9B3E-A6C700901896}" type="slidenum">
              <a:rPr lang="nb-NO" smtClean="0"/>
              <a:t>11</a:t>
            </a:fld>
            <a:endParaRPr lang="nb-NO"/>
          </a:p>
        </p:txBody>
      </p:sp>
    </p:spTree>
    <p:extLst>
      <p:ext uri="{BB962C8B-B14F-4D97-AF65-F5344CB8AC3E}">
        <p14:creationId xmlns:p14="http://schemas.microsoft.com/office/powerpoint/2010/main" val="33342833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57E6C-585F-B3D5-1DA6-13F1E3E86A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1D64EBB-6911-C6A5-D566-DB772112C2B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CC8E83C-933A-0B7D-53D6-1B233BF0542F}"/>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Illustrerer overfladisk hvordan brukeren bruker et system. Gjøres ved å illustrere ulike scenarioer en bruker kan møte og hvordan brukeren kan navigere seg gjennom systemet.</a:t>
            </a:r>
          </a:p>
          <a:p>
            <a:r>
              <a:rPr lang="nb-NO" sz="1200" b="0" i="0" kern="1200" dirty="0">
                <a:solidFill>
                  <a:schemeClr val="tx1"/>
                </a:solidFill>
                <a:effectLst/>
                <a:latin typeface="+mn-lt"/>
                <a:ea typeface="+mn-ea"/>
                <a:cs typeface="+mn-cs"/>
              </a:rPr>
              <a:t>Avklarer enkelte funksjonelle krav</a:t>
            </a:r>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Hvordan lager man en use case:</a:t>
            </a: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Har en aktør som representerer en bruker. Aktøren har assosiasjoner med flere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-caser koblet med en linje. Bruker "</a:t>
            </a:r>
            <a:r>
              <a:rPr lang="nb-NO" sz="1200" b="0" i="0" kern="1200" dirty="0" err="1">
                <a:solidFill>
                  <a:schemeClr val="tx1"/>
                </a:solidFill>
                <a:effectLst/>
                <a:latin typeface="+mn-lt"/>
                <a:ea typeface="+mn-ea"/>
                <a:cs typeface="+mn-cs"/>
              </a:rPr>
              <a:t>extend</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include</a:t>
            </a:r>
            <a:r>
              <a:rPr lang="nb-NO" sz="1200" b="0" i="0" kern="1200" dirty="0">
                <a:solidFill>
                  <a:schemeClr val="tx1"/>
                </a:solidFill>
                <a:effectLst/>
                <a:latin typeface="+mn-lt"/>
                <a:ea typeface="+mn-ea"/>
                <a:cs typeface="+mn-cs"/>
              </a:rPr>
              <a:t>" for å koble sammen deler av. Kan også bruke systemgrense for å skille ulike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-caser i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-casen.</a:t>
            </a:r>
          </a:p>
        </p:txBody>
      </p:sp>
      <p:sp>
        <p:nvSpPr>
          <p:cNvPr id="4" name="Plassholder for lysbildenummer 3">
            <a:extLst>
              <a:ext uri="{FF2B5EF4-FFF2-40B4-BE49-F238E27FC236}">
                <a16:creationId xmlns:a16="http://schemas.microsoft.com/office/drawing/2014/main" id="{4EB5416C-F97F-5718-DE27-4CFF066AFDCD}"/>
              </a:ext>
            </a:extLst>
          </p:cNvPr>
          <p:cNvSpPr>
            <a:spLocks noGrp="1"/>
          </p:cNvSpPr>
          <p:nvPr>
            <p:ph type="sldNum" sz="quarter" idx="5"/>
          </p:nvPr>
        </p:nvSpPr>
        <p:spPr/>
        <p:txBody>
          <a:bodyPr/>
          <a:lstStyle/>
          <a:p>
            <a:fld id="{ED8CD5F7-2931-42C6-9B3E-A6C700901896}" type="slidenum">
              <a:rPr lang="nb-NO" smtClean="0"/>
              <a:t>12</a:t>
            </a:fld>
            <a:endParaRPr lang="nb-NO"/>
          </a:p>
        </p:txBody>
      </p:sp>
    </p:spTree>
    <p:extLst>
      <p:ext uri="{BB962C8B-B14F-4D97-AF65-F5344CB8AC3E}">
        <p14:creationId xmlns:p14="http://schemas.microsoft.com/office/powerpoint/2010/main" val="19174069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FE953-2E8A-3980-1F99-CE9C05C62A7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A1804B0-6BB7-30C9-B1DE-6FBF3BF2AB0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985C597-10F2-73A8-065D-5BCD484CD801}"/>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Beskrive data og funksjonalitet innad et domene abstrakt. Definerer en rekke konsepter og relasjonene mellom dem.</a:t>
            </a:r>
          </a:p>
          <a:p>
            <a:r>
              <a:rPr lang="nb-NO" sz="1200" b="0" i="0" kern="1200" dirty="0">
                <a:solidFill>
                  <a:schemeClr val="tx1"/>
                </a:solidFill>
                <a:effectLst/>
                <a:latin typeface="+mn-lt"/>
                <a:ea typeface="+mn-ea"/>
                <a:cs typeface="+mn-cs"/>
              </a:rPr>
              <a:t>Mål: </a:t>
            </a:r>
            <a:r>
              <a:rPr lang="nb-NO" sz="1200" b="0" i="1" kern="1200" dirty="0">
                <a:solidFill>
                  <a:schemeClr val="tx1"/>
                </a:solidFill>
                <a:effectLst/>
                <a:latin typeface="+mn-lt"/>
                <a:ea typeface="+mn-ea"/>
                <a:cs typeface="+mn-cs"/>
              </a:rPr>
              <a:t>alle</a:t>
            </a:r>
            <a:r>
              <a:rPr lang="nb-NO" sz="1200" b="0" i="0" kern="1200" dirty="0">
                <a:solidFill>
                  <a:schemeClr val="tx1"/>
                </a:solidFill>
                <a:effectLst/>
                <a:latin typeface="+mn-lt"/>
                <a:ea typeface="+mn-ea"/>
                <a:cs typeface="+mn-cs"/>
              </a:rPr>
              <a:t> skal få felles forståelse over domenet</a:t>
            </a:r>
          </a:p>
          <a:p>
            <a:r>
              <a:rPr lang="nb-NO" sz="1200" b="0" i="0" kern="1200" dirty="0">
                <a:solidFill>
                  <a:schemeClr val="tx1"/>
                </a:solidFill>
                <a:effectLst/>
                <a:latin typeface="+mn-lt"/>
                <a:ea typeface="+mn-ea"/>
                <a:cs typeface="+mn-cs"/>
              </a:rPr>
              <a:t>Domenemodellen skal ikke være detaljert som de andre modellene. Konseptene og relasjonene skal vises på en oversiktlig og enkelt måte. Ofte brukes et felles språk med navngiving osv.</a:t>
            </a:r>
          </a:p>
        </p:txBody>
      </p:sp>
      <p:sp>
        <p:nvSpPr>
          <p:cNvPr id="4" name="Plassholder for lysbildenummer 3">
            <a:extLst>
              <a:ext uri="{FF2B5EF4-FFF2-40B4-BE49-F238E27FC236}">
                <a16:creationId xmlns:a16="http://schemas.microsoft.com/office/drawing/2014/main" id="{D7C0ED15-41B1-3C1D-D688-80B7F08B87CA}"/>
              </a:ext>
            </a:extLst>
          </p:cNvPr>
          <p:cNvSpPr>
            <a:spLocks noGrp="1"/>
          </p:cNvSpPr>
          <p:nvPr>
            <p:ph type="sldNum" sz="quarter" idx="5"/>
          </p:nvPr>
        </p:nvSpPr>
        <p:spPr/>
        <p:txBody>
          <a:bodyPr/>
          <a:lstStyle/>
          <a:p>
            <a:fld id="{ED8CD5F7-2931-42C6-9B3E-A6C700901896}" type="slidenum">
              <a:rPr lang="nb-NO" smtClean="0"/>
              <a:t>13</a:t>
            </a:fld>
            <a:endParaRPr lang="nb-NO"/>
          </a:p>
        </p:txBody>
      </p:sp>
    </p:spTree>
    <p:extLst>
      <p:ext uri="{BB962C8B-B14F-4D97-AF65-F5344CB8AC3E}">
        <p14:creationId xmlns:p14="http://schemas.microsoft.com/office/powerpoint/2010/main" val="707558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152BD-DE85-2C03-AD5F-A88189A21D1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FC8CBB6-95F3-402A-028C-F0F3DCA36AD2}"/>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8D47465-4B72-59AB-7EFB-161E2E9C3DB2}"/>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hvordan klassene/komponenter i applikasjonen samarbeider over tid</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Elementene i et sekvensdiagram:</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Deltakerne (klasser, aktører, objekt, komponenter) er boksene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Funksjoner er horisontale linjer som peker mot høyre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Stiplet vertikal linje: deltakers levetid/tidslinje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Solid rektangel på vertikale linjen: når en deltaker utfører en operasjon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Ramme representerer løkker</a:t>
            </a:r>
          </a:p>
        </p:txBody>
      </p:sp>
      <p:sp>
        <p:nvSpPr>
          <p:cNvPr id="4" name="Plassholder for lysbildenummer 3">
            <a:extLst>
              <a:ext uri="{FF2B5EF4-FFF2-40B4-BE49-F238E27FC236}">
                <a16:creationId xmlns:a16="http://schemas.microsoft.com/office/drawing/2014/main" id="{04EDB155-9FD2-E8C1-7BE9-6A782F7BEF50}"/>
              </a:ext>
            </a:extLst>
          </p:cNvPr>
          <p:cNvSpPr>
            <a:spLocks noGrp="1"/>
          </p:cNvSpPr>
          <p:nvPr>
            <p:ph type="sldNum" sz="quarter" idx="5"/>
          </p:nvPr>
        </p:nvSpPr>
        <p:spPr/>
        <p:txBody>
          <a:bodyPr/>
          <a:lstStyle/>
          <a:p>
            <a:fld id="{ED8CD5F7-2931-42C6-9B3E-A6C700901896}" type="slidenum">
              <a:rPr lang="nb-NO" smtClean="0"/>
              <a:t>14</a:t>
            </a:fld>
            <a:endParaRPr lang="nb-NO"/>
          </a:p>
        </p:txBody>
      </p:sp>
    </p:spTree>
    <p:extLst>
      <p:ext uri="{BB962C8B-B14F-4D97-AF65-F5344CB8AC3E}">
        <p14:creationId xmlns:p14="http://schemas.microsoft.com/office/powerpoint/2010/main" val="2208195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0FFE9-12C8-9725-9CFD-50552E625DA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D87EFCE-D5E1-B047-C1BE-3A1A90C42A5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E9BF5D4-F8EB-4523-E0E1-2BE046EB1C53}"/>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hvilke rekkefølge aktiviteter utføres i, dens betingelser og tilhørende handlinger. Dermed ser vi hvilke handlinger som utføres </a:t>
            </a:r>
            <a:r>
              <a:rPr lang="nb-NO" sz="1200" b="0" i="0" kern="1200" dirty="0" err="1">
                <a:solidFill>
                  <a:schemeClr val="tx1"/>
                </a:solidFill>
                <a:effectLst/>
                <a:latin typeface="+mn-lt"/>
                <a:ea typeface="+mn-ea"/>
                <a:cs typeface="+mn-cs"/>
              </a:rPr>
              <a:t>asynkronisk</a:t>
            </a:r>
            <a:r>
              <a:rPr lang="nb-NO" sz="1200" b="0" i="0" kern="1200" dirty="0">
                <a:solidFill>
                  <a:schemeClr val="tx1"/>
                </a:solidFill>
                <a:effectLst/>
                <a:latin typeface="+mn-lt"/>
                <a:ea typeface="+mn-ea"/>
                <a:cs typeface="+mn-cs"/>
              </a:rPr>
              <a:t> og hva som er avhengig av hverandre.</a:t>
            </a:r>
          </a:p>
          <a:p>
            <a:endParaRPr lang="nb-NO" sz="1200" b="1"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Elementene i et aktivitetsdiagram:</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Aksjoner representeres med bokser. Start og slutt vises med svart sirkel. Overganger mellom aksjoner vises med piler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Noder</a:t>
            </a:r>
            <a:r>
              <a:rPr lang="nb-NO" sz="1200" b="0" i="0" kern="1200" dirty="0">
                <a:solidFill>
                  <a:schemeClr val="tx1"/>
                </a:solidFill>
                <a:effectLst/>
                <a:latin typeface="+mn-lt"/>
                <a:ea typeface="+mn-ea"/>
                <a:cs typeface="+mn-cs"/>
              </a:rPr>
              <a:t>: </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Initial node </a:t>
            </a:r>
            <a:r>
              <a:rPr lang="nb-NO" sz="1200" b="0" i="0" kern="1200" dirty="0">
                <a:solidFill>
                  <a:schemeClr val="tx1"/>
                </a:solidFill>
                <a:effectLst/>
                <a:latin typeface="+mn-lt"/>
                <a:ea typeface="+mn-ea"/>
                <a:cs typeface="+mn-cs"/>
              </a:rPr>
              <a:t>(start)</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Final node </a:t>
            </a:r>
            <a:r>
              <a:rPr lang="nb-NO" sz="1200" b="0" i="0" kern="1200" dirty="0">
                <a:solidFill>
                  <a:schemeClr val="tx1"/>
                </a:solidFill>
                <a:effectLst/>
                <a:latin typeface="+mn-lt"/>
                <a:ea typeface="+mn-ea"/>
                <a:cs typeface="+mn-cs"/>
              </a:rPr>
              <a:t>(slutt)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Decision</a:t>
            </a:r>
            <a:r>
              <a:rPr lang="nb-NO" sz="1200" b="1" i="0" kern="1200" dirty="0">
                <a:solidFill>
                  <a:schemeClr val="tx1"/>
                </a:solidFill>
                <a:effectLst/>
                <a:latin typeface="+mn-lt"/>
                <a:ea typeface="+mn-ea"/>
                <a:cs typeface="+mn-cs"/>
              </a:rPr>
              <a:t> node </a:t>
            </a:r>
            <a:r>
              <a:rPr lang="nb-NO" sz="1200" b="0" i="0" kern="1200" dirty="0">
                <a:solidFill>
                  <a:schemeClr val="tx1"/>
                </a:solidFill>
                <a:effectLst/>
                <a:latin typeface="+mn-lt"/>
                <a:ea typeface="+mn-ea"/>
                <a:cs typeface="+mn-cs"/>
              </a:rPr>
              <a:t>(betingelse)</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Fork node </a:t>
            </a:r>
            <a:r>
              <a:rPr lang="nb-NO" sz="1200" b="0" i="0" kern="1200" dirty="0">
                <a:solidFill>
                  <a:schemeClr val="tx1"/>
                </a:solidFill>
                <a:effectLst/>
                <a:latin typeface="+mn-lt"/>
                <a:ea typeface="+mn-ea"/>
                <a:cs typeface="+mn-cs"/>
              </a:rPr>
              <a:t>(parallell start)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Join</a:t>
            </a:r>
            <a:r>
              <a:rPr lang="nb-NO" sz="1200" b="1" i="0" kern="1200" dirty="0">
                <a:solidFill>
                  <a:schemeClr val="tx1"/>
                </a:solidFill>
                <a:effectLst/>
                <a:latin typeface="+mn-lt"/>
                <a:ea typeface="+mn-ea"/>
                <a:cs typeface="+mn-cs"/>
              </a:rPr>
              <a:t> node </a:t>
            </a:r>
            <a:r>
              <a:rPr lang="nb-NO" sz="1200" b="0" i="0" kern="1200" dirty="0">
                <a:solidFill>
                  <a:schemeClr val="tx1"/>
                </a:solidFill>
                <a:effectLst/>
                <a:latin typeface="+mn-lt"/>
                <a:ea typeface="+mn-ea"/>
                <a:cs typeface="+mn-cs"/>
              </a:rPr>
              <a:t>(parallell slutt)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Merge</a:t>
            </a:r>
            <a:r>
              <a:rPr lang="nb-NO" sz="1200" b="1" i="0" kern="1200" dirty="0">
                <a:solidFill>
                  <a:schemeClr val="tx1"/>
                </a:solidFill>
                <a:effectLst/>
                <a:latin typeface="+mn-lt"/>
                <a:ea typeface="+mn-ea"/>
                <a:cs typeface="+mn-cs"/>
              </a:rPr>
              <a:t> node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AB0BD717-5E33-CB2F-B7ED-3437F06970C8}"/>
              </a:ext>
            </a:extLst>
          </p:cNvPr>
          <p:cNvSpPr>
            <a:spLocks noGrp="1"/>
          </p:cNvSpPr>
          <p:nvPr>
            <p:ph type="sldNum" sz="quarter" idx="5"/>
          </p:nvPr>
        </p:nvSpPr>
        <p:spPr/>
        <p:txBody>
          <a:bodyPr/>
          <a:lstStyle/>
          <a:p>
            <a:fld id="{ED8CD5F7-2931-42C6-9B3E-A6C700901896}" type="slidenum">
              <a:rPr lang="nb-NO" smtClean="0"/>
              <a:t>15</a:t>
            </a:fld>
            <a:endParaRPr lang="nb-NO"/>
          </a:p>
        </p:txBody>
      </p:sp>
    </p:spTree>
    <p:extLst>
      <p:ext uri="{BB962C8B-B14F-4D97-AF65-F5344CB8AC3E}">
        <p14:creationId xmlns:p14="http://schemas.microsoft.com/office/powerpoint/2010/main" val="11379387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3796F-0379-98DC-5A5B-BFF8F6C18FD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5F7C1E6-7109-5EA6-D4A0-8EA2FDB6017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C5F5AA6-594B-7A32-D3F2-62A55E61E066}"/>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Modellerer den statiske strukturen til et system. Viser klassene (typer objekter), attributtene, metodene og relasjonene mellom dem. Kan brukes til å generere kode (forward </a:t>
            </a:r>
            <a:r>
              <a:rPr lang="nb-NO" sz="1200" b="0" i="0" kern="1200" dirty="0" err="1">
                <a:solidFill>
                  <a:schemeClr val="tx1"/>
                </a:solidFill>
                <a:effectLst/>
                <a:latin typeface="+mn-lt"/>
                <a:ea typeface="+mn-ea"/>
                <a:cs typeface="+mn-cs"/>
              </a:rPr>
              <a:t>engineering</a:t>
            </a:r>
            <a:r>
              <a:rPr lang="nb-NO" sz="1200" b="0" i="0" kern="1200" dirty="0">
                <a:solidFill>
                  <a:schemeClr val="tx1"/>
                </a:solidFill>
                <a:effectLst/>
                <a:latin typeface="+mn-lt"/>
                <a:ea typeface="+mn-ea"/>
                <a:cs typeface="+mn-cs"/>
              </a:rPr>
              <a:t>) eller utledes fra eksisterende kode (</a:t>
            </a:r>
            <a:r>
              <a:rPr lang="nb-NO" sz="1200" b="0" i="0" kern="1200" dirty="0" err="1">
                <a:solidFill>
                  <a:schemeClr val="tx1"/>
                </a:solidFill>
                <a:effectLst/>
                <a:latin typeface="+mn-lt"/>
                <a:ea typeface="+mn-ea"/>
                <a:cs typeface="+mn-cs"/>
              </a:rPr>
              <a:t>reverse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engineering</a:t>
            </a:r>
            <a:r>
              <a:rPr lang="nb-NO" sz="1200" b="0" i="0" kern="1200" dirty="0">
                <a:solidFill>
                  <a:schemeClr val="tx1"/>
                </a:solidFill>
                <a:effectLst/>
                <a:latin typeface="+mn-lt"/>
                <a:ea typeface="+mn-ea"/>
                <a:cs typeface="+mn-cs"/>
              </a:rPr>
              <a:t>).</a:t>
            </a:r>
          </a:p>
          <a:p>
            <a:endParaRPr lang="nb-NO" sz="1200" b="1"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Elementene i et klassediagram:</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Klasse:</a:t>
            </a:r>
            <a:r>
              <a:rPr lang="nb-NO" sz="1200" b="0" i="0" kern="1200" dirty="0">
                <a:solidFill>
                  <a:schemeClr val="tx1"/>
                </a:solidFill>
                <a:effectLst/>
                <a:latin typeface="+mn-lt"/>
                <a:ea typeface="+mn-ea"/>
                <a:cs typeface="+mn-cs"/>
              </a:rPr>
              <a:t> navn, attributter og metoder</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Relasjoner:</a:t>
            </a:r>
            <a:endParaRPr lang="nb-NO" sz="1200" b="0" i="0" kern="1200" dirty="0">
              <a:solidFill>
                <a:schemeClr val="tx1"/>
              </a:solidFill>
              <a:effectLst/>
              <a:latin typeface="+mn-lt"/>
              <a:ea typeface="+mn-ea"/>
              <a:cs typeface="+mn-cs"/>
            </a:endParaRPr>
          </a:p>
          <a:p>
            <a:pPr lvl="1"/>
            <a:r>
              <a:rPr lang="nb-NO" sz="1200" b="1" i="0" kern="1200" dirty="0">
                <a:solidFill>
                  <a:schemeClr val="tx1"/>
                </a:solidFill>
                <a:effectLst/>
                <a:latin typeface="+mn-lt"/>
                <a:ea typeface="+mn-ea"/>
                <a:cs typeface="+mn-cs"/>
              </a:rPr>
              <a:t>Avhengighet (</a:t>
            </a:r>
            <a:r>
              <a:rPr lang="nb-NO" sz="1200" b="1" i="0" kern="1200" dirty="0" err="1">
                <a:solidFill>
                  <a:schemeClr val="tx1"/>
                </a:solidFill>
                <a:effectLst/>
                <a:latin typeface="+mn-lt"/>
                <a:ea typeface="+mn-ea"/>
                <a:cs typeface="+mn-cs"/>
              </a:rPr>
              <a:t>dependency</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klasse brukes av en annen, svak kobling</a:t>
            </a:r>
          </a:p>
          <a:p>
            <a:pPr lvl="1"/>
            <a:r>
              <a:rPr lang="nb-NO" sz="1200" b="1" i="0" kern="1200" dirty="0">
                <a:solidFill>
                  <a:schemeClr val="tx1"/>
                </a:solidFill>
                <a:effectLst/>
                <a:latin typeface="+mn-lt"/>
                <a:ea typeface="+mn-ea"/>
                <a:cs typeface="+mn-cs"/>
              </a:rPr>
              <a:t>Assosiasjon:</a:t>
            </a:r>
            <a:r>
              <a:rPr lang="nb-NO" sz="1200" b="0" i="0" kern="1200" dirty="0">
                <a:solidFill>
                  <a:schemeClr val="tx1"/>
                </a:solidFill>
                <a:effectLst/>
                <a:latin typeface="+mn-lt"/>
                <a:ea typeface="+mn-ea"/>
                <a:cs typeface="+mn-cs"/>
              </a:rPr>
              <a:t> strukturell kobling mellom to klasser, kan ha multiplisitet</a:t>
            </a:r>
          </a:p>
          <a:p>
            <a:pPr lvl="1"/>
            <a:r>
              <a:rPr lang="nb-NO" sz="1200" b="1" i="0" kern="1200" dirty="0">
                <a:solidFill>
                  <a:schemeClr val="tx1"/>
                </a:solidFill>
                <a:effectLst/>
                <a:latin typeface="+mn-lt"/>
                <a:ea typeface="+mn-ea"/>
                <a:cs typeface="+mn-cs"/>
              </a:rPr>
              <a:t>Aggregering (</a:t>
            </a:r>
            <a:r>
              <a:rPr lang="nb-NO" sz="1200" b="1" i="0" kern="1200" dirty="0" err="1">
                <a:solidFill>
                  <a:schemeClr val="tx1"/>
                </a:solidFill>
                <a:effectLst/>
                <a:latin typeface="+mn-lt"/>
                <a:ea typeface="+mn-ea"/>
                <a:cs typeface="+mn-cs"/>
              </a:rPr>
              <a:t>aggregation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"del av"-relasjon, delene har eget levetid</a:t>
            </a:r>
          </a:p>
          <a:p>
            <a:pPr lvl="1"/>
            <a:r>
              <a:rPr lang="nb-NO" sz="1200" b="1" i="0" kern="1200" dirty="0">
                <a:solidFill>
                  <a:schemeClr val="tx1"/>
                </a:solidFill>
                <a:effectLst/>
                <a:latin typeface="+mn-lt"/>
                <a:ea typeface="+mn-ea"/>
                <a:cs typeface="+mn-cs"/>
              </a:rPr>
              <a:t>Komposisjon (</a:t>
            </a:r>
            <a:r>
              <a:rPr lang="nb-NO" sz="1200" b="1" i="0" kern="1200" dirty="0" err="1">
                <a:solidFill>
                  <a:schemeClr val="tx1"/>
                </a:solidFill>
                <a:effectLst/>
                <a:latin typeface="+mn-lt"/>
                <a:ea typeface="+mn-ea"/>
                <a:cs typeface="+mn-cs"/>
              </a:rPr>
              <a:t>composition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sterk aggregering – delene ødelegges når helheten ødelegges</a:t>
            </a:r>
          </a:p>
          <a:p>
            <a:pPr lvl="1"/>
            <a:r>
              <a:rPr lang="nb-NO" sz="1200" b="1" i="0" kern="1200" dirty="0">
                <a:solidFill>
                  <a:schemeClr val="tx1"/>
                </a:solidFill>
                <a:effectLst/>
                <a:latin typeface="+mn-lt"/>
                <a:ea typeface="+mn-ea"/>
                <a:cs typeface="+mn-cs"/>
              </a:rPr>
              <a:t>Arv (</a:t>
            </a:r>
            <a:r>
              <a:rPr lang="nb-NO" sz="1200" b="1" i="0" kern="1200" dirty="0" err="1">
                <a:solidFill>
                  <a:schemeClr val="tx1"/>
                </a:solidFill>
                <a:effectLst/>
                <a:latin typeface="+mn-lt"/>
                <a:ea typeface="+mn-ea"/>
                <a:cs typeface="+mn-cs"/>
              </a:rPr>
              <a:t>inheritance</a:t>
            </a:r>
            <a:r>
              <a:rPr lang="nb-NO" sz="1200" b="1" i="0" kern="1200" dirty="0">
                <a:solidFill>
                  <a:schemeClr val="tx1"/>
                </a:solidFill>
                <a:effectLst/>
                <a:latin typeface="+mn-lt"/>
                <a:ea typeface="+mn-ea"/>
                <a:cs typeface="+mn-cs"/>
              </a:rPr>
              <a:t>/</a:t>
            </a:r>
            <a:r>
              <a:rPr lang="nb-NO" sz="1200" b="1" i="0" kern="1200" dirty="0" err="1">
                <a:solidFill>
                  <a:schemeClr val="tx1"/>
                </a:solidFill>
                <a:effectLst/>
                <a:latin typeface="+mn-lt"/>
                <a:ea typeface="+mn-ea"/>
                <a:cs typeface="+mn-cs"/>
              </a:rPr>
              <a:t>generalization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subklasse arver fra superklasse</a:t>
            </a:r>
          </a:p>
          <a:p>
            <a:pPr lvl="1"/>
            <a:r>
              <a:rPr lang="nb-NO" sz="1200" b="1" i="0" kern="1200" dirty="0">
                <a:solidFill>
                  <a:schemeClr val="tx1"/>
                </a:solidFill>
                <a:effectLst/>
                <a:latin typeface="+mn-lt"/>
                <a:ea typeface="+mn-ea"/>
                <a:cs typeface="+mn-cs"/>
              </a:rPr>
              <a:t>Realisering (</a:t>
            </a:r>
            <a:r>
              <a:rPr lang="nb-NO" sz="1200" b="1" i="0" kern="1200" dirty="0" err="1">
                <a:solidFill>
                  <a:schemeClr val="tx1"/>
                </a:solidFill>
                <a:effectLst/>
                <a:latin typeface="+mn-lt"/>
                <a:ea typeface="+mn-ea"/>
                <a:cs typeface="+mn-cs"/>
              </a:rPr>
              <a:t>realization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klasse implementerer et grensesnitt (</a:t>
            </a:r>
            <a:r>
              <a:rPr lang="nb-NO" sz="1200" b="0" i="0" kern="1200" dirty="0" err="1">
                <a:solidFill>
                  <a:schemeClr val="tx1"/>
                </a:solidFill>
                <a:effectLst/>
                <a:latin typeface="+mn-lt"/>
                <a:ea typeface="+mn-ea"/>
                <a:cs typeface="+mn-cs"/>
              </a:rPr>
              <a:t>interface</a:t>
            </a:r>
            <a:r>
              <a:rPr lang="nb-NO" sz="1200" b="0" i="0" kern="1200" dirty="0">
                <a:solidFill>
                  <a:schemeClr val="tx1"/>
                </a:solidFill>
                <a:effectLst/>
                <a:latin typeface="+mn-lt"/>
                <a:ea typeface="+mn-ea"/>
                <a:cs typeface="+mn-cs"/>
              </a:rPr>
              <a:t>)</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Brukes tidlig: se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-diagram → sekvensdiagram → klassediagram før koding</a:t>
            </a:r>
          </a:p>
        </p:txBody>
      </p:sp>
      <p:sp>
        <p:nvSpPr>
          <p:cNvPr id="4" name="Plassholder for lysbildenummer 3">
            <a:extLst>
              <a:ext uri="{FF2B5EF4-FFF2-40B4-BE49-F238E27FC236}">
                <a16:creationId xmlns:a16="http://schemas.microsoft.com/office/drawing/2014/main" id="{DE2129E5-80CB-0A44-E8D3-9B76504E0234}"/>
              </a:ext>
            </a:extLst>
          </p:cNvPr>
          <p:cNvSpPr>
            <a:spLocks noGrp="1"/>
          </p:cNvSpPr>
          <p:nvPr>
            <p:ph type="sldNum" sz="quarter" idx="5"/>
          </p:nvPr>
        </p:nvSpPr>
        <p:spPr/>
        <p:txBody>
          <a:bodyPr/>
          <a:lstStyle/>
          <a:p>
            <a:fld id="{ED8CD5F7-2931-42C6-9B3E-A6C700901896}" type="slidenum">
              <a:rPr lang="nb-NO" smtClean="0"/>
              <a:t>16</a:t>
            </a:fld>
            <a:endParaRPr lang="nb-NO"/>
          </a:p>
        </p:txBody>
      </p:sp>
    </p:spTree>
    <p:extLst>
      <p:ext uri="{BB962C8B-B14F-4D97-AF65-F5344CB8AC3E}">
        <p14:creationId xmlns:p14="http://schemas.microsoft.com/office/powerpoint/2010/main" val="2371453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F0F0-3C99-D7B8-B354-D17B4ADB9AC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7E80F91-F24C-2CD4-21C0-A391696BC74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731EAB2-CD20-2B73-3AA1-0F5598E1D78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Grupperer relaterte UML-elementer (diagrammer, klasser, andre pakker) i en hierarkisk struktur. Brukes til å vise høynivåarkitekturen til et system.</a:t>
            </a:r>
          </a:p>
          <a:p>
            <a:r>
              <a:rPr lang="nb-NO" sz="1200" b="0" i="0" kern="1200" dirty="0">
                <a:solidFill>
                  <a:schemeClr val="tx1"/>
                </a:solidFill>
                <a:effectLst/>
                <a:latin typeface="+mn-lt"/>
                <a:ea typeface="+mn-ea"/>
                <a:cs typeface="+mn-cs"/>
              </a:rPr>
              <a:t>Vanlig i programmering for å organisere kildekode</a:t>
            </a:r>
          </a:p>
          <a:p>
            <a:r>
              <a:rPr lang="nb-NO" sz="1200" b="0" i="0" kern="1200" dirty="0">
                <a:solidFill>
                  <a:schemeClr val="tx1"/>
                </a:solidFill>
                <a:effectLst/>
                <a:latin typeface="+mn-lt"/>
                <a:ea typeface="+mn-ea"/>
                <a:cs typeface="+mn-cs"/>
              </a:rPr>
              <a:t>Kan vise lagdelt arkitektur (klient–server–data) eller funksjonell gruppering</a:t>
            </a:r>
          </a:p>
        </p:txBody>
      </p:sp>
      <p:sp>
        <p:nvSpPr>
          <p:cNvPr id="4" name="Plassholder for lysbildenummer 3">
            <a:extLst>
              <a:ext uri="{FF2B5EF4-FFF2-40B4-BE49-F238E27FC236}">
                <a16:creationId xmlns:a16="http://schemas.microsoft.com/office/drawing/2014/main" id="{F9187C39-BDDE-63EC-C503-D3377FC00C6F}"/>
              </a:ext>
            </a:extLst>
          </p:cNvPr>
          <p:cNvSpPr>
            <a:spLocks noGrp="1"/>
          </p:cNvSpPr>
          <p:nvPr>
            <p:ph type="sldNum" sz="quarter" idx="5"/>
          </p:nvPr>
        </p:nvSpPr>
        <p:spPr/>
        <p:txBody>
          <a:bodyPr/>
          <a:lstStyle/>
          <a:p>
            <a:fld id="{ED8CD5F7-2931-42C6-9B3E-A6C700901896}" type="slidenum">
              <a:rPr lang="nb-NO" smtClean="0"/>
              <a:t>17</a:t>
            </a:fld>
            <a:endParaRPr lang="nb-NO"/>
          </a:p>
        </p:txBody>
      </p:sp>
    </p:spTree>
    <p:extLst>
      <p:ext uri="{BB962C8B-B14F-4D97-AF65-F5344CB8AC3E}">
        <p14:creationId xmlns:p14="http://schemas.microsoft.com/office/powerpoint/2010/main" val="2459438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571DE-E46A-FB29-FD73-EEE0DB6B4CF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EE767DB8-8C28-4177-A123-29A4B8A2931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B53C7DC-89DA-BDD9-905A-DDB5BBD7D0B8}"/>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de ulike tilstandene til et objekt eller system, og overgangene som fører til tilstandsendringer.</a:t>
            </a:r>
          </a:p>
          <a:p>
            <a:r>
              <a:rPr lang="nb-NO" sz="1200" b="0" i="0" kern="1200" dirty="0">
                <a:solidFill>
                  <a:schemeClr val="tx1"/>
                </a:solidFill>
                <a:effectLst/>
                <a:latin typeface="+mn-lt"/>
                <a:ea typeface="+mn-ea"/>
                <a:cs typeface="+mn-cs"/>
              </a:rPr>
              <a:t>Hvert objekt i systemet kan endre tilstand i sin levetid (f.eks. bruker: ikke-innlogget → innlogget → </a:t>
            </a:r>
            <a:r>
              <a:rPr lang="nb-NO" sz="1200" b="0" i="0" kern="1200" dirty="0" err="1">
                <a:solidFill>
                  <a:schemeClr val="tx1"/>
                </a:solidFill>
                <a:effectLst/>
                <a:latin typeface="+mn-lt"/>
                <a:ea typeface="+mn-ea"/>
                <a:cs typeface="+mn-cs"/>
              </a:rPr>
              <a:t>utlogget</a:t>
            </a:r>
            <a:r>
              <a:rPr lang="nb-NO" sz="1200" b="0" i="0" kern="1200" dirty="0">
                <a:solidFill>
                  <a:schemeClr val="tx1"/>
                </a:solidFill>
                <a:effectLst/>
                <a:latin typeface="+mn-lt"/>
                <a:ea typeface="+mn-ea"/>
                <a:cs typeface="+mn-cs"/>
              </a:rPr>
              <a:t>)</a:t>
            </a:r>
          </a:p>
          <a:p>
            <a:r>
              <a:rPr lang="nb-NO" sz="1200" b="1" i="0" kern="1200" dirty="0">
                <a:solidFill>
                  <a:schemeClr val="tx1"/>
                </a:solidFill>
                <a:effectLst/>
                <a:latin typeface="+mn-lt"/>
                <a:ea typeface="+mn-ea"/>
                <a:cs typeface="+mn-cs"/>
              </a:rPr>
              <a:t>Hovedelementer:</a:t>
            </a:r>
            <a:r>
              <a:rPr lang="nb-NO" sz="1200" b="0" i="0" kern="1200" dirty="0">
                <a:solidFill>
                  <a:schemeClr val="tx1"/>
                </a:solidFill>
                <a:effectLst/>
                <a:latin typeface="+mn-lt"/>
                <a:ea typeface="+mn-ea"/>
                <a:cs typeface="+mn-cs"/>
              </a:rPr>
              <a:t>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Starttilstand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Sluttilstand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Tilstander (</a:t>
            </a:r>
            <a:r>
              <a:rPr lang="nb-NO" sz="1200" b="0" i="0" kern="1200" dirty="0" err="1">
                <a:solidFill>
                  <a:schemeClr val="tx1"/>
                </a:solidFill>
                <a:effectLst/>
                <a:latin typeface="+mn-lt"/>
                <a:ea typeface="+mn-ea"/>
                <a:cs typeface="+mn-cs"/>
              </a:rPr>
              <a:t>states</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Overganger (</a:t>
            </a:r>
            <a:r>
              <a:rPr lang="nb-NO" sz="1200" b="0" i="0" kern="1200" dirty="0" err="1">
                <a:solidFill>
                  <a:schemeClr val="tx1"/>
                </a:solidFill>
                <a:effectLst/>
                <a:latin typeface="+mn-lt"/>
                <a:ea typeface="+mn-ea"/>
                <a:cs typeface="+mn-cs"/>
              </a:rPr>
              <a:t>transitions</a:t>
            </a:r>
            <a:r>
              <a:rPr lang="nb-NO" sz="1200" b="0" i="0" kern="1200" dirty="0">
                <a:solidFill>
                  <a:schemeClr val="tx1"/>
                </a:solidFill>
                <a:effectLst/>
                <a:latin typeface="+mn-lt"/>
                <a:ea typeface="+mn-ea"/>
                <a:cs typeface="+mn-cs"/>
              </a:rPr>
              <a:t>) med triggere/hendelser</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Utfyller sekvens- og aktivitetsdiagrammer ved å vise systemet fra et tilstandsperspektiv</a:t>
            </a:r>
          </a:p>
        </p:txBody>
      </p:sp>
      <p:sp>
        <p:nvSpPr>
          <p:cNvPr id="4" name="Plassholder for lysbildenummer 3">
            <a:extLst>
              <a:ext uri="{FF2B5EF4-FFF2-40B4-BE49-F238E27FC236}">
                <a16:creationId xmlns:a16="http://schemas.microsoft.com/office/drawing/2014/main" id="{FD10CB90-4D7C-BC3A-7F47-D3FB8273B2E4}"/>
              </a:ext>
            </a:extLst>
          </p:cNvPr>
          <p:cNvSpPr>
            <a:spLocks noGrp="1"/>
          </p:cNvSpPr>
          <p:nvPr>
            <p:ph type="sldNum" sz="quarter" idx="5"/>
          </p:nvPr>
        </p:nvSpPr>
        <p:spPr/>
        <p:txBody>
          <a:bodyPr/>
          <a:lstStyle/>
          <a:p>
            <a:fld id="{ED8CD5F7-2931-42C6-9B3E-A6C700901896}" type="slidenum">
              <a:rPr lang="nb-NO" smtClean="0"/>
              <a:t>18</a:t>
            </a:fld>
            <a:endParaRPr lang="nb-NO"/>
          </a:p>
        </p:txBody>
      </p:sp>
    </p:spTree>
    <p:extLst>
      <p:ext uri="{BB962C8B-B14F-4D97-AF65-F5344CB8AC3E}">
        <p14:creationId xmlns:p14="http://schemas.microsoft.com/office/powerpoint/2010/main" val="42160245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DFB1-9928-267B-2B59-910913796BA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E47FB06-5796-DEBD-01BC-0599B73083B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C6F6A17-27F6-8D10-808A-BF36A5CB4BE7}"/>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Minste enhet av arbeid, vanligvis skrevet av produkteier.</a:t>
            </a:r>
          </a:p>
          <a:p>
            <a:r>
              <a:rPr lang="nb-NO" sz="1200" b="0" i="0" kern="1200" dirty="0">
                <a:solidFill>
                  <a:schemeClr val="tx1"/>
                </a:solidFill>
                <a:effectLst/>
                <a:latin typeface="+mn-lt"/>
                <a:ea typeface="+mn-ea"/>
                <a:cs typeface="+mn-cs"/>
              </a:rPr>
              <a:t>Format: «As &lt;&gt; I </a:t>
            </a:r>
            <a:r>
              <a:rPr lang="nb-NO" sz="1200" b="0" i="0" kern="1200" dirty="0" err="1">
                <a:solidFill>
                  <a:schemeClr val="tx1"/>
                </a:solidFill>
                <a:effectLst/>
                <a:latin typeface="+mn-lt"/>
                <a:ea typeface="+mn-ea"/>
                <a:cs typeface="+mn-cs"/>
              </a:rPr>
              <a:t>want</a:t>
            </a:r>
            <a:r>
              <a:rPr lang="nb-NO" sz="1200" b="0" i="0" kern="1200" dirty="0">
                <a:solidFill>
                  <a:schemeClr val="tx1"/>
                </a:solidFill>
                <a:effectLst/>
                <a:latin typeface="+mn-lt"/>
                <a:ea typeface="+mn-ea"/>
                <a:cs typeface="+mn-cs"/>
              </a:rPr>
              <a:t> &lt;&gt; </a:t>
            </a:r>
            <a:r>
              <a:rPr lang="nb-NO" sz="1200" b="0" i="0" kern="1200" dirty="0" err="1">
                <a:solidFill>
                  <a:schemeClr val="tx1"/>
                </a:solidFill>
                <a:effectLst/>
                <a:latin typeface="+mn-lt"/>
                <a:ea typeface="+mn-ea"/>
                <a:cs typeface="+mn-cs"/>
              </a:rPr>
              <a:t>Such</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that</a:t>
            </a:r>
            <a:r>
              <a:rPr lang="nb-NO" sz="1200" b="0" i="0" kern="1200" dirty="0">
                <a:solidFill>
                  <a:schemeClr val="tx1"/>
                </a:solidFill>
                <a:effectLst/>
                <a:latin typeface="+mn-lt"/>
                <a:ea typeface="+mn-ea"/>
                <a:cs typeface="+mn-cs"/>
              </a:rPr>
              <a:t> &lt;&gt;»</a:t>
            </a:r>
          </a:p>
          <a:p>
            <a:r>
              <a:rPr lang="nb-NO" sz="1200" b="0" i="0" kern="1200" dirty="0">
                <a:solidFill>
                  <a:schemeClr val="tx1"/>
                </a:solidFill>
                <a:effectLst/>
                <a:latin typeface="+mn-lt"/>
                <a:ea typeface="+mn-ea"/>
                <a:cs typeface="+mn-cs"/>
              </a:rPr>
              <a:t>Eksempel: «As &lt;&gt; I </a:t>
            </a:r>
            <a:r>
              <a:rPr lang="nb-NO" sz="1200" b="0" i="0" kern="1200" dirty="0" err="1">
                <a:solidFill>
                  <a:schemeClr val="tx1"/>
                </a:solidFill>
                <a:effectLst/>
                <a:latin typeface="+mn-lt"/>
                <a:ea typeface="+mn-ea"/>
                <a:cs typeface="+mn-cs"/>
              </a:rPr>
              <a:t>want</a:t>
            </a:r>
            <a:r>
              <a:rPr lang="nb-NO" sz="1200" b="0" i="0" kern="1200" dirty="0">
                <a:solidFill>
                  <a:schemeClr val="tx1"/>
                </a:solidFill>
                <a:effectLst/>
                <a:latin typeface="+mn-lt"/>
                <a:ea typeface="+mn-ea"/>
                <a:cs typeface="+mn-cs"/>
              </a:rPr>
              <a:t> &lt;&gt; </a:t>
            </a:r>
            <a:r>
              <a:rPr lang="nb-NO" sz="1200" b="0" i="0" kern="1200" dirty="0" err="1">
                <a:solidFill>
                  <a:schemeClr val="tx1"/>
                </a:solidFill>
                <a:effectLst/>
                <a:latin typeface="+mn-lt"/>
                <a:ea typeface="+mn-ea"/>
                <a:cs typeface="+mn-cs"/>
              </a:rPr>
              <a:t>Such</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that</a:t>
            </a:r>
            <a:r>
              <a:rPr lang="nb-NO" sz="1200" b="0" i="0" kern="1200" dirty="0">
                <a:solidFill>
                  <a:schemeClr val="tx1"/>
                </a:solidFill>
                <a:effectLst/>
                <a:latin typeface="+mn-lt"/>
                <a:ea typeface="+mn-ea"/>
                <a:cs typeface="+mn-cs"/>
              </a:rPr>
              <a:t> &lt;&gt;»</a:t>
            </a:r>
          </a:p>
          <a:p>
            <a:r>
              <a:rPr lang="nb-NO" sz="1200" b="0" i="0" kern="1200" dirty="0">
                <a:solidFill>
                  <a:schemeClr val="tx1"/>
                </a:solidFill>
                <a:effectLst/>
                <a:latin typeface="+mn-lt"/>
                <a:ea typeface="+mn-ea"/>
                <a:cs typeface="+mn-cs"/>
              </a:rPr>
              <a:t>Modellering av brukerhistorier gjøres i UML via use case-diagrammer</a:t>
            </a:r>
          </a:p>
        </p:txBody>
      </p:sp>
      <p:sp>
        <p:nvSpPr>
          <p:cNvPr id="4" name="Plassholder for lysbildenummer 3">
            <a:extLst>
              <a:ext uri="{FF2B5EF4-FFF2-40B4-BE49-F238E27FC236}">
                <a16:creationId xmlns:a16="http://schemas.microsoft.com/office/drawing/2014/main" id="{79A99A9E-33A7-D39E-782E-B3F11B70369B}"/>
              </a:ext>
            </a:extLst>
          </p:cNvPr>
          <p:cNvSpPr>
            <a:spLocks noGrp="1"/>
          </p:cNvSpPr>
          <p:nvPr>
            <p:ph type="sldNum" sz="quarter" idx="5"/>
          </p:nvPr>
        </p:nvSpPr>
        <p:spPr/>
        <p:txBody>
          <a:bodyPr/>
          <a:lstStyle/>
          <a:p>
            <a:fld id="{ED8CD5F7-2931-42C6-9B3E-A6C700901896}" type="slidenum">
              <a:rPr lang="nb-NO" smtClean="0"/>
              <a:t>19</a:t>
            </a:fld>
            <a:endParaRPr lang="nb-NO"/>
          </a:p>
        </p:txBody>
      </p:sp>
    </p:spTree>
    <p:extLst>
      <p:ext uri="{BB962C8B-B14F-4D97-AF65-F5344CB8AC3E}">
        <p14:creationId xmlns:p14="http://schemas.microsoft.com/office/powerpoint/2010/main" val="628480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86DC0-281F-926D-BC18-C8E19BD6EC1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1361955-F335-463E-949C-F7B1B001921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200857D-E230-DF18-830D-63E26C6E329D}"/>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Handler om å se den helhetlig strukturen til programmet, alt fra kildekoden til produktet.</a:t>
            </a:r>
          </a:p>
          <a:p>
            <a:r>
              <a:rPr lang="nb-NO" sz="1200" b="1" i="0" kern="1200" dirty="0">
                <a:solidFill>
                  <a:schemeClr val="tx1"/>
                </a:solidFill>
                <a:effectLst/>
                <a:latin typeface="+mn-lt"/>
                <a:ea typeface="+mn-ea"/>
                <a:cs typeface="+mn-cs"/>
              </a:rPr>
              <a:t>IEEE</a:t>
            </a:r>
            <a:r>
              <a:rPr lang="nb-NO" sz="1200" b="0" i="0" kern="1200" dirty="0">
                <a:solidFill>
                  <a:schemeClr val="tx1"/>
                </a:solidFill>
                <a:effectLst/>
                <a:latin typeface="+mn-lt"/>
                <a:ea typeface="+mn-ea"/>
                <a:cs typeface="+mn-cs"/>
              </a:rPr>
              <a:t>: </a:t>
            </a:r>
            <a:r>
              <a:rPr lang="nb-NO" sz="1200" b="0" u="none" strike="noStrike" kern="1200" dirty="0">
                <a:solidFill>
                  <a:schemeClr val="tx1"/>
                </a:solidFill>
                <a:effectLst/>
                <a:latin typeface="+mn-lt"/>
                <a:ea typeface="+mn-ea"/>
                <a:cs typeface="+mn-cs"/>
              </a:rPr>
              <a:t>IEEE står for </a:t>
            </a:r>
            <a:r>
              <a:rPr lang="nb-NO" sz="1200" b="1" u="none" strike="noStrike" kern="1200" dirty="0" err="1">
                <a:solidFill>
                  <a:schemeClr val="tx1"/>
                </a:solidFill>
                <a:effectLst/>
                <a:latin typeface="+mn-lt"/>
                <a:ea typeface="+mn-ea"/>
                <a:cs typeface="+mn-cs"/>
              </a:rPr>
              <a:t>Institute</a:t>
            </a:r>
            <a:r>
              <a:rPr lang="nb-NO" sz="1200" b="1" u="none" strike="noStrike" kern="1200" dirty="0">
                <a:solidFill>
                  <a:schemeClr val="tx1"/>
                </a:solidFill>
                <a:effectLst/>
                <a:latin typeface="+mn-lt"/>
                <a:ea typeface="+mn-ea"/>
                <a:cs typeface="+mn-cs"/>
              </a:rPr>
              <a:t> </a:t>
            </a:r>
            <a:r>
              <a:rPr lang="nb-NO" sz="1200" b="1" u="none" strike="noStrike" kern="1200" dirty="0" err="1">
                <a:solidFill>
                  <a:schemeClr val="tx1"/>
                </a:solidFill>
                <a:effectLst/>
                <a:latin typeface="+mn-lt"/>
                <a:ea typeface="+mn-ea"/>
                <a:cs typeface="+mn-cs"/>
              </a:rPr>
              <a:t>of</a:t>
            </a:r>
            <a:r>
              <a:rPr lang="nb-NO" sz="1200" b="1" u="none" strike="noStrike" kern="1200" dirty="0">
                <a:solidFill>
                  <a:schemeClr val="tx1"/>
                </a:solidFill>
                <a:effectLst/>
                <a:latin typeface="+mn-lt"/>
                <a:ea typeface="+mn-ea"/>
                <a:cs typeface="+mn-cs"/>
              </a:rPr>
              <a:t> Electrical and Electronics </a:t>
            </a:r>
            <a:r>
              <a:rPr lang="nb-NO" sz="1200" b="1" u="none" strike="noStrike" kern="1200" dirty="0" err="1">
                <a:solidFill>
                  <a:schemeClr val="tx1"/>
                </a:solidFill>
                <a:effectLst/>
                <a:latin typeface="+mn-lt"/>
                <a:ea typeface="+mn-ea"/>
                <a:cs typeface="+mn-cs"/>
              </a:rPr>
              <a:t>Engineers</a:t>
            </a:r>
            <a:r>
              <a:rPr lang="nb-NO" dirty="0"/>
              <a:t>. Det er verdens største tekniske profesjonsorganisasjon, og fungerer som en global autoritet som utvikler standarder og publiserer forskning innen teknologi, databehandling, kommunikasjon og elektronikk.</a:t>
            </a:r>
            <a:br>
              <a:rPr lang="nb-NO" dirty="0"/>
            </a:br>
            <a:r>
              <a:rPr lang="nb-NO" sz="1200" b="1" i="0" kern="1200" dirty="0">
                <a:solidFill>
                  <a:schemeClr val="tx1"/>
                </a:solidFill>
                <a:effectLst/>
                <a:latin typeface="+mn-lt"/>
                <a:ea typeface="+mn-ea"/>
                <a:cs typeface="+mn-cs"/>
              </a:rPr>
              <a:t>IEEE-definisjon:</a:t>
            </a:r>
            <a:r>
              <a:rPr lang="nb-NO" sz="1200" b="0" i="0" kern="1200" dirty="0">
                <a:solidFill>
                  <a:schemeClr val="tx1"/>
                </a:solidFill>
                <a:effectLst/>
                <a:latin typeface="+mn-lt"/>
                <a:ea typeface="+mn-ea"/>
                <a:cs typeface="+mn-cs"/>
              </a:rPr>
              <a:t> «Arkitektur er den fundamentale organiseringen av et programvaresystem, uttrykt gjennom dets komponenter, deres relasjoner til hverandre og til miljøet, samt prinsippene som styrer design og evolusjon.»</a:t>
            </a:r>
          </a:p>
        </p:txBody>
      </p:sp>
      <p:sp>
        <p:nvSpPr>
          <p:cNvPr id="4" name="Plassholder for lysbildenummer 3">
            <a:extLst>
              <a:ext uri="{FF2B5EF4-FFF2-40B4-BE49-F238E27FC236}">
                <a16:creationId xmlns:a16="http://schemas.microsoft.com/office/drawing/2014/main" id="{4A677EE7-624C-FAA6-6780-30BF66ABB41A}"/>
              </a:ext>
            </a:extLst>
          </p:cNvPr>
          <p:cNvSpPr>
            <a:spLocks noGrp="1"/>
          </p:cNvSpPr>
          <p:nvPr>
            <p:ph type="sldNum" sz="quarter" idx="5"/>
          </p:nvPr>
        </p:nvSpPr>
        <p:spPr/>
        <p:txBody>
          <a:bodyPr/>
          <a:lstStyle/>
          <a:p>
            <a:fld id="{ED8CD5F7-2931-42C6-9B3E-A6C700901896}" type="slidenum">
              <a:rPr lang="nb-NO" smtClean="0"/>
              <a:t>21</a:t>
            </a:fld>
            <a:endParaRPr lang="nb-NO"/>
          </a:p>
        </p:txBody>
      </p:sp>
    </p:spTree>
    <p:extLst>
      <p:ext uri="{BB962C8B-B14F-4D97-AF65-F5344CB8AC3E}">
        <p14:creationId xmlns:p14="http://schemas.microsoft.com/office/powerpoint/2010/main" val="16756999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848-99FC-7CBB-C2F9-A1633F41B21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09F5D58-8119-112F-EBE6-BAE11CDC16D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E137AC0-4E3B-57F5-0284-AAD767A98C48}"/>
              </a:ext>
            </a:extLst>
          </p:cNvPr>
          <p:cNvSpPr>
            <a:spLocks noGrp="1"/>
          </p:cNvSpPr>
          <p:nvPr>
            <p:ph type="body" idx="1"/>
          </p:nvPr>
        </p:nvSpPr>
        <p:spPr/>
        <p:txBody>
          <a:bodyPr/>
          <a:lstStyle/>
          <a:p>
            <a:pPr marL="0" indent="0">
              <a:buFont typeface="Arial" panose="020B0604020202020204" pitchFamily="34" charset="0"/>
              <a:buNone/>
            </a:pPr>
            <a:r>
              <a:rPr lang="nb-NO" sz="1200" b="1" i="0" kern="1200" dirty="0">
                <a:solidFill>
                  <a:schemeClr val="tx1"/>
                </a:solidFill>
                <a:effectLst/>
                <a:latin typeface="+mn-lt"/>
                <a:ea typeface="+mn-ea"/>
                <a:cs typeface="+mn-cs"/>
              </a:rPr>
              <a:t>Hvorfor?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Forstå systemet tidlig – tidlige designbeslutninger og tidlig tilbakemelding gir:</a:t>
            </a:r>
          </a:p>
          <a:p>
            <a:pPr lvl="1"/>
            <a:r>
              <a:rPr lang="nb-NO" sz="1200" b="0" i="0" kern="1200" dirty="0">
                <a:solidFill>
                  <a:schemeClr val="tx1"/>
                </a:solidFill>
                <a:effectLst/>
                <a:latin typeface="+mn-lt"/>
                <a:ea typeface="+mn-ea"/>
                <a:cs typeface="+mn-cs"/>
              </a:rPr>
              <a:t>Reduserte kostnader, unngår duplisering av ressurser</a:t>
            </a:r>
          </a:p>
          <a:p>
            <a:pPr lvl="1"/>
            <a:r>
              <a:rPr lang="nb-NO" sz="1200" b="0" i="0" kern="1200" dirty="0">
                <a:solidFill>
                  <a:schemeClr val="tx1"/>
                </a:solidFill>
                <a:effectLst/>
                <a:latin typeface="+mn-lt"/>
                <a:ea typeface="+mn-ea"/>
                <a:cs typeface="+mn-cs"/>
              </a:rPr>
              <a:t>Økt kvalitet og hjelp til risikostyring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Kommunikasjon mellom interessenter – gir felles og gjensidig forståelse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Retningslinjer for utviklere gjennom hele prosjektet</a:t>
            </a:r>
          </a:p>
        </p:txBody>
      </p:sp>
      <p:sp>
        <p:nvSpPr>
          <p:cNvPr id="4" name="Plassholder for lysbildenummer 3">
            <a:extLst>
              <a:ext uri="{FF2B5EF4-FFF2-40B4-BE49-F238E27FC236}">
                <a16:creationId xmlns:a16="http://schemas.microsoft.com/office/drawing/2014/main" id="{1FCD078E-9ED6-AC56-4476-D0DDA59BAC0E}"/>
              </a:ext>
            </a:extLst>
          </p:cNvPr>
          <p:cNvSpPr>
            <a:spLocks noGrp="1"/>
          </p:cNvSpPr>
          <p:nvPr>
            <p:ph type="sldNum" sz="quarter" idx="5"/>
          </p:nvPr>
        </p:nvSpPr>
        <p:spPr/>
        <p:txBody>
          <a:bodyPr/>
          <a:lstStyle/>
          <a:p>
            <a:fld id="{ED8CD5F7-2931-42C6-9B3E-A6C700901896}" type="slidenum">
              <a:rPr lang="nb-NO" smtClean="0"/>
              <a:t>22</a:t>
            </a:fld>
            <a:endParaRPr lang="nb-NO"/>
          </a:p>
        </p:txBody>
      </p:sp>
    </p:spTree>
    <p:extLst>
      <p:ext uri="{BB962C8B-B14F-4D97-AF65-F5344CB8AC3E}">
        <p14:creationId xmlns:p14="http://schemas.microsoft.com/office/powerpoint/2010/main" val="2292948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ACCF-DE0F-C359-375A-5426C71F245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E931766-B790-F26B-0C6C-4ED2C56F8ED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4B3181B-90F2-07ED-4E67-6E2AA7C9B29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Håndtere kompleksitet ved å dele dem mindre domener/biter (Splitt og hersk teknikk).</a:t>
            </a:r>
            <a:br>
              <a:rPr lang="nb-NO" dirty="0"/>
            </a:br>
            <a:r>
              <a:rPr lang="nb-NO" sz="1200" b="0" i="0" kern="1200" dirty="0">
                <a:solidFill>
                  <a:schemeClr val="tx1"/>
                </a:solidFill>
                <a:effectLst/>
                <a:latin typeface="+mn-lt"/>
                <a:ea typeface="+mn-ea"/>
                <a:cs typeface="+mn-cs"/>
              </a:rPr>
              <a:t>Enklere delegere ansvarsområder i utviklingsteamet, samt isolere hvert del, som gjør koden mer testbar og robust</a:t>
            </a:r>
          </a:p>
        </p:txBody>
      </p:sp>
      <p:sp>
        <p:nvSpPr>
          <p:cNvPr id="4" name="Plassholder for lysbildenummer 3">
            <a:extLst>
              <a:ext uri="{FF2B5EF4-FFF2-40B4-BE49-F238E27FC236}">
                <a16:creationId xmlns:a16="http://schemas.microsoft.com/office/drawing/2014/main" id="{1B399E8D-8B62-9660-A47B-75679625C32A}"/>
              </a:ext>
            </a:extLst>
          </p:cNvPr>
          <p:cNvSpPr>
            <a:spLocks noGrp="1"/>
          </p:cNvSpPr>
          <p:nvPr>
            <p:ph type="sldNum" sz="quarter" idx="5"/>
          </p:nvPr>
        </p:nvSpPr>
        <p:spPr/>
        <p:txBody>
          <a:bodyPr/>
          <a:lstStyle/>
          <a:p>
            <a:fld id="{ED8CD5F7-2931-42C6-9B3E-A6C700901896}" type="slidenum">
              <a:rPr lang="nb-NO" smtClean="0"/>
              <a:t>23</a:t>
            </a:fld>
            <a:endParaRPr lang="nb-NO"/>
          </a:p>
        </p:txBody>
      </p:sp>
    </p:spTree>
    <p:extLst>
      <p:ext uri="{BB962C8B-B14F-4D97-AF65-F5344CB8AC3E}">
        <p14:creationId xmlns:p14="http://schemas.microsoft.com/office/powerpoint/2010/main" val="25077140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C0A2E-6127-6246-8E80-EEECC9F177D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DACD0AA-22D4-BC15-6747-8803F5F19A0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DFD1C2E4-BBD1-7514-DCB5-6F69A9330E0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Programvare som inneholder all logikk og fungerer på egenhånd</a:t>
            </a:r>
            <a:br>
              <a:rPr lang="nb-NO" dirty="0"/>
            </a:br>
            <a:r>
              <a:rPr lang="nb-NO" sz="1200" b="0" i="0" kern="1200" dirty="0">
                <a:solidFill>
                  <a:schemeClr val="tx1"/>
                </a:solidFill>
                <a:effectLst/>
                <a:latin typeface="+mn-lt"/>
                <a:ea typeface="+mn-ea"/>
                <a:cs typeface="+mn-cs"/>
              </a:rPr>
              <a:t>Funker bra for mindre prosjekter slik at kompleksitet blir unngått.</a:t>
            </a:r>
          </a:p>
        </p:txBody>
      </p:sp>
      <p:sp>
        <p:nvSpPr>
          <p:cNvPr id="4" name="Plassholder for lysbildenummer 3">
            <a:extLst>
              <a:ext uri="{FF2B5EF4-FFF2-40B4-BE49-F238E27FC236}">
                <a16:creationId xmlns:a16="http://schemas.microsoft.com/office/drawing/2014/main" id="{D3282899-3154-9DA6-F345-4CF830D8159F}"/>
              </a:ext>
            </a:extLst>
          </p:cNvPr>
          <p:cNvSpPr>
            <a:spLocks noGrp="1"/>
          </p:cNvSpPr>
          <p:nvPr>
            <p:ph type="sldNum" sz="quarter" idx="5"/>
          </p:nvPr>
        </p:nvSpPr>
        <p:spPr/>
        <p:txBody>
          <a:bodyPr/>
          <a:lstStyle/>
          <a:p>
            <a:fld id="{ED8CD5F7-2931-42C6-9B3E-A6C700901896}" type="slidenum">
              <a:rPr lang="nb-NO" smtClean="0"/>
              <a:t>24</a:t>
            </a:fld>
            <a:endParaRPr lang="nb-NO"/>
          </a:p>
        </p:txBody>
      </p:sp>
    </p:spTree>
    <p:extLst>
      <p:ext uri="{BB962C8B-B14F-4D97-AF65-F5344CB8AC3E}">
        <p14:creationId xmlns:p14="http://schemas.microsoft.com/office/powerpoint/2010/main" val="9412459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8303F-C150-0953-21C0-C73AEC05372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2E93D02-2083-8FBD-65B5-E8F46A7B632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2E517BE-F781-4811-BE46-1A4F3F711197}"/>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Deler opp koden i to deler: </a:t>
            </a:r>
          </a:p>
          <a:p>
            <a:pPr marL="228600" indent="-228600">
              <a:buAutoNum type="arabicParenBoth"/>
            </a:pPr>
            <a:r>
              <a:rPr lang="nb-NO" sz="1200" b="0" i="0" kern="1200" dirty="0">
                <a:solidFill>
                  <a:schemeClr val="tx1"/>
                </a:solidFill>
                <a:effectLst/>
                <a:latin typeface="+mn-lt"/>
                <a:ea typeface="+mn-ea"/>
                <a:cs typeface="+mn-cs"/>
              </a:rPr>
              <a:t>Kjører på klienten (presentasjon) </a:t>
            </a:r>
          </a:p>
          <a:p>
            <a:pPr marL="228600" indent="-228600">
              <a:buAutoNum type="arabicParenBoth"/>
            </a:pPr>
            <a:r>
              <a:rPr lang="nb-NO" sz="1200" b="0" i="0" kern="1200" dirty="0">
                <a:solidFill>
                  <a:schemeClr val="tx1"/>
                </a:solidFill>
                <a:effectLst/>
                <a:latin typeface="+mn-lt"/>
                <a:ea typeface="+mn-ea"/>
                <a:cs typeface="+mn-cs"/>
              </a:rPr>
              <a:t>Kjører på serveren (logikk)</a:t>
            </a:r>
            <a:br>
              <a:rPr lang="nb-NO" dirty="0"/>
            </a:br>
            <a:endParaRPr lang="nb-NO" dirty="0"/>
          </a:p>
          <a:p>
            <a:pPr marL="0" indent="0">
              <a:buNone/>
            </a:pPr>
            <a:r>
              <a:rPr lang="nb-NO" sz="1200" b="0" i="0" kern="1200" dirty="0">
                <a:solidFill>
                  <a:schemeClr val="tx1"/>
                </a:solidFill>
                <a:effectLst/>
                <a:latin typeface="+mn-lt"/>
                <a:ea typeface="+mn-ea"/>
                <a:cs typeface="+mn-cs"/>
              </a:rPr>
              <a:t>Serveren utfører oppgaver for de ulike klientene og klientene spør om de tjenestene de trenger.</a:t>
            </a:r>
            <a:br>
              <a:rPr lang="nb-NO" dirty="0"/>
            </a:br>
            <a:r>
              <a:rPr lang="nb-NO" sz="1200" b="0" i="0" kern="1200" dirty="0">
                <a:solidFill>
                  <a:schemeClr val="tx1"/>
                </a:solidFill>
                <a:effectLst/>
                <a:latin typeface="+mn-lt"/>
                <a:ea typeface="+mn-ea"/>
                <a:cs typeface="+mn-cs"/>
              </a:rPr>
              <a:t>Gjør at utviklere kan fokusere på deler av programmet. Fører til lav kobling som gjør det mer skalerbart.</a:t>
            </a:r>
          </a:p>
        </p:txBody>
      </p:sp>
      <p:sp>
        <p:nvSpPr>
          <p:cNvPr id="4" name="Plassholder for lysbildenummer 3">
            <a:extLst>
              <a:ext uri="{FF2B5EF4-FFF2-40B4-BE49-F238E27FC236}">
                <a16:creationId xmlns:a16="http://schemas.microsoft.com/office/drawing/2014/main" id="{F0F448AD-16E0-068E-F817-7135657B51AB}"/>
              </a:ext>
            </a:extLst>
          </p:cNvPr>
          <p:cNvSpPr>
            <a:spLocks noGrp="1"/>
          </p:cNvSpPr>
          <p:nvPr>
            <p:ph type="sldNum" sz="quarter" idx="5"/>
          </p:nvPr>
        </p:nvSpPr>
        <p:spPr/>
        <p:txBody>
          <a:bodyPr/>
          <a:lstStyle/>
          <a:p>
            <a:fld id="{ED8CD5F7-2931-42C6-9B3E-A6C700901896}" type="slidenum">
              <a:rPr lang="nb-NO" smtClean="0"/>
              <a:t>25</a:t>
            </a:fld>
            <a:endParaRPr lang="nb-NO"/>
          </a:p>
        </p:txBody>
      </p:sp>
    </p:spTree>
    <p:extLst>
      <p:ext uri="{BB962C8B-B14F-4D97-AF65-F5344CB8AC3E}">
        <p14:creationId xmlns:p14="http://schemas.microsoft.com/office/powerpoint/2010/main" val="30154617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79ECC-39BF-DC0F-B16D-E0E5D98B970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7994672-F34C-2910-A0EC-851D171554D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9E0DF6D-FD9E-2B74-5140-C0995AFB251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 opp applikasjoner i 3 lag.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Presentasjonslag</a:t>
            </a:r>
            <a:r>
              <a:rPr lang="nb-NO" sz="1200" b="0" i="0" kern="1200" dirty="0">
                <a:solidFill>
                  <a:schemeClr val="tx1"/>
                </a:solidFill>
                <a:effectLst/>
                <a:latin typeface="+mn-lt"/>
                <a:ea typeface="+mn-ea"/>
                <a:cs typeface="+mn-cs"/>
              </a:rPr>
              <a:t>: Presentere data til brukeren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UI-elementer. Håndterer interaksjoner og kaller på tjenester under.</a:t>
            </a:r>
          </a:p>
          <a:p>
            <a:r>
              <a:rPr lang="nb-NO" sz="1200" b="1" i="0" kern="1200" dirty="0" err="1">
                <a:solidFill>
                  <a:schemeClr val="tx1"/>
                </a:solidFill>
                <a:effectLst/>
                <a:latin typeface="+mn-lt"/>
                <a:ea typeface="+mn-ea"/>
                <a:cs typeface="+mn-cs"/>
              </a:rPr>
              <a:t>Forettningslogikklag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Databehandling i applikasjonen, </a:t>
            </a:r>
            <a:r>
              <a:rPr lang="nb-NO" sz="1200" b="0" i="0" kern="1200" dirty="0" err="1">
                <a:solidFill>
                  <a:schemeClr val="tx1"/>
                </a:solidFill>
                <a:effectLst/>
                <a:latin typeface="+mn-lt"/>
                <a:ea typeface="+mn-ea"/>
                <a:cs typeface="+mn-cs"/>
              </a:rPr>
              <a:t>loigkk</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forettningsarbeid</a:t>
            </a:r>
            <a:r>
              <a:rPr lang="nb-NO" sz="1200" b="0" i="0" kern="1200" dirty="0">
                <a:solidFill>
                  <a:schemeClr val="tx1"/>
                </a:solidFill>
                <a:effectLst/>
                <a:latin typeface="+mn-lt"/>
                <a:ea typeface="+mn-ea"/>
                <a:cs typeface="+mn-cs"/>
              </a:rPr>
              <a:t> for brukeren</a:t>
            </a:r>
          </a:p>
          <a:p>
            <a:r>
              <a:rPr lang="nb-NO" sz="1200" b="1" i="0" kern="1200" dirty="0">
                <a:solidFill>
                  <a:schemeClr val="tx1"/>
                </a:solidFill>
                <a:effectLst/>
                <a:latin typeface="+mn-lt"/>
                <a:ea typeface="+mn-ea"/>
                <a:cs typeface="+mn-cs"/>
              </a:rPr>
              <a:t>Data </a:t>
            </a:r>
            <a:r>
              <a:rPr lang="nb-NO" sz="1200" b="1" i="0" kern="1200" dirty="0" err="1">
                <a:solidFill>
                  <a:schemeClr val="tx1"/>
                </a:solidFill>
                <a:effectLst/>
                <a:latin typeface="+mn-lt"/>
                <a:ea typeface="+mn-ea"/>
                <a:cs typeface="+mn-cs"/>
              </a:rPr>
              <a:t>access</a:t>
            </a:r>
            <a:r>
              <a:rPr lang="nb-NO" sz="1200" b="1" i="0" kern="1200" dirty="0">
                <a:solidFill>
                  <a:schemeClr val="tx1"/>
                </a:solidFill>
                <a:effectLst/>
                <a:latin typeface="+mn-lt"/>
                <a:ea typeface="+mn-ea"/>
                <a:cs typeface="+mn-cs"/>
              </a:rPr>
              <a:t> lag:</a:t>
            </a:r>
            <a:r>
              <a:rPr lang="nb-NO" sz="1200" b="0" i="0" kern="1200" dirty="0">
                <a:solidFill>
                  <a:schemeClr val="tx1"/>
                </a:solidFill>
                <a:effectLst/>
                <a:latin typeface="+mn-lt"/>
                <a:ea typeface="+mn-ea"/>
                <a:cs typeface="+mn-cs"/>
              </a:rPr>
              <a:t> Gir tilgang til eksterne tjenester og </a:t>
            </a:r>
            <a:r>
              <a:rPr lang="nb-NO" sz="1200" b="0" i="0" kern="1200" dirty="0" err="1">
                <a:solidFill>
                  <a:schemeClr val="tx1"/>
                </a:solidFill>
                <a:effectLst/>
                <a:latin typeface="+mn-lt"/>
                <a:ea typeface="+mn-ea"/>
                <a:cs typeface="+mn-cs"/>
              </a:rPr>
              <a:t>APIer</a:t>
            </a:r>
            <a:r>
              <a:rPr lang="nb-NO" sz="1200" b="0" i="0" kern="1200" dirty="0">
                <a:solidFill>
                  <a:schemeClr val="tx1"/>
                </a:solidFill>
                <a:effectLst/>
                <a:latin typeface="+mn-lt"/>
                <a:ea typeface="+mn-ea"/>
                <a:cs typeface="+mn-cs"/>
              </a:rPr>
              <a:t> ved bruk av metoder for logikklaget slik at applikasjonen får utført arbeid. CRUD</a:t>
            </a:r>
          </a:p>
          <a:p>
            <a:br>
              <a:rPr lang="nb-NO" dirty="0"/>
            </a:br>
            <a:endParaRPr lang="nb-NO" dirty="0"/>
          </a:p>
          <a:p>
            <a:r>
              <a:rPr lang="nb-NO" sz="1200" b="0" i="0" kern="1200" dirty="0">
                <a:solidFill>
                  <a:schemeClr val="tx1"/>
                </a:solidFill>
                <a:effectLst/>
                <a:latin typeface="+mn-lt"/>
                <a:ea typeface="+mn-ea"/>
                <a:cs typeface="+mn-cs"/>
              </a:rPr>
              <a:t>Hvert lag utfører spesifikke oppgaver for et lag høyere. Hvert lag kan kun be om tjenester fra laget under eller over seg.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Gir lav kobling</a:t>
            </a:r>
          </a:p>
        </p:txBody>
      </p:sp>
      <p:sp>
        <p:nvSpPr>
          <p:cNvPr id="4" name="Plassholder for lysbildenummer 3">
            <a:extLst>
              <a:ext uri="{FF2B5EF4-FFF2-40B4-BE49-F238E27FC236}">
                <a16:creationId xmlns:a16="http://schemas.microsoft.com/office/drawing/2014/main" id="{4B7608A4-33F0-5AFF-3812-327782BE80E9}"/>
              </a:ext>
            </a:extLst>
          </p:cNvPr>
          <p:cNvSpPr>
            <a:spLocks noGrp="1"/>
          </p:cNvSpPr>
          <p:nvPr>
            <p:ph type="sldNum" sz="quarter" idx="5"/>
          </p:nvPr>
        </p:nvSpPr>
        <p:spPr/>
        <p:txBody>
          <a:bodyPr/>
          <a:lstStyle/>
          <a:p>
            <a:fld id="{ED8CD5F7-2931-42C6-9B3E-A6C700901896}" type="slidenum">
              <a:rPr lang="nb-NO" smtClean="0"/>
              <a:t>26</a:t>
            </a:fld>
            <a:endParaRPr lang="nb-NO"/>
          </a:p>
        </p:txBody>
      </p:sp>
    </p:spTree>
    <p:extLst>
      <p:ext uri="{BB962C8B-B14F-4D97-AF65-F5344CB8AC3E}">
        <p14:creationId xmlns:p14="http://schemas.microsoft.com/office/powerpoint/2010/main" val="11406569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B66A-BECF-E75F-D47F-8B62F969999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7F62FC0-F677-8492-0B13-34F713B0BD5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AC5CEE5-FC3D-CEE0-5107-E030EF402B7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Bygd opp at to partier: master og slaver.</a:t>
            </a:r>
          </a:p>
          <a:p>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Masteren: komponenten som delegerer arbeid til de forskjellige identiske slave komponentene.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Slavene returnerer resultat til master.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Fordeler: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Får et overordnet blikk over prosessen i master og kan gå over til implementeringen i slavene. Slavene kan enkelt </a:t>
            </a:r>
            <a:r>
              <a:rPr lang="nb-NO" sz="1200" b="0" i="0" kern="1200" dirty="0" err="1">
                <a:solidFill>
                  <a:schemeClr val="tx1"/>
                </a:solidFill>
                <a:effectLst/>
                <a:latin typeface="+mn-lt"/>
                <a:ea typeface="+mn-ea"/>
                <a:cs typeface="+mn-cs"/>
              </a:rPr>
              <a:t>enhetstestes</a:t>
            </a:r>
            <a:r>
              <a:rPr lang="nb-NO" sz="1200" b="0" i="0" kern="1200" dirty="0">
                <a:solidFill>
                  <a:schemeClr val="tx1"/>
                </a:solidFill>
                <a:effectLst/>
                <a:latin typeface="+mn-lt"/>
                <a:ea typeface="+mn-ea"/>
                <a:cs typeface="+mn-cs"/>
              </a:rPr>
              <a:t> mens mesteren kan </a:t>
            </a:r>
            <a:r>
              <a:rPr lang="nb-NO" sz="1200" b="0" i="0" kern="1200" dirty="0" err="1">
                <a:solidFill>
                  <a:schemeClr val="tx1"/>
                </a:solidFill>
                <a:effectLst/>
                <a:latin typeface="+mn-lt"/>
                <a:ea typeface="+mn-ea"/>
                <a:cs typeface="+mn-cs"/>
              </a:rPr>
              <a:t>integrasjonstestes</a:t>
            </a:r>
            <a:r>
              <a:rPr lang="nb-NO" sz="1200" b="0" i="0" kern="1200" dirty="0">
                <a:solidFill>
                  <a:schemeClr val="tx1"/>
                </a:solidFill>
                <a:effectLst/>
                <a:latin typeface="+mn-lt"/>
                <a:ea typeface="+mn-ea"/>
                <a:cs typeface="+mn-cs"/>
              </a:rPr>
              <a:t> opp mot slavene.</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Brukes i </a:t>
            </a:r>
            <a:r>
              <a:rPr lang="nb-NO" sz="1200" b="0" i="0" kern="1200" dirty="0" err="1">
                <a:solidFill>
                  <a:schemeClr val="tx1"/>
                </a:solidFill>
                <a:effectLst/>
                <a:latin typeface="+mn-lt"/>
                <a:ea typeface="+mn-ea"/>
                <a:cs typeface="+mn-cs"/>
              </a:rPr>
              <a:t>databasereplikering</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Master db fungerer som kilden og videresender sin tilstand til slavene, som synkroniserer seg til mesterens data. Kan da sende spørringer til hvilken som helst av databasene som gir systemet høyere kapasitet enn en enkel db.</a:t>
            </a:r>
          </a:p>
        </p:txBody>
      </p:sp>
      <p:sp>
        <p:nvSpPr>
          <p:cNvPr id="4" name="Plassholder for lysbildenummer 3">
            <a:extLst>
              <a:ext uri="{FF2B5EF4-FFF2-40B4-BE49-F238E27FC236}">
                <a16:creationId xmlns:a16="http://schemas.microsoft.com/office/drawing/2014/main" id="{5D44DD56-C5CA-80D9-9E5F-4A07579CCEF3}"/>
              </a:ext>
            </a:extLst>
          </p:cNvPr>
          <p:cNvSpPr>
            <a:spLocks noGrp="1"/>
          </p:cNvSpPr>
          <p:nvPr>
            <p:ph type="sldNum" sz="quarter" idx="5"/>
          </p:nvPr>
        </p:nvSpPr>
        <p:spPr/>
        <p:txBody>
          <a:bodyPr/>
          <a:lstStyle/>
          <a:p>
            <a:fld id="{ED8CD5F7-2931-42C6-9B3E-A6C700901896}" type="slidenum">
              <a:rPr lang="nb-NO" smtClean="0"/>
              <a:t>27</a:t>
            </a:fld>
            <a:endParaRPr lang="nb-NO"/>
          </a:p>
        </p:txBody>
      </p:sp>
    </p:spTree>
    <p:extLst>
      <p:ext uri="{BB962C8B-B14F-4D97-AF65-F5344CB8AC3E}">
        <p14:creationId xmlns:p14="http://schemas.microsoft.com/office/powerpoint/2010/main" val="40553848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8BF18-7F8E-4691-4A13-8F01C6C6C8D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38288F3-8C42-639D-3E65-F4E0A4A0D5A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10372C-8812-4A1D-9A0F-50F7EEB53DFB}"/>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Piper etterfulgt av rekke filter-nodes som prosesserer dataene til en </a:t>
            </a:r>
            <a:r>
              <a:rPr lang="nb-NO" sz="1200" b="0" i="1" kern="1200" dirty="0">
                <a:solidFill>
                  <a:schemeClr val="tx1"/>
                </a:solidFill>
                <a:effectLst/>
                <a:latin typeface="+mn-lt"/>
                <a:ea typeface="+mn-ea"/>
                <a:cs typeface="+mn-cs"/>
              </a:rPr>
              <a:t>sink</a:t>
            </a:r>
            <a:r>
              <a:rPr lang="nb-NO" sz="1200" b="0" i="0" kern="1200" dirty="0">
                <a:solidFill>
                  <a:schemeClr val="tx1"/>
                </a:solidFill>
                <a:effectLst/>
                <a:latin typeface="+mn-lt"/>
                <a:ea typeface="+mn-ea"/>
                <a:cs typeface="+mn-cs"/>
              </a:rPr>
              <a:t> som samler opp dataene. </a:t>
            </a:r>
          </a:p>
          <a:p>
            <a:r>
              <a:rPr lang="nb-NO" sz="1200" b="0" i="0" kern="1200" dirty="0">
                <a:solidFill>
                  <a:schemeClr val="tx1"/>
                </a:solidFill>
                <a:effectLst/>
                <a:latin typeface="+mn-lt"/>
                <a:ea typeface="+mn-ea"/>
                <a:cs typeface="+mn-cs"/>
              </a:rPr>
              <a:t>Brukt til å strukturere systemer som produserer datastrømmer.</a:t>
            </a:r>
          </a:p>
        </p:txBody>
      </p:sp>
      <p:sp>
        <p:nvSpPr>
          <p:cNvPr id="4" name="Plassholder for lysbildenummer 3">
            <a:extLst>
              <a:ext uri="{FF2B5EF4-FFF2-40B4-BE49-F238E27FC236}">
                <a16:creationId xmlns:a16="http://schemas.microsoft.com/office/drawing/2014/main" id="{6872FC65-688A-1E9B-63D4-FA306E951037}"/>
              </a:ext>
            </a:extLst>
          </p:cNvPr>
          <p:cNvSpPr>
            <a:spLocks noGrp="1"/>
          </p:cNvSpPr>
          <p:nvPr>
            <p:ph type="sldNum" sz="quarter" idx="5"/>
          </p:nvPr>
        </p:nvSpPr>
        <p:spPr/>
        <p:txBody>
          <a:bodyPr/>
          <a:lstStyle/>
          <a:p>
            <a:fld id="{ED8CD5F7-2931-42C6-9B3E-A6C700901896}" type="slidenum">
              <a:rPr lang="nb-NO" smtClean="0"/>
              <a:t>28</a:t>
            </a:fld>
            <a:endParaRPr lang="nb-NO"/>
          </a:p>
        </p:txBody>
      </p:sp>
    </p:spTree>
    <p:extLst>
      <p:ext uri="{BB962C8B-B14F-4D97-AF65-F5344CB8AC3E}">
        <p14:creationId xmlns:p14="http://schemas.microsoft.com/office/powerpoint/2010/main" val="15227538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77748-E62A-EA6A-92C0-682B8F8F90F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E7287660-186E-6E4C-04A2-36625208153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E614CCE-A7B3-D87B-C6F6-07CC7339B803}"/>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Hver komponent kommuniserer gjennom en broker, som fasiliteter kommunikasjon og koordinasjon. Serveren gir sine kapasiteter til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og klienten spør etter service fra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sender klienten til et passende service.</a:t>
            </a:r>
          </a:p>
          <a:p>
            <a:br>
              <a:rPr lang="nb-NO" dirty="0"/>
            </a:br>
            <a:r>
              <a:rPr lang="nb-NO" sz="1200" b="0" i="0" kern="1200" dirty="0">
                <a:solidFill>
                  <a:schemeClr val="tx1"/>
                </a:solidFill>
                <a:effectLst/>
                <a:latin typeface="+mn-lt"/>
                <a:ea typeface="+mn-ea"/>
                <a:cs typeface="+mn-cs"/>
              </a:rPr>
              <a:t>Brukt til å strukturere systemer der komponentene ikke har kjennskap til hverandre.</a:t>
            </a:r>
          </a:p>
        </p:txBody>
      </p:sp>
      <p:sp>
        <p:nvSpPr>
          <p:cNvPr id="4" name="Plassholder for lysbildenummer 3">
            <a:extLst>
              <a:ext uri="{FF2B5EF4-FFF2-40B4-BE49-F238E27FC236}">
                <a16:creationId xmlns:a16="http://schemas.microsoft.com/office/drawing/2014/main" id="{7DA9A1E5-3FD7-5180-8005-3DA31275D699}"/>
              </a:ext>
            </a:extLst>
          </p:cNvPr>
          <p:cNvSpPr>
            <a:spLocks noGrp="1"/>
          </p:cNvSpPr>
          <p:nvPr>
            <p:ph type="sldNum" sz="quarter" idx="5"/>
          </p:nvPr>
        </p:nvSpPr>
        <p:spPr/>
        <p:txBody>
          <a:bodyPr/>
          <a:lstStyle/>
          <a:p>
            <a:fld id="{ED8CD5F7-2931-42C6-9B3E-A6C700901896}" type="slidenum">
              <a:rPr lang="nb-NO" smtClean="0"/>
              <a:t>29</a:t>
            </a:fld>
            <a:endParaRPr lang="nb-NO"/>
          </a:p>
        </p:txBody>
      </p:sp>
    </p:spTree>
    <p:extLst>
      <p:ext uri="{BB962C8B-B14F-4D97-AF65-F5344CB8AC3E}">
        <p14:creationId xmlns:p14="http://schemas.microsoft.com/office/powerpoint/2010/main" val="25755121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A9F9B-177C-0F6E-1666-4127A930139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4685AFF-B2D3-D166-9927-D5A89A5D47D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A674A1B8-B0CD-E140-71C7-902005F90A3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Komponentene kalt peers. </a:t>
            </a:r>
          </a:p>
          <a:p>
            <a:r>
              <a:rPr lang="nb-NO" sz="1200" b="0" i="0" kern="1200" dirty="0">
                <a:solidFill>
                  <a:schemeClr val="tx1"/>
                </a:solidFill>
                <a:effectLst/>
                <a:latin typeface="+mn-lt"/>
                <a:ea typeface="+mn-ea"/>
                <a:cs typeface="+mn-cs"/>
              </a:rPr>
              <a:t>Peers funker nesten lik klient-tjener, men kan ta en dynamisk rolle både tjener og klient. </a:t>
            </a:r>
          </a:p>
          <a:p>
            <a:r>
              <a:rPr lang="nb-NO" sz="1200" b="0" i="0" kern="1200" dirty="0" err="1">
                <a:solidFill>
                  <a:schemeClr val="tx1"/>
                </a:solidFill>
                <a:effectLst/>
                <a:latin typeface="+mn-lt"/>
                <a:ea typeface="+mn-ea"/>
                <a:cs typeface="+mn-cs"/>
              </a:rPr>
              <a:t>Peersene</a:t>
            </a:r>
            <a:r>
              <a:rPr lang="nb-NO" sz="1200" b="0" i="0" kern="1200" dirty="0">
                <a:solidFill>
                  <a:schemeClr val="tx1"/>
                </a:solidFill>
                <a:effectLst/>
                <a:latin typeface="+mn-lt"/>
                <a:ea typeface="+mn-ea"/>
                <a:cs typeface="+mn-cs"/>
              </a:rPr>
              <a:t> kan sende forespørsler til hverandre og samarbeider ofte.</a:t>
            </a:r>
          </a:p>
        </p:txBody>
      </p:sp>
      <p:sp>
        <p:nvSpPr>
          <p:cNvPr id="4" name="Plassholder for lysbildenummer 3">
            <a:extLst>
              <a:ext uri="{FF2B5EF4-FFF2-40B4-BE49-F238E27FC236}">
                <a16:creationId xmlns:a16="http://schemas.microsoft.com/office/drawing/2014/main" id="{5B1554BE-BE83-2D69-A36F-B610FFFA1EAD}"/>
              </a:ext>
            </a:extLst>
          </p:cNvPr>
          <p:cNvSpPr>
            <a:spLocks noGrp="1"/>
          </p:cNvSpPr>
          <p:nvPr>
            <p:ph type="sldNum" sz="quarter" idx="5"/>
          </p:nvPr>
        </p:nvSpPr>
        <p:spPr/>
        <p:txBody>
          <a:bodyPr/>
          <a:lstStyle/>
          <a:p>
            <a:fld id="{ED8CD5F7-2931-42C6-9B3E-A6C700901896}" type="slidenum">
              <a:rPr lang="nb-NO" smtClean="0"/>
              <a:t>30</a:t>
            </a:fld>
            <a:endParaRPr lang="nb-NO"/>
          </a:p>
        </p:txBody>
      </p:sp>
    </p:spTree>
    <p:extLst>
      <p:ext uri="{BB962C8B-B14F-4D97-AF65-F5344CB8AC3E}">
        <p14:creationId xmlns:p14="http://schemas.microsoft.com/office/powerpoint/2010/main" val="40258921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CF2-32C8-7407-8C58-E335199ACB4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F355761-95FC-EE9F-E2F2-4D0E51FFFCC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2F0BB78B-BF8D-6E2D-6E62-3B6B17D8CB12}"/>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Fire hovedkomponenter: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listener</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source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channel</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bus.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Kilden (</a:t>
            </a:r>
            <a:r>
              <a:rPr lang="nb-NO" sz="1200" b="0" i="0" kern="1200" dirty="0" err="1">
                <a:solidFill>
                  <a:schemeClr val="tx1"/>
                </a:solidFill>
                <a:effectLst/>
                <a:latin typeface="+mn-lt"/>
                <a:ea typeface="+mn-ea"/>
                <a:cs typeface="+mn-cs"/>
              </a:rPr>
              <a:t>source</a:t>
            </a:r>
            <a:r>
              <a:rPr lang="nb-NO" sz="1200" b="0" i="0" kern="1200" dirty="0">
                <a:solidFill>
                  <a:schemeClr val="tx1"/>
                </a:solidFill>
                <a:effectLst/>
                <a:latin typeface="+mn-lt"/>
                <a:ea typeface="+mn-ea"/>
                <a:cs typeface="+mn-cs"/>
              </a:rPr>
              <a:t>) sender en melding til en spesifikk </a:t>
            </a:r>
            <a:r>
              <a:rPr lang="nb-NO" sz="1200" b="0" i="0" kern="1200" dirty="0" err="1">
                <a:solidFill>
                  <a:schemeClr val="tx1"/>
                </a:solidFill>
                <a:effectLst/>
                <a:latin typeface="+mn-lt"/>
                <a:ea typeface="+mn-ea"/>
                <a:cs typeface="+mn-cs"/>
              </a:rPr>
              <a:t>channel</a:t>
            </a:r>
            <a:r>
              <a:rPr lang="nb-NO" sz="1200" b="0" i="0" kern="1200" dirty="0">
                <a:solidFill>
                  <a:schemeClr val="tx1"/>
                </a:solidFill>
                <a:effectLst/>
                <a:latin typeface="+mn-lt"/>
                <a:ea typeface="+mn-ea"/>
                <a:cs typeface="+mn-cs"/>
              </a:rPr>
              <a:t> på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bussen. </a:t>
            </a:r>
            <a:r>
              <a:rPr lang="nb-NO" sz="1200" b="0" i="0" kern="1200" dirty="0" err="1">
                <a:solidFill>
                  <a:schemeClr val="tx1"/>
                </a:solidFill>
                <a:effectLst/>
                <a:latin typeface="+mn-lt"/>
                <a:ea typeface="+mn-ea"/>
                <a:cs typeface="+mn-cs"/>
              </a:rPr>
              <a:t>Listener</a:t>
            </a:r>
            <a:r>
              <a:rPr lang="nb-NO" sz="1200" b="0" i="0" kern="1200" dirty="0">
                <a:solidFill>
                  <a:schemeClr val="tx1"/>
                </a:solidFill>
                <a:effectLst/>
                <a:latin typeface="+mn-lt"/>
                <a:ea typeface="+mn-ea"/>
                <a:cs typeface="+mn-cs"/>
              </a:rPr>
              <a:t> abonnerer til </a:t>
            </a:r>
            <a:r>
              <a:rPr lang="nb-NO" sz="1200" b="0" i="0" kern="1200" dirty="0" err="1">
                <a:solidFill>
                  <a:schemeClr val="tx1"/>
                </a:solidFill>
                <a:effectLst/>
                <a:latin typeface="+mn-lt"/>
                <a:ea typeface="+mn-ea"/>
                <a:cs typeface="+mn-cs"/>
              </a:rPr>
              <a:t>channelen</a:t>
            </a:r>
            <a:r>
              <a:rPr lang="nb-NO" sz="1200" b="0" i="0" kern="1200" dirty="0">
                <a:solidFill>
                  <a:schemeClr val="tx1"/>
                </a:solidFill>
                <a:effectLst/>
                <a:latin typeface="+mn-lt"/>
                <a:ea typeface="+mn-ea"/>
                <a:cs typeface="+mn-cs"/>
              </a:rPr>
              <a:t> og sier ifra til andre komponenter når en melding blir sendt på </a:t>
            </a:r>
            <a:r>
              <a:rPr lang="nb-NO" sz="1200" b="0" i="0" kern="1200" dirty="0" err="1">
                <a:solidFill>
                  <a:schemeClr val="tx1"/>
                </a:solidFill>
                <a:effectLst/>
                <a:latin typeface="+mn-lt"/>
                <a:ea typeface="+mn-ea"/>
                <a:cs typeface="+mn-cs"/>
              </a:rPr>
              <a:t>channelen</a:t>
            </a:r>
            <a:r>
              <a:rPr lang="nb-NO" sz="1200" b="0" i="0" kern="1200" dirty="0">
                <a:solidFill>
                  <a:schemeClr val="tx1"/>
                </a:solidFill>
                <a:effectLst/>
                <a:latin typeface="+mn-lt"/>
                <a:ea typeface="+mn-ea"/>
                <a:cs typeface="+mn-cs"/>
              </a:rPr>
              <a:t> de abonnerer på.</a:t>
            </a:r>
          </a:p>
        </p:txBody>
      </p:sp>
      <p:sp>
        <p:nvSpPr>
          <p:cNvPr id="4" name="Plassholder for lysbildenummer 3">
            <a:extLst>
              <a:ext uri="{FF2B5EF4-FFF2-40B4-BE49-F238E27FC236}">
                <a16:creationId xmlns:a16="http://schemas.microsoft.com/office/drawing/2014/main" id="{8C53B48C-E034-5B2C-2A9E-773CE21EDA4E}"/>
              </a:ext>
            </a:extLst>
          </p:cNvPr>
          <p:cNvSpPr>
            <a:spLocks noGrp="1"/>
          </p:cNvSpPr>
          <p:nvPr>
            <p:ph type="sldNum" sz="quarter" idx="5"/>
          </p:nvPr>
        </p:nvSpPr>
        <p:spPr/>
        <p:txBody>
          <a:bodyPr/>
          <a:lstStyle/>
          <a:p>
            <a:fld id="{ED8CD5F7-2931-42C6-9B3E-A6C700901896}" type="slidenum">
              <a:rPr lang="nb-NO" smtClean="0"/>
              <a:t>31</a:t>
            </a:fld>
            <a:endParaRPr lang="nb-NO"/>
          </a:p>
        </p:txBody>
      </p:sp>
    </p:spTree>
    <p:extLst>
      <p:ext uri="{BB962C8B-B14F-4D97-AF65-F5344CB8AC3E}">
        <p14:creationId xmlns:p14="http://schemas.microsoft.com/office/powerpoint/2010/main" val="968007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77D03-291C-9D0C-8489-570CB1A8301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51DC60C-31EF-2250-FF3F-A17B5723D7A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003CD29-7C61-31FB-3251-2E8CA7ED712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Deler en interaktive applikasjon i tre deler: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Model: hoved funksjonaliteten, alt av data som vises i applikasjonen samt data som er viktig for prosessering</a:t>
            </a:r>
          </a:p>
          <a:p>
            <a:pPr marL="171450" indent="-171450">
              <a:buFont typeface="Arial" panose="020B0604020202020204" pitchFamily="34" charset="0"/>
              <a:buChar char="•"/>
            </a:pPr>
            <a:r>
              <a:rPr lang="nb-NO" sz="1200" b="0" i="0" kern="1200" dirty="0" err="1">
                <a:solidFill>
                  <a:schemeClr val="tx1"/>
                </a:solidFill>
                <a:effectLst/>
                <a:latin typeface="+mn-lt"/>
                <a:ea typeface="+mn-ea"/>
                <a:cs typeface="+mn-cs"/>
              </a:rPr>
              <a:t>View</a:t>
            </a:r>
            <a:r>
              <a:rPr lang="nb-NO" sz="1200" b="0" i="0" kern="1200" dirty="0">
                <a:solidFill>
                  <a:schemeClr val="tx1"/>
                </a:solidFill>
                <a:effectLst/>
                <a:latin typeface="+mn-lt"/>
                <a:ea typeface="+mn-ea"/>
                <a:cs typeface="+mn-cs"/>
              </a:rPr>
              <a:t>: Viser fram modellene og andre data til brukeren gjennom GUI</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Controller: Styrer informasjonsflyten ved å ta input og andre interaksjon fra brukeren, henter/sender data til andre tjenester og manipulerer modellene slik at GUI blir oppdatert.</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Fordeler</a:t>
            </a: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0" i="0" kern="1200" dirty="0">
                <a:solidFill>
                  <a:schemeClr val="tx1"/>
                </a:solidFill>
                <a:effectLst/>
                <a:latin typeface="+mn-lt"/>
                <a:ea typeface="+mn-ea"/>
                <a:cs typeface="+mn-cs"/>
              </a:rPr>
              <a:t>Deler opp komponenter som fører til høy kohesjon og gjenbrukbarhet</a:t>
            </a:r>
          </a:p>
        </p:txBody>
      </p:sp>
      <p:sp>
        <p:nvSpPr>
          <p:cNvPr id="4" name="Plassholder for lysbildenummer 3">
            <a:extLst>
              <a:ext uri="{FF2B5EF4-FFF2-40B4-BE49-F238E27FC236}">
                <a16:creationId xmlns:a16="http://schemas.microsoft.com/office/drawing/2014/main" id="{43C40951-F004-D058-97BB-B55C71ACCF16}"/>
              </a:ext>
            </a:extLst>
          </p:cNvPr>
          <p:cNvSpPr>
            <a:spLocks noGrp="1"/>
          </p:cNvSpPr>
          <p:nvPr>
            <p:ph type="sldNum" sz="quarter" idx="5"/>
          </p:nvPr>
        </p:nvSpPr>
        <p:spPr/>
        <p:txBody>
          <a:bodyPr/>
          <a:lstStyle/>
          <a:p>
            <a:fld id="{ED8CD5F7-2931-42C6-9B3E-A6C700901896}" type="slidenum">
              <a:rPr lang="nb-NO" smtClean="0"/>
              <a:t>32</a:t>
            </a:fld>
            <a:endParaRPr lang="nb-NO"/>
          </a:p>
        </p:txBody>
      </p:sp>
    </p:spTree>
    <p:extLst>
      <p:ext uri="{BB962C8B-B14F-4D97-AF65-F5344CB8AC3E}">
        <p14:creationId xmlns:p14="http://schemas.microsoft.com/office/powerpoint/2010/main" val="6073764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7930E-26BF-218F-7303-64A923DA408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E32F7C8-A826-DDEA-A308-D77F131019A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BC3F0FE-E900-39E0-E47D-E78319F8CC71}"/>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Basert på </a:t>
            </a:r>
            <a:r>
              <a:rPr lang="nb-NO" sz="1200" b="0" i="1" kern="1200" dirty="0">
                <a:solidFill>
                  <a:schemeClr val="tx1"/>
                </a:solidFill>
                <a:effectLst/>
                <a:latin typeface="+mn-lt"/>
                <a:ea typeface="+mn-ea"/>
                <a:cs typeface="+mn-cs"/>
              </a:rPr>
              <a:t>single </a:t>
            </a:r>
            <a:r>
              <a:rPr lang="nb-NO" sz="1200" b="0" i="1" kern="1200" dirty="0" err="1">
                <a:solidFill>
                  <a:schemeClr val="tx1"/>
                </a:solidFill>
                <a:effectLst/>
                <a:latin typeface="+mn-lt"/>
                <a:ea typeface="+mn-ea"/>
                <a:cs typeface="+mn-cs"/>
              </a:rPr>
              <a:t>responsibility</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principle</a:t>
            </a:r>
            <a:r>
              <a:rPr lang="nb-NO" sz="1200" b="0" i="0" kern="1200" dirty="0">
                <a:solidFill>
                  <a:schemeClr val="tx1"/>
                </a:solidFill>
                <a:effectLst/>
                <a:latin typeface="+mn-lt"/>
                <a:ea typeface="+mn-ea"/>
                <a:cs typeface="+mn-cs"/>
              </a:rPr>
              <a:t>: samle det som endres av samme grunn, og skill det som endres av ulike grunner.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Deler opp programvare i selvstendige tjenester med én ansvarsoppgave, sin egen data og eget kjøremiljø.</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Skalerbart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Modulær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Fleksibel bruk av teknologi</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Tilgjengelig (feil i én tjeneste stopper ikke hele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Muliggjør kontinuerlig levering (CI/CD), optimalisert for </a:t>
            </a:r>
            <a:r>
              <a:rPr lang="nb-NO" sz="1200" b="0" i="0" kern="1200" dirty="0" err="1">
                <a:solidFill>
                  <a:schemeClr val="tx1"/>
                </a:solidFill>
                <a:effectLst/>
                <a:latin typeface="+mn-lt"/>
                <a:ea typeface="+mn-ea"/>
                <a:cs typeface="+mn-cs"/>
              </a:rPr>
              <a:t>DevOps</a:t>
            </a: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Kompleks </a:t>
            </a:r>
            <a:r>
              <a:rPr lang="nb-NO" sz="1200" b="0" i="0" kern="1200" dirty="0" err="1">
                <a:solidFill>
                  <a:schemeClr val="tx1"/>
                </a:solidFill>
                <a:effectLst/>
                <a:latin typeface="+mn-lt"/>
                <a:ea typeface="+mn-ea"/>
                <a:cs typeface="+mn-cs"/>
              </a:rPr>
              <a:t>debugging</a:t>
            </a:r>
            <a:r>
              <a:rPr lang="nb-NO" sz="1200" b="0" i="0" kern="1200" dirty="0">
                <a:solidFill>
                  <a:schemeClr val="tx1"/>
                </a:solidFill>
                <a:effectLst/>
                <a:latin typeface="+mn-lt"/>
                <a:ea typeface="+mn-ea"/>
                <a:cs typeface="+mn-cs"/>
              </a:rPr>
              <a:t> og logging på tvers av tjenester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Krever automatisering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Vanskelig å teste (distribuerte systemer)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Datainkonsistens – data spredt over mange databaser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Økt ressursforbruk</a:t>
            </a:r>
          </a:p>
        </p:txBody>
      </p:sp>
      <p:sp>
        <p:nvSpPr>
          <p:cNvPr id="4" name="Plassholder for lysbildenummer 3">
            <a:extLst>
              <a:ext uri="{FF2B5EF4-FFF2-40B4-BE49-F238E27FC236}">
                <a16:creationId xmlns:a16="http://schemas.microsoft.com/office/drawing/2014/main" id="{C5D5DB21-1DB8-8B3E-6F2D-5B5A18B9AADC}"/>
              </a:ext>
            </a:extLst>
          </p:cNvPr>
          <p:cNvSpPr>
            <a:spLocks noGrp="1"/>
          </p:cNvSpPr>
          <p:nvPr>
            <p:ph type="sldNum" sz="quarter" idx="5"/>
          </p:nvPr>
        </p:nvSpPr>
        <p:spPr/>
        <p:txBody>
          <a:bodyPr/>
          <a:lstStyle/>
          <a:p>
            <a:fld id="{ED8CD5F7-2931-42C6-9B3E-A6C700901896}" type="slidenum">
              <a:rPr lang="nb-NO" smtClean="0"/>
              <a:t>33</a:t>
            </a:fld>
            <a:endParaRPr lang="nb-NO"/>
          </a:p>
        </p:txBody>
      </p:sp>
    </p:spTree>
    <p:extLst>
      <p:ext uri="{BB962C8B-B14F-4D97-AF65-F5344CB8AC3E}">
        <p14:creationId xmlns:p14="http://schemas.microsoft.com/office/powerpoint/2010/main" val="2443160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CE8C6-B1F0-51B1-E75B-2B7CEBBB24B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F0FB7EB-EBF3-2EEA-6D2A-401E108614C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9219B71-E93A-9CB5-6D87-B3BCCBA5F81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Tradisjonell, sammenslått modell der alle deler av programvaren er pakket inn i ett system. Selvinneholdt og tett koblet.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Bedre gjennomstrømning enn modulære tilnærminger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Enklere å teste og </a:t>
            </a:r>
            <a:r>
              <a:rPr lang="nb-NO" sz="1200" b="0" i="0" kern="1200" dirty="0" err="1">
                <a:solidFill>
                  <a:schemeClr val="tx1"/>
                </a:solidFill>
                <a:effectLst/>
                <a:latin typeface="+mn-lt"/>
                <a:ea typeface="+mn-ea"/>
                <a:cs typeface="+mn-cs"/>
              </a:rPr>
              <a:t>debugge</a:t>
            </a:r>
            <a:r>
              <a:rPr lang="nb-NO" sz="1200" b="0" i="0" kern="1200" dirty="0">
                <a:solidFill>
                  <a:schemeClr val="tx1"/>
                </a:solidFill>
                <a:effectLst/>
                <a:latin typeface="+mn-lt"/>
                <a:ea typeface="+mn-ea"/>
                <a:cs typeface="+mn-cs"/>
              </a:rPr>
              <a:t> i begynnelsen</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Vanskelig å vedlikeholde – endring i én del krever oppdatering av hele applikasjonen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Lite skalerbar/utvidbar sammenlignet med modulære arkitekturer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Tett koblet – én feil kan stoppe hele systemet</a:t>
            </a:r>
          </a:p>
        </p:txBody>
      </p:sp>
      <p:sp>
        <p:nvSpPr>
          <p:cNvPr id="4" name="Plassholder for lysbildenummer 3">
            <a:extLst>
              <a:ext uri="{FF2B5EF4-FFF2-40B4-BE49-F238E27FC236}">
                <a16:creationId xmlns:a16="http://schemas.microsoft.com/office/drawing/2014/main" id="{417A72E9-C761-231A-1679-F5E8D1E10BD4}"/>
              </a:ext>
            </a:extLst>
          </p:cNvPr>
          <p:cNvSpPr>
            <a:spLocks noGrp="1"/>
          </p:cNvSpPr>
          <p:nvPr>
            <p:ph type="sldNum" sz="quarter" idx="5"/>
          </p:nvPr>
        </p:nvSpPr>
        <p:spPr/>
        <p:txBody>
          <a:bodyPr/>
          <a:lstStyle/>
          <a:p>
            <a:fld id="{ED8CD5F7-2931-42C6-9B3E-A6C700901896}" type="slidenum">
              <a:rPr lang="nb-NO" smtClean="0"/>
              <a:t>34</a:t>
            </a:fld>
            <a:endParaRPr lang="nb-NO"/>
          </a:p>
        </p:txBody>
      </p:sp>
    </p:spTree>
    <p:extLst>
      <p:ext uri="{BB962C8B-B14F-4D97-AF65-F5344CB8AC3E}">
        <p14:creationId xmlns:p14="http://schemas.microsoft.com/office/powerpoint/2010/main" val="23532397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85BD1-CAFF-3C39-AF25-9472E23F615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FF315B7-611E-557F-1944-B23E2E558B3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1BF0237-6327-D581-B9B1-50E4805F518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Består av to hoveddeler: et </a:t>
            </a:r>
            <a:r>
              <a:rPr lang="nb-NO" sz="1200" b="1" i="0" kern="1200" dirty="0">
                <a:solidFill>
                  <a:schemeClr val="tx1"/>
                </a:solidFill>
                <a:effectLst/>
                <a:latin typeface="+mn-lt"/>
                <a:ea typeface="+mn-ea"/>
                <a:cs typeface="+mn-cs"/>
              </a:rPr>
              <a:t>kjerne-system</a:t>
            </a:r>
            <a:r>
              <a:rPr lang="nb-NO" sz="1200" b="0" i="0" kern="1200" dirty="0">
                <a:solidFill>
                  <a:schemeClr val="tx1"/>
                </a:solidFill>
                <a:effectLst/>
                <a:latin typeface="+mn-lt"/>
                <a:ea typeface="+mn-ea"/>
                <a:cs typeface="+mn-cs"/>
              </a:rPr>
              <a:t> og </a:t>
            </a:r>
            <a:r>
              <a:rPr lang="nb-NO" sz="1200" b="1" i="0" kern="1200" dirty="0" err="1">
                <a:solidFill>
                  <a:schemeClr val="tx1"/>
                </a:solidFill>
                <a:effectLst/>
                <a:latin typeface="+mn-lt"/>
                <a:ea typeface="+mn-ea"/>
                <a:cs typeface="+mn-cs"/>
              </a:rPr>
              <a:t>plugin</a:t>
            </a:r>
            <a:r>
              <a:rPr lang="nb-NO" sz="1200" b="1" i="0" kern="1200" dirty="0">
                <a:solidFill>
                  <a:schemeClr val="tx1"/>
                </a:solidFill>
                <a:effectLst/>
                <a:latin typeface="+mn-lt"/>
                <a:ea typeface="+mn-ea"/>
                <a:cs typeface="+mn-cs"/>
              </a:rPr>
              <a:t>-moduler</a:t>
            </a:r>
            <a:r>
              <a:rPr lang="nb-NO" sz="1200" b="0" i="0" kern="1200" dirty="0">
                <a:solidFill>
                  <a:schemeClr val="tx1"/>
                </a:solidFill>
                <a:effectLst/>
                <a:latin typeface="+mn-lt"/>
                <a:ea typeface="+mn-ea"/>
                <a:cs typeface="+mn-cs"/>
              </a:rPr>
              <a:t> (utvidelser/</a:t>
            </a:r>
            <a:r>
              <a:rPr lang="nb-NO" sz="1200" b="0" i="0" kern="1200" dirty="0" err="1">
                <a:solidFill>
                  <a:schemeClr val="tx1"/>
                </a:solidFill>
                <a:effectLst/>
                <a:latin typeface="+mn-lt"/>
                <a:ea typeface="+mn-ea"/>
                <a:cs typeface="+mn-cs"/>
              </a:rPr>
              <a:t>extensions</a:t>
            </a:r>
            <a:r>
              <a:rPr lang="nb-NO" sz="1200" b="0" i="0" kern="1200" dirty="0">
                <a:solidFill>
                  <a:schemeClr val="tx1"/>
                </a:solidFill>
                <a:effectLst/>
                <a:latin typeface="+mn-lt"/>
                <a:ea typeface="+mn-ea"/>
                <a:cs typeface="+mn-cs"/>
              </a:rPr>
              <a:t>).</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Kjernen administrerer levetiden til tilkoblede </a:t>
            </a:r>
            <a:r>
              <a:rPr lang="nb-NO" sz="1200" b="0" i="0" kern="1200" dirty="0" err="1">
                <a:solidFill>
                  <a:schemeClr val="tx1"/>
                </a:solidFill>
                <a:effectLst/>
                <a:latin typeface="+mn-lt"/>
                <a:ea typeface="+mn-ea"/>
                <a:cs typeface="+mn-cs"/>
              </a:rPr>
              <a:t>plugins</a:t>
            </a:r>
            <a:endParaRPr lang="nb-NO" sz="1200" b="0" i="0" kern="1200" dirty="0">
              <a:solidFill>
                <a:schemeClr val="tx1"/>
              </a:solidFill>
              <a:effectLst/>
              <a:latin typeface="+mn-lt"/>
              <a:ea typeface="+mn-ea"/>
              <a:cs typeface="+mn-cs"/>
            </a:endParaRPr>
          </a:p>
          <a:p>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kan legges til eller fjernes fra kjernen når som helst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Lav kobling og høy isolasjon mellom funksjoner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Fleksibelt og utvidbart</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Endringer i kjernen kan ødelegge alle </a:t>
            </a:r>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bakoverkompatibilitet</a:t>
            </a:r>
            <a:r>
              <a:rPr lang="nb-NO" sz="1200" b="0" i="0" kern="1200" dirty="0">
                <a:solidFill>
                  <a:schemeClr val="tx1"/>
                </a:solidFill>
                <a:effectLst/>
                <a:latin typeface="+mn-lt"/>
                <a:ea typeface="+mn-ea"/>
                <a:cs typeface="+mn-cs"/>
              </a:rPr>
              <a:t> viktig)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Mange </a:t>
            </a:r>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kan senke ytelsen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Kompleks testing av hele systemet</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Eksempler:</a:t>
            </a:r>
            <a:r>
              <a:rPr lang="nb-NO" sz="1200" b="0" i="0" kern="1200" dirty="0">
                <a:solidFill>
                  <a:schemeClr val="tx1"/>
                </a:solidFill>
                <a:effectLst/>
                <a:latin typeface="+mn-lt"/>
                <a:ea typeface="+mn-ea"/>
                <a:cs typeface="+mn-cs"/>
              </a:rPr>
              <a:t> Chrome Web Store, IDE-er (</a:t>
            </a:r>
            <a:r>
              <a:rPr lang="nb-NO" sz="1200" b="0" i="0" kern="1200" dirty="0" err="1">
                <a:solidFill>
                  <a:schemeClr val="tx1"/>
                </a:solidFill>
                <a:effectLst/>
                <a:latin typeface="+mn-lt"/>
                <a:ea typeface="+mn-ea"/>
                <a:cs typeface="+mn-cs"/>
              </a:rPr>
              <a:t>IntelliJ</a:t>
            </a:r>
            <a:r>
              <a:rPr lang="nb-NO" sz="1200" b="0" i="0" kern="1200" dirty="0">
                <a:solidFill>
                  <a:schemeClr val="tx1"/>
                </a:solidFill>
                <a:effectLst/>
                <a:latin typeface="+mn-lt"/>
                <a:ea typeface="+mn-ea"/>
                <a:cs typeface="+mn-cs"/>
              </a:rPr>
              <a:t>, VS Code, </a:t>
            </a:r>
            <a:r>
              <a:rPr lang="nb-NO" sz="1200" b="0" i="0" kern="1200" dirty="0" err="1">
                <a:solidFill>
                  <a:schemeClr val="tx1"/>
                </a:solidFill>
                <a:effectLst/>
                <a:latin typeface="+mn-lt"/>
                <a:ea typeface="+mn-ea"/>
                <a:cs typeface="+mn-cs"/>
              </a:rPr>
              <a:t>Eclipse</a:t>
            </a:r>
            <a:r>
              <a:rPr lang="nb-NO" sz="1200" b="0" i="0" kern="1200" dirty="0">
                <a:solidFill>
                  <a:schemeClr val="tx1"/>
                </a:solidFill>
                <a:effectLst/>
                <a:latin typeface="+mn-lt"/>
                <a:ea typeface="+mn-ea"/>
                <a:cs typeface="+mn-cs"/>
              </a:rPr>
              <a:t>)</a:t>
            </a:r>
          </a:p>
        </p:txBody>
      </p:sp>
      <p:sp>
        <p:nvSpPr>
          <p:cNvPr id="4" name="Plassholder for lysbildenummer 3">
            <a:extLst>
              <a:ext uri="{FF2B5EF4-FFF2-40B4-BE49-F238E27FC236}">
                <a16:creationId xmlns:a16="http://schemas.microsoft.com/office/drawing/2014/main" id="{74AB2E86-5672-3471-9B30-F48F133C2E09}"/>
              </a:ext>
            </a:extLst>
          </p:cNvPr>
          <p:cNvSpPr>
            <a:spLocks noGrp="1"/>
          </p:cNvSpPr>
          <p:nvPr>
            <p:ph type="sldNum" sz="quarter" idx="5"/>
          </p:nvPr>
        </p:nvSpPr>
        <p:spPr/>
        <p:txBody>
          <a:bodyPr/>
          <a:lstStyle/>
          <a:p>
            <a:fld id="{ED8CD5F7-2931-42C6-9B3E-A6C700901896}" type="slidenum">
              <a:rPr lang="nb-NO" smtClean="0"/>
              <a:t>35</a:t>
            </a:fld>
            <a:endParaRPr lang="nb-NO"/>
          </a:p>
        </p:txBody>
      </p:sp>
    </p:spTree>
    <p:extLst>
      <p:ext uri="{BB962C8B-B14F-4D97-AF65-F5344CB8AC3E}">
        <p14:creationId xmlns:p14="http://schemas.microsoft.com/office/powerpoint/2010/main" val="33232550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E99C-A498-824A-851E-17245FA847D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CCDE963-E387-A728-BB7E-BC6A4ADE920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22FA17B-A6C7-0B14-E316-AE852CAF2514}"/>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Tradisjonell </a:t>
            </a:r>
            <a:r>
              <a:rPr lang="nb-NO" sz="1200" b="1" i="0" kern="1200" dirty="0" err="1">
                <a:solidFill>
                  <a:schemeClr val="tx1"/>
                </a:solidFill>
                <a:effectLst/>
                <a:latin typeface="+mn-lt"/>
                <a:ea typeface="+mn-ea"/>
                <a:cs typeface="+mn-cs"/>
              </a:rPr>
              <a:t>deployment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Applikasjoner kjøres direkte på fysiske servere. Ressursallokering er et problem – én app kan ta opp for mye.</a:t>
            </a:r>
          </a:p>
          <a:p>
            <a:endParaRPr lang="nb-NO" sz="1200" b="1" i="0" kern="1200" dirty="0">
              <a:solidFill>
                <a:schemeClr val="tx1"/>
              </a:solidFill>
              <a:effectLst/>
              <a:latin typeface="+mn-lt"/>
              <a:ea typeface="+mn-ea"/>
              <a:cs typeface="+mn-cs"/>
            </a:endParaRPr>
          </a:p>
          <a:p>
            <a:r>
              <a:rPr lang="nb-NO" sz="1200" b="1" i="0" kern="1200" dirty="0" err="1">
                <a:solidFill>
                  <a:schemeClr val="tx1"/>
                </a:solidFill>
                <a:effectLst/>
                <a:latin typeface="+mn-lt"/>
                <a:ea typeface="+mn-ea"/>
                <a:cs typeface="+mn-cs"/>
              </a:rPr>
              <a:t>Virtualisering</a:t>
            </a:r>
            <a:r>
              <a:rPr lang="nb-NO" sz="1200" b="1" i="0" kern="1200" dirty="0">
                <a:solidFill>
                  <a:schemeClr val="tx1"/>
                </a:solidFill>
                <a:effectLst/>
                <a:latin typeface="+mn-lt"/>
                <a:ea typeface="+mn-ea"/>
                <a:cs typeface="+mn-cs"/>
              </a:rPr>
              <a:t> (VMs):</a:t>
            </a:r>
            <a:r>
              <a:rPr lang="nb-NO" sz="1200" b="0" i="0" kern="1200" dirty="0">
                <a:solidFill>
                  <a:schemeClr val="tx1"/>
                </a:solidFill>
                <a:effectLst/>
                <a:latin typeface="+mn-lt"/>
                <a:ea typeface="+mn-ea"/>
                <a:cs typeface="+mn-cs"/>
              </a:rPr>
              <a:t> Kjøre flere virtuelle maskiner på én fysisk server. Hvert VM har eget OS. Problem: ressurser reserveres selv om de ikke brukes.</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Container-</a:t>
            </a:r>
            <a:r>
              <a:rPr lang="nb-NO" sz="1200" b="1" i="0" kern="1200" dirty="0" err="1">
                <a:solidFill>
                  <a:schemeClr val="tx1"/>
                </a:solidFill>
                <a:effectLst/>
                <a:latin typeface="+mn-lt"/>
                <a:ea typeface="+mn-ea"/>
                <a:cs typeface="+mn-cs"/>
              </a:rPr>
              <a:t>deployment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Containere deler OS med hverandre men er isolert. Lettere og mer effektive enn VMs. </a:t>
            </a:r>
          </a:p>
          <a:p>
            <a:pPr lvl="1"/>
            <a:r>
              <a:rPr lang="nb-NO" sz="1200" b="0" i="0" kern="1200" dirty="0">
                <a:solidFill>
                  <a:schemeClr val="tx1"/>
                </a:solidFill>
                <a:effectLst/>
                <a:latin typeface="+mn-lt"/>
                <a:ea typeface="+mn-ea"/>
                <a:cs typeface="+mn-cs"/>
              </a:rPr>
              <a:t>Nøkkelteknologier: </a:t>
            </a:r>
          </a:p>
          <a:p>
            <a:pPr marL="628650" lvl="1" indent="-171450">
              <a:buFont typeface="Arial" panose="020B0604020202020204" pitchFamily="34" charset="0"/>
              <a:buChar char="•"/>
            </a:pPr>
            <a:r>
              <a:rPr lang="nb-NO" sz="1200" b="1" i="0" kern="1200" dirty="0" err="1">
                <a:solidFill>
                  <a:schemeClr val="tx1"/>
                </a:solidFill>
                <a:effectLst/>
                <a:latin typeface="+mn-lt"/>
                <a:ea typeface="+mn-ea"/>
                <a:cs typeface="+mn-cs"/>
              </a:rPr>
              <a:t>Docker</a:t>
            </a:r>
            <a:r>
              <a:rPr lang="nb-NO" sz="1200" b="0" i="0" kern="1200" dirty="0">
                <a:solidFill>
                  <a:schemeClr val="tx1"/>
                </a:solidFill>
                <a:effectLst/>
                <a:latin typeface="+mn-lt"/>
                <a:ea typeface="+mn-ea"/>
                <a:cs typeface="+mn-cs"/>
              </a:rPr>
              <a:t> (container-teknologi)</a:t>
            </a:r>
          </a:p>
          <a:p>
            <a:pPr marL="628650" lvl="1" indent="-171450">
              <a:buFont typeface="Arial" panose="020B0604020202020204" pitchFamily="34" charset="0"/>
              <a:buChar char="•"/>
            </a:pPr>
            <a:r>
              <a:rPr lang="nb-NO" sz="1200" b="1" i="0" kern="1200" dirty="0" err="1">
                <a:solidFill>
                  <a:schemeClr val="tx1"/>
                </a:solidFill>
                <a:effectLst/>
                <a:latin typeface="+mn-lt"/>
                <a:ea typeface="+mn-ea"/>
                <a:cs typeface="+mn-cs"/>
              </a:rPr>
              <a:t>Kubernetes</a:t>
            </a:r>
            <a:r>
              <a:rPr lang="nb-NO" sz="1200" b="0" i="0" kern="1200" dirty="0">
                <a:solidFill>
                  <a:schemeClr val="tx1"/>
                </a:solidFill>
                <a:effectLst/>
                <a:latin typeface="+mn-lt"/>
                <a:ea typeface="+mn-ea"/>
                <a:cs typeface="+mn-cs"/>
              </a:rPr>
              <a:t> (container-orkestrering).</a:t>
            </a:r>
          </a:p>
          <a:p>
            <a:pPr marL="457200" lvl="1" indent="0">
              <a:buFont typeface="Arial" panose="020B0604020202020204" pitchFamily="34" charset="0"/>
              <a:buNone/>
            </a:pPr>
            <a:r>
              <a:rPr lang="nb-NO" sz="1200" b="0" i="0" kern="1200" dirty="0">
                <a:solidFill>
                  <a:schemeClr val="tx1"/>
                </a:solidFill>
                <a:effectLst/>
                <a:latin typeface="+mn-lt"/>
                <a:ea typeface="+mn-ea"/>
                <a:cs typeface="+mn-cs"/>
              </a:rPr>
              <a:t>	</a:t>
            </a:r>
          </a:p>
          <a:p>
            <a:pPr marL="457200" lvl="1" indent="0">
              <a:buFont typeface="Arial" panose="020B0604020202020204" pitchFamily="34" charset="0"/>
              <a:buNone/>
            </a:pPr>
            <a:r>
              <a:rPr lang="nb-NO" sz="1200" b="0" i="0" kern="1200" dirty="0">
                <a:solidFill>
                  <a:schemeClr val="tx1"/>
                </a:solidFill>
                <a:effectLst/>
                <a:latin typeface="+mn-lt"/>
                <a:ea typeface="+mn-ea"/>
                <a:cs typeface="+mn-cs"/>
              </a:rPr>
              <a:t>Fordeler: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Containere er enkle å distribuere og gir konsistent kjøremiljø ("fungerer likt overalt")</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Løst koblet, distribuert, elastisk – som microservices</a:t>
            </a:r>
          </a:p>
        </p:txBody>
      </p:sp>
      <p:sp>
        <p:nvSpPr>
          <p:cNvPr id="4" name="Plassholder for lysbildenummer 3">
            <a:extLst>
              <a:ext uri="{FF2B5EF4-FFF2-40B4-BE49-F238E27FC236}">
                <a16:creationId xmlns:a16="http://schemas.microsoft.com/office/drawing/2014/main" id="{7917B74C-CE54-FD40-6946-055B406FEE52}"/>
              </a:ext>
            </a:extLst>
          </p:cNvPr>
          <p:cNvSpPr>
            <a:spLocks noGrp="1"/>
          </p:cNvSpPr>
          <p:nvPr>
            <p:ph type="sldNum" sz="quarter" idx="5"/>
          </p:nvPr>
        </p:nvSpPr>
        <p:spPr/>
        <p:txBody>
          <a:bodyPr/>
          <a:lstStyle/>
          <a:p>
            <a:fld id="{ED8CD5F7-2931-42C6-9B3E-A6C700901896}" type="slidenum">
              <a:rPr lang="nb-NO" smtClean="0"/>
              <a:t>36</a:t>
            </a:fld>
            <a:endParaRPr lang="nb-NO"/>
          </a:p>
        </p:txBody>
      </p:sp>
    </p:spTree>
    <p:extLst>
      <p:ext uri="{BB962C8B-B14F-4D97-AF65-F5344CB8AC3E}">
        <p14:creationId xmlns:p14="http://schemas.microsoft.com/office/powerpoint/2010/main" val="31468242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10BE0-7D20-C84E-D66F-0D78A504C2B4}"/>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4191478-F294-2A39-E59C-DB6165DBC1F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FC9C91-15F8-E732-EA1C-C640759AB3BC}"/>
              </a:ext>
            </a:extLst>
          </p:cNvPr>
          <p:cNvSpPr>
            <a:spLocks noGrp="1"/>
          </p:cNvSpPr>
          <p:nvPr>
            <p:ph type="body" idx="1"/>
          </p:nvPr>
        </p:nvSpPr>
        <p:spPr/>
        <p:txBody>
          <a:bodyPr/>
          <a:lstStyle/>
          <a:p>
            <a:pPr lvl="0"/>
            <a:r>
              <a:rPr lang="nb-NO" sz="1200" b="0" i="0" kern="1200" dirty="0">
                <a:solidFill>
                  <a:schemeClr val="tx1"/>
                </a:solidFill>
                <a:effectLst/>
                <a:latin typeface="+mn-lt"/>
                <a:ea typeface="+mn-ea"/>
                <a:cs typeface="+mn-cs"/>
              </a:rPr>
              <a:t>Vannfallsmodellen: </a:t>
            </a:r>
          </a:p>
          <a:p>
            <a:pPr lvl="1"/>
            <a:r>
              <a:rPr lang="nb-NO" sz="1200" b="0" i="0" kern="1200" dirty="0">
                <a:solidFill>
                  <a:schemeClr val="tx1"/>
                </a:solidFill>
                <a:effectLst/>
                <a:latin typeface="+mn-lt"/>
                <a:ea typeface="+mn-ea"/>
                <a:cs typeface="+mn-cs"/>
              </a:rPr>
              <a:t>Flere store faser gjennomført en og en, med krav først også design.</a:t>
            </a:r>
          </a:p>
          <a:p>
            <a:pPr lvl="1"/>
            <a:r>
              <a:rPr lang="nb-NO" sz="1200" b="0" i="0" kern="1200" dirty="0">
                <a:solidFill>
                  <a:schemeClr val="tx1"/>
                </a:solidFill>
                <a:effectLst/>
                <a:latin typeface="+mn-lt"/>
                <a:ea typeface="+mn-ea"/>
                <a:cs typeface="+mn-cs"/>
              </a:rPr>
              <a:t>Mye dokument overlevert fase til fase og nye folk hver fase</a:t>
            </a:r>
          </a:p>
          <a:p>
            <a:pPr lvl="1"/>
            <a:r>
              <a:rPr lang="nb-NO" sz="1200" b="0" i="0" kern="1200" dirty="0">
                <a:solidFill>
                  <a:schemeClr val="tx1"/>
                </a:solidFill>
                <a:effectLst/>
                <a:latin typeface="+mn-lt"/>
                <a:ea typeface="+mn-ea"/>
                <a:cs typeface="+mn-cs"/>
              </a:rPr>
              <a:t>Vanskelig å skalere og mange prosjekter feilet.</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UP (Unified </a:t>
            </a:r>
            <a:r>
              <a:rPr lang="nb-NO" sz="1200" b="0" i="0" kern="1200" dirty="0" err="1">
                <a:solidFill>
                  <a:schemeClr val="tx1"/>
                </a:solidFill>
                <a:effectLst/>
                <a:latin typeface="+mn-lt"/>
                <a:ea typeface="+mn-ea"/>
                <a:cs typeface="+mn-cs"/>
              </a:rPr>
              <a:t>Process</a:t>
            </a:r>
            <a:r>
              <a:rPr lang="nb-NO" sz="1200" b="0" i="0" kern="1200" dirty="0">
                <a:solidFill>
                  <a:schemeClr val="tx1"/>
                </a:solidFill>
                <a:effectLst/>
                <a:latin typeface="+mn-lt"/>
                <a:ea typeface="+mn-ea"/>
                <a:cs typeface="+mn-cs"/>
              </a:rPr>
              <a:t>): </a:t>
            </a:r>
          </a:p>
          <a:p>
            <a:pPr lvl="1"/>
            <a:r>
              <a:rPr lang="nb-NO" sz="1200" b="0" i="0" kern="1200" dirty="0">
                <a:solidFill>
                  <a:schemeClr val="tx1"/>
                </a:solidFill>
                <a:effectLst/>
                <a:latin typeface="+mn-lt"/>
                <a:ea typeface="+mn-ea"/>
                <a:cs typeface="+mn-cs"/>
              </a:rPr>
              <a:t>innførte iterasjoner for å takle vannfallsmodellen sine problemer rundt endringer underveis.</a:t>
            </a:r>
          </a:p>
          <a:p>
            <a:pPr lvl="1"/>
            <a:r>
              <a:rPr lang="nb-NO" sz="1200" b="0" i="0" kern="1200" dirty="0">
                <a:solidFill>
                  <a:schemeClr val="tx1"/>
                </a:solidFill>
                <a:effectLst/>
                <a:latin typeface="+mn-lt"/>
                <a:ea typeface="+mn-ea"/>
                <a:cs typeface="+mn-cs"/>
              </a:rPr>
              <a:t>UML-modellering svært sentralt</a:t>
            </a:r>
          </a:p>
        </p:txBody>
      </p:sp>
      <p:sp>
        <p:nvSpPr>
          <p:cNvPr id="4" name="Plassholder for lysbildenummer 3">
            <a:extLst>
              <a:ext uri="{FF2B5EF4-FFF2-40B4-BE49-F238E27FC236}">
                <a16:creationId xmlns:a16="http://schemas.microsoft.com/office/drawing/2014/main" id="{2069290B-5175-377D-60C4-5E76BA0298A1}"/>
              </a:ext>
            </a:extLst>
          </p:cNvPr>
          <p:cNvSpPr>
            <a:spLocks noGrp="1"/>
          </p:cNvSpPr>
          <p:nvPr>
            <p:ph type="sldNum" sz="quarter" idx="5"/>
          </p:nvPr>
        </p:nvSpPr>
        <p:spPr/>
        <p:txBody>
          <a:bodyPr/>
          <a:lstStyle/>
          <a:p>
            <a:fld id="{ED8CD5F7-2931-42C6-9B3E-A6C700901896}" type="slidenum">
              <a:rPr lang="nb-NO" smtClean="0"/>
              <a:t>38</a:t>
            </a:fld>
            <a:endParaRPr lang="nb-NO"/>
          </a:p>
        </p:txBody>
      </p:sp>
    </p:spTree>
    <p:extLst>
      <p:ext uri="{BB962C8B-B14F-4D97-AF65-F5344CB8AC3E}">
        <p14:creationId xmlns:p14="http://schemas.microsoft.com/office/powerpoint/2010/main" val="5781306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ED8F1-FD87-1142-1A2F-3847319DB36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4C2E6D4-CAB0-1912-D7C4-01B5FAA655E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D02FC99-87A4-A65C-9AD1-17A98E6440E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Oppsto som reaksjon mot den tunge vannfallsmodellene. Ble kjent når </a:t>
            </a:r>
            <a:r>
              <a:rPr lang="nb-NO" sz="1200" b="0" i="1" kern="1200" dirty="0">
                <a:solidFill>
                  <a:schemeClr val="tx1"/>
                </a:solidFill>
                <a:effectLst/>
                <a:latin typeface="+mn-lt"/>
                <a:ea typeface="+mn-ea"/>
                <a:cs typeface="+mn-cs"/>
              </a:rPr>
              <a:t>The Agile </a:t>
            </a:r>
            <a:r>
              <a:rPr lang="nb-NO" sz="1200" b="0" i="1" kern="1200" dirty="0" err="1">
                <a:solidFill>
                  <a:schemeClr val="tx1"/>
                </a:solidFill>
                <a:effectLst/>
                <a:latin typeface="+mn-lt"/>
                <a:ea typeface="+mn-ea"/>
                <a:cs typeface="+mn-cs"/>
              </a:rPr>
              <a:t>Manifesto</a:t>
            </a:r>
            <a:r>
              <a:rPr lang="nb-NO" sz="1200" b="0" i="0" kern="1200" dirty="0">
                <a:solidFill>
                  <a:schemeClr val="tx1"/>
                </a:solidFill>
                <a:effectLst/>
                <a:latin typeface="+mn-lt"/>
                <a:ea typeface="+mn-ea"/>
                <a:cs typeface="+mn-cs"/>
              </a:rPr>
              <a:t> ble utgitt.</a:t>
            </a:r>
            <a:br>
              <a:rPr lang="nb-NO" sz="1200" b="0" i="0" kern="1200" dirty="0">
                <a:solidFill>
                  <a:schemeClr val="tx1"/>
                </a:solidFill>
                <a:effectLst/>
                <a:latin typeface="+mn-lt"/>
                <a:ea typeface="+mn-ea"/>
                <a:cs typeface="+mn-cs"/>
              </a:rPr>
            </a:br>
            <a:r>
              <a:rPr lang="nb-NO" sz="1200" b="0" i="1" kern="1200" dirty="0">
                <a:solidFill>
                  <a:schemeClr val="tx1"/>
                </a:solidFill>
                <a:effectLst/>
                <a:latin typeface="+mn-lt"/>
                <a:ea typeface="+mn-ea"/>
                <a:cs typeface="+mn-cs"/>
              </a:rPr>
              <a:t>Grunnleggende prinsipper: for smidig metode</a:t>
            </a:r>
            <a:endParaRPr lang="nb-NO" sz="1200" b="0" i="0" kern="1200" dirty="0">
              <a:solidFill>
                <a:schemeClr val="tx1"/>
              </a:solidFill>
              <a:effectLst/>
              <a:latin typeface="+mn-lt"/>
              <a:ea typeface="+mn-ea"/>
              <a:cs typeface="+mn-cs"/>
            </a:endParaRPr>
          </a:p>
          <a:p>
            <a:pPr marL="228600" indent="-228600">
              <a:buFont typeface="+mj-lt"/>
              <a:buAutoNum type="arabicPeriod"/>
            </a:pPr>
            <a:r>
              <a:rPr lang="nb-NO" sz="1200" b="1" i="0" kern="1200" dirty="0">
                <a:solidFill>
                  <a:schemeClr val="tx1"/>
                </a:solidFill>
                <a:effectLst/>
                <a:latin typeface="+mn-lt"/>
                <a:ea typeface="+mn-ea"/>
                <a:cs typeface="+mn-cs"/>
              </a:rPr>
              <a:t>Problem </a:t>
            </a:r>
            <a:r>
              <a:rPr lang="nb-NO" sz="1200" b="1" i="0" kern="1200" dirty="0" err="1">
                <a:solidFill>
                  <a:schemeClr val="tx1"/>
                </a:solidFill>
                <a:effectLst/>
                <a:latin typeface="+mn-lt"/>
                <a:ea typeface="+mn-ea"/>
                <a:cs typeface="+mn-cs"/>
              </a:rPr>
              <a:t>based</a:t>
            </a:r>
            <a:r>
              <a:rPr lang="nb-NO" sz="1200" b="0" i="0" kern="1200" dirty="0">
                <a:solidFill>
                  <a:schemeClr val="tx1"/>
                </a:solidFill>
                <a:effectLst/>
                <a:latin typeface="+mn-lt"/>
                <a:ea typeface="+mn-ea"/>
                <a:cs typeface="+mn-cs"/>
              </a:rPr>
              <a:t>: Større problemer brytes ned i mindre og prioriteres.</a:t>
            </a:r>
          </a:p>
          <a:p>
            <a:pPr marL="228600" indent="-228600">
              <a:buFont typeface="+mj-lt"/>
              <a:buAutoNum type="arabicPeriod"/>
            </a:pPr>
            <a:r>
              <a:rPr lang="nb-NO" sz="1200" b="1" i="0" kern="1200" dirty="0" err="1">
                <a:solidFill>
                  <a:schemeClr val="tx1"/>
                </a:solidFill>
                <a:effectLst/>
                <a:latin typeface="+mn-lt"/>
                <a:ea typeface="+mn-ea"/>
                <a:cs typeface="+mn-cs"/>
              </a:rPr>
              <a:t>Collaborative</a:t>
            </a:r>
            <a:r>
              <a:rPr lang="nb-NO" sz="1200" b="0" i="0" kern="1200" dirty="0">
                <a:solidFill>
                  <a:schemeClr val="tx1"/>
                </a:solidFill>
                <a:effectLst/>
                <a:latin typeface="+mn-lt"/>
                <a:ea typeface="+mn-ea"/>
                <a:cs typeface="+mn-cs"/>
              </a:rPr>
              <a:t>: Flere personer er en del av prosessen fra begynnelsen.</a:t>
            </a:r>
          </a:p>
          <a:p>
            <a:pPr marL="228600" indent="-228600">
              <a:buFont typeface="+mj-lt"/>
              <a:buAutoNum type="arabicPeriod"/>
            </a:pPr>
            <a:r>
              <a:rPr lang="nb-NO" sz="1200" b="1" i="0" kern="1200" dirty="0">
                <a:solidFill>
                  <a:schemeClr val="tx1"/>
                </a:solidFill>
                <a:effectLst/>
                <a:latin typeface="+mn-lt"/>
                <a:ea typeface="+mn-ea"/>
                <a:cs typeface="+mn-cs"/>
              </a:rPr>
              <a:t>Iterativ:</a:t>
            </a:r>
            <a:r>
              <a:rPr lang="nb-NO" sz="1200" b="0" i="0" kern="1200" dirty="0">
                <a:solidFill>
                  <a:schemeClr val="tx1"/>
                </a:solidFill>
                <a:effectLst/>
                <a:latin typeface="+mn-lt"/>
                <a:ea typeface="+mn-ea"/>
                <a:cs typeface="+mn-cs"/>
              </a:rPr>
              <a:t> Prosessen er iterativ</a:t>
            </a:r>
          </a:p>
          <a:p>
            <a:pPr marL="228600" indent="-228600">
              <a:buFont typeface="+mj-lt"/>
              <a:buAutoNum type="arabicPeriod"/>
            </a:pPr>
            <a:r>
              <a:rPr lang="nb-NO" sz="1200" b="1" i="0" kern="1200" dirty="0">
                <a:solidFill>
                  <a:schemeClr val="tx1"/>
                </a:solidFill>
                <a:effectLst/>
                <a:latin typeface="+mn-lt"/>
                <a:ea typeface="+mn-ea"/>
                <a:cs typeface="+mn-cs"/>
              </a:rPr>
              <a:t>Adaptiv</a:t>
            </a:r>
            <a:r>
              <a:rPr lang="nb-NO" sz="1200" b="0" i="0" kern="1200" dirty="0">
                <a:solidFill>
                  <a:schemeClr val="tx1"/>
                </a:solidFill>
                <a:effectLst/>
                <a:latin typeface="+mn-lt"/>
                <a:ea typeface="+mn-ea"/>
                <a:cs typeface="+mn-cs"/>
              </a:rPr>
              <a:t>: fremgang er adaptiv og ikke lineær.</a:t>
            </a:r>
          </a:p>
          <a:p>
            <a:pPr marL="0" indent="0">
              <a:buFont typeface="+mj-lt"/>
              <a:buNone/>
            </a:pPr>
            <a:endParaRPr lang="nb-NO" sz="1200" b="0" i="0" kern="1200" dirty="0">
              <a:solidFill>
                <a:schemeClr val="tx1"/>
              </a:solidFill>
              <a:effectLst/>
              <a:latin typeface="+mn-lt"/>
              <a:ea typeface="+mn-ea"/>
              <a:cs typeface="+mn-cs"/>
            </a:endParaRPr>
          </a:p>
          <a:p>
            <a:pPr marL="0" indent="0">
              <a:buFont typeface="+mj-lt"/>
              <a:buNone/>
            </a:pPr>
            <a:r>
              <a:rPr lang="nb-NO" sz="1200" b="0" i="0" kern="1200" dirty="0" err="1">
                <a:solidFill>
                  <a:schemeClr val="tx1"/>
                </a:solidFill>
                <a:effectLst/>
                <a:latin typeface="+mn-lt"/>
                <a:ea typeface="+mn-ea"/>
                <a:cs typeface="+mn-cs"/>
              </a:rPr>
              <a:t>Manifesto</a:t>
            </a:r>
            <a:r>
              <a:rPr lang="nb-NO" sz="1200" b="0" i="0" kern="1200" dirty="0">
                <a:solidFill>
                  <a:schemeClr val="tx1"/>
                </a:solidFill>
                <a:effectLst/>
                <a:latin typeface="+mn-lt"/>
                <a:ea typeface="+mn-ea"/>
                <a:cs typeface="+mn-cs"/>
              </a:rPr>
              <a:t> kort oppsummert: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Individer og interaksjoner fremfor prosesser og verktøy</a:t>
            </a:r>
            <a:r>
              <a:rPr lang="nb-NO" sz="1200" b="0" i="0" kern="1200" dirty="0">
                <a:solidFill>
                  <a:schemeClr val="tx1"/>
                </a:solidFill>
                <a:effectLst/>
                <a:latin typeface="+mn-lt"/>
                <a:ea typeface="+mn-ea"/>
                <a:cs typeface="+mn-cs"/>
              </a:rPr>
              <a:t>: menneskene involvert og deres samarbeid er den viktigste faktoren for prosjektet. Prioriterer kommunikasjon og samarbeid fremfor strenge prosesser og bruk av spesifikke verktøy.</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Fungerende programvare fremfor omfattende dokumentasjon:</a:t>
            </a:r>
            <a:r>
              <a:rPr lang="nb-NO" sz="1200" b="0" i="0" kern="1200" dirty="0">
                <a:solidFill>
                  <a:schemeClr val="tx1"/>
                </a:solidFill>
                <a:effectLst/>
                <a:latin typeface="+mn-lt"/>
                <a:ea typeface="+mn-ea"/>
                <a:cs typeface="+mn-cs"/>
              </a:rPr>
              <a:t> Målet er å skape verdi gjennom programvaren som utvikles.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Kundesamarbeid fremfor kontraktsforhandlinger:</a:t>
            </a:r>
            <a:r>
              <a:rPr lang="nb-NO" sz="1200" b="0" i="0" kern="1200" dirty="0">
                <a:solidFill>
                  <a:schemeClr val="tx1"/>
                </a:solidFill>
                <a:effectLst/>
                <a:latin typeface="+mn-lt"/>
                <a:ea typeface="+mn-ea"/>
                <a:cs typeface="+mn-cs"/>
              </a:rPr>
              <a:t> Vektlegger samarbeid med kunden for å forstå deres behov og tilpasse endringer over tid enn å fokusere på detaljerte kontrakter og opprinnelige krav.</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Reagere på endring fremfor å følge en plan:</a:t>
            </a:r>
            <a:r>
              <a:rPr lang="nb-NO" sz="1200" b="0" i="0" kern="1200" dirty="0">
                <a:solidFill>
                  <a:schemeClr val="tx1"/>
                </a:solidFill>
                <a:effectLst/>
                <a:latin typeface="+mn-lt"/>
                <a:ea typeface="+mn-ea"/>
                <a:cs typeface="+mn-cs"/>
              </a:rPr>
              <a:t> Smidig metoder er tilpasningsdyktig og fleksible. Å respondere effektivt på endrede krav og forutsetninger er viktigere enn å følge en forhåndsbestemt plan.</a:t>
            </a:r>
          </a:p>
        </p:txBody>
      </p:sp>
      <p:sp>
        <p:nvSpPr>
          <p:cNvPr id="4" name="Plassholder for lysbildenummer 3">
            <a:extLst>
              <a:ext uri="{FF2B5EF4-FFF2-40B4-BE49-F238E27FC236}">
                <a16:creationId xmlns:a16="http://schemas.microsoft.com/office/drawing/2014/main" id="{D8ABD428-6045-4059-A7CF-7376D0214CBF}"/>
              </a:ext>
            </a:extLst>
          </p:cNvPr>
          <p:cNvSpPr>
            <a:spLocks noGrp="1"/>
          </p:cNvSpPr>
          <p:nvPr>
            <p:ph type="sldNum" sz="quarter" idx="5"/>
          </p:nvPr>
        </p:nvSpPr>
        <p:spPr/>
        <p:txBody>
          <a:bodyPr/>
          <a:lstStyle/>
          <a:p>
            <a:fld id="{ED8CD5F7-2931-42C6-9B3E-A6C700901896}" type="slidenum">
              <a:rPr lang="nb-NO" smtClean="0"/>
              <a:t>39</a:t>
            </a:fld>
            <a:endParaRPr lang="nb-NO"/>
          </a:p>
        </p:txBody>
      </p:sp>
    </p:spTree>
    <p:extLst>
      <p:ext uri="{BB962C8B-B14F-4D97-AF65-F5344CB8AC3E}">
        <p14:creationId xmlns:p14="http://schemas.microsoft.com/office/powerpoint/2010/main" val="8533970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7F688-47B4-70C7-1B07-6DB1437FDB1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F2B627C-A22A-2957-15DA-CA58BE5039A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7868A53-954E-FE5E-DC8E-61F31D2D4AD8}"/>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Har nesten ingen dokumentasjon og modellering.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Har 29 faste regler.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Noen regler: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Alltid parprogrammering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Skriv enhetstester før koding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Integrer kun én liten endring av gangen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Enkel, tydelig kode og hyppig </a:t>
            </a:r>
            <a:r>
              <a:rPr lang="nb-NO" sz="1200" b="0" i="0" kern="1200" dirty="0" err="1">
                <a:solidFill>
                  <a:schemeClr val="tx1"/>
                </a:solidFill>
                <a:effectLst/>
                <a:latin typeface="+mn-lt"/>
                <a:ea typeface="+mn-ea"/>
                <a:cs typeface="+mn-cs"/>
              </a:rPr>
              <a:t>refaktorering</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 kort feedback-loop, hyppige tester og tilbakemeldinger fra kunde skal bidra til kontinuerlige endringer.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 korte iterasjoner med leveranser mellom dem</a:t>
            </a:r>
          </a:p>
          <a:p>
            <a:pPr marL="0" indent="0">
              <a:buFont typeface="Arial" panose="020B0604020202020204" pitchFamily="34" charset="0"/>
              <a:buNone/>
            </a:pP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Fem sentrale verdier innen XP:</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Communications</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Simplicity</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Feedback</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Courage</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Respect</a:t>
            </a:r>
            <a:endParaRPr lang="nb-NO" sz="1200" b="0" i="1" kern="1200" dirty="0">
              <a:solidFill>
                <a:schemeClr val="tx1"/>
              </a:solidFill>
              <a:effectLst/>
              <a:latin typeface="+mn-lt"/>
              <a:ea typeface="+mn-ea"/>
              <a:cs typeface="+mn-cs"/>
            </a:endParaRPr>
          </a:p>
          <a:p>
            <a:pPr marL="0" indent="0">
              <a:buFont typeface="Arial" panose="020B0604020202020204" pitchFamily="34" charset="0"/>
              <a:buNone/>
            </a:pPr>
            <a:r>
              <a:rPr lang="nb-NO" sz="1200" b="0" i="1" kern="1200" dirty="0">
                <a:solidFill>
                  <a:schemeClr val="tx1"/>
                </a:solidFill>
                <a:effectLst/>
                <a:latin typeface="+mn-lt"/>
                <a:ea typeface="+mn-ea"/>
                <a:cs typeface="+mn-cs"/>
              </a:rPr>
              <a:t>(Det trengs god kommunikasjon, koden skal simpel, tilbakemelding fra testene, teamet og kunden, man må ikke vær redd for </a:t>
            </a:r>
            <a:r>
              <a:rPr lang="nb-NO" sz="1200" b="0" i="1" kern="1200" dirty="0" err="1">
                <a:solidFill>
                  <a:schemeClr val="tx1"/>
                </a:solidFill>
                <a:effectLst/>
                <a:latin typeface="+mn-lt"/>
                <a:ea typeface="+mn-ea"/>
                <a:cs typeface="+mn-cs"/>
              </a:rPr>
              <a:t>refaktorisere</a:t>
            </a:r>
            <a:r>
              <a:rPr lang="nb-NO" sz="1200" b="0" i="1" kern="1200" dirty="0">
                <a:solidFill>
                  <a:schemeClr val="tx1"/>
                </a:solidFill>
                <a:effectLst/>
                <a:latin typeface="+mn-lt"/>
                <a:ea typeface="+mn-ea"/>
                <a:cs typeface="+mn-cs"/>
              </a:rPr>
              <a:t> dårlig kode, ha respekt for sitt og andres arbeid.)</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07C48346-A9E5-1038-07B2-37C2E7F3B885}"/>
              </a:ext>
            </a:extLst>
          </p:cNvPr>
          <p:cNvSpPr>
            <a:spLocks noGrp="1"/>
          </p:cNvSpPr>
          <p:nvPr>
            <p:ph type="sldNum" sz="quarter" idx="5"/>
          </p:nvPr>
        </p:nvSpPr>
        <p:spPr/>
        <p:txBody>
          <a:bodyPr/>
          <a:lstStyle/>
          <a:p>
            <a:fld id="{ED8CD5F7-2931-42C6-9B3E-A6C700901896}" type="slidenum">
              <a:rPr lang="nb-NO" smtClean="0"/>
              <a:t>40</a:t>
            </a:fld>
            <a:endParaRPr lang="nb-NO"/>
          </a:p>
        </p:txBody>
      </p:sp>
    </p:spTree>
    <p:extLst>
      <p:ext uri="{BB962C8B-B14F-4D97-AF65-F5344CB8AC3E}">
        <p14:creationId xmlns:p14="http://schemas.microsoft.com/office/powerpoint/2010/main" val="160900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13602-19CA-4EBB-1082-CE7BFFFE1D1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0CA9BD3-AC33-B951-48C7-BCFD1F736D7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74D5049-797C-1D31-DFFD-4EBC5F3275C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r>
              <a:rPr lang="nb-NO" sz="1200" b="0" i="0" kern="1200" dirty="0">
                <a:solidFill>
                  <a:schemeClr val="tx1"/>
                </a:solidFill>
                <a:effectLst/>
                <a:latin typeface="+mn-lt"/>
                <a:ea typeface="+mn-ea"/>
                <a:cs typeface="+mn-cs"/>
              </a:rPr>
              <a:t> Skriver tester for en bestemt funksjonalitet først, kjører testen for å se at den mislykkes og deretter skrive kode for at den skal bestå.</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Videreføring av XP og har samme "regler" når det gjelder </a:t>
            </a:r>
            <a:r>
              <a:rPr lang="nb-NO" sz="1200" b="0" i="0" kern="1200" dirty="0" err="1">
                <a:solidFill>
                  <a:schemeClr val="tx1"/>
                </a:solidFill>
                <a:effectLst/>
                <a:latin typeface="+mn-lt"/>
                <a:ea typeface="+mn-ea"/>
                <a:cs typeface="+mn-cs"/>
              </a:rPr>
              <a:t>refaktorering</a:t>
            </a:r>
            <a:r>
              <a:rPr lang="nb-NO" sz="1200" b="0" i="0" kern="1200" dirty="0">
                <a:solidFill>
                  <a:schemeClr val="tx1"/>
                </a:solidFill>
                <a:effectLst/>
                <a:latin typeface="+mn-lt"/>
                <a:ea typeface="+mn-ea"/>
                <a:cs typeface="+mn-cs"/>
              </a:rPr>
              <a:t> av dårlig kode.</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Fokus på enhetstesting og akseptansetesting.</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Tester og krav er sammensmeltet:</a:t>
            </a:r>
          </a:p>
          <a:p>
            <a:pPr lvl="1"/>
            <a:r>
              <a:rPr lang="nb-NO" sz="1200" b="0" i="0" kern="1200" dirty="0">
                <a:solidFill>
                  <a:schemeClr val="tx1"/>
                </a:solidFill>
                <a:effectLst/>
                <a:latin typeface="+mn-lt"/>
                <a:ea typeface="+mn-ea"/>
                <a:cs typeface="+mn-cs"/>
              </a:rPr>
              <a:t>Enhetstester setter krav til hva koden kan gjøre samtidig som den tester.</a:t>
            </a:r>
          </a:p>
          <a:p>
            <a:pPr lvl="1"/>
            <a:r>
              <a:rPr lang="nb-NO" sz="1200" b="0" i="0" kern="1200" dirty="0">
                <a:solidFill>
                  <a:schemeClr val="tx1"/>
                </a:solidFill>
                <a:effectLst/>
                <a:latin typeface="+mn-lt"/>
                <a:ea typeface="+mn-ea"/>
                <a:cs typeface="+mn-cs"/>
              </a:rPr>
              <a:t>Bruker </a:t>
            </a:r>
            <a:r>
              <a:rPr lang="nb-NO" sz="1200" b="0" i="1" kern="1200" dirty="0" err="1">
                <a:solidFill>
                  <a:schemeClr val="tx1"/>
                </a:solidFill>
                <a:effectLst/>
                <a:latin typeface="+mn-lt"/>
                <a:ea typeface="+mn-ea"/>
                <a:cs typeface="+mn-cs"/>
              </a:rPr>
              <a:t>user-stories</a:t>
            </a:r>
            <a:r>
              <a:rPr lang="nb-NO" sz="1200" b="0" i="0" kern="1200" dirty="0">
                <a:solidFill>
                  <a:schemeClr val="tx1"/>
                </a:solidFill>
                <a:effectLst/>
                <a:latin typeface="+mn-lt"/>
                <a:ea typeface="+mn-ea"/>
                <a:cs typeface="+mn-cs"/>
              </a:rPr>
              <a:t> til å definere kundekrav og </a:t>
            </a:r>
            <a:r>
              <a:rPr lang="nb-NO" sz="1200" b="0" i="0" kern="1200" dirty="0" err="1">
                <a:solidFill>
                  <a:schemeClr val="tx1"/>
                </a:solidFill>
                <a:effectLst/>
                <a:latin typeface="+mn-lt"/>
                <a:ea typeface="+mn-ea"/>
                <a:cs typeface="+mn-cs"/>
              </a:rPr>
              <a:t>testcaser</a:t>
            </a:r>
            <a:r>
              <a:rPr lang="nb-NO" sz="1200" b="0" i="0" kern="1200" dirty="0">
                <a:solidFill>
                  <a:schemeClr val="tx1"/>
                </a:solidFill>
                <a:effectLst/>
                <a:latin typeface="+mn-lt"/>
                <a:ea typeface="+mn-ea"/>
                <a:cs typeface="+mn-cs"/>
              </a:rPr>
              <a:t> for akseptansetester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Kodekvalitet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Testdekning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Rask tilbakemelding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Økt tillit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Testene fungerer også som en form for dokumentasjon.</a:t>
            </a:r>
          </a:p>
          <a:p>
            <a:pPr marL="0" indent="0">
              <a:buFont typeface="Arial" panose="020B0604020202020204" pitchFamily="34" charset="0"/>
              <a:buNone/>
            </a:pPr>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Lærekurve: krever endring i tenkemåte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Tidsbruk å skrive tester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Vedlikehold av testene</a:t>
            </a:r>
          </a:p>
        </p:txBody>
      </p:sp>
      <p:sp>
        <p:nvSpPr>
          <p:cNvPr id="4" name="Plassholder for lysbildenummer 3">
            <a:extLst>
              <a:ext uri="{FF2B5EF4-FFF2-40B4-BE49-F238E27FC236}">
                <a16:creationId xmlns:a16="http://schemas.microsoft.com/office/drawing/2014/main" id="{E9CFB352-5844-F604-41CF-08CADA46847C}"/>
              </a:ext>
            </a:extLst>
          </p:cNvPr>
          <p:cNvSpPr>
            <a:spLocks noGrp="1"/>
          </p:cNvSpPr>
          <p:nvPr>
            <p:ph type="sldNum" sz="quarter" idx="5"/>
          </p:nvPr>
        </p:nvSpPr>
        <p:spPr/>
        <p:txBody>
          <a:bodyPr/>
          <a:lstStyle/>
          <a:p>
            <a:fld id="{ED8CD5F7-2931-42C6-9B3E-A6C700901896}" type="slidenum">
              <a:rPr lang="nb-NO" smtClean="0"/>
              <a:t>41</a:t>
            </a:fld>
            <a:endParaRPr lang="nb-NO"/>
          </a:p>
        </p:txBody>
      </p:sp>
    </p:spTree>
    <p:extLst>
      <p:ext uri="{BB962C8B-B14F-4D97-AF65-F5344CB8AC3E}">
        <p14:creationId xmlns:p14="http://schemas.microsoft.com/office/powerpoint/2010/main" val="9968613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B7A07-0B8F-3B78-B0EE-65B4261BA71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92334A0-D43D-34BF-746B-1BFA9ABA3EE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6AC6513-026D-2089-924B-5586FC04E487}"/>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r>
              <a:rPr lang="nb-NO" sz="1200" b="0" i="0" kern="1200" dirty="0">
                <a:solidFill>
                  <a:schemeClr val="tx1"/>
                </a:solidFill>
                <a:effectLst/>
                <a:latin typeface="+mn-lt"/>
                <a:ea typeface="+mn-ea"/>
                <a:cs typeface="+mn-cs"/>
              </a:rPr>
              <a:t> automatiserte akseptansetester og involverer flere interessenter.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Gruppa møtes for å komme med konkrete akseptkriterier i en brukerhistorie. </a:t>
            </a:r>
          </a:p>
          <a:p>
            <a:r>
              <a:rPr lang="nb-NO" sz="1200" b="0" i="0" kern="1200" dirty="0">
                <a:solidFill>
                  <a:schemeClr val="tx1"/>
                </a:solidFill>
                <a:effectLst/>
                <a:latin typeface="+mn-lt"/>
                <a:ea typeface="+mn-ea"/>
                <a:cs typeface="+mn-cs"/>
              </a:rPr>
              <a:t>Akseptkriterier skrevet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domenespesifikt språk som UML og lagt inn i testscenario fil som konverteres til kjørbare tester, vanligvis automatisk.</a:t>
            </a:r>
          </a:p>
          <a:p>
            <a:r>
              <a:rPr lang="nb-NO" sz="1200" b="0" i="0" kern="1200" dirty="0">
                <a:solidFill>
                  <a:schemeClr val="tx1"/>
                </a:solidFill>
                <a:effectLst/>
                <a:latin typeface="+mn-lt"/>
                <a:ea typeface="+mn-ea"/>
                <a:cs typeface="+mn-cs"/>
              </a:rPr>
              <a:t>Teste applikasjonens oppførsel fra sluttbrukerens perspektiv</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Sørger for at use cases fungerer på et høyere nivå</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B49DF1EE-F9F7-6098-DE8C-2EB661083AC2}"/>
              </a:ext>
            </a:extLst>
          </p:cNvPr>
          <p:cNvSpPr>
            <a:spLocks noGrp="1"/>
          </p:cNvSpPr>
          <p:nvPr>
            <p:ph type="sldNum" sz="quarter" idx="5"/>
          </p:nvPr>
        </p:nvSpPr>
        <p:spPr/>
        <p:txBody>
          <a:bodyPr/>
          <a:lstStyle/>
          <a:p>
            <a:fld id="{ED8CD5F7-2931-42C6-9B3E-A6C700901896}" type="slidenum">
              <a:rPr lang="nb-NO" smtClean="0"/>
              <a:t>42</a:t>
            </a:fld>
            <a:endParaRPr lang="nb-NO"/>
          </a:p>
        </p:txBody>
      </p:sp>
    </p:spTree>
    <p:extLst>
      <p:ext uri="{BB962C8B-B14F-4D97-AF65-F5344CB8AC3E}">
        <p14:creationId xmlns:p14="http://schemas.microsoft.com/office/powerpoint/2010/main" val="2299710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70F2-5FBA-714D-3570-3B9DEDDBDE6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1C4AD59-D542-49D2-E768-A78E3756D75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22C8F9B-5F08-03D1-5262-CD1D10753D8D}"/>
              </a:ext>
            </a:extLst>
          </p:cNvPr>
          <p:cNvSpPr>
            <a:spLocks noGrp="1"/>
          </p:cNvSpPr>
          <p:nvPr>
            <p:ph type="body" idx="1"/>
          </p:nvPr>
        </p:nvSpPr>
        <p:spPr/>
        <p:txBody>
          <a:bodyPr/>
          <a:lstStyle/>
          <a:p>
            <a:r>
              <a:rPr lang="nb-NO" sz="1200" b="0" i="0" kern="1200" dirty="0" err="1">
                <a:solidFill>
                  <a:schemeClr val="tx1"/>
                </a:solidFill>
                <a:effectLst/>
                <a:latin typeface="+mn-lt"/>
                <a:ea typeface="+mn-ea"/>
                <a:cs typeface="+mn-cs"/>
              </a:rPr>
              <a:t>Tidsboksbasert</a:t>
            </a:r>
            <a:r>
              <a:rPr lang="nb-NO" sz="1200" b="0" i="0" kern="1200" dirty="0">
                <a:solidFill>
                  <a:schemeClr val="tx1"/>
                </a:solidFill>
                <a:effectLst/>
                <a:latin typeface="+mn-lt"/>
                <a:ea typeface="+mn-ea"/>
                <a:cs typeface="+mn-cs"/>
              </a:rPr>
              <a:t> </a:t>
            </a:r>
            <a:r>
              <a:rPr lang="nb-NO" sz="1200" b="0" i="1" kern="1200" dirty="0">
                <a:solidFill>
                  <a:schemeClr val="tx1"/>
                </a:solidFill>
                <a:effectLst/>
                <a:latin typeface="+mn-lt"/>
                <a:ea typeface="+mn-ea"/>
                <a:cs typeface="+mn-cs"/>
              </a:rPr>
              <a:t>smidig metode</a:t>
            </a:r>
            <a:r>
              <a:rPr lang="nb-NO" sz="1200" b="0" i="0" kern="1200" dirty="0">
                <a:solidFill>
                  <a:schemeClr val="tx1"/>
                </a:solidFill>
                <a:effectLst/>
                <a:latin typeface="+mn-lt"/>
                <a:ea typeface="+mn-ea"/>
                <a:cs typeface="+mn-cs"/>
              </a:rPr>
              <a:t> som ikke forteller oss hvordan vi skal utvikle koden eller modellere krav, men hvordan vi skal jobbe og få fremgang.</a:t>
            </a:r>
          </a:p>
          <a:p>
            <a:endParaRPr lang="nb-NO"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Fokus på kryssfunksjonalitet der utviklerteamet ikke har spesifikke roller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Utfører sprinter (tidsavgrensede iterasjoner) med demo mot slutten eller levert produkt</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Seremonier/møter: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Sprint planning </a:t>
            </a:r>
            <a:r>
              <a:rPr lang="nb-NO" sz="1200" b="1" i="0" kern="1200" dirty="0" err="1">
                <a:solidFill>
                  <a:schemeClr val="tx1"/>
                </a:solidFill>
                <a:effectLst/>
                <a:latin typeface="+mn-lt"/>
                <a:ea typeface="+mn-ea"/>
                <a:cs typeface="+mn-cs"/>
              </a:rPr>
              <a:t>meeting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Product </a:t>
            </a:r>
            <a:r>
              <a:rPr lang="nb-NO" sz="1200" b="0" i="0" kern="1200" dirty="0" err="1">
                <a:solidFill>
                  <a:schemeClr val="tx1"/>
                </a:solidFill>
                <a:effectLst/>
                <a:latin typeface="+mn-lt"/>
                <a:ea typeface="+mn-ea"/>
                <a:cs typeface="+mn-cs"/>
              </a:rPr>
              <a:t>owner</a:t>
            </a:r>
            <a:r>
              <a:rPr lang="nb-NO" sz="1200" b="0" i="0" kern="1200" dirty="0">
                <a:solidFill>
                  <a:schemeClr val="tx1"/>
                </a:solidFill>
                <a:effectLst/>
                <a:latin typeface="+mn-lt"/>
                <a:ea typeface="+mn-ea"/>
                <a:cs typeface="+mn-cs"/>
              </a:rPr>
              <a:t> og utviklingsteam møter og avklarer hva som skal inngå i kommende sprint. Henter ut </a:t>
            </a:r>
            <a:r>
              <a:rPr lang="nb-NO" sz="1200" b="0" i="0" kern="1200" dirty="0" err="1">
                <a:solidFill>
                  <a:schemeClr val="tx1"/>
                </a:solidFill>
                <a:effectLst/>
                <a:latin typeface="+mn-lt"/>
                <a:ea typeface="+mn-ea"/>
                <a:cs typeface="+mn-cs"/>
              </a:rPr>
              <a:t>ProductBackLogItems</a:t>
            </a:r>
            <a:r>
              <a:rPr lang="nb-NO" sz="1200" b="0" i="0" kern="1200" dirty="0">
                <a:solidFill>
                  <a:schemeClr val="tx1"/>
                </a:solidFill>
                <a:effectLst/>
                <a:latin typeface="+mn-lt"/>
                <a:ea typeface="+mn-ea"/>
                <a:cs typeface="+mn-cs"/>
              </a:rPr>
              <a:t> fra </a:t>
            </a:r>
            <a:r>
              <a:rPr lang="nb-NO" sz="1200" b="0" i="0" kern="1200" dirty="0" err="1">
                <a:solidFill>
                  <a:schemeClr val="tx1"/>
                </a:solidFill>
                <a:effectLst/>
                <a:latin typeface="+mn-lt"/>
                <a:ea typeface="+mn-ea"/>
                <a:cs typeface="+mn-cs"/>
              </a:rPr>
              <a:t>ProductBacklog</a:t>
            </a:r>
            <a:r>
              <a:rPr lang="nb-NO" sz="1200" b="0" i="0" kern="1200" dirty="0">
                <a:solidFill>
                  <a:schemeClr val="tx1"/>
                </a:solidFill>
                <a:effectLst/>
                <a:latin typeface="+mn-lt"/>
                <a:ea typeface="+mn-ea"/>
                <a:cs typeface="+mn-cs"/>
              </a:rPr>
              <a:t>, justerer disse og legger i </a:t>
            </a:r>
            <a:r>
              <a:rPr lang="nb-NO" sz="1200" b="0" i="0" kern="1200" dirty="0" err="1">
                <a:solidFill>
                  <a:schemeClr val="tx1"/>
                </a:solidFill>
                <a:effectLst/>
                <a:latin typeface="+mn-lt"/>
                <a:ea typeface="+mn-ea"/>
                <a:cs typeface="+mn-cs"/>
              </a:rPr>
              <a:t>SprintBacklog</a:t>
            </a:r>
            <a:r>
              <a:rPr lang="nb-NO" sz="1200" b="0" i="0" kern="1200" dirty="0">
                <a:solidFill>
                  <a:schemeClr val="tx1"/>
                </a:solidFill>
                <a:effectLst/>
                <a:latin typeface="+mn-lt"/>
                <a:ea typeface="+mn-ea"/>
                <a:cs typeface="+mn-cs"/>
              </a:rPr>
              <a:t>. PO bestemmer hvilke PBI. </a:t>
            </a:r>
            <a:r>
              <a:rPr lang="nb-NO" sz="1200" b="0" i="0" kern="1200" dirty="0" err="1">
                <a:solidFill>
                  <a:schemeClr val="tx1"/>
                </a:solidFill>
                <a:effectLst/>
                <a:latin typeface="+mn-lt"/>
                <a:ea typeface="+mn-ea"/>
                <a:cs typeface="+mn-cs"/>
              </a:rPr>
              <a:t>Populerer</a:t>
            </a:r>
            <a:r>
              <a:rPr lang="nb-NO" sz="1200" b="0" i="0" kern="1200" dirty="0">
                <a:solidFill>
                  <a:schemeClr val="tx1"/>
                </a:solidFill>
                <a:effectLst/>
                <a:latin typeface="+mn-lt"/>
                <a:ea typeface="+mn-ea"/>
                <a:cs typeface="+mn-cs"/>
              </a:rPr>
              <a:t> også </a:t>
            </a:r>
            <a:r>
              <a:rPr lang="nb-NO" sz="1200" b="0" i="0" kern="1200" dirty="0" err="1">
                <a:solidFill>
                  <a:schemeClr val="tx1"/>
                </a:solidFill>
                <a:effectLst/>
                <a:latin typeface="+mn-lt"/>
                <a:ea typeface="+mn-ea"/>
                <a:cs typeface="+mn-cs"/>
              </a:rPr>
              <a:t>scrum-board</a:t>
            </a:r>
            <a:r>
              <a:rPr lang="nb-NO" sz="1200" b="0" i="0" kern="1200" dirty="0">
                <a:solidFill>
                  <a:schemeClr val="tx1"/>
                </a:solidFill>
                <a:effectLst/>
                <a:latin typeface="+mn-lt"/>
                <a:ea typeface="+mn-ea"/>
                <a:cs typeface="+mn-cs"/>
              </a:rPr>
              <a:t> med oppgaver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Standup møte:</a:t>
            </a:r>
            <a:endParaRPr lang="nb-NO" sz="1200" b="0" i="0" kern="1200" dirty="0">
              <a:solidFill>
                <a:schemeClr val="tx1"/>
              </a:solidFill>
              <a:effectLst/>
              <a:latin typeface="+mn-lt"/>
              <a:ea typeface="+mn-ea"/>
              <a:cs typeface="+mn-cs"/>
            </a:endParaRPr>
          </a:p>
          <a:p>
            <a:pPr marL="628650" lvl="1" indent="-171450">
              <a:buFont typeface="Arial" panose="020B0604020202020204" pitchFamily="34" charset="0"/>
              <a:buChar char="•"/>
            </a:pPr>
            <a:r>
              <a:rPr lang="nb-NO" sz="1200" b="1" i="0" kern="1200" dirty="0">
                <a:solidFill>
                  <a:schemeClr val="tx1"/>
                </a:solidFill>
                <a:effectLst/>
                <a:latin typeface="+mn-lt"/>
                <a:ea typeface="+mn-ea"/>
                <a:cs typeface="+mn-cs"/>
              </a:rPr>
              <a:t>Sprint </a:t>
            </a:r>
            <a:r>
              <a:rPr lang="nb-NO" sz="1200" b="1" i="0" kern="1200" dirty="0" err="1">
                <a:solidFill>
                  <a:schemeClr val="tx1"/>
                </a:solidFill>
                <a:effectLst/>
                <a:latin typeface="+mn-lt"/>
                <a:ea typeface="+mn-ea"/>
                <a:cs typeface="+mn-cs"/>
              </a:rPr>
              <a:t>review</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Utviklerteam, PO og interessenter møter etter ferdig sprint og resultat presenteres. Tilbakemelding gis og evaluering av produkt skjer.</a:t>
            </a:r>
          </a:p>
          <a:p>
            <a:pPr marL="628650" lvl="1" indent="-171450">
              <a:buFont typeface="Arial" panose="020B0604020202020204" pitchFamily="34" charset="0"/>
              <a:buChar char="•"/>
            </a:pPr>
            <a:r>
              <a:rPr lang="nb-NO" sz="1200" b="1" i="0" kern="1200" dirty="0">
                <a:solidFill>
                  <a:schemeClr val="tx1"/>
                </a:solidFill>
                <a:effectLst/>
                <a:latin typeface="+mn-lt"/>
                <a:ea typeface="+mn-ea"/>
                <a:cs typeface="+mn-cs"/>
              </a:rPr>
              <a:t>Retrospektiv:</a:t>
            </a:r>
            <a:r>
              <a:rPr lang="nb-NO" sz="1200" b="0" i="0" kern="1200" dirty="0">
                <a:solidFill>
                  <a:schemeClr val="tx1"/>
                </a:solidFill>
                <a:effectLst/>
                <a:latin typeface="+mn-lt"/>
                <a:ea typeface="+mn-ea"/>
                <a:cs typeface="+mn-cs"/>
              </a:rPr>
              <a:t> Utviklerteam innad reflekterer hva som gikk bra under </a:t>
            </a:r>
            <a:r>
              <a:rPr lang="nb-NO" sz="1200" b="0" i="0" kern="1200" dirty="0" err="1">
                <a:solidFill>
                  <a:schemeClr val="tx1"/>
                </a:solidFill>
                <a:effectLst/>
                <a:latin typeface="+mn-lt"/>
                <a:ea typeface="+mn-ea"/>
                <a:cs typeface="+mn-cs"/>
              </a:rPr>
              <a:t>spint</a:t>
            </a:r>
            <a:r>
              <a:rPr lang="nb-NO" sz="1200" b="0" i="0" kern="1200" dirty="0">
                <a:solidFill>
                  <a:schemeClr val="tx1"/>
                </a:solidFill>
                <a:effectLst/>
                <a:latin typeface="+mn-lt"/>
                <a:ea typeface="+mn-ea"/>
                <a:cs typeface="+mn-cs"/>
              </a:rPr>
              <a:t> og arbeidsprosess.</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999FF0D9-48FE-CD2A-C57D-9D46F1106A05}"/>
              </a:ext>
            </a:extLst>
          </p:cNvPr>
          <p:cNvSpPr>
            <a:spLocks noGrp="1"/>
          </p:cNvSpPr>
          <p:nvPr>
            <p:ph type="sldNum" sz="quarter" idx="5"/>
          </p:nvPr>
        </p:nvSpPr>
        <p:spPr/>
        <p:txBody>
          <a:bodyPr/>
          <a:lstStyle/>
          <a:p>
            <a:fld id="{ED8CD5F7-2931-42C6-9B3E-A6C700901896}" type="slidenum">
              <a:rPr lang="nb-NO" smtClean="0"/>
              <a:t>43</a:t>
            </a:fld>
            <a:endParaRPr lang="nb-NO"/>
          </a:p>
        </p:txBody>
      </p:sp>
    </p:spTree>
    <p:extLst>
      <p:ext uri="{BB962C8B-B14F-4D97-AF65-F5344CB8AC3E}">
        <p14:creationId xmlns:p14="http://schemas.microsoft.com/office/powerpoint/2010/main" val="15883728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2C1AB-7783-BDEA-EF5B-EF2506186F6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0E8C494-10CB-263C-696A-8BBDBE86EE2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05841D-208A-EACA-F2FA-B189D351595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Lik smidig metode, men med mer vekt på å ikke lagre ting uten verdi.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Prinsipper:</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Eliminate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waste</a:t>
            </a:r>
            <a:r>
              <a:rPr lang="nb-NO" sz="1200" b="0" i="0" kern="1200" dirty="0">
                <a:solidFill>
                  <a:schemeClr val="tx1"/>
                </a:solidFill>
                <a:effectLst/>
                <a:latin typeface="+mn-lt"/>
                <a:ea typeface="+mn-ea"/>
                <a:cs typeface="+mn-cs"/>
              </a:rPr>
              <a:t>: alt som produseres må ha verdi. Altså, unngå funksjoner kunden ikke vil ha selv om du liker det, dokumentasjon som er bare flesk, mye byråkrati </a:t>
            </a:r>
            <a:r>
              <a:rPr lang="nb-NO" sz="1200" b="0" i="0" kern="1200" dirty="0" err="1">
                <a:solidFill>
                  <a:schemeClr val="tx1"/>
                </a:solidFill>
                <a:effectLst/>
                <a:latin typeface="+mn-lt"/>
                <a:ea typeface="+mn-ea"/>
                <a:cs typeface="+mn-cs"/>
              </a:rPr>
              <a:t>osv</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Build</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quality</a:t>
            </a:r>
            <a:r>
              <a:rPr lang="nb-NO" sz="1200" b="1" i="0" kern="1200" dirty="0">
                <a:solidFill>
                  <a:schemeClr val="tx1"/>
                </a:solidFill>
                <a:effectLst/>
                <a:latin typeface="+mn-lt"/>
                <a:ea typeface="+mn-ea"/>
                <a:cs typeface="+mn-cs"/>
              </a:rPr>
              <a:t> in</a:t>
            </a:r>
            <a:r>
              <a:rPr lang="nb-NO" sz="1200" b="0" i="0" kern="1200" dirty="0">
                <a:solidFill>
                  <a:schemeClr val="tx1"/>
                </a:solidFill>
                <a:effectLst/>
                <a:latin typeface="+mn-lt"/>
                <a:ea typeface="+mn-ea"/>
                <a:cs typeface="+mn-cs"/>
              </a:rPr>
              <a:t>: God kvalitet på koden og systemet</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Create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knowledge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Korte feedback looper mellom kunde og utvikler slik at flere ting kan testes og endringer kan gjøres hyppig.</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Defer</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commitment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Vent med handlinger som er irreversible til man har lært nok om konsekvensene av de handlingene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Deliver fast:</a:t>
            </a:r>
            <a:r>
              <a:rPr lang="nb-NO" sz="1200" b="0" i="0" kern="1200" dirty="0">
                <a:solidFill>
                  <a:schemeClr val="tx1"/>
                </a:solidFill>
                <a:effectLst/>
                <a:latin typeface="+mn-lt"/>
                <a:ea typeface="+mn-ea"/>
                <a:cs typeface="+mn-cs"/>
              </a:rPr>
              <a:t> Tenk enkelt og unngå </a:t>
            </a:r>
            <a:r>
              <a:rPr lang="nb-NO" sz="1200" b="0" i="0" kern="1200" dirty="0" err="1">
                <a:solidFill>
                  <a:schemeClr val="tx1"/>
                </a:solidFill>
                <a:effectLst/>
                <a:latin typeface="+mn-lt"/>
                <a:ea typeface="+mn-ea"/>
                <a:cs typeface="+mn-cs"/>
              </a:rPr>
              <a:t>overengineering</a:t>
            </a:r>
            <a:r>
              <a:rPr lang="nb-NO" sz="1200" b="0" i="0" kern="1200" dirty="0">
                <a:solidFill>
                  <a:schemeClr val="tx1"/>
                </a:solidFill>
                <a:effectLst/>
                <a:latin typeface="+mn-lt"/>
                <a:ea typeface="+mn-ea"/>
                <a:cs typeface="+mn-cs"/>
              </a:rPr>
              <a:t>. Dette skaper unødvendig kompleksitet og administrering. </a:t>
            </a:r>
            <a:r>
              <a:rPr lang="nb-NO" sz="1200" b="0" i="0" kern="1200" dirty="0" err="1">
                <a:solidFill>
                  <a:schemeClr val="tx1"/>
                </a:solidFill>
                <a:effectLst/>
                <a:latin typeface="+mn-lt"/>
                <a:ea typeface="+mn-ea"/>
                <a:cs typeface="+mn-cs"/>
              </a:rPr>
              <a:t>Hovedfunksjonaliteten</a:t>
            </a:r>
            <a:r>
              <a:rPr lang="nb-NO" sz="1200" b="0" i="0" kern="1200" dirty="0">
                <a:solidFill>
                  <a:schemeClr val="tx1"/>
                </a:solidFill>
                <a:effectLst/>
                <a:latin typeface="+mn-lt"/>
                <a:ea typeface="+mn-ea"/>
                <a:cs typeface="+mn-cs"/>
              </a:rPr>
              <a:t> skal prioriteres og må ut i produksjon så raskt som mulig.</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Respect</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people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La utviklere ha ansvar over selve utviklingsprosessen og ledere fokuserer på sitt.</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Optimize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the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whole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Forstå helheten i et system, forstå hoveddomene og avhengigheter mellom komponenter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199C0031-B9D2-3231-E4E4-C75FC63D1838}"/>
              </a:ext>
            </a:extLst>
          </p:cNvPr>
          <p:cNvSpPr>
            <a:spLocks noGrp="1"/>
          </p:cNvSpPr>
          <p:nvPr>
            <p:ph type="sldNum" sz="quarter" idx="5"/>
          </p:nvPr>
        </p:nvSpPr>
        <p:spPr/>
        <p:txBody>
          <a:bodyPr/>
          <a:lstStyle/>
          <a:p>
            <a:fld id="{ED8CD5F7-2931-42C6-9B3E-A6C700901896}" type="slidenum">
              <a:rPr lang="nb-NO" smtClean="0"/>
              <a:t>44</a:t>
            </a:fld>
            <a:endParaRPr lang="nb-NO"/>
          </a:p>
        </p:txBody>
      </p:sp>
    </p:spTree>
    <p:extLst>
      <p:ext uri="{BB962C8B-B14F-4D97-AF65-F5344CB8AC3E}">
        <p14:creationId xmlns:p14="http://schemas.microsoft.com/office/powerpoint/2010/main" val="21859474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0B0E-35F1-A34E-04D5-61FC8EEF73D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6BBC5E2-1924-F363-0717-79A7292CBF7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CEF02BE-86A8-A25F-3C70-45C78BCCB28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Flytbasert: Fokus på å unngå flaskehalser under utvikling</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Fokus på kontinuerlig flyt med fleksible prosesser og visuell styring uten faste iterasjoner.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Produkt levert kontinuerlig</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Ingen standard møter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Bruker et </a:t>
            </a:r>
            <a:r>
              <a:rPr lang="nb-NO" sz="1200" b="1" i="0" kern="1200" dirty="0" err="1">
                <a:solidFill>
                  <a:schemeClr val="tx1"/>
                </a:solidFill>
                <a:effectLst/>
                <a:latin typeface="+mn-lt"/>
                <a:ea typeface="+mn-ea"/>
                <a:cs typeface="+mn-cs"/>
              </a:rPr>
              <a:t>kanban-board</a:t>
            </a:r>
            <a:r>
              <a:rPr lang="nb-NO" sz="1200" b="0" i="0" kern="1200" dirty="0">
                <a:solidFill>
                  <a:schemeClr val="tx1"/>
                </a:solidFill>
                <a:effectLst/>
                <a:latin typeface="+mn-lt"/>
                <a:ea typeface="+mn-ea"/>
                <a:cs typeface="+mn-cs"/>
              </a:rPr>
              <a:t>: Lik </a:t>
            </a:r>
            <a:r>
              <a:rPr lang="nb-NO" sz="1200" b="0" i="0" kern="1200" dirty="0" err="1">
                <a:solidFill>
                  <a:schemeClr val="tx1"/>
                </a:solidFill>
                <a:effectLst/>
                <a:latin typeface="+mn-lt"/>
                <a:ea typeface="+mn-ea"/>
                <a:cs typeface="+mn-cs"/>
              </a:rPr>
              <a:t>scrum-board</a:t>
            </a:r>
            <a:r>
              <a:rPr lang="nb-NO" sz="1200" b="0" i="0" kern="1200" dirty="0">
                <a:solidFill>
                  <a:schemeClr val="tx1"/>
                </a:solidFill>
                <a:effectLst/>
                <a:latin typeface="+mn-lt"/>
                <a:ea typeface="+mn-ea"/>
                <a:cs typeface="+mn-cs"/>
              </a:rPr>
              <a:t> bare at det er begrenset oppgaver på hver kolonne. Formål: Dersom man har lite oppgaver i kolonnen man jobber i kan man bidra i andres kolonner som har flere oppgaver.  Disse kolonnene fungerer som en flaskehals som bremser det prosessen.</a:t>
            </a:r>
          </a:p>
        </p:txBody>
      </p:sp>
      <p:sp>
        <p:nvSpPr>
          <p:cNvPr id="4" name="Plassholder for lysbildenummer 3">
            <a:extLst>
              <a:ext uri="{FF2B5EF4-FFF2-40B4-BE49-F238E27FC236}">
                <a16:creationId xmlns:a16="http://schemas.microsoft.com/office/drawing/2014/main" id="{C4A670CB-DCFA-1B85-76C1-D9A15A405C53}"/>
              </a:ext>
            </a:extLst>
          </p:cNvPr>
          <p:cNvSpPr>
            <a:spLocks noGrp="1"/>
          </p:cNvSpPr>
          <p:nvPr>
            <p:ph type="sldNum" sz="quarter" idx="5"/>
          </p:nvPr>
        </p:nvSpPr>
        <p:spPr/>
        <p:txBody>
          <a:bodyPr/>
          <a:lstStyle/>
          <a:p>
            <a:fld id="{ED8CD5F7-2931-42C6-9B3E-A6C700901896}" type="slidenum">
              <a:rPr lang="nb-NO" smtClean="0"/>
              <a:t>45</a:t>
            </a:fld>
            <a:endParaRPr lang="nb-NO"/>
          </a:p>
        </p:txBody>
      </p:sp>
    </p:spTree>
    <p:extLst>
      <p:ext uri="{BB962C8B-B14F-4D97-AF65-F5344CB8AC3E}">
        <p14:creationId xmlns:p14="http://schemas.microsoft.com/office/powerpoint/2010/main" val="35105502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C8589-95F6-0605-A9B6-401204A1E34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A670BF4-B3E9-F6BA-7119-7CB25C2ADE8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59AD252-EE6E-E28A-E4F4-5CB2049B1646}"/>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Høyt fokus på domenet</a:t>
            </a:r>
          </a:p>
          <a:p>
            <a:r>
              <a:rPr lang="nb-NO" sz="1200" b="0" i="0" kern="1200" dirty="0">
                <a:solidFill>
                  <a:schemeClr val="tx1"/>
                </a:solidFill>
                <a:effectLst/>
                <a:latin typeface="+mn-lt"/>
                <a:ea typeface="+mn-ea"/>
                <a:cs typeface="+mn-cs"/>
              </a:rPr>
              <a:t>Koden skal gjenspeile virkeligheten, altså domenet</a:t>
            </a:r>
          </a:p>
          <a:p>
            <a:r>
              <a:rPr lang="nb-NO" sz="1200" b="0" i="0" kern="1200" dirty="0">
                <a:solidFill>
                  <a:schemeClr val="tx1"/>
                </a:solidFill>
                <a:effectLst/>
                <a:latin typeface="+mn-lt"/>
                <a:ea typeface="+mn-ea"/>
                <a:cs typeface="+mn-cs"/>
              </a:rPr>
              <a:t>Godt egnet for skalering og endringer</a:t>
            </a:r>
          </a:p>
          <a:p>
            <a:r>
              <a:rPr lang="nb-NO" sz="1200" b="0" i="0" kern="1200" dirty="0">
                <a:solidFill>
                  <a:schemeClr val="tx1"/>
                </a:solidFill>
                <a:effectLst/>
                <a:latin typeface="+mn-lt"/>
                <a:ea typeface="+mn-ea"/>
                <a:cs typeface="+mn-cs"/>
              </a:rPr>
              <a:t>Fokuserer på det viktigste i domenet</a:t>
            </a:r>
          </a:p>
        </p:txBody>
      </p:sp>
      <p:sp>
        <p:nvSpPr>
          <p:cNvPr id="4" name="Plassholder for lysbildenummer 3">
            <a:extLst>
              <a:ext uri="{FF2B5EF4-FFF2-40B4-BE49-F238E27FC236}">
                <a16:creationId xmlns:a16="http://schemas.microsoft.com/office/drawing/2014/main" id="{B9587EDE-D852-CF99-F632-1FD0B6F3A362}"/>
              </a:ext>
            </a:extLst>
          </p:cNvPr>
          <p:cNvSpPr>
            <a:spLocks noGrp="1"/>
          </p:cNvSpPr>
          <p:nvPr>
            <p:ph type="sldNum" sz="quarter" idx="5"/>
          </p:nvPr>
        </p:nvSpPr>
        <p:spPr/>
        <p:txBody>
          <a:bodyPr/>
          <a:lstStyle/>
          <a:p>
            <a:fld id="{ED8CD5F7-2931-42C6-9B3E-A6C700901896}" type="slidenum">
              <a:rPr lang="nb-NO" smtClean="0"/>
              <a:t>46</a:t>
            </a:fld>
            <a:endParaRPr lang="nb-NO"/>
          </a:p>
        </p:txBody>
      </p:sp>
    </p:spTree>
    <p:extLst>
      <p:ext uri="{BB962C8B-B14F-4D97-AF65-F5344CB8AC3E}">
        <p14:creationId xmlns:p14="http://schemas.microsoft.com/office/powerpoint/2010/main" val="17188120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20CC9-D479-8E33-EE0F-7A25408392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3FB79AF-ACAA-6835-EF9D-91C3CB8ACDD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1EB8292-991D-4AA2-84E4-98E6EE1BF7D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En kultur og praksis som kombinerer </a:t>
            </a:r>
            <a:r>
              <a:rPr lang="nb-NO" sz="1200" b="1" i="0" kern="1200" dirty="0">
                <a:solidFill>
                  <a:schemeClr val="tx1"/>
                </a:solidFill>
                <a:effectLst/>
                <a:latin typeface="+mn-lt"/>
                <a:ea typeface="+mn-ea"/>
                <a:cs typeface="+mn-cs"/>
              </a:rPr>
              <a:t>utvikling (</a:t>
            </a:r>
            <a:r>
              <a:rPr lang="nb-NO" sz="1200" b="1" i="0" kern="1200" dirty="0" err="1">
                <a:solidFill>
                  <a:schemeClr val="tx1"/>
                </a:solidFill>
                <a:effectLst/>
                <a:latin typeface="+mn-lt"/>
                <a:ea typeface="+mn-ea"/>
                <a:cs typeface="+mn-cs"/>
              </a:rPr>
              <a:t>Dev</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og </a:t>
            </a:r>
            <a:r>
              <a:rPr lang="nb-NO" sz="1200" b="1" i="0" kern="1200" dirty="0">
                <a:solidFill>
                  <a:schemeClr val="tx1"/>
                </a:solidFill>
                <a:effectLst/>
                <a:latin typeface="+mn-lt"/>
                <a:ea typeface="+mn-ea"/>
                <a:cs typeface="+mn-cs"/>
              </a:rPr>
              <a:t>drift (</a:t>
            </a:r>
            <a:r>
              <a:rPr lang="nb-NO" sz="1200" b="1" i="0" kern="1200" dirty="0" err="1">
                <a:solidFill>
                  <a:schemeClr val="tx1"/>
                </a:solidFill>
                <a:effectLst/>
                <a:latin typeface="+mn-lt"/>
                <a:ea typeface="+mn-ea"/>
                <a:cs typeface="+mn-cs"/>
              </a:rPr>
              <a:t>Ops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for å muliggjøre kontinuerlig integrasjon og leveranse.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Agile vs </a:t>
            </a:r>
            <a:r>
              <a:rPr lang="nb-NO" sz="1200" b="1" i="0" kern="1200" dirty="0" err="1">
                <a:solidFill>
                  <a:schemeClr val="tx1"/>
                </a:solidFill>
                <a:effectLst/>
                <a:latin typeface="+mn-lt"/>
                <a:ea typeface="+mn-ea"/>
                <a:cs typeface="+mn-cs"/>
              </a:rPr>
              <a:t>DevOps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Agile er en metode (fokus på utvikling), </a:t>
            </a:r>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 er en kultur (fokus på leveranse til produksjon). Kombinert: «Agile </a:t>
            </a:r>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»-kultur.</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CI (</a:t>
            </a:r>
            <a:r>
              <a:rPr lang="nb-NO" sz="1200" b="1" i="0" kern="1200" dirty="0" err="1">
                <a:solidFill>
                  <a:schemeClr val="tx1"/>
                </a:solidFill>
                <a:effectLst/>
                <a:latin typeface="+mn-lt"/>
                <a:ea typeface="+mn-ea"/>
                <a:cs typeface="+mn-cs"/>
              </a:rPr>
              <a:t>Continuous</a:t>
            </a:r>
            <a:r>
              <a:rPr lang="nb-NO" sz="1200" b="1" i="0" kern="1200" dirty="0">
                <a:solidFill>
                  <a:schemeClr val="tx1"/>
                </a:solidFill>
                <a:effectLst/>
                <a:latin typeface="+mn-lt"/>
                <a:ea typeface="+mn-ea"/>
                <a:cs typeface="+mn-cs"/>
              </a:rPr>
              <a:t> Integration):</a:t>
            </a:r>
            <a:r>
              <a:rPr lang="nb-NO" sz="1200" b="0" i="0" kern="1200" dirty="0">
                <a:solidFill>
                  <a:schemeClr val="tx1"/>
                </a:solidFill>
                <a:effectLst/>
                <a:latin typeface="+mn-lt"/>
                <a:ea typeface="+mn-ea"/>
                <a:cs typeface="+mn-cs"/>
              </a:rPr>
              <a:t> Kode integreres hyppig i en felles gren. Endringer bygges og testes automatisk.</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CD (</a:t>
            </a:r>
            <a:r>
              <a:rPr lang="nb-NO" sz="1200" b="1" i="0" kern="1200" dirty="0" err="1">
                <a:solidFill>
                  <a:schemeClr val="tx1"/>
                </a:solidFill>
                <a:effectLst/>
                <a:latin typeface="+mn-lt"/>
                <a:ea typeface="+mn-ea"/>
                <a:cs typeface="+mn-cs"/>
              </a:rPr>
              <a:t>Continuous</a:t>
            </a:r>
            <a:r>
              <a:rPr lang="nb-NO" sz="1200" b="1" i="0" kern="1200" dirty="0">
                <a:solidFill>
                  <a:schemeClr val="tx1"/>
                </a:solidFill>
                <a:effectLst/>
                <a:latin typeface="+mn-lt"/>
                <a:ea typeface="+mn-ea"/>
                <a:cs typeface="+mn-cs"/>
              </a:rPr>
              <a:t> Delivery/Deployment):</a:t>
            </a:r>
            <a:r>
              <a:rPr lang="nb-NO" sz="1200" b="0" i="0" kern="1200" dirty="0">
                <a:solidFill>
                  <a:schemeClr val="tx1"/>
                </a:solidFill>
                <a:effectLst/>
                <a:latin typeface="+mn-lt"/>
                <a:ea typeface="+mn-ea"/>
                <a:cs typeface="+mn-cs"/>
              </a:rPr>
              <a:t> Kodeendringer </a:t>
            </a:r>
            <a:r>
              <a:rPr lang="nb-NO" sz="1200" b="0" i="0" kern="1200" dirty="0" err="1">
                <a:solidFill>
                  <a:schemeClr val="tx1"/>
                </a:solidFill>
                <a:effectLst/>
                <a:latin typeface="+mn-lt"/>
                <a:ea typeface="+mn-ea"/>
                <a:cs typeface="+mn-cs"/>
              </a:rPr>
              <a:t>deployes</a:t>
            </a:r>
            <a:r>
              <a:rPr lang="nb-NO" sz="1200" b="0" i="0" kern="1200" dirty="0">
                <a:solidFill>
                  <a:schemeClr val="tx1"/>
                </a:solidFill>
                <a:effectLst/>
                <a:latin typeface="+mn-lt"/>
                <a:ea typeface="+mn-ea"/>
                <a:cs typeface="+mn-cs"/>
              </a:rPr>
              <a:t> automatisk til produksjon.</a:t>
            </a:r>
          </a:p>
          <a:p>
            <a:endParaRPr lang="nb-NO" sz="1200" b="0" i="0" kern="1200" dirty="0">
              <a:solidFill>
                <a:schemeClr val="tx1"/>
              </a:solidFill>
              <a:effectLst/>
              <a:latin typeface="+mn-lt"/>
              <a:ea typeface="+mn-ea"/>
              <a:cs typeface="+mn-cs"/>
            </a:endParaRPr>
          </a:p>
          <a:p>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-verktøy:</a:t>
            </a:r>
          </a:p>
          <a:p>
            <a:pPr lvl="1"/>
            <a:r>
              <a:rPr lang="nb-NO" sz="1200" b="0" i="0" kern="1200" dirty="0">
                <a:solidFill>
                  <a:schemeClr val="tx1"/>
                </a:solidFill>
                <a:effectLst/>
                <a:latin typeface="+mn-lt"/>
                <a:ea typeface="+mn-ea"/>
                <a:cs typeface="+mn-cs"/>
              </a:rPr>
              <a:t>Utvikling: </a:t>
            </a:r>
            <a:r>
              <a:rPr lang="nb-NO" sz="1200" b="0" i="0" kern="1200" dirty="0" err="1">
                <a:solidFill>
                  <a:schemeClr val="tx1"/>
                </a:solidFill>
                <a:effectLst/>
                <a:latin typeface="+mn-lt"/>
                <a:ea typeface="+mn-ea"/>
                <a:cs typeface="+mn-cs"/>
              </a:rPr>
              <a:t>GitLab</a:t>
            </a:r>
            <a:r>
              <a:rPr lang="nb-NO" sz="1200" b="0" i="0" kern="1200" dirty="0">
                <a:solidFill>
                  <a:schemeClr val="tx1"/>
                </a:solidFill>
                <a:effectLst/>
                <a:latin typeface="+mn-lt"/>
                <a:ea typeface="+mn-ea"/>
                <a:cs typeface="+mn-cs"/>
              </a:rPr>
              <a:t>/GitHub, </a:t>
            </a:r>
            <a:r>
              <a:rPr lang="nb-NO" sz="1200" b="0" i="0" kern="1200" dirty="0" err="1">
                <a:solidFill>
                  <a:schemeClr val="tx1"/>
                </a:solidFill>
                <a:effectLst/>
                <a:latin typeface="+mn-lt"/>
                <a:ea typeface="+mn-ea"/>
                <a:cs typeface="+mn-cs"/>
              </a:rPr>
              <a:t>Jira</a:t>
            </a:r>
            <a:r>
              <a:rPr lang="nb-NO" sz="1200" b="0" i="0" kern="1200" dirty="0">
                <a:solidFill>
                  <a:schemeClr val="tx1"/>
                </a:solidFill>
                <a:effectLst/>
                <a:latin typeface="+mn-lt"/>
                <a:ea typeface="+mn-ea"/>
                <a:cs typeface="+mn-cs"/>
              </a:rPr>
              <a:t>/</a:t>
            </a:r>
            <a:r>
              <a:rPr lang="nb-NO" sz="1200" b="0" i="0" kern="1200" dirty="0" err="1">
                <a:solidFill>
                  <a:schemeClr val="tx1"/>
                </a:solidFill>
                <a:effectLst/>
                <a:latin typeface="+mn-lt"/>
                <a:ea typeface="+mn-ea"/>
                <a:cs typeface="+mn-cs"/>
              </a:rPr>
              <a:t>Confluence</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CI (bygg/test): Maven, </a:t>
            </a:r>
            <a:r>
              <a:rPr lang="nb-NO" sz="1200" b="0" i="0" kern="1200" dirty="0" err="1">
                <a:solidFill>
                  <a:schemeClr val="tx1"/>
                </a:solidFill>
                <a:effectLst/>
                <a:latin typeface="+mn-lt"/>
                <a:ea typeface="+mn-ea"/>
                <a:cs typeface="+mn-cs"/>
              </a:rPr>
              <a:t>Gradle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Jenkins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JUnit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Selenium</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CD (</a:t>
            </a:r>
            <a:r>
              <a:rPr lang="nb-NO" sz="1200" b="0" i="0" kern="1200" dirty="0" err="1">
                <a:solidFill>
                  <a:schemeClr val="tx1"/>
                </a:solidFill>
                <a:effectLst/>
                <a:latin typeface="+mn-lt"/>
                <a:ea typeface="+mn-ea"/>
                <a:cs typeface="+mn-cs"/>
              </a:rPr>
              <a:t>deploy</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Kubernetes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Helm</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Docker</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Drift/</a:t>
            </a:r>
            <a:r>
              <a:rPr lang="nb-NO" sz="1200" b="0" i="0" kern="1200" dirty="0" err="1">
                <a:solidFill>
                  <a:schemeClr val="tx1"/>
                </a:solidFill>
                <a:effectLst/>
                <a:latin typeface="+mn-lt"/>
                <a:ea typeface="+mn-ea"/>
                <a:cs typeface="+mn-cs"/>
              </a:rPr>
              <a:t>monitorering</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Kibana</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Grafana</a:t>
            </a: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59515595-A422-E250-1D23-B064A4C2E198}"/>
              </a:ext>
            </a:extLst>
          </p:cNvPr>
          <p:cNvSpPr>
            <a:spLocks noGrp="1"/>
          </p:cNvSpPr>
          <p:nvPr>
            <p:ph type="sldNum" sz="quarter" idx="5"/>
          </p:nvPr>
        </p:nvSpPr>
        <p:spPr/>
        <p:txBody>
          <a:bodyPr/>
          <a:lstStyle/>
          <a:p>
            <a:fld id="{ED8CD5F7-2931-42C6-9B3E-A6C700901896}" type="slidenum">
              <a:rPr lang="nb-NO" smtClean="0"/>
              <a:t>47</a:t>
            </a:fld>
            <a:endParaRPr lang="nb-NO"/>
          </a:p>
        </p:txBody>
      </p:sp>
    </p:spTree>
    <p:extLst>
      <p:ext uri="{BB962C8B-B14F-4D97-AF65-F5344CB8AC3E}">
        <p14:creationId xmlns:p14="http://schemas.microsoft.com/office/powerpoint/2010/main" val="20307988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B7B79-DE4D-4F1B-EC74-A4F9D18F93A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C6ED7C8-CDDA-DB50-BBA0-6DA0E7D74C7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B96B3C8B-D6DB-25A6-0698-1F765F09F7CF}"/>
              </a:ext>
            </a:extLst>
          </p:cNvPr>
          <p:cNvSpPr>
            <a:spLocks noGrp="1"/>
          </p:cNvSpPr>
          <p:nvPr>
            <p:ph type="body" idx="1"/>
          </p:nvPr>
        </p:nvSpPr>
        <p:spPr/>
        <p:txBody>
          <a:bodyPr/>
          <a:lstStyle/>
          <a:p>
            <a:r>
              <a:rPr lang="nb-NO" sz="1200" b="1" i="0" kern="1200" dirty="0" err="1">
                <a:solidFill>
                  <a:schemeClr val="tx1"/>
                </a:solidFill>
                <a:effectLst/>
                <a:latin typeface="+mn-lt"/>
                <a:ea typeface="+mn-ea"/>
                <a:cs typeface="+mn-cs"/>
              </a:rPr>
              <a:t>REpresentational</a:t>
            </a:r>
            <a:r>
              <a:rPr lang="nb-NO" sz="1200" b="1" i="0" kern="1200" dirty="0">
                <a:solidFill>
                  <a:schemeClr val="tx1"/>
                </a:solidFill>
                <a:effectLst/>
                <a:latin typeface="+mn-lt"/>
                <a:ea typeface="+mn-ea"/>
                <a:cs typeface="+mn-cs"/>
              </a:rPr>
              <a:t> State Transfer</a:t>
            </a:r>
            <a:r>
              <a:rPr lang="nb-NO" sz="1200" b="0" i="0" kern="1200" dirty="0">
                <a:solidFill>
                  <a:schemeClr val="tx1"/>
                </a:solidFill>
                <a:effectLst/>
                <a:latin typeface="+mn-lt"/>
                <a:ea typeface="+mn-ea"/>
                <a:cs typeface="+mn-cs"/>
              </a:rPr>
              <a:t> – arkitekturstil (ikke protokoll) for design av API-er.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Basert på klient-tjener-paradigmet der klient og server utveksler representasjoner av ressurser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Data og funksjonalitet behandles som </a:t>
            </a:r>
            <a:r>
              <a:rPr lang="nb-NO" sz="1200" b="1" i="0" kern="1200" dirty="0">
                <a:solidFill>
                  <a:schemeClr val="tx1"/>
                </a:solidFill>
                <a:effectLst/>
                <a:latin typeface="+mn-lt"/>
                <a:ea typeface="+mn-ea"/>
                <a:cs typeface="+mn-cs"/>
              </a:rPr>
              <a:t>ressurser</a:t>
            </a:r>
            <a:r>
              <a:rPr lang="nb-NO" sz="1200" b="0" i="0" kern="1200" dirty="0">
                <a:solidFill>
                  <a:schemeClr val="tx1"/>
                </a:solidFill>
                <a:effectLst/>
                <a:latin typeface="+mn-lt"/>
                <a:ea typeface="+mn-ea"/>
                <a:cs typeface="+mn-cs"/>
              </a:rPr>
              <a:t> tilgjengelig via </a:t>
            </a:r>
            <a:r>
              <a:rPr lang="nb-NO" sz="1200" b="1" i="0" kern="1200" dirty="0">
                <a:solidFill>
                  <a:schemeClr val="tx1"/>
                </a:solidFill>
                <a:effectLst/>
                <a:latin typeface="+mn-lt"/>
                <a:ea typeface="+mn-ea"/>
                <a:cs typeface="+mn-cs"/>
              </a:rPr>
              <a:t>URI-er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Ressurser manipuleres med veldefinerte HTTP-operasjoner: GET, POST, PUT, DELETE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Eksempel: GET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 (hent alle), POST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 (legg til ny), DELETE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/{id} (slett)</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CB045914-8E23-0176-7C30-667CB00E0366}"/>
              </a:ext>
            </a:extLst>
          </p:cNvPr>
          <p:cNvSpPr>
            <a:spLocks noGrp="1"/>
          </p:cNvSpPr>
          <p:nvPr>
            <p:ph type="sldNum" sz="quarter" idx="5"/>
          </p:nvPr>
        </p:nvSpPr>
        <p:spPr/>
        <p:txBody>
          <a:bodyPr/>
          <a:lstStyle/>
          <a:p>
            <a:fld id="{ED8CD5F7-2931-42C6-9B3E-A6C700901896}" type="slidenum">
              <a:rPr lang="nb-NO" smtClean="0"/>
              <a:t>48</a:t>
            </a:fld>
            <a:endParaRPr lang="nb-NO"/>
          </a:p>
        </p:txBody>
      </p:sp>
    </p:spTree>
    <p:extLst>
      <p:ext uri="{BB962C8B-B14F-4D97-AF65-F5344CB8AC3E}">
        <p14:creationId xmlns:p14="http://schemas.microsoft.com/office/powerpoint/2010/main" val="3943547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txBody>
          <a:bodyPr/>
          <a:lstStyle/>
          <a:p>
            <a:endParaRPr lang="nb-NO"/>
          </a:p>
        </p:txBody>
      </p:sp>
      <p:sp>
        <p:nvSpPr>
          <p:cNvPr id="3" name="Plassholder for notater 2"/>
          <p:cNvSpPr>
            <a:spLocks noGrp="1"/>
          </p:cNvSpPr>
          <p:nvPr>
            <p:ph type="body" idx="1"/>
          </p:nvPr>
        </p:nvSpPr>
        <p:spPr/>
        <p:txBody>
          <a:bodyPr/>
          <a:lstStyle/>
          <a:p>
            <a:endParaRPr lang="nb-NO" dirty="0"/>
          </a:p>
        </p:txBody>
      </p:sp>
      <p:sp>
        <p:nvSpPr>
          <p:cNvPr id="4" name="Plassholder for lysbildenummer 3"/>
          <p:cNvSpPr>
            <a:spLocks noGrp="1"/>
          </p:cNvSpPr>
          <p:nvPr>
            <p:ph type="sldNum" sz="quarter" idx="5"/>
          </p:nvPr>
        </p:nvSpPr>
        <p:spPr/>
        <p:txBody>
          <a:bodyPr/>
          <a:lstStyle/>
          <a:p>
            <a:fld id="{ED8CD5F7-2931-42C6-9B3E-A6C700901896}" type="slidenum">
              <a:rPr lang="nb-NO" smtClean="0"/>
              <a:t>49</a:t>
            </a:fld>
            <a:endParaRPr lang="nb-NO"/>
          </a:p>
        </p:txBody>
      </p:sp>
    </p:spTree>
    <p:extLst>
      <p:ext uri="{BB962C8B-B14F-4D97-AF65-F5344CB8AC3E}">
        <p14:creationId xmlns:p14="http://schemas.microsoft.com/office/powerpoint/2010/main" val="70334200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1566-614A-17E2-D7CA-2B4077456FB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440D281-CED8-20ED-9D08-AA50AE616176}"/>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7637015-2015-5685-6D4A-3A15D67139D9}"/>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For å validere at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Responderer riktig ved interaksjon/input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Ikke har </a:t>
            </a:r>
            <a:r>
              <a:rPr lang="nb-NO" sz="1200" b="0" i="0" kern="1200" dirty="0" err="1">
                <a:solidFill>
                  <a:schemeClr val="tx1"/>
                </a:solidFill>
                <a:effectLst/>
                <a:latin typeface="+mn-lt"/>
                <a:ea typeface="+mn-ea"/>
                <a:cs typeface="+mn-cs"/>
              </a:rPr>
              <a:t>bugs</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Har god ytelse under </a:t>
            </a:r>
            <a:r>
              <a:rPr lang="nb-NO" sz="1200" b="0" i="0" kern="1200" dirty="0" err="1">
                <a:solidFill>
                  <a:schemeClr val="tx1"/>
                </a:solidFill>
                <a:effectLst/>
                <a:latin typeface="+mn-lt"/>
                <a:ea typeface="+mn-ea"/>
                <a:cs typeface="+mn-cs"/>
              </a:rPr>
              <a:t>edge</a:t>
            </a:r>
            <a:r>
              <a:rPr lang="nb-NO" sz="1200" b="0" i="0" kern="1200" dirty="0">
                <a:solidFill>
                  <a:schemeClr val="tx1"/>
                </a:solidFill>
                <a:effectLst/>
                <a:latin typeface="+mn-lt"/>
                <a:ea typeface="+mn-ea"/>
                <a:cs typeface="+mn-cs"/>
              </a:rPr>
              <a:t> cases</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Møter krav til brukervennlighet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Møter kravene satt av </a:t>
            </a:r>
            <a:r>
              <a:rPr lang="nb-NO" sz="1200" b="0" i="0" kern="1200" dirty="0" err="1">
                <a:solidFill>
                  <a:schemeClr val="tx1"/>
                </a:solidFill>
                <a:effectLst/>
                <a:latin typeface="+mn-lt"/>
                <a:ea typeface="+mn-ea"/>
                <a:cs typeface="+mn-cs"/>
              </a:rPr>
              <a:t>product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owner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Kan installeres i riktig miljø</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Kan håndtere endringer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Tester vanligvis i faser i prosjektet, mens med smidig metode tester man kontinuerlig og automatisk gjennom DDD.</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EE012BA7-5090-08AF-169A-E28D55B0407C}"/>
              </a:ext>
            </a:extLst>
          </p:cNvPr>
          <p:cNvSpPr>
            <a:spLocks noGrp="1"/>
          </p:cNvSpPr>
          <p:nvPr>
            <p:ph type="sldNum" sz="quarter" idx="5"/>
          </p:nvPr>
        </p:nvSpPr>
        <p:spPr/>
        <p:txBody>
          <a:bodyPr/>
          <a:lstStyle/>
          <a:p>
            <a:fld id="{ED8CD5F7-2931-42C6-9B3E-A6C700901896}" type="slidenum">
              <a:rPr lang="nb-NO" smtClean="0"/>
              <a:t>50</a:t>
            </a:fld>
            <a:endParaRPr lang="nb-NO"/>
          </a:p>
        </p:txBody>
      </p:sp>
    </p:spTree>
    <p:extLst>
      <p:ext uri="{BB962C8B-B14F-4D97-AF65-F5344CB8AC3E}">
        <p14:creationId xmlns:p14="http://schemas.microsoft.com/office/powerpoint/2010/main" val="39043966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52008-15E9-DA24-0BA1-C90FF589A27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9CD02CB-73EE-3755-44ED-91E004352F5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67E258F-3D9B-A76C-A44C-C1BB346F2EF6}"/>
              </a:ext>
            </a:extLst>
          </p:cNvPr>
          <p:cNvSpPr>
            <a:spLocks noGrp="1"/>
          </p:cNvSpPr>
          <p:nvPr>
            <p:ph type="body" idx="1"/>
          </p:nvPr>
        </p:nvSpPr>
        <p:spPr/>
        <p:txBody>
          <a:bodyPr/>
          <a:lstStyle/>
          <a:p>
            <a:pPr lvl="0"/>
            <a:r>
              <a:rPr lang="nb-NO" sz="1200" b="0" i="0" kern="1200" dirty="0">
                <a:solidFill>
                  <a:schemeClr val="tx1"/>
                </a:solidFill>
                <a:effectLst/>
                <a:latin typeface="+mn-lt"/>
                <a:ea typeface="+mn-ea"/>
                <a:cs typeface="+mn-cs"/>
              </a:rPr>
              <a:t>Utvikling og testing skjer separat: ett team utvikler, et annet (QA-teamet) </a:t>
            </a:r>
            <a:r>
              <a:rPr lang="nb-NO" sz="1200" b="0" i="0" kern="1200" dirty="0" err="1">
                <a:solidFill>
                  <a:schemeClr val="tx1"/>
                </a:solidFill>
                <a:effectLst/>
                <a:latin typeface="+mn-lt"/>
                <a:ea typeface="+mn-ea"/>
                <a:cs typeface="+mn-cs"/>
              </a:rPr>
              <a:t>kvalitets­sikrer</a:t>
            </a:r>
            <a:endParaRPr lang="nb-NO" sz="1200" b="0" i="0" kern="1200" dirty="0">
              <a:solidFill>
                <a:schemeClr val="tx1"/>
              </a:solidFill>
              <a:effectLst/>
              <a:latin typeface="+mn-lt"/>
              <a:ea typeface="+mn-ea"/>
              <a:cs typeface="+mn-cs"/>
            </a:endParaRPr>
          </a:p>
          <a:p>
            <a:pPr lvl="0"/>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Produktet sendes tilbake til utvikling dersom krav ikke er oppfylt</a:t>
            </a:r>
          </a:p>
          <a:p>
            <a:pPr lvl="0"/>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Ulempe: mye tid brukt på kommunikasjon fremfor utvikling</a:t>
            </a:r>
          </a:p>
          <a:p>
            <a:pPr lvl="1"/>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8827C488-9E47-129F-D4E1-DD0731917125}"/>
              </a:ext>
            </a:extLst>
          </p:cNvPr>
          <p:cNvSpPr>
            <a:spLocks noGrp="1"/>
          </p:cNvSpPr>
          <p:nvPr>
            <p:ph type="sldNum" sz="quarter" idx="5"/>
          </p:nvPr>
        </p:nvSpPr>
        <p:spPr/>
        <p:txBody>
          <a:bodyPr/>
          <a:lstStyle/>
          <a:p>
            <a:fld id="{ED8CD5F7-2931-42C6-9B3E-A6C700901896}" type="slidenum">
              <a:rPr lang="nb-NO" smtClean="0"/>
              <a:t>51</a:t>
            </a:fld>
            <a:endParaRPr lang="nb-NO"/>
          </a:p>
        </p:txBody>
      </p:sp>
    </p:spTree>
    <p:extLst>
      <p:ext uri="{BB962C8B-B14F-4D97-AF65-F5344CB8AC3E}">
        <p14:creationId xmlns:p14="http://schemas.microsoft.com/office/powerpoint/2010/main" val="14083892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5B606-612B-47C6-7276-E96F833286F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ABE97EE1-5351-1F0C-11C6-7B4ACF4E3F0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491D01-B772-F6FA-08B9-4782FB74D037}"/>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 og hvem</a:t>
            </a:r>
          </a:p>
          <a:p>
            <a:pPr lvl="0"/>
            <a:r>
              <a:rPr lang="nb-NO" sz="1200" b="0" i="0" kern="1200" dirty="0">
                <a:solidFill>
                  <a:schemeClr val="tx1"/>
                </a:solidFill>
                <a:effectLst/>
                <a:latin typeface="+mn-lt"/>
                <a:ea typeface="+mn-ea"/>
                <a:cs typeface="+mn-cs"/>
              </a:rPr>
              <a:t>Utviklere skriver og tester egen kode kontinuerlig</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Funksjonalitet blir integrert og forbedret i små inkrementer</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Kan bruke et QA-team for å validere viktige scenarioer</a:t>
            </a:r>
            <a:endParaRPr lang="nb-NO" sz="1200" b="1"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Bruker automatiserte tester</a:t>
            </a:r>
            <a:endParaRPr lang="nb-NO" sz="1200" b="1"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247FAA20-65AA-8553-8621-881DCABC140C}"/>
              </a:ext>
            </a:extLst>
          </p:cNvPr>
          <p:cNvSpPr>
            <a:spLocks noGrp="1"/>
          </p:cNvSpPr>
          <p:nvPr>
            <p:ph type="sldNum" sz="quarter" idx="5"/>
          </p:nvPr>
        </p:nvSpPr>
        <p:spPr/>
        <p:txBody>
          <a:bodyPr/>
          <a:lstStyle/>
          <a:p>
            <a:fld id="{ED8CD5F7-2931-42C6-9B3E-A6C700901896}" type="slidenum">
              <a:rPr lang="nb-NO" smtClean="0"/>
              <a:t>52</a:t>
            </a:fld>
            <a:endParaRPr lang="nb-NO"/>
          </a:p>
        </p:txBody>
      </p:sp>
    </p:spTree>
    <p:extLst>
      <p:ext uri="{BB962C8B-B14F-4D97-AF65-F5344CB8AC3E}">
        <p14:creationId xmlns:p14="http://schemas.microsoft.com/office/powerpoint/2010/main" val="24845914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D0BB1-2D24-400F-59BC-A81ABB76A10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B73C397-C453-312B-2219-B863E4D4BAD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8B574EC-47E9-5537-2AF3-7E733633EE3D}"/>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a:t>
            </a:r>
          </a:p>
          <a:p>
            <a:pPr lvl="0"/>
            <a:r>
              <a:rPr lang="nb-NO" sz="1200" b="0" i="0" kern="1200" dirty="0">
                <a:solidFill>
                  <a:schemeClr val="tx1"/>
                </a:solidFill>
                <a:effectLst/>
                <a:latin typeface="+mn-lt"/>
                <a:ea typeface="+mn-ea"/>
                <a:cs typeface="+mn-cs"/>
              </a:rPr>
              <a:t>Testkjøring trigges ved opprettelse av pull </a:t>
            </a:r>
            <a:r>
              <a:rPr lang="nb-NO" sz="1200" b="0" i="0" kern="1200" dirty="0" err="1">
                <a:solidFill>
                  <a:schemeClr val="tx1"/>
                </a:solidFill>
                <a:effectLst/>
                <a:latin typeface="+mn-lt"/>
                <a:ea typeface="+mn-ea"/>
                <a:cs typeface="+mn-cs"/>
              </a:rPr>
              <a:t>requests</a:t>
            </a:r>
            <a:endParaRPr lang="nb-NO" sz="1200" b="1" i="0" kern="1200" dirty="0">
              <a:solidFill>
                <a:schemeClr val="tx1"/>
              </a:solidFill>
              <a:effectLst/>
              <a:latin typeface="+mn-lt"/>
              <a:ea typeface="+mn-ea"/>
              <a:cs typeface="+mn-cs"/>
            </a:endParaRP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Enhetstester og integrasjonstester kjøres automatisk i CI-pipelines</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Rapporter</a:t>
            </a:r>
            <a:r>
              <a:rPr lang="nb-NO" sz="1200" b="0" i="0" kern="1200" dirty="0">
                <a:solidFill>
                  <a:schemeClr val="tx1"/>
                </a:solidFill>
                <a:effectLst/>
                <a:latin typeface="+mn-lt"/>
                <a:ea typeface="+mn-ea"/>
                <a:cs typeface="+mn-cs"/>
              </a:rPr>
              <a:t>: Resultatrapport legges ved PR for rask feedback</a:t>
            </a:r>
            <a:endParaRPr lang="nb-NO" sz="1200" b="1" u="none" strike="noStrike"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Høyere hastighet:</a:t>
            </a:r>
            <a:r>
              <a:rPr lang="nb-NO" sz="1200" b="0" u="none" strike="noStrike" kern="1200" dirty="0">
                <a:solidFill>
                  <a:schemeClr val="tx1"/>
                </a:solidFill>
                <a:effectLst/>
                <a:latin typeface="+mn-lt"/>
                <a:ea typeface="+mn-ea"/>
                <a:cs typeface="+mn-cs"/>
              </a:rPr>
              <a:t> Kjører gjentakende tester på brøkdelen av tiden det tar manuelt, noe som fremskynder hele leveringsprosessen.</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Kontinuerlig kontroll (CI/CD):</a:t>
            </a:r>
            <a:r>
              <a:rPr lang="nb-NO" sz="1200" b="0" u="none" strike="noStrike" kern="1200" dirty="0">
                <a:solidFill>
                  <a:schemeClr val="tx1"/>
                </a:solidFill>
                <a:effectLst/>
                <a:latin typeface="+mn-lt"/>
                <a:ea typeface="+mn-ea"/>
                <a:cs typeface="+mn-cs"/>
              </a:rPr>
              <a:t> Tester kan kjøres automatisk hver gang ny kode legges til, og fanger opp feil før de når brukerne.</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Forutsigbar kvalitet:</a:t>
            </a:r>
            <a:r>
              <a:rPr lang="nb-NO" sz="1200" b="0" u="none" strike="noStrike" kern="1200" dirty="0">
                <a:solidFill>
                  <a:schemeClr val="tx1"/>
                </a:solidFill>
                <a:effectLst/>
                <a:latin typeface="+mn-lt"/>
                <a:ea typeface="+mn-ea"/>
                <a:cs typeface="+mn-cs"/>
              </a:rPr>
              <a:t> Datamaskiner blir aldri slitne eller mister fokus, og leverer alltid konsekvente resultater.</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Kostnadsbesparende over tid:</a:t>
            </a:r>
            <a:r>
              <a:rPr lang="nb-NO" sz="1200" b="0" u="none" strike="noStrike" kern="1200" dirty="0">
                <a:solidFill>
                  <a:schemeClr val="tx1"/>
                </a:solidFill>
                <a:effectLst/>
                <a:latin typeface="+mn-lt"/>
                <a:ea typeface="+mn-ea"/>
                <a:cs typeface="+mn-cs"/>
              </a:rPr>
              <a:t> Reduserer behovet for kjedelig manuelt arbeid og gjør det billigere å vedlikeholde produktet. </a:t>
            </a:r>
          </a:p>
          <a:p>
            <a:pPr marL="0" indent="0">
              <a:buFont typeface="Arial" panose="020B0604020202020204" pitchFamily="34" charset="0"/>
              <a:buNone/>
            </a:pPr>
            <a:endParaRPr lang="nb-NO"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nb-NO" sz="1200" b="1" u="none" strike="noStrike" kern="1200" dirty="0">
                <a:solidFill>
                  <a:schemeClr val="tx1"/>
                </a:solidFill>
                <a:effectLst/>
                <a:latin typeface="+mn-lt"/>
                <a:ea typeface="+mn-ea"/>
                <a:cs typeface="+mn-cs"/>
              </a:rPr>
              <a:t>Ulemper / Utfordringer</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Høy oppstarts- og vedlikeholdskostnad:</a:t>
            </a:r>
            <a:r>
              <a:rPr lang="nb-NO" sz="1200" b="0" u="none" strike="noStrike" kern="1200" dirty="0">
                <a:solidFill>
                  <a:schemeClr val="tx1"/>
                </a:solidFill>
                <a:effectLst/>
                <a:latin typeface="+mn-lt"/>
                <a:ea typeface="+mn-ea"/>
                <a:cs typeface="+mn-cs"/>
              </a:rPr>
              <a:t> Det krever tid og ressurser å skrive selve testene, og de må oppdateres når programvaren endres.</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Krever riktig fokus:</a:t>
            </a:r>
            <a:r>
              <a:rPr lang="nb-NO" sz="1200" b="0" u="none" strike="noStrike" kern="1200" dirty="0">
                <a:solidFill>
                  <a:schemeClr val="tx1"/>
                </a:solidFill>
                <a:effectLst/>
                <a:latin typeface="+mn-lt"/>
                <a:ea typeface="+mn-ea"/>
                <a:cs typeface="+mn-cs"/>
              </a:rPr>
              <a:t> Dårlig designede tester som ikke tester kjernefunksjonaliteten gir liten eller ingen verdi</a:t>
            </a:r>
          </a:p>
          <a:p>
            <a:pPr lvl="0"/>
            <a:endParaRPr lang="nb-NO" sz="1200" b="1"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F411EE0F-AD8D-58FE-B96C-ECD54871754A}"/>
              </a:ext>
            </a:extLst>
          </p:cNvPr>
          <p:cNvSpPr>
            <a:spLocks noGrp="1"/>
          </p:cNvSpPr>
          <p:nvPr>
            <p:ph type="sldNum" sz="quarter" idx="5"/>
          </p:nvPr>
        </p:nvSpPr>
        <p:spPr/>
        <p:txBody>
          <a:bodyPr/>
          <a:lstStyle/>
          <a:p>
            <a:fld id="{ED8CD5F7-2931-42C6-9B3E-A6C700901896}" type="slidenum">
              <a:rPr lang="nb-NO" smtClean="0"/>
              <a:t>53</a:t>
            </a:fld>
            <a:endParaRPr lang="nb-NO"/>
          </a:p>
        </p:txBody>
      </p:sp>
    </p:spTree>
    <p:extLst>
      <p:ext uri="{BB962C8B-B14F-4D97-AF65-F5344CB8AC3E}">
        <p14:creationId xmlns:p14="http://schemas.microsoft.com/office/powerpoint/2010/main" val="1241846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11BB8-C76C-622E-F9E2-840CD8D2541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CEB7582-8CCD-2CD8-EB69-BB18600CB60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1447186-C8EE-55AE-E8A7-A981FF1B627A}"/>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 og hvem</a:t>
            </a:r>
          </a:p>
          <a:p>
            <a:pPr lvl="0"/>
            <a:r>
              <a:rPr lang="nb-NO" sz="1200" b="0" i="0" kern="1200" dirty="0">
                <a:solidFill>
                  <a:schemeClr val="tx1"/>
                </a:solidFill>
                <a:effectLst/>
                <a:latin typeface="+mn-lt"/>
                <a:ea typeface="+mn-ea"/>
                <a:cs typeface="+mn-cs"/>
              </a:rPr>
              <a:t>Kan teste hele applikasjonen før </a:t>
            </a:r>
            <a:r>
              <a:rPr lang="nb-NO" sz="1200" b="0" i="0" kern="1200" dirty="0" err="1">
                <a:solidFill>
                  <a:schemeClr val="tx1"/>
                </a:solidFill>
                <a:effectLst/>
                <a:latin typeface="+mn-lt"/>
                <a:ea typeface="+mn-ea"/>
                <a:cs typeface="+mn-cs"/>
              </a:rPr>
              <a:t>release</a:t>
            </a:r>
            <a:r>
              <a:rPr lang="nb-NO" sz="1200" b="0" i="0" kern="1200" dirty="0">
                <a:solidFill>
                  <a:schemeClr val="tx1"/>
                </a:solidFill>
                <a:effectLst/>
                <a:latin typeface="+mn-lt"/>
                <a:ea typeface="+mn-ea"/>
                <a:cs typeface="+mn-cs"/>
              </a:rPr>
              <a:t> – men må ikke</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Testmiljøet speiler produksjons­miljøet</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Mer realistisk testing ettersom at test- og produksjonsmiljøet speiler</a:t>
            </a:r>
          </a:p>
          <a:p>
            <a:pPr lvl="0"/>
            <a:r>
              <a:rPr lang="nb-NO" sz="1200" b="0" i="0" kern="1200" dirty="0">
                <a:solidFill>
                  <a:schemeClr val="tx1"/>
                </a:solidFill>
                <a:effectLst/>
                <a:latin typeface="+mn-lt"/>
                <a:ea typeface="+mn-ea"/>
                <a:cs typeface="+mn-cs"/>
              </a:rPr>
              <a:t>QA-teamet kan teste hele applikasjonen før </a:t>
            </a:r>
            <a:r>
              <a:rPr lang="nb-NO" sz="1200" b="0" i="0" kern="1200" dirty="0" err="1">
                <a:solidFill>
                  <a:schemeClr val="tx1"/>
                </a:solidFill>
                <a:effectLst/>
                <a:latin typeface="+mn-lt"/>
                <a:ea typeface="+mn-ea"/>
                <a:cs typeface="+mn-cs"/>
              </a:rPr>
              <a:t>release</a:t>
            </a:r>
            <a:endParaRPr lang="nb-NO" sz="1200" b="0" i="0" kern="1200" dirty="0">
              <a:solidFill>
                <a:schemeClr val="tx1"/>
              </a:solidFill>
              <a:effectLst/>
              <a:latin typeface="+mn-lt"/>
              <a:ea typeface="+mn-ea"/>
              <a:cs typeface="+mn-cs"/>
            </a:endParaRPr>
          </a:p>
          <a:p>
            <a:pPr lvl="0"/>
            <a:r>
              <a:rPr lang="nb-NO" sz="1200" b="0" i="0" kern="1200" dirty="0" err="1">
                <a:solidFill>
                  <a:schemeClr val="tx1"/>
                </a:solidFill>
                <a:effectLst/>
                <a:latin typeface="+mn-lt"/>
                <a:ea typeface="+mn-ea"/>
                <a:cs typeface="+mn-cs"/>
              </a:rPr>
              <a:t>Infrastructure</a:t>
            </a:r>
            <a:r>
              <a:rPr lang="nb-NO" sz="1200" b="0" i="0" kern="1200" dirty="0">
                <a:solidFill>
                  <a:schemeClr val="tx1"/>
                </a:solidFill>
                <a:effectLst/>
                <a:latin typeface="+mn-lt"/>
                <a:ea typeface="+mn-ea"/>
                <a:cs typeface="+mn-cs"/>
              </a:rPr>
              <a:t>-as-</a:t>
            </a:r>
            <a:r>
              <a:rPr lang="nb-NO" sz="1200" b="0" i="0" kern="1200" dirty="0" err="1">
                <a:solidFill>
                  <a:schemeClr val="tx1"/>
                </a:solidFill>
                <a:effectLst/>
                <a:latin typeface="+mn-lt"/>
                <a:ea typeface="+mn-ea"/>
                <a:cs typeface="+mn-cs"/>
              </a:rPr>
              <a:t>code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IaC</a:t>
            </a:r>
            <a:r>
              <a:rPr lang="nb-NO" sz="1200" b="0" i="0" kern="1200" dirty="0">
                <a:solidFill>
                  <a:schemeClr val="tx1"/>
                </a:solidFill>
                <a:effectLst/>
                <a:latin typeface="+mn-lt"/>
                <a:ea typeface="+mn-ea"/>
                <a:cs typeface="+mn-cs"/>
              </a:rPr>
              <a:t>) gjør oppsett og versjonshåndtering av miljøer enkelt</a:t>
            </a:r>
          </a:p>
          <a:p>
            <a:pPr lvl="0"/>
            <a:endParaRPr lang="nb-NO" sz="1200" b="1" i="0" kern="1200" dirty="0">
              <a:solidFill>
                <a:schemeClr val="tx1"/>
              </a:solidFill>
              <a:effectLst/>
              <a:latin typeface="+mn-lt"/>
              <a:ea typeface="+mn-ea"/>
              <a:cs typeface="+mn-cs"/>
            </a:endParaRPr>
          </a:p>
          <a:p>
            <a:pPr lvl="1"/>
            <a:endParaRPr lang="nb-NO" sz="1200" b="0"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01164191-C52A-6713-D83A-956CC26E08F0}"/>
              </a:ext>
            </a:extLst>
          </p:cNvPr>
          <p:cNvSpPr>
            <a:spLocks noGrp="1"/>
          </p:cNvSpPr>
          <p:nvPr>
            <p:ph type="sldNum" sz="quarter" idx="5"/>
          </p:nvPr>
        </p:nvSpPr>
        <p:spPr/>
        <p:txBody>
          <a:bodyPr/>
          <a:lstStyle/>
          <a:p>
            <a:fld id="{ED8CD5F7-2931-42C6-9B3E-A6C700901896}" type="slidenum">
              <a:rPr lang="nb-NO" smtClean="0"/>
              <a:t>54</a:t>
            </a:fld>
            <a:endParaRPr lang="nb-NO"/>
          </a:p>
        </p:txBody>
      </p:sp>
    </p:spTree>
    <p:extLst>
      <p:ext uri="{BB962C8B-B14F-4D97-AF65-F5344CB8AC3E}">
        <p14:creationId xmlns:p14="http://schemas.microsoft.com/office/powerpoint/2010/main" val="34937367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3361A-752F-1D10-2E17-11CA34DC24B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F5A0280-B90D-C4D3-0C92-A49618F9071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1AB180-3146-D4A1-EEA2-838DF7F653C0}"/>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Fordeler med CI og små endringer</a:t>
            </a:r>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Mindre </a:t>
            </a:r>
            <a:r>
              <a:rPr lang="nb-NO" sz="1200" b="0" i="0" kern="1200" dirty="0" err="1">
                <a:solidFill>
                  <a:schemeClr val="tx1"/>
                </a:solidFill>
                <a:effectLst/>
                <a:latin typeface="+mn-lt"/>
                <a:ea typeface="+mn-ea"/>
                <a:cs typeface="+mn-cs"/>
              </a:rPr>
              <a:t>diff</a:t>
            </a:r>
            <a:r>
              <a:rPr lang="nb-NO" sz="1200" b="0" i="0" kern="1200" dirty="0">
                <a:solidFill>
                  <a:schemeClr val="tx1"/>
                </a:solidFill>
                <a:effectLst/>
                <a:latin typeface="+mn-lt"/>
                <a:ea typeface="+mn-ea"/>
                <a:cs typeface="+mn-cs"/>
              </a:rPr>
              <a:t> mellom gammel og ny versjon</a:t>
            </a:r>
          </a:p>
          <a:p>
            <a:pPr lvl="0"/>
            <a:r>
              <a:rPr lang="nb-NO" sz="1200" b="0" i="0" kern="1200" dirty="0">
                <a:solidFill>
                  <a:schemeClr val="tx1"/>
                </a:solidFill>
                <a:effectLst/>
                <a:latin typeface="+mn-lt"/>
                <a:ea typeface="+mn-ea"/>
                <a:cs typeface="+mn-cs"/>
              </a:rPr>
              <a:t>Enkel isolering og sporing av endringer</a:t>
            </a:r>
          </a:p>
          <a:p>
            <a:pPr lvl="0"/>
            <a:r>
              <a:rPr lang="nb-NO" sz="1200" b="0" i="0" kern="1200" dirty="0">
                <a:solidFill>
                  <a:schemeClr val="tx1"/>
                </a:solidFill>
                <a:effectLst/>
                <a:latin typeface="+mn-lt"/>
                <a:ea typeface="+mn-ea"/>
                <a:cs typeface="+mn-cs"/>
              </a:rPr>
              <a:t>Redusert sannsynlighet for feil og enklere rollback ved problemer</a:t>
            </a:r>
          </a:p>
          <a:p>
            <a:pPr lvl="0"/>
            <a:endParaRPr lang="nb-NO" sz="1200" b="0"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8E458C6-465B-C7F2-4575-BC2605F5A874}"/>
              </a:ext>
            </a:extLst>
          </p:cNvPr>
          <p:cNvSpPr>
            <a:spLocks noGrp="1"/>
          </p:cNvSpPr>
          <p:nvPr>
            <p:ph type="sldNum" sz="quarter" idx="5"/>
          </p:nvPr>
        </p:nvSpPr>
        <p:spPr/>
        <p:txBody>
          <a:bodyPr/>
          <a:lstStyle/>
          <a:p>
            <a:fld id="{ED8CD5F7-2931-42C6-9B3E-A6C700901896}" type="slidenum">
              <a:rPr lang="nb-NO" smtClean="0"/>
              <a:t>55</a:t>
            </a:fld>
            <a:endParaRPr lang="nb-NO"/>
          </a:p>
        </p:txBody>
      </p:sp>
    </p:spTree>
    <p:extLst>
      <p:ext uri="{BB962C8B-B14F-4D97-AF65-F5344CB8AC3E}">
        <p14:creationId xmlns:p14="http://schemas.microsoft.com/office/powerpoint/2010/main" val="37241868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45D2-A34F-14CB-25BF-5FFDAFBF24F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E764B7F-059C-394B-7B91-6117AA972E3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D234A051-52FE-7D53-5A44-6E02395F3C84}"/>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Prioritering av testing</a:t>
            </a:r>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Finn riktig nivå på test­dekning basert på risiko</a:t>
            </a:r>
          </a:p>
          <a:p>
            <a:pPr lvl="0"/>
            <a:r>
              <a:rPr lang="nb-NO" sz="1200" b="0" i="0" kern="1200" dirty="0">
                <a:solidFill>
                  <a:schemeClr val="tx1"/>
                </a:solidFill>
                <a:effectLst/>
                <a:latin typeface="+mn-lt"/>
                <a:ea typeface="+mn-ea"/>
                <a:cs typeface="+mn-cs"/>
              </a:rPr>
              <a:t>Prioriter tester der de gir størst verdi og reduserer mest usikkerhet</a:t>
            </a:r>
          </a:p>
        </p:txBody>
      </p:sp>
      <p:sp>
        <p:nvSpPr>
          <p:cNvPr id="4" name="Plassholder for lysbildenummer 3">
            <a:extLst>
              <a:ext uri="{FF2B5EF4-FFF2-40B4-BE49-F238E27FC236}">
                <a16:creationId xmlns:a16="http://schemas.microsoft.com/office/drawing/2014/main" id="{74BE8B56-1166-C190-E5EC-BC77EEDAEE97}"/>
              </a:ext>
            </a:extLst>
          </p:cNvPr>
          <p:cNvSpPr>
            <a:spLocks noGrp="1"/>
          </p:cNvSpPr>
          <p:nvPr>
            <p:ph type="sldNum" sz="quarter" idx="5"/>
          </p:nvPr>
        </p:nvSpPr>
        <p:spPr/>
        <p:txBody>
          <a:bodyPr/>
          <a:lstStyle/>
          <a:p>
            <a:fld id="{ED8CD5F7-2931-42C6-9B3E-A6C700901896}" type="slidenum">
              <a:rPr lang="nb-NO" smtClean="0"/>
              <a:t>56</a:t>
            </a:fld>
            <a:endParaRPr lang="nb-NO"/>
          </a:p>
        </p:txBody>
      </p:sp>
    </p:spTree>
    <p:extLst>
      <p:ext uri="{BB962C8B-B14F-4D97-AF65-F5344CB8AC3E}">
        <p14:creationId xmlns:p14="http://schemas.microsoft.com/office/powerpoint/2010/main" val="32720579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158F4-5A6E-831C-AD3C-1F2DA775A46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164CDDC-319E-2FCD-C817-86C289DFC79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0D30B77-55A3-162B-370F-E4A8852396C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Brukes ved å beregne </a:t>
            </a:r>
            <a:r>
              <a:rPr lang="nb-NO" sz="1200" b="0" i="1" kern="1200" dirty="0">
                <a:solidFill>
                  <a:schemeClr val="tx1"/>
                </a:solidFill>
                <a:effectLst/>
                <a:latin typeface="+mn-lt"/>
                <a:ea typeface="+mn-ea"/>
                <a:cs typeface="+mn-cs"/>
              </a:rPr>
              <a:t>risiko</a:t>
            </a:r>
            <a:r>
              <a:rPr lang="nb-NO" sz="1200" b="0" i="0" kern="1200" dirty="0">
                <a:solidFill>
                  <a:schemeClr val="tx1"/>
                </a:solidFill>
                <a:effectLst/>
                <a:latin typeface="+mn-lt"/>
                <a:ea typeface="+mn-ea"/>
                <a:cs typeface="+mn-cs"/>
              </a:rPr>
              <a:t> og </a:t>
            </a:r>
            <a:r>
              <a:rPr lang="nb-NO" sz="1200" b="0" i="1" kern="1200" dirty="0">
                <a:solidFill>
                  <a:schemeClr val="tx1"/>
                </a:solidFill>
                <a:effectLst/>
                <a:latin typeface="+mn-lt"/>
                <a:ea typeface="+mn-ea"/>
                <a:cs typeface="+mn-cs"/>
              </a:rPr>
              <a:t>konsekvens</a:t>
            </a:r>
            <a:r>
              <a:rPr lang="nb-NO" sz="1200" b="0" i="0" kern="1200" dirty="0">
                <a:solidFill>
                  <a:schemeClr val="tx1"/>
                </a:solidFill>
                <a:effectLst/>
                <a:latin typeface="+mn-lt"/>
                <a:ea typeface="+mn-ea"/>
                <a:cs typeface="+mn-cs"/>
              </a:rPr>
              <a:t> av feil og av </a:t>
            </a:r>
            <a:r>
              <a:rPr lang="nb-NO" sz="1200" b="0" i="0" kern="1200" dirty="0" err="1">
                <a:solidFill>
                  <a:schemeClr val="tx1"/>
                </a:solidFill>
                <a:effectLst/>
                <a:latin typeface="+mn-lt"/>
                <a:ea typeface="+mn-ea"/>
                <a:cs typeface="+mn-cs"/>
              </a:rPr>
              <a:t>evt</a:t>
            </a:r>
            <a:r>
              <a:rPr lang="nb-NO" sz="1200" b="0" i="0" kern="1200" dirty="0">
                <a:solidFill>
                  <a:schemeClr val="tx1"/>
                </a:solidFill>
                <a:effectLst/>
                <a:latin typeface="+mn-lt"/>
                <a:ea typeface="+mn-ea"/>
                <a:cs typeface="+mn-cs"/>
              </a:rPr>
              <a:t> risikofaktorer. Alle på teamet "scorer" sannsynligheten og påvirkningen samtidig med et kortstokk, så bruker vi snittet. Siden hele teamet er med er treffsikkerheten større.</a:t>
            </a:r>
          </a:p>
        </p:txBody>
      </p:sp>
      <p:sp>
        <p:nvSpPr>
          <p:cNvPr id="4" name="Plassholder for lysbildenummer 3">
            <a:extLst>
              <a:ext uri="{FF2B5EF4-FFF2-40B4-BE49-F238E27FC236}">
                <a16:creationId xmlns:a16="http://schemas.microsoft.com/office/drawing/2014/main" id="{E9B51ECD-5555-7F67-BCB0-00896FFFD174}"/>
              </a:ext>
            </a:extLst>
          </p:cNvPr>
          <p:cNvSpPr>
            <a:spLocks noGrp="1"/>
          </p:cNvSpPr>
          <p:nvPr>
            <p:ph type="sldNum" sz="quarter" idx="5"/>
          </p:nvPr>
        </p:nvSpPr>
        <p:spPr/>
        <p:txBody>
          <a:bodyPr/>
          <a:lstStyle/>
          <a:p>
            <a:fld id="{ED8CD5F7-2931-42C6-9B3E-A6C700901896}" type="slidenum">
              <a:rPr lang="nb-NO" smtClean="0"/>
              <a:t>57</a:t>
            </a:fld>
            <a:endParaRPr lang="nb-NO"/>
          </a:p>
        </p:txBody>
      </p:sp>
    </p:spTree>
    <p:extLst>
      <p:ext uri="{BB962C8B-B14F-4D97-AF65-F5344CB8AC3E}">
        <p14:creationId xmlns:p14="http://schemas.microsoft.com/office/powerpoint/2010/main" val="146942854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B2311-1D0E-DFEE-96D5-521336567D63}"/>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21FFD5D-341A-1D9E-A846-BAADC1AB08E6}"/>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E717686-179F-D8E0-2935-F64CF212042B}"/>
              </a:ext>
            </a:extLst>
          </p:cNvPr>
          <p:cNvSpPr>
            <a:spLocks noGrp="1"/>
          </p:cNvSpPr>
          <p:nvPr>
            <p:ph type="body" idx="1"/>
          </p:nvPr>
        </p:nvSpPr>
        <p:spPr/>
        <p:txBody>
          <a:bodyPr/>
          <a:lstStyle/>
          <a:p>
            <a:r>
              <a:rPr lang="nb-NO" sz="1200" b="1" u="none" strike="noStrike" kern="1200" dirty="0">
                <a:solidFill>
                  <a:schemeClr val="tx1"/>
                </a:solidFill>
                <a:effectLst/>
                <a:latin typeface="+mn-lt"/>
                <a:ea typeface="+mn-ea"/>
                <a:cs typeface="+mn-cs"/>
              </a:rPr>
              <a:t>Hva?</a:t>
            </a:r>
          </a:p>
          <a:p>
            <a:r>
              <a:rPr lang="nb-NO" sz="1200" b="0" u="none" strike="noStrike" kern="1200" dirty="0" err="1">
                <a:solidFill>
                  <a:schemeClr val="tx1"/>
                </a:solidFill>
                <a:effectLst/>
                <a:latin typeface="+mn-lt"/>
                <a:ea typeface="+mn-ea"/>
                <a:cs typeface="+mn-cs"/>
              </a:rPr>
              <a:t>Testdata</a:t>
            </a:r>
            <a:r>
              <a:rPr lang="nb-NO" dirty="0"/>
              <a:t> er et utvalg av informasjon eller datasett som brukes for å verifisere at dataprogrammer, applikasjoner eller IT-systemer fungerer som de skal</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Hvorfor?</a:t>
            </a:r>
          </a:p>
          <a:p>
            <a:r>
              <a:rPr lang="nb-NO" sz="1200" b="0" i="0" kern="1200" dirty="0">
                <a:solidFill>
                  <a:schemeClr val="tx1"/>
                </a:solidFill>
                <a:effectLst/>
                <a:latin typeface="+mn-lt"/>
                <a:ea typeface="+mn-ea"/>
                <a:cs typeface="+mn-cs"/>
              </a:rPr>
              <a:t>Når vi kjører tester er vi avhengig av et forutsigbart miljø for at programvaren ikke blir påvirket av eksterne faktorer, da dette kan gjøre det vanskelig å isolere feil.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Egenskap</a:t>
            </a:r>
          </a:p>
          <a:p>
            <a:r>
              <a:rPr lang="nb-NO" sz="1200" b="0" i="0" kern="1200" dirty="0" err="1">
                <a:solidFill>
                  <a:schemeClr val="tx1"/>
                </a:solidFill>
                <a:effectLst/>
                <a:latin typeface="+mn-lt"/>
                <a:ea typeface="+mn-ea"/>
                <a:cs typeface="+mn-cs"/>
              </a:rPr>
              <a:t>Testdataene</a:t>
            </a:r>
            <a:r>
              <a:rPr lang="nb-NO" sz="1200" b="0" i="0" kern="1200" dirty="0">
                <a:solidFill>
                  <a:schemeClr val="tx1"/>
                </a:solidFill>
                <a:effectLst/>
                <a:latin typeface="+mn-lt"/>
                <a:ea typeface="+mn-ea"/>
                <a:cs typeface="+mn-cs"/>
              </a:rPr>
              <a:t> må derfor være det samme under testprosessen og prosessen må også være deterministisk.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Utviklere kan da vurdere </a:t>
            </a:r>
            <a:r>
              <a:rPr lang="nb-NO" sz="1200" b="0" i="0" kern="1200" dirty="0" err="1">
                <a:solidFill>
                  <a:schemeClr val="tx1"/>
                </a:solidFill>
                <a:effectLst/>
                <a:latin typeface="+mn-lt"/>
                <a:ea typeface="+mn-ea"/>
                <a:cs typeface="+mn-cs"/>
              </a:rPr>
              <a:t>resulatene</a:t>
            </a:r>
            <a:r>
              <a:rPr lang="nb-NO" sz="1200" b="0" i="0" kern="1200" dirty="0">
                <a:solidFill>
                  <a:schemeClr val="tx1"/>
                </a:solidFill>
                <a:effectLst/>
                <a:latin typeface="+mn-lt"/>
                <a:ea typeface="+mn-ea"/>
                <a:cs typeface="+mn-cs"/>
              </a:rPr>
              <a:t> testene mer grundig og effektivt.</a:t>
            </a:r>
          </a:p>
        </p:txBody>
      </p:sp>
      <p:sp>
        <p:nvSpPr>
          <p:cNvPr id="4" name="Plassholder for lysbildenummer 3">
            <a:extLst>
              <a:ext uri="{FF2B5EF4-FFF2-40B4-BE49-F238E27FC236}">
                <a16:creationId xmlns:a16="http://schemas.microsoft.com/office/drawing/2014/main" id="{15E2E1EE-A77D-6D79-AA40-4B45CC66707C}"/>
              </a:ext>
            </a:extLst>
          </p:cNvPr>
          <p:cNvSpPr>
            <a:spLocks noGrp="1"/>
          </p:cNvSpPr>
          <p:nvPr>
            <p:ph type="sldNum" sz="quarter" idx="5"/>
          </p:nvPr>
        </p:nvSpPr>
        <p:spPr/>
        <p:txBody>
          <a:bodyPr/>
          <a:lstStyle/>
          <a:p>
            <a:fld id="{ED8CD5F7-2931-42C6-9B3E-A6C700901896}" type="slidenum">
              <a:rPr lang="nb-NO" smtClean="0"/>
              <a:t>58</a:t>
            </a:fld>
            <a:endParaRPr lang="nb-NO"/>
          </a:p>
        </p:txBody>
      </p:sp>
    </p:spTree>
    <p:extLst>
      <p:ext uri="{BB962C8B-B14F-4D97-AF65-F5344CB8AC3E}">
        <p14:creationId xmlns:p14="http://schemas.microsoft.com/office/powerpoint/2010/main" val="75348014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F0DAA-4588-8117-C4DB-461D14735D3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411644A-7739-3545-35AA-6234B4A3903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B88DF9-B935-7397-1707-C28F9ABDE95C}"/>
              </a:ext>
            </a:extLst>
          </p:cNvPr>
          <p:cNvSpPr>
            <a:spLocks noGrp="1"/>
          </p:cNvSpPr>
          <p:nvPr>
            <p:ph type="body" idx="1"/>
          </p:nvPr>
        </p:nvSpPr>
        <p:spPr/>
        <p:txBody>
          <a:bodyPr/>
          <a:lstStyle/>
          <a:p>
            <a:r>
              <a:rPr lang="nb-NO" sz="1200" b="1" i="0" u="none" strike="noStrike" kern="1200" dirty="0">
                <a:solidFill>
                  <a:schemeClr val="tx1"/>
                </a:solidFill>
                <a:effectLst/>
                <a:latin typeface="+mn-lt"/>
                <a:ea typeface="+mn-ea"/>
                <a:cs typeface="+mn-cs"/>
              </a:rPr>
              <a:t>Hva?</a:t>
            </a:r>
          </a:p>
          <a:p>
            <a:r>
              <a:rPr lang="nb-NO" sz="1200" b="0" i="1" u="none" strike="noStrike" kern="1200" dirty="0" err="1">
                <a:solidFill>
                  <a:schemeClr val="tx1"/>
                </a:solidFill>
                <a:effectLst/>
                <a:latin typeface="+mn-lt"/>
                <a:ea typeface="+mn-ea"/>
                <a:cs typeface="+mn-cs"/>
              </a:rPr>
              <a:t>Mocking</a:t>
            </a:r>
            <a:r>
              <a:rPr lang="nb-NO" dirty="0"/>
              <a:t> er en teknikk der man erstatter ekte og komplekse deler av et system (som en database, et eksternt API eller en betalingstjeneste) med simulerte "jukse-objekter" (</a:t>
            </a:r>
            <a:r>
              <a:rPr lang="nb-NO" dirty="0" err="1"/>
              <a:t>mocks</a:t>
            </a:r>
            <a:r>
              <a:rPr lang="nb-NO" dirty="0"/>
              <a:t>).</a:t>
            </a: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De gangene vi ikke kan jobbe med reell data bør man bruke </a:t>
            </a:r>
            <a:r>
              <a:rPr lang="nb-NO" sz="1200" b="0" i="0" kern="1200" dirty="0" err="1">
                <a:solidFill>
                  <a:schemeClr val="tx1"/>
                </a:solidFill>
                <a:effectLst/>
                <a:latin typeface="+mn-lt"/>
                <a:ea typeface="+mn-ea"/>
                <a:cs typeface="+mn-cs"/>
              </a:rPr>
              <a:t>Mocking</a:t>
            </a:r>
            <a:r>
              <a:rPr lang="nb-NO" sz="1200" b="0" i="0" kern="1200" dirty="0">
                <a:solidFill>
                  <a:schemeClr val="tx1"/>
                </a:solidFill>
                <a:effectLst/>
                <a:latin typeface="+mn-lt"/>
                <a:ea typeface="+mn-ea"/>
                <a:cs typeface="+mn-cs"/>
              </a:rPr>
              <a:t>.</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Utviklingsmønstre og egenskap</a:t>
            </a:r>
          </a:p>
          <a:p>
            <a:r>
              <a:rPr lang="nb-NO" sz="1200" b="0" i="0" kern="1200" dirty="0">
                <a:solidFill>
                  <a:schemeClr val="tx1"/>
                </a:solidFill>
                <a:effectLst/>
                <a:latin typeface="+mn-lt"/>
                <a:ea typeface="+mn-ea"/>
                <a:cs typeface="+mn-cs"/>
              </a:rPr>
              <a:t>Ofte er klasser avhengig av hverandre som gjør det vanskelig å isolere delene fra hverandre og teste klassene hver for seg. Da er det lurt å bruke utviklingsmønstre som </a:t>
            </a:r>
            <a:r>
              <a:rPr lang="nb-NO" sz="1200" b="0" i="0" kern="1200" dirty="0" err="1">
                <a:solidFill>
                  <a:schemeClr val="tx1"/>
                </a:solidFill>
                <a:effectLst/>
                <a:latin typeface="+mn-lt"/>
                <a:ea typeface="+mn-ea"/>
                <a:cs typeface="+mn-cs"/>
              </a:rPr>
              <a:t>Dependency</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Injection</a:t>
            </a:r>
            <a:r>
              <a:rPr lang="nb-NO" sz="1200" b="0" i="0" kern="1200" dirty="0">
                <a:solidFill>
                  <a:schemeClr val="tx1"/>
                </a:solidFill>
                <a:effectLst/>
                <a:latin typeface="+mn-lt"/>
                <a:ea typeface="+mn-ea"/>
                <a:cs typeface="+mn-cs"/>
              </a:rPr>
              <a:t> for å sette moduler inn i hverandre under kjøring. Dette gjør at man kan bytte ut komponenter eller klasseinstanser med "</a:t>
            </a:r>
            <a:r>
              <a:rPr lang="nb-NO" sz="1200" b="0" i="0" kern="1200" dirty="0" err="1">
                <a:solidFill>
                  <a:schemeClr val="tx1"/>
                </a:solidFill>
                <a:effectLst/>
                <a:latin typeface="+mn-lt"/>
                <a:ea typeface="+mn-ea"/>
                <a:cs typeface="+mn-cs"/>
              </a:rPr>
              <a:t>mock</a:t>
            </a:r>
            <a:r>
              <a:rPr lang="nb-NO" sz="1200" b="0" i="0" kern="1200" dirty="0">
                <a:solidFill>
                  <a:schemeClr val="tx1"/>
                </a:solidFill>
                <a:effectLst/>
                <a:latin typeface="+mn-lt"/>
                <a:ea typeface="+mn-ea"/>
                <a:cs typeface="+mn-cs"/>
              </a:rPr>
              <a:t>" objekter som implementerer de samme metodene som instansene, men er deterministisk.</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Slik blir det altså mulig å teste ut funksjonaliteten til én klasse om gangen basert på de hardkodede dataene returnert av </a:t>
            </a:r>
            <a:r>
              <a:rPr lang="nb-NO" sz="1200" b="0" i="0" kern="1200" dirty="0" err="1">
                <a:solidFill>
                  <a:schemeClr val="tx1"/>
                </a:solidFill>
                <a:effectLst/>
                <a:latin typeface="+mn-lt"/>
                <a:ea typeface="+mn-ea"/>
                <a:cs typeface="+mn-cs"/>
              </a:rPr>
              <a:t>mock</a:t>
            </a:r>
            <a:r>
              <a:rPr lang="nb-NO" sz="1200" b="0" i="0" kern="1200" dirty="0">
                <a:solidFill>
                  <a:schemeClr val="tx1"/>
                </a:solidFill>
                <a:effectLst/>
                <a:latin typeface="+mn-lt"/>
                <a:ea typeface="+mn-ea"/>
                <a:cs typeface="+mn-cs"/>
              </a:rPr>
              <a:t>-objektene hvor man vanligvis ikke kunne skrevet automatiserte tester.</a:t>
            </a:r>
          </a:p>
        </p:txBody>
      </p:sp>
      <p:sp>
        <p:nvSpPr>
          <p:cNvPr id="4" name="Plassholder for lysbildenummer 3">
            <a:extLst>
              <a:ext uri="{FF2B5EF4-FFF2-40B4-BE49-F238E27FC236}">
                <a16:creationId xmlns:a16="http://schemas.microsoft.com/office/drawing/2014/main" id="{904AA028-C305-3432-3A5B-523D135E7E69}"/>
              </a:ext>
            </a:extLst>
          </p:cNvPr>
          <p:cNvSpPr>
            <a:spLocks noGrp="1"/>
          </p:cNvSpPr>
          <p:nvPr>
            <p:ph type="sldNum" sz="quarter" idx="5"/>
          </p:nvPr>
        </p:nvSpPr>
        <p:spPr/>
        <p:txBody>
          <a:bodyPr/>
          <a:lstStyle/>
          <a:p>
            <a:fld id="{ED8CD5F7-2931-42C6-9B3E-A6C700901896}" type="slidenum">
              <a:rPr lang="nb-NO" smtClean="0"/>
              <a:t>59</a:t>
            </a:fld>
            <a:endParaRPr lang="nb-NO"/>
          </a:p>
        </p:txBody>
      </p:sp>
    </p:spTree>
    <p:extLst>
      <p:ext uri="{BB962C8B-B14F-4D97-AF65-F5344CB8AC3E}">
        <p14:creationId xmlns:p14="http://schemas.microsoft.com/office/powerpoint/2010/main" val="10957038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AEEC9-5F9B-B27E-A20B-E451FDE67FC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77161C8-F212-06FA-DCF6-5AB578C5594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64805F4-90EB-1F54-FE6E-B51B42DAA633}"/>
              </a:ext>
            </a:extLst>
          </p:cNvPr>
          <p:cNvSpPr>
            <a:spLocks noGrp="1"/>
          </p:cNvSpPr>
          <p:nvPr>
            <p:ph type="body" idx="1"/>
          </p:nvPr>
        </p:nvSpPr>
        <p:spPr/>
        <p:txBody>
          <a:bodyPr/>
          <a:lstStyle/>
          <a:p>
            <a:pPr marL="0" indent="0" latinLnBrk="0">
              <a:buFont typeface="Arial" panose="020B0604020202020204" pitchFamily="34" charset="0"/>
              <a:buNone/>
            </a:pPr>
            <a:r>
              <a:rPr lang="nb-NO" sz="1200" b="1" i="1" kern="1200" dirty="0">
                <a:solidFill>
                  <a:schemeClr val="tx1"/>
                </a:solidFill>
                <a:effectLst/>
                <a:latin typeface="+mn-lt"/>
                <a:ea typeface="+mn-ea"/>
                <a:cs typeface="+mn-cs"/>
              </a:rPr>
              <a:t>Fase: </a:t>
            </a:r>
            <a:r>
              <a:rPr lang="nb-NO" sz="1200" b="0" i="1" kern="1200" dirty="0">
                <a:solidFill>
                  <a:schemeClr val="tx1"/>
                </a:solidFill>
                <a:effectLst/>
                <a:latin typeface="+mn-lt"/>
                <a:ea typeface="+mn-ea"/>
                <a:cs typeface="+mn-cs"/>
              </a:rPr>
              <a:t>Beskrivelse</a:t>
            </a:r>
            <a:endParaRPr lang="nb-NO" sz="1200" b="1" i="1" kern="1200" dirty="0">
              <a:solidFill>
                <a:schemeClr val="tx1"/>
              </a:solidFill>
              <a:effectLst/>
              <a:latin typeface="+mn-lt"/>
              <a:ea typeface="+mn-ea"/>
              <a:cs typeface="+mn-cs"/>
            </a:endParaRPr>
          </a:p>
          <a:p>
            <a:pPr marL="171450" indent="-171450" latinLnBrk="0">
              <a:buFont typeface="Arial" panose="020B0604020202020204" pitchFamily="34" charset="0"/>
              <a:buChar char="•"/>
            </a:pPr>
            <a:r>
              <a:rPr lang="nb-NO" sz="1200" b="1" i="0" kern="1200" dirty="0">
                <a:solidFill>
                  <a:schemeClr val="tx1"/>
                </a:solidFill>
                <a:effectLst/>
                <a:latin typeface="+mn-lt"/>
                <a:ea typeface="+mn-ea"/>
                <a:cs typeface="+mn-cs"/>
              </a:rPr>
              <a:t>Oppsett: </a:t>
            </a:r>
            <a:r>
              <a:rPr lang="nb-NO" sz="1200" b="0" i="0" kern="1200" dirty="0">
                <a:solidFill>
                  <a:schemeClr val="tx1"/>
                </a:solidFill>
                <a:effectLst/>
                <a:latin typeface="+mn-lt"/>
                <a:ea typeface="+mn-ea"/>
                <a:cs typeface="+mn-cs"/>
              </a:rPr>
              <a:t>Setter opp </a:t>
            </a:r>
            <a:r>
              <a:rPr lang="nb-NO" sz="1200" b="0" i="0" kern="1200" dirty="0" err="1">
                <a:solidFill>
                  <a:schemeClr val="tx1"/>
                </a:solidFill>
                <a:effectLst/>
                <a:latin typeface="+mn-lt"/>
                <a:ea typeface="+mn-ea"/>
                <a:cs typeface="+mn-cs"/>
              </a:rPr>
              <a:t>testdataene</a:t>
            </a:r>
            <a:r>
              <a:rPr lang="nb-NO" sz="1200" b="0" i="0" kern="1200" dirty="0">
                <a:solidFill>
                  <a:schemeClr val="tx1"/>
                </a:solidFill>
                <a:effectLst/>
                <a:latin typeface="+mn-lt"/>
                <a:ea typeface="+mn-ea"/>
                <a:cs typeface="+mn-cs"/>
              </a:rPr>
              <a:t> og sørger for at de holder seg like hver gang testen kjøres. Oppretter altså en fasttilstand «test </a:t>
            </a:r>
            <a:r>
              <a:rPr lang="nb-NO" sz="1200" b="0" i="0" kern="1200" dirty="0" err="1">
                <a:solidFill>
                  <a:schemeClr val="tx1"/>
                </a:solidFill>
                <a:effectLst/>
                <a:latin typeface="+mn-lt"/>
                <a:ea typeface="+mn-ea"/>
                <a:cs typeface="+mn-cs"/>
              </a:rPr>
              <a:t>fixture</a:t>
            </a:r>
            <a:r>
              <a:rPr lang="nb-NO" sz="1200" b="0" i="0" kern="1200" dirty="0">
                <a:solidFill>
                  <a:schemeClr val="tx1"/>
                </a:solidFill>
                <a:effectLst/>
                <a:latin typeface="+mn-lt"/>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Gjennomføring: </a:t>
            </a:r>
            <a:r>
              <a:rPr lang="nb-NO" sz="1200" b="0" i="0" kern="1200" dirty="0">
                <a:solidFill>
                  <a:schemeClr val="tx1"/>
                </a:solidFill>
                <a:effectLst/>
                <a:latin typeface="+mn-lt"/>
                <a:ea typeface="+mn-ea"/>
                <a:cs typeface="+mn-cs"/>
              </a:rPr>
              <a:t>Utfører operasjonene spesifisert i testen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Verifisering: </a:t>
            </a:r>
            <a:r>
              <a:rPr lang="nb-NO" sz="1200" b="0" i="0" kern="1200" dirty="0">
                <a:solidFill>
                  <a:schemeClr val="tx1"/>
                </a:solidFill>
                <a:effectLst/>
                <a:latin typeface="+mn-lt"/>
                <a:ea typeface="+mn-ea"/>
                <a:cs typeface="+mn-cs"/>
              </a:rPr>
              <a:t>Bekrefter at det som skulle skje har skjedd og verifiserer resultatene av testen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f.eks. </a:t>
            </a:r>
            <a:r>
              <a:rPr lang="nb-NO" sz="1200" b="0" i="0" kern="1200" dirty="0" err="1">
                <a:solidFill>
                  <a:schemeClr val="tx1"/>
                </a:solidFill>
                <a:effectLst/>
                <a:latin typeface="+mn-lt"/>
                <a:ea typeface="+mn-ea"/>
                <a:cs typeface="+mn-cs"/>
              </a:rPr>
              <a:t>assert</a:t>
            </a:r>
            <a:endParaRPr lang="nb-NO"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Opprydding: </a:t>
            </a:r>
            <a:r>
              <a:rPr lang="nb-NO" sz="1200" b="0" i="0" kern="1200" dirty="0">
                <a:solidFill>
                  <a:schemeClr val="tx1"/>
                </a:solidFill>
                <a:effectLst/>
                <a:latin typeface="+mn-lt"/>
                <a:ea typeface="+mn-ea"/>
                <a:cs typeface="+mn-cs"/>
              </a:rPr>
              <a:t>Dersom man benytter seg av eksterne ressurser er det viktig å rydde opp slik at vi får et identisk miljø på nytt til neste test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nb-NO"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nb-NO" sz="1200" b="0" i="0" kern="1200" dirty="0">
              <a:solidFill>
                <a:schemeClr val="tx1"/>
              </a:solidFill>
              <a:effectLst/>
              <a:latin typeface="+mn-lt"/>
              <a:ea typeface="+mn-ea"/>
              <a:cs typeface="+mn-cs"/>
            </a:endParaRPr>
          </a:p>
          <a:p>
            <a:pPr marL="171450" indent="-171450" latinLnBrk="0">
              <a:buFont typeface="Arial" panose="020B0604020202020204" pitchFamily="34" charset="0"/>
              <a:buChar char="•"/>
            </a:pP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E1CB9C3-EAC7-2993-007B-A1D79063840C}"/>
              </a:ext>
            </a:extLst>
          </p:cNvPr>
          <p:cNvSpPr>
            <a:spLocks noGrp="1"/>
          </p:cNvSpPr>
          <p:nvPr>
            <p:ph type="sldNum" sz="quarter" idx="5"/>
          </p:nvPr>
        </p:nvSpPr>
        <p:spPr/>
        <p:txBody>
          <a:bodyPr/>
          <a:lstStyle/>
          <a:p>
            <a:fld id="{ED8CD5F7-2931-42C6-9B3E-A6C700901896}" type="slidenum">
              <a:rPr lang="nb-NO" smtClean="0"/>
              <a:t>60</a:t>
            </a:fld>
            <a:endParaRPr lang="nb-NO"/>
          </a:p>
        </p:txBody>
      </p:sp>
    </p:spTree>
    <p:extLst>
      <p:ext uri="{BB962C8B-B14F-4D97-AF65-F5344CB8AC3E}">
        <p14:creationId xmlns:p14="http://schemas.microsoft.com/office/powerpoint/2010/main" val="299106609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51BE4-85C4-CD49-BD63-CC91056E8E3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D1B1172-7252-BB33-2FC0-BE67E83C1B5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77D0AAA-36BC-E382-6A57-525CF5395539}"/>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Utviklertest av individuelle klasser på funksjonsnivå.</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Automatisert og repeterbar</a:t>
            </a:r>
          </a:p>
          <a:p>
            <a:r>
              <a:rPr lang="nb-NO" sz="1200" b="0" i="0" kern="1200" dirty="0">
                <a:solidFill>
                  <a:schemeClr val="tx1"/>
                </a:solidFill>
                <a:effectLst/>
                <a:latin typeface="+mn-lt"/>
                <a:ea typeface="+mn-ea"/>
                <a:cs typeface="+mn-cs"/>
              </a:rPr>
              <a:t>Kjøres alltid som en del av byggeprosessen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r>
              <a:rPr lang="nb-NO" sz="1200" b="0" i="0" kern="1200" dirty="0">
                <a:solidFill>
                  <a:schemeClr val="tx1"/>
                </a:solidFill>
                <a:effectLst/>
                <a:latin typeface="+mn-lt"/>
                <a:ea typeface="+mn-ea"/>
                <a:cs typeface="+mn-cs"/>
              </a:rPr>
              <a:t>Identifisere feil tidlig slik at de kan bli rettes før integrasjons med andre deler av programvaren</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3985327-C1F1-2C1F-DE34-D333E770E393}"/>
              </a:ext>
            </a:extLst>
          </p:cNvPr>
          <p:cNvSpPr>
            <a:spLocks noGrp="1"/>
          </p:cNvSpPr>
          <p:nvPr>
            <p:ph type="sldNum" sz="quarter" idx="5"/>
          </p:nvPr>
        </p:nvSpPr>
        <p:spPr/>
        <p:txBody>
          <a:bodyPr/>
          <a:lstStyle/>
          <a:p>
            <a:fld id="{ED8CD5F7-2931-42C6-9B3E-A6C700901896}" type="slidenum">
              <a:rPr lang="nb-NO" smtClean="0"/>
              <a:t>61</a:t>
            </a:fld>
            <a:endParaRPr lang="nb-NO"/>
          </a:p>
        </p:txBody>
      </p:sp>
    </p:spTree>
    <p:extLst>
      <p:ext uri="{BB962C8B-B14F-4D97-AF65-F5344CB8AC3E}">
        <p14:creationId xmlns:p14="http://schemas.microsoft.com/office/powerpoint/2010/main" val="40086814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BCA84-E991-279F-F396-7AB7826C35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F32DFC2-B61D-D859-F854-184BFEFB5F8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B3106DC-B22E-DB76-D6C3-4D3DA6AD1F68}"/>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Tester samspillet og integrasjon mellom ulike komponenter som allerede er testet individuelt.</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r>
              <a:rPr lang="nb-NO" sz="1200" b="0" i="0" kern="1200" dirty="0">
                <a:solidFill>
                  <a:schemeClr val="tx1"/>
                </a:solidFill>
                <a:effectLst/>
                <a:latin typeface="+mn-lt"/>
                <a:ea typeface="+mn-ea"/>
                <a:cs typeface="+mn-cs"/>
              </a:rPr>
              <a:t>Oppdage feil i grensesnittet og samhandlingen.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Kan og bør automatiseres.</a:t>
            </a:r>
          </a:p>
        </p:txBody>
      </p:sp>
      <p:sp>
        <p:nvSpPr>
          <p:cNvPr id="4" name="Plassholder for lysbildenummer 3">
            <a:extLst>
              <a:ext uri="{FF2B5EF4-FFF2-40B4-BE49-F238E27FC236}">
                <a16:creationId xmlns:a16="http://schemas.microsoft.com/office/drawing/2014/main" id="{6CD8DC0A-784E-61FA-3BF1-F95CE14BD0A1}"/>
              </a:ext>
            </a:extLst>
          </p:cNvPr>
          <p:cNvSpPr>
            <a:spLocks noGrp="1"/>
          </p:cNvSpPr>
          <p:nvPr>
            <p:ph type="sldNum" sz="quarter" idx="5"/>
          </p:nvPr>
        </p:nvSpPr>
        <p:spPr/>
        <p:txBody>
          <a:bodyPr/>
          <a:lstStyle/>
          <a:p>
            <a:fld id="{ED8CD5F7-2931-42C6-9B3E-A6C700901896}" type="slidenum">
              <a:rPr lang="nb-NO" smtClean="0"/>
              <a:t>62</a:t>
            </a:fld>
            <a:endParaRPr lang="nb-NO"/>
          </a:p>
        </p:txBody>
      </p:sp>
    </p:spTree>
    <p:extLst>
      <p:ext uri="{BB962C8B-B14F-4D97-AF65-F5344CB8AC3E}">
        <p14:creationId xmlns:p14="http://schemas.microsoft.com/office/powerpoint/2010/main" val="367003364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DB8CE-B2C3-5EF7-39E7-EC6CA58F6D6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5D3C0C7-0EB0-B71D-8C57-E3B2CF3348DE}"/>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C10729E-2DB6-5938-77F0-7D5EDC8AFAE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Tester et fullt integrert system for å sjekke om systemet møter kravene.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Testing av hele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Sjekker at alt fungerer sammen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Finner feil mellom deler av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Gir trygghet før levering</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Sjekke at systemet oppfyller krav</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Finne feil før bruk</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Kan bruke verktøy som </a:t>
            </a:r>
            <a:r>
              <a:rPr lang="nb-NO" sz="1200" b="0" i="0" kern="1200" dirty="0" err="1">
                <a:solidFill>
                  <a:schemeClr val="tx1"/>
                </a:solidFill>
                <a:effectLst/>
                <a:latin typeface="+mn-lt"/>
                <a:ea typeface="+mn-ea"/>
                <a:cs typeface="+mn-cs"/>
              </a:rPr>
              <a:t>Selenium</a:t>
            </a:r>
            <a:r>
              <a:rPr lang="nb-NO" sz="1200" b="0" i="0" kern="1200" dirty="0">
                <a:solidFill>
                  <a:schemeClr val="tx1"/>
                </a:solidFill>
                <a:effectLst/>
                <a:latin typeface="+mn-lt"/>
                <a:ea typeface="+mn-ea"/>
                <a:cs typeface="+mn-cs"/>
              </a:rPr>
              <a:t>, men siden vi er avhengig av alle ressurser (db, eksterne tjenester, API </a:t>
            </a:r>
            <a:r>
              <a:rPr lang="nb-NO" sz="1200" b="0" i="0" kern="1200" dirty="0" err="1">
                <a:solidFill>
                  <a:schemeClr val="tx1"/>
                </a:solidFill>
                <a:effectLst/>
                <a:latin typeface="+mn-lt"/>
                <a:ea typeface="+mn-ea"/>
                <a:cs typeface="+mn-cs"/>
              </a:rPr>
              <a:t>osv</a:t>
            </a:r>
            <a:r>
              <a:rPr lang="nb-NO" sz="1200" b="0" i="0" kern="1200" dirty="0">
                <a:solidFill>
                  <a:schemeClr val="tx1"/>
                </a:solidFill>
                <a:effectLst/>
                <a:latin typeface="+mn-lt"/>
                <a:ea typeface="+mn-ea"/>
                <a:cs typeface="+mn-cs"/>
              </a:rPr>
              <a:t>) kan dette bli vanskelig å gjennomføre da det er vanskelig å oppnå repeterbare tester.</a:t>
            </a:r>
          </a:p>
        </p:txBody>
      </p:sp>
      <p:sp>
        <p:nvSpPr>
          <p:cNvPr id="4" name="Plassholder for lysbildenummer 3">
            <a:extLst>
              <a:ext uri="{FF2B5EF4-FFF2-40B4-BE49-F238E27FC236}">
                <a16:creationId xmlns:a16="http://schemas.microsoft.com/office/drawing/2014/main" id="{10D43B07-6419-5FFC-EB62-565C648F5441}"/>
              </a:ext>
            </a:extLst>
          </p:cNvPr>
          <p:cNvSpPr>
            <a:spLocks noGrp="1"/>
          </p:cNvSpPr>
          <p:nvPr>
            <p:ph type="sldNum" sz="quarter" idx="5"/>
          </p:nvPr>
        </p:nvSpPr>
        <p:spPr/>
        <p:txBody>
          <a:bodyPr/>
          <a:lstStyle/>
          <a:p>
            <a:fld id="{ED8CD5F7-2931-42C6-9B3E-A6C700901896}" type="slidenum">
              <a:rPr lang="nb-NO" smtClean="0"/>
              <a:t>63</a:t>
            </a:fld>
            <a:endParaRPr lang="nb-NO"/>
          </a:p>
        </p:txBody>
      </p:sp>
    </p:spTree>
    <p:extLst>
      <p:ext uri="{BB962C8B-B14F-4D97-AF65-F5344CB8AC3E}">
        <p14:creationId xmlns:p14="http://schemas.microsoft.com/office/powerpoint/2010/main" val="12903785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58F2C-7FD0-EC83-505C-313A391DD9C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750464B-AB06-8751-8712-A6D7F54D0E7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6826224-B552-C0CE-9B39-DDCAE0866F0C}"/>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Type systemtesting som utføres av kunden for å verifisere om systemet møter kravene i kontrakten.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Viktig</a:t>
            </a:r>
          </a:p>
          <a:p>
            <a:r>
              <a:rPr lang="nb-NO" sz="1200" b="0" i="0" kern="1200" dirty="0">
                <a:solidFill>
                  <a:schemeClr val="tx1"/>
                </a:solidFill>
                <a:effectLst/>
                <a:latin typeface="+mn-lt"/>
                <a:ea typeface="+mn-ea"/>
                <a:cs typeface="+mn-cs"/>
              </a:rPr>
              <a:t>Akseptansetesting i TDD handler om automatisk testing av </a:t>
            </a:r>
            <a:r>
              <a:rPr lang="nb-NO" sz="1200" b="0" i="0" kern="1200" dirty="0" err="1">
                <a:solidFill>
                  <a:schemeClr val="tx1"/>
                </a:solidFill>
                <a:effectLst/>
                <a:latin typeface="+mn-lt"/>
                <a:ea typeface="+mn-ea"/>
                <a:cs typeface="+mn-cs"/>
              </a:rPr>
              <a:t>user-stories</a:t>
            </a:r>
            <a:r>
              <a:rPr lang="nb-NO" sz="1200" b="0" i="0" kern="1200" dirty="0">
                <a:solidFill>
                  <a:schemeClr val="tx1"/>
                </a:solidFill>
                <a:effectLst/>
                <a:latin typeface="+mn-lt"/>
                <a:ea typeface="+mn-ea"/>
                <a:cs typeface="+mn-cs"/>
              </a:rPr>
              <a:t> og kan være utviklet i </a:t>
            </a:r>
            <a:r>
              <a:rPr lang="nb-NO" sz="1200" b="0" i="0" kern="1200" dirty="0" err="1">
                <a:solidFill>
                  <a:schemeClr val="tx1"/>
                </a:solidFill>
                <a:effectLst/>
                <a:latin typeface="+mn-lt"/>
                <a:ea typeface="+mn-ea"/>
                <a:cs typeface="+mn-cs"/>
              </a:rPr>
              <a:t>samsvær</a:t>
            </a:r>
            <a:r>
              <a:rPr lang="nb-NO" sz="1200" b="0" i="0" kern="1200" dirty="0">
                <a:solidFill>
                  <a:schemeClr val="tx1"/>
                </a:solidFill>
                <a:effectLst/>
                <a:latin typeface="+mn-lt"/>
                <a:ea typeface="+mn-ea"/>
                <a:cs typeface="+mn-cs"/>
              </a:rPr>
              <a:t> med kunden.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Fordeler</a:t>
            </a:r>
          </a:p>
          <a:p>
            <a:r>
              <a:rPr lang="nb-NO" sz="1200" b="0" i="0" kern="1200" dirty="0">
                <a:solidFill>
                  <a:schemeClr val="tx1"/>
                </a:solidFill>
                <a:effectLst/>
                <a:latin typeface="+mn-lt"/>
                <a:ea typeface="+mn-ea"/>
                <a:cs typeface="+mn-cs"/>
              </a:rPr>
              <a:t>Er manuell og automatisk</a:t>
            </a:r>
          </a:p>
        </p:txBody>
      </p:sp>
      <p:sp>
        <p:nvSpPr>
          <p:cNvPr id="4" name="Plassholder for lysbildenummer 3">
            <a:extLst>
              <a:ext uri="{FF2B5EF4-FFF2-40B4-BE49-F238E27FC236}">
                <a16:creationId xmlns:a16="http://schemas.microsoft.com/office/drawing/2014/main" id="{C0057C63-F8A9-CEBB-AD68-72EBCD816E98}"/>
              </a:ext>
            </a:extLst>
          </p:cNvPr>
          <p:cNvSpPr>
            <a:spLocks noGrp="1"/>
          </p:cNvSpPr>
          <p:nvPr>
            <p:ph type="sldNum" sz="quarter" idx="5"/>
          </p:nvPr>
        </p:nvSpPr>
        <p:spPr/>
        <p:txBody>
          <a:bodyPr/>
          <a:lstStyle/>
          <a:p>
            <a:fld id="{ED8CD5F7-2931-42C6-9B3E-A6C700901896}" type="slidenum">
              <a:rPr lang="nb-NO" smtClean="0"/>
              <a:t>64</a:t>
            </a:fld>
            <a:endParaRPr lang="nb-NO"/>
          </a:p>
        </p:txBody>
      </p:sp>
    </p:spTree>
    <p:extLst>
      <p:ext uri="{BB962C8B-B14F-4D97-AF65-F5344CB8AC3E}">
        <p14:creationId xmlns:p14="http://schemas.microsoft.com/office/powerpoint/2010/main" val="24372619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26E72-DC1B-9FC3-2E19-4671B4300A7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7358286-0DE6-40E5-A69D-9D4525D99E7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2F8AABA1-0823-37E4-FA45-2FD70FEA5653}"/>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Sikrer at systemet ikke brekker ved endringer der testen kjøres før og etter en endring.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Med kontinuerlig endring skjer dette implisitt siden testene kjøres ved innsjekk av kode.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Typer</a:t>
            </a:r>
          </a:p>
          <a:p>
            <a:r>
              <a:rPr lang="nb-NO" sz="1200" b="0" i="0" kern="1200" dirty="0">
                <a:solidFill>
                  <a:schemeClr val="tx1"/>
                </a:solidFill>
                <a:effectLst/>
                <a:latin typeface="+mn-lt"/>
                <a:ea typeface="+mn-ea"/>
                <a:cs typeface="+mn-cs"/>
              </a:rPr>
              <a:t>Enhetstester fungerer derfor som regresjonstesting. Kan også lage regresjonstester på integrasjon- og akseptansenivå.</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Regresjonstesting kan automatiseres siden man utfører nøyaktig samme test før og etter en endring.</a:t>
            </a:r>
          </a:p>
        </p:txBody>
      </p:sp>
      <p:sp>
        <p:nvSpPr>
          <p:cNvPr id="4" name="Plassholder for lysbildenummer 3">
            <a:extLst>
              <a:ext uri="{FF2B5EF4-FFF2-40B4-BE49-F238E27FC236}">
                <a16:creationId xmlns:a16="http://schemas.microsoft.com/office/drawing/2014/main" id="{68B22F39-00E2-9B98-406F-F094E605E9DA}"/>
              </a:ext>
            </a:extLst>
          </p:cNvPr>
          <p:cNvSpPr>
            <a:spLocks noGrp="1"/>
          </p:cNvSpPr>
          <p:nvPr>
            <p:ph type="sldNum" sz="quarter" idx="5"/>
          </p:nvPr>
        </p:nvSpPr>
        <p:spPr/>
        <p:txBody>
          <a:bodyPr/>
          <a:lstStyle/>
          <a:p>
            <a:fld id="{ED8CD5F7-2931-42C6-9B3E-A6C700901896}" type="slidenum">
              <a:rPr lang="nb-NO" smtClean="0"/>
              <a:t>65</a:t>
            </a:fld>
            <a:endParaRPr lang="nb-NO"/>
          </a:p>
        </p:txBody>
      </p:sp>
    </p:spTree>
    <p:extLst>
      <p:ext uri="{BB962C8B-B14F-4D97-AF65-F5344CB8AC3E}">
        <p14:creationId xmlns:p14="http://schemas.microsoft.com/office/powerpoint/2010/main" val="2929183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67AD8-9AED-36F6-D906-C82315E4D27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B4F016D-89F7-4A7D-022E-7A13D7D85D0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81D2795-442C-9748-0DA2-4D3B294A8C37}"/>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Ad hoc type test der man prøver ut de viktigste delene av et system.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Kan være greit å gjøre før systemet sendes videre til andre tester.</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Forskjell og nyttighet:</a:t>
            </a:r>
          </a:p>
          <a:p>
            <a:r>
              <a:rPr lang="nb-NO" sz="1200" b="0" i="0" kern="1200" dirty="0" err="1">
                <a:solidFill>
                  <a:schemeClr val="tx1"/>
                </a:solidFill>
                <a:effectLst/>
                <a:latin typeface="+mn-lt"/>
                <a:ea typeface="+mn-ea"/>
                <a:cs typeface="+mn-cs"/>
              </a:rPr>
              <a:t>Smoke</a:t>
            </a:r>
            <a:r>
              <a:rPr lang="nb-NO" sz="1200" b="0" i="0" kern="1200" dirty="0">
                <a:solidFill>
                  <a:schemeClr val="tx1"/>
                </a:solidFill>
                <a:effectLst/>
                <a:latin typeface="+mn-lt"/>
                <a:ea typeface="+mn-ea"/>
                <a:cs typeface="+mn-cs"/>
              </a:rPr>
              <a:t>-testing: funker på kritisk funksjonalitet i systemet</a:t>
            </a:r>
          </a:p>
          <a:p>
            <a:r>
              <a:rPr lang="nb-NO" sz="1200" b="0" i="0" kern="1200" dirty="0" err="1">
                <a:solidFill>
                  <a:schemeClr val="tx1"/>
                </a:solidFill>
                <a:effectLst/>
                <a:latin typeface="+mn-lt"/>
                <a:ea typeface="+mn-ea"/>
                <a:cs typeface="+mn-cs"/>
              </a:rPr>
              <a:t>Sanity</a:t>
            </a:r>
            <a:r>
              <a:rPr lang="nb-NO" sz="1200" b="0" i="0" kern="1200" dirty="0">
                <a:solidFill>
                  <a:schemeClr val="tx1"/>
                </a:solidFill>
                <a:effectLst/>
                <a:latin typeface="+mn-lt"/>
                <a:ea typeface="+mn-ea"/>
                <a:cs typeface="+mn-cs"/>
              </a:rPr>
              <a:t>-testing: fokus på ny funksjonalitet</a:t>
            </a:r>
          </a:p>
        </p:txBody>
      </p:sp>
      <p:sp>
        <p:nvSpPr>
          <p:cNvPr id="4" name="Plassholder for lysbildenummer 3">
            <a:extLst>
              <a:ext uri="{FF2B5EF4-FFF2-40B4-BE49-F238E27FC236}">
                <a16:creationId xmlns:a16="http://schemas.microsoft.com/office/drawing/2014/main" id="{01E1A383-A4AF-4CFC-B880-F5C5414D1E09}"/>
              </a:ext>
            </a:extLst>
          </p:cNvPr>
          <p:cNvSpPr>
            <a:spLocks noGrp="1"/>
          </p:cNvSpPr>
          <p:nvPr>
            <p:ph type="sldNum" sz="quarter" idx="5"/>
          </p:nvPr>
        </p:nvSpPr>
        <p:spPr/>
        <p:txBody>
          <a:bodyPr/>
          <a:lstStyle/>
          <a:p>
            <a:fld id="{ED8CD5F7-2931-42C6-9B3E-A6C700901896}" type="slidenum">
              <a:rPr lang="nb-NO" smtClean="0"/>
              <a:t>66</a:t>
            </a:fld>
            <a:endParaRPr lang="nb-NO"/>
          </a:p>
        </p:txBody>
      </p:sp>
    </p:spTree>
    <p:extLst>
      <p:ext uri="{BB962C8B-B14F-4D97-AF65-F5344CB8AC3E}">
        <p14:creationId xmlns:p14="http://schemas.microsoft.com/office/powerpoint/2010/main" val="40053862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151AD-16AC-34E0-2706-0F272472833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9A64DB1-426B-D578-E96C-6B26A06F49E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5CBB3A3-2AF5-49E2-AE40-CB32DC3F792E}"/>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og hvordan?</a:t>
            </a:r>
          </a:p>
          <a:p>
            <a:r>
              <a:rPr lang="nb-NO" sz="1200" b="0" i="0" kern="1200" dirty="0">
                <a:solidFill>
                  <a:schemeClr val="tx1"/>
                </a:solidFill>
                <a:effectLst/>
                <a:latin typeface="+mn-lt"/>
                <a:ea typeface="+mn-ea"/>
                <a:cs typeface="+mn-cs"/>
              </a:rPr>
              <a:t>Type ad hoc, kreativ og utforskende testing hvor man prøver å få systemet til å feile.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Hva kan ikke gjøres?</a:t>
            </a:r>
          </a:p>
          <a:p>
            <a:r>
              <a:rPr lang="nb-NO" sz="1200" b="0" i="0" kern="1200" dirty="0">
                <a:solidFill>
                  <a:schemeClr val="tx1"/>
                </a:solidFill>
                <a:effectLst/>
                <a:latin typeface="+mn-lt"/>
                <a:ea typeface="+mn-ea"/>
                <a:cs typeface="+mn-cs"/>
              </a:rPr>
              <a:t>Kan ikke automatiseres.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Krav?</a:t>
            </a:r>
          </a:p>
          <a:p>
            <a:r>
              <a:rPr lang="nb-NO" sz="1200" b="0" i="0" kern="1200" dirty="0">
                <a:solidFill>
                  <a:schemeClr val="tx1"/>
                </a:solidFill>
                <a:effectLst/>
                <a:latin typeface="+mn-lt"/>
                <a:ea typeface="+mn-ea"/>
                <a:cs typeface="+mn-cs"/>
              </a:rPr>
              <a:t>Må bruke menneskelig kreativitet og erfaring.</a:t>
            </a:r>
          </a:p>
        </p:txBody>
      </p:sp>
      <p:sp>
        <p:nvSpPr>
          <p:cNvPr id="4" name="Plassholder for lysbildenummer 3">
            <a:extLst>
              <a:ext uri="{FF2B5EF4-FFF2-40B4-BE49-F238E27FC236}">
                <a16:creationId xmlns:a16="http://schemas.microsoft.com/office/drawing/2014/main" id="{59AA967B-ED79-8E95-5C55-EFB91E054851}"/>
              </a:ext>
            </a:extLst>
          </p:cNvPr>
          <p:cNvSpPr>
            <a:spLocks noGrp="1"/>
          </p:cNvSpPr>
          <p:nvPr>
            <p:ph type="sldNum" sz="quarter" idx="5"/>
          </p:nvPr>
        </p:nvSpPr>
        <p:spPr/>
        <p:txBody>
          <a:bodyPr/>
          <a:lstStyle/>
          <a:p>
            <a:fld id="{ED8CD5F7-2931-42C6-9B3E-A6C700901896}" type="slidenum">
              <a:rPr lang="nb-NO" smtClean="0"/>
              <a:t>67</a:t>
            </a:fld>
            <a:endParaRPr lang="nb-NO"/>
          </a:p>
        </p:txBody>
      </p:sp>
    </p:spTree>
    <p:extLst>
      <p:ext uri="{BB962C8B-B14F-4D97-AF65-F5344CB8AC3E}">
        <p14:creationId xmlns:p14="http://schemas.microsoft.com/office/powerpoint/2010/main" val="17969295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AA52F-BE72-D84E-8EFA-B2846FEDAA3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AD4E7B4-607C-E3C9-5A0D-2B830BC6E96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93A94EE-670B-90B0-E88A-0C90317CBB1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Tester brukervennligheten: GUI og om kunden er fornøyd</a:t>
            </a:r>
          </a:p>
        </p:txBody>
      </p:sp>
      <p:sp>
        <p:nvSpPr>
          <p:cNvPr id="4" name="Plassholder for lysbildenummer 3">
            <a:extLst>
              <a:ext uri="{FF2B5EF4-FFF2-40B4-BE49-F238E27FC236}">
                <a16:creationId xmlns:a16="http://schemas.microsoft.com/office/drawing/2014/main" id="{9F33C860-2793-8C8E-8289-81FD2BE83365}"/>
              </a:ext>
            </a:extLst>
          </p:cNvPr>
          <p:cNvSpPr>
            <a:spLocks noGrp="1"/>
          </p:cNvSpPr>
          <p:nvPr>
            <p:ph type="sldNum" sz="quarter" idx="5"/>
          </p:nvPr>
        </p:nvSpPr>
        <p:spPr/>
        <p:txBody>
          <a:bodyPr/>
          <a:lstStyle/>
          <a:p>
            <a:fld id="{ED8CD5F7-2931-42C6-9B3E-A6C700901896}" type="slidenum">
              <a:rPr lang="nb-NO" smtClean="0"/>
              <a:t>68</a:t>
            </a:fld>
            <a:endParaRPr lang="nb-NO"/>
          </a:p>
        </p:txBody>
      </p:sp>
    </p:spTree>
    <p:extLst>
      <p:ext uri="{BB962C8B-B14F-4D97-AF65-F5344CB8AC3E}">
        <p14:creationId xmlns:p14="http://schemas.microsoft.com/office/powerpoint/2010/main" val="38563930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92D9-5160-F43C-DB76-38FB3EA14D74}"/>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5DED1B5-8157-B1D0-A0AA-942F1ED6E84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BA762FEE-1394-F7FC-B018-6522BC34FE9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Hvor mye last tåler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Hvor mye plutselig last tåler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Ytelse over tid med tung arbeid</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Lekkasjer?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Hvordan vi måler ytelse:</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Antall samtidige brukere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Transaksjoner per tid</a:t>
            </a:r>
          </a:p>
          <a:p>
            <a:pPr marL="171450" indent="-171450">
              <a:buFont typeface="Arial" panose="020B0604020202020204" pitchFamily="34" charset="0"/>
              <a:buChar char="•"/>
            </a:pPr>
            <a:r>
              <a:rPr lang="nb-NO" sz="1200" b="0" i="0" kern="1200" dirty="0" err="1">
                <a:solidFill>
                  <a:schemeClr val="tx1"/>
                </a:solidFill>
                <a:effectLst/>
                <a:latin typeface="+mn-lt"/>
                <a:ea typeface="+mn-ea"/>
                <a:cs typeface="+mn-cs"/>
              </a:rPr>
              <a:t>Throughput</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Responstider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Flaskehalser</a:t>
            </a:r>
          </a:p>
          <a:p>
            <a:r>
              <a:rPr lang="nb-NO" sz="1200" b="0" i="0" kern="1200" dirty="0">
                <a:solidFill>
                  <a:schemeClr val="tx1"/>
                </a:solidFill>
                <a:effectLst/>
                <a:latin typeface="+mn-lt"/>
                <a:ea typeface="+mn-ea"/>
                <a:cs typeface="+mn-cs"/>
              </a:rPr>
              <a:t>Flaskehalser i systemet er hvor systemet er treigest/svakest, og det som holder ytelse tilbake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Hvordan finner vi flaskehalser?</a:t>
            </a: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Kan finne flaskehalser ved å teste responstid på ulike steder og nivåer. Når flaskehalsen er funnet må vi finne årsaken.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Hva er ofte årsakene til flaskehalser?</a:t>
            </a:r>
          </a:p>
          <a:p>
            <a:r>
              <a:rPr lang="nb-NO" sz="1200" b="0" i="0" kern="1200" dirty="0">
                <a:solidFill>
                  <a:schemeClr val="tx1"/>
                </a:solidFill>
                <a:effectLst/>
                <a:latin typeface="+mn-lt"/>
                <a:ea typeface="+mn-ea"/>
                <a:cs typeface="+mn-cs"/>
              </a:rPr>
              <a:t>Ofte er årsaken knyttet til CPU, minne, tråder, db tilkobling osv.</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Typer ytelsestester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Last-Test:</a:t>
            </a:r>
            <a:r>
              <a:rPr lang="nb-NO" sz="1200" b="0" i="0" kern="1200" dirty="0">
                <a:solidFill>
                  <a:schemeClr val="tx1"/>
                </a:solidFill>
                <a:effectLst/>
                <a:latin typeface="+mn-lt"/>
                <a:ea typeface="+mn-ea"/>
                <a:cs typeface="+mn-cs"/>
              </a:rPr>
              <a:t> Hvordan systemet oppfører seg ved forventet last. Hvor mye tåler systemet før ytelsen degraderes vesentlig. Hva er det som gjør at systemet degraderes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Stress test:</a:t>
            </a:r>
            <a:r>
              <a:rPr lang="nb-NO" sz="1200" b="0" i="0" kern="1200" dirty="0">
                <a:solidFill>
                  <a:schemeClr val="tx1"/>
                </a:solidFill>
                <a:effectLst/>
                <a:latin typeface="+mn-lt"/>
                <a:ea typeface="+mn-ea"/>
                <a:cs typeface="+mn-cs"/>
              </a:rPr>
              <a:t> Finne systemets øverste limit. Når bryter systemet sammen og hva er årsaken?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Spike-test:</a:t>
            </a:r>
            <a:r>
              <a:rPr lang="nb-NO" sz="1200" b="0" i="0" kern="1200" dirty="0">
                <a:solidFill>
                  <a:schemeClr val="tx1"/>
                </a:solidFill>
                <a:effectLst/>
                <a:latin typeface="+mn-lt"/>
                <a:ea typeface="+mn-ea"/>
                <a:cs typeface="+mn-cs"/>
              </a:rPr>
              <a:t> Hvordan systemet oppfører seg ved plutselig høy last.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Utholdenhetstest:</a:t>
            </a:r>
            <a:r>
              <a:rPr lang="nb-NO" sz="1200" b="0" i="0" kern="1200" dirty="0">
                <a:solidFill>
                  <a:schemeClr val="tx1"/>
                </a:solidFill>
                <a:effectLst/>
                <a:latin typeface="+mn-lt"/>
                <a:ea typeface="+mn-ea"/>
                <a:cs typeface="+mn-cs"/>
              </a:rPr>
              <a:t> Hva skjer når systemet utsettes for jevn last over tid.</a:t>
            </a:r>
          </a:p>
        </p:txBody>
      </p:sp>
      <p:sp>
        <p:nvSpPr>
          <p:cNvPr id="4" name="Plassholder for lysbildenummer 3">
            <a:extLst>
              <a:ext uri="{FF2B5EF4-FFF2-40B4-BE49-F238E27FC236}">
                <a16:creationId xmlns:a16="http://schemas.microsoft.com/office/drawing/2014/main" id="{66CADCDC-0C55-177C-8A3E-AA519F7E8C90}"/>
              </a:ext>
            </a:extLst>
          </p:cNvPr>
          <p:cNvSpPr>
            <a:spLocks noGrp="1"/>
          </p:cNvSpPr>
          <p:nvPr>
            <p:ph type="sldNum" sz="quarter" idx="5"/>
          </p:nvPr>
        </p:nvSpPr>
        <p:spPr/>
        <p:txBody>
          <a:bodyPr/>
          <a:lstStyle/>
          <a:p>
            <a:fld id="{ED8CD5F7-2931-42C6-9B3E-A6C700901896}" type="slidenum">
              <a:rPr lang="nb-NO" smtClean="0"/>
              <a:t>69</a:t>
            </a:fld>
            <a:endParaRPr lang="nb-NO"/>
          </a:p>
        </p:txBody>
      </p:sp>
    </p:spTree>
    <p:extLst>
      <p:ext uri="{BB962C8B-B14F-4D97-AF65-F5344CB8AC3E}">
        <p14:creationId xmlns:p14="http://schemas.microsoft.com/office/powerpoint/2010/main" val="1698431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BB197-2A3F-DF20-F4ED-0E4D26574C5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A0779FC0-90CD-A09C-9863-D4E8334D389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951F91A-C58D-BF13-51E7-7E4A84F896FB}"/>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Blackbox</a:t>
            </a:r>
            <a:br>
              <a:rPr lang="en-US"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Testing der testeren ikke har kjennskap til systemets interne kode eller oppbygning. </a:t>
            </a:r>
          </a:p>
          <a:p>
            <a:r>
              <a:rPr lang="nb-NO" sz="1200" b="0" i="0" kern="1200" dirty="0">
                <a:solidFill>
                  <a:schemeClr val="tx1"/>
                </a:solidFill>
                <a:effectLst/>
                <a:latin typeface="+mn-lt"/>
                <a:ea typeface="+mn-ea"/>
                <a:cs typeface="+mn-cs"/>
              </a:rPr>
              <a:t>Testingen baseres på krav, spesifikasjoner og forventet oppførsel.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Whitebox</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Testing der testeren har full kjennskap til systemets interne kode og struktur. </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Testingen brukes for å kontrollere den interne oppbygningen og logikken i programvaren.</a:t>
            </a:r>
            <a:endParaRPr lang="en-US"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2769086A-BCF0-57DC-1817-1D02771BA5E6}"/>
              </a:ext>
            </a:extLst>
          </p:cNvPr>
          <p:cNvSpPr>
            <a:spLocks noGrp="1"/>
          </p:cNvSpPr>
          <p:nvPr>
            <p:ph type="sldNum" sz="quarter" idx="5"/>
          </p:nvPr>
        </p:nvSpPr>
        <p:spPr/>
        <p:txBody>
          <a:bodyPr/>
          <a:lstStyle/>
          <a:p>
            <a:fld id="{ED8CD5F7-2931-42C6-9B3E-A6C700901896}" type="slidenum">
              <a:rPr lang="nb-NO" smtClean="0"/>
              <a:t>70</a:t>
            </a:fld>
            <a:endParaRPr lang="nb-NO"/>
          </a:p>
        </p:txBody>
      </p:sp>
    </p:spTree>
    <p:extLst>
      <p:ext uri="{BB962C8B-B14F-4D97-AF65-F5344CB8AC3E}">
        <p14:creationId xmlns:p14="http://schemas.microsoft.com/office/powerpoint/2010/main" val="13044111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99DD8-2D09-9CFC-BC0C-290CDBF5A11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99429C4-0B1F-1B87-A9EC-D0A147CA040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81070AF-D6D5-C621-292A-C2C5019AE5B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Automatisk</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Fordeler: </a:t>
            </a:r>
            <a:r>
              <a:rPr lang="nb-NO" sz="1200" b="0" i="0" kern="1200" dirty="0">
                <a:solidFill>
                  <a:schemeClr val="tx1"/>
                </a:solidFill>
                <a:effectLst/>
                <a:latin typeface="+mn-lt"/>
                <a:ea typeface="+mn-ea"/>
                <a:cs typeface="+mn-cs"/>
              </a:rPr>
              <a:t>Raske og nøyaktige.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a:t>
            </a:r>
            <a:r>
              <a:rPr lang="nb-NO" sz="1200" b="0" i="0" kern="1200" dirty="0">
                <a:solidFill>
                  <a:schemeClr val="tx1"/>
                </a:solidFill>
                <a:effectLst/>
                <a:latin typeface="+mn-lt"/>
                <a:ea typeface="+mn-ea"/>
                <a:cs typeface="+mn-cs"/>
              </a:rPr>
              <a:t> Enhetstester og regresjonstest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Ulemper:</a:t>
            </a:r>
            <a:r>
              <a:rPr lang="nb-NO" sz="1200" b="0" i="0" kern="1200" dirty="0">
                <a:solidFill>
                  <a:schemeClr val="tx1"/>
                </a:solidFill>
                <a:effectLst/>
                <a:latin typeface="+mn-lt"/>
                <a:ea typeface="+mn-ea"/>
                <a:cs typeface="+mn-cs"/>
              </a:rPr>
              <a:t> Finner ikke noe eksplisitt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Manuelle tester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Fordeler: </a:t>
            </a:r>
            <a:r>
              <a:rPr lang="nb-NO" sz="1200" b="0" i="0" kern="1200" dirty="0">
                <a:solidFill>
                  <a:schemeClr val="tx1"/>
                </a:solidFill>
                <a:effectLst/>
                <a:latin typeface="+mn-lt"/>
                <a:ea typeface="+mn-ea"/>
                <a:cs typeface="+mn-cs"/>
              </a:rPr>
              <a:t>Kreative og finne fort vanlige feil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Smoke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sanity</a:t>
            </a:r>
            <a:r>
              <a:rPr lang="nb-NO" sz="1200" b="0" i="0" kern="1200" dirty="0">
                <a:solidFill>
                  <a:schemeClr val="tx1"/>
                </a:solidFill>
                <a:effectLst/>
                <a:latin typeface="+mn-lt"/>
                <a:ea typeface="+mn-ea"/>
                <a:cs typeface="+mn-cs"/>
              </a:rPr>
              <a:t>, utforskende, destruktiv testing</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Begge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 </a:t>
            </a:r>
            <a:r>
              <a:rPr lang="nb-NO" sz="1200" b="0" i="0" kern="1200" dirty="0" err="1">
                <a:solidFill>
                  <a:schemeClr val="tx1"/>
                </a:solidFill>
                <a:effectLst/>
                <a:latin typeface="+mn-lt"/>
                <a:ea typeface="+mn-ea"/>
                <a:cs typeface="+mn-cs"/>
              </a:rPr>
              <a:t>Usability</a:t>
            </a:r>
            <a:r>
              <a:rPr lang="nb-NO" sz="1200" b="0" i="0" kern="1200" dirty="0">
                <a:solidFill>
                  <a:schemeClr val="tx1"/>
                </a:solidFill>
                <a:effectLst/>
                <a:latin typeface="+mn-lt"/>
                <a:ea typeface="+mn-ea"/>
                <a:cs typeface="+mn-cs"/>
              </a:rPr>
              <a:t>, integrasjon, </a:t>
            </a:r>
            <a:r>
              <a:rPr lang="nb-NO" sz="1200" b="0" i="0" kern="1200" dirty="0" err="1">
                <a:solidFill>
                  <a:schemeClr val="tx1"/>
                </a:solidFill>
                <a:effectLst/>
                <a:latin typeface="+mn-lt"/>
                <a:ea typeface="+mn-ea"/>
                <a:cs typeface="+mn-cs"/>
              </a:rPr>
              <a:t>akseptanse</a:t>
            </a:r>
            <a:r>
              <a:rPr lang="nb-NO" sz="1200" b="0" i="0" kern="1200" dirty="0">
                <a:solidFill>
                  <a:schemeClr val="tx1"/>
                </a:solidFill>
                <a:effectLst/>
                <a:latin typeface="+mn-lt"/>
                <a:ea typeface="+mn-ea"/>
                <a:cs typeface="+mn-cs"/>
              </a:rPr>
              <a:t>, ytelsestesting og systemtesting</a:t>
            </a:r>
          </a:p>
        </p:txBody>
      </p:sp>
      <p:sp>
        <p:nvSpPr>
          <p:cNvPr id="4" name="Plassholder for lysbildenummer 3">
            <a:extLst>
              <a:ext uri="{FF2B5EF4-FFF2-40B4-BE49-F238E27FC236}">
                <a16:creationId xmlns:a16="http://schemas.microsoft.com/office/drawing/2014/main" id="{C097FAED-C5F1-4EBE-601A-12AABE422799}"/>
              </a:ext>
            </a:extLst>
          </p:cNvPr>
          <p:cNvSpPr>
            <a:spLocks noGrp="1"/>
          </p:cNvSpPr>
          <p:nvPr>
            <p:ph type="sldNum" sz="quarter" idx="5"/>
          </p:nvPr>
        </p:nvSpPr>
        <p:spPr/>
        <p:txBody>
          <a:bodyPr/>
          <a:lstStyle/>
          <a:p>
            <a:fld id="{ED8CD5F7-2931-42C6-9B3E-A6C700901896}" type="slidenum">
              <a:rPr lang="nb-NO" smtClean="0"/>
              <a:t>71</a:t>
            </a:fld>
            <a:endParaRPr lang="nb-NO"/>
          </a:p>
        </p:txBody>
      </p:sp>
    </p:spTree>
    <p:extLst>
      <p:ext uri="{BB962C8B-B14F-4D97-AF65-F5344CB8AC3E}">
        <p14:creationId xmlns:p14="http://schemas.microsoft.com/office/powerpoint/2010/main" val="410582583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DA014-8C57-6065-BCBD-463D2522FC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BFE083E-0E2F-EF61-58D9-6B33580652A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4ADE0B1-F794-E302-BB04-2BFA6B7CD67C}"/>
              </a:ext>
            </a:extLst>
          </p:cNvPr>
          <p:cNvSpPr>
            <a:spLocks noGrp="1"/>
          </p:cNvSpPr>
          <p:nvPr>
            <p:ph type="body" idx="1"/>
          </p:nvPr>
        </p:nvSpPr>
        <p:spPr/>
        <p:txBody>
          <a:bodyPr/>
          <a:lstStyle/>
          <a:p>
            <a:pPr marL="228600" indent="-228600">
              <a:buAutoNum type="arabicPeriod"/>
            </a:pPr>
            <a:r>
              <a:rPr lang="en-US" sz="1200" b="0" kern="1200" dirty="0">
                <a:solidFill>
                  <a:schemeClr val="tx1"/>
                </a:solidFill>
                <a:effectLst/>
                <a:latin typeface="+mn-lt"/>
                <a:ea typeface="+mn-ea"/>
                <a:cs typeface="+mn-cs"/>
              </a:rPr>
              <a:t>Testing shows the presence of defects</a:t>
            </a:r>
          </a:p>
          <a:p>
            <a:pPr marL="228600" indent="-228600">
              <a:buFont typeface="+mj-lt"/>
              <a:buAutoNum type="arabicPeriod"/>
            </a:pPr>
            <a:r>
              <a:rPr lang="en-US" sz="1200" b="0" kern="1200" dirty="0">
                <a:solidFill>
                  <a:schemeClr val="tx1"/>
                </a:solidFill>
                <a:effectLst/>
                <a:latin typeface="+mn-lt"/>
                <a:ea typeface="+mn-ea"/>
                <a:cs typeface="+mn-cs"/>
              </a:rPr>
              <a:t>Exhaustive testing is impossible</a:t>
            </a:r>
          </a:p>
          <a:p>
            <a:pPr marL="228600" indent="-228600">
              <a:buFont typeface="+mj-lt"/>
              <a:buAutoNum type="arabicPeriod"/>
            </a:pPr>
            <a:r>
              <a:rPr lang="en-US" sz="1200" b="0" kern="1200" dirty="0">
                <a:solidFill>
                  <a:schemeClr val="tx1"/>
                </a:solidFill>
                <a:effectLst/>
                <a:latin typeface="+mn-lt"/>
                <a:ea typeface="+mn-ea"/>
                <a:cs typeface="+mn-cs"/>
              </a:rPr>
              <a:t>Early testing</a:t>
            </a:r>
          </a:p>
          <a:p>
            <a:pPr marL="228600" indent="-228600">
              <a:buFont typeface="+mj-lt"/>
              <a:buAutoNum type="arabicPeriod"/>
            </a:pPr>
            <a:r>
              <a:rPr lang="en-US" sz="1200" b="0" kern="1200" dirty="0">
                <a:solidFill>
                  <a:schemeClr val="tx1"/>
                </a:solidFill>
                <a:effectLst/>
                <a:latin typeface="+mn-lt"/>
                <a:ea typeface="+mn-ea"/>
                <a:cs typeface="+mn-cs"/>
              </a:rPr>
              <a:t>Defects clustering</a:t>
            </a:r>
          </a:p>
          <a:p>
            <a:pPr marL="228600" indent="-228600">
              <a:buFont typeface="+mj-lt"/>
              <a:buAutoNum type="arabicPeriod"/>
            </a:pPr>
            <a:r>
              <a:rPr lang="en-US" sz="1200" b="0" kern="1200" dirty="0">
                <a:solidFill>
                  <a:schemeClr val="tx1"/>
                </a:solidFill>
                <a:effectLst/>
                <a:latin typeface="+mn-lt"/>
                <a:ea typeface="+mn-ea"/>
                <a:cs typeface="+mn-cs"/>
              </a:rPr>
              <a:t>Pesticide paradox</a:t>
            </a:r>
          </a:p>
          <a:p>
            <a:pPr marL="228600" indent="-228600">
              <a:buFont typeface="+mj-lt"/>
              <a:buAutoNum type="arabicPeriod"/>
            </a:pPr>
            <a:r>
              <a:rPr lang="en-US" sz="1200" b="0" kern="1200" dirty="0">
                <a:solidFill>
                  <a:schemeClr val="tx1"/>
                </a:solidFill>
                <a:effectLst/>
                <a:latin typeface="+mn-lt"/>
                <a:ea typeface="+mn-ea"/>
                <a:cs typeface="+mn-cs"/>
              </a:rPr>
              <a:t>Testing is context dependent</a:t>
            </a:r>
          </a:p>
          <a:p>
            <a:pPr marL="228600" indent="-228600">
              <a:buFont typeface="+mj-lt"/>
              <a:buAutoNum type="arabicPeriod"/>
            </a:pPr>
            <a:r>
              <a:rPr lang="en-US" sz="1200" b="0" kern="1200" dirty="0">
                <a:solidFill>
                  <a:schemeClr val="tx1"/>
                </a:solidFill>
                <a:effectLst/>
                <a:latin typeface="+mn-lt"/>
                <a:ea typeface="+mn-ea"/>
                <a:cs typeface="+mn-cs"/>
              </a:rPr>
              <a:t>Absence of error fallacy</a:t>
            </a:r>
          </a:p>
        </p:txBody>
      </p:sp>
      <p:sp>
        <p:nvSpPr>
          <p:cNvPr id="4" name="Plassholder for lysbildenummer 3">
            <a:extLst>
              <a:ext uri="{FF2B5EF4-FFF2-40B4-BE49-F238E27FC236}">
                <a16:creationId xmlns:a16="http://schemas.microsoft.com/office/drawing/2014/main" id="{060FE750-5061-7C21-EDE2-BCA4513A0800}"/>
              </a:ext>
            </a:extLst>
          </p:cNvPr>
          <p:cNvSpPr>
            <a:spLocks noGrp="1"/>
          </p:cNvSpPr>
          <p:nvPr>
            <p:ph type="sldNum" sz="quarter" idx="5"/>
          </p:nvPr>
        </p:nvSpPr>
        <p:spPr/>
        <p:txBody>
          <a:bodyPr/>
          <a:lstStyle/>
          <a:p>
            <a:fld id="{ED8CD5F7-2931-42C6-9B3E-A6C700901896}" type="slidenum">
              <a:rPr lang="nb-NO" smtClean="0"/>
              <a:t>72</a:t>
            </a:fld>
            <a:endParaRPr lang="nb-NO"/>
          </a:p>
        </p:txBody>
      </p:sp>
    </p:spTree>
    <p:extLst>
      <p:ext uri="{BB962C8B-B14F-4D97-AF65-F5344CB8AC3E}">
        <p14:creationId xmlns:p14="http://schemas.microsoft.com/office/powerpoint/2010/main" val="322376318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75C53-CCDC-9FC9-D70A-868096C18E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19404D5-8D4C-B276-C1AD-4E61E126D0B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A642D544-0D38-E77C-9AA6-EB55B90F3664}"/>
              </a:ext>
            </a:extLst>
          </p:cNvPr>
          <p:cNvSpPr>
            <a:spLocks noGrp="1"/>
          </p:cNvSpPr>
          <p:nvPr>
            <p:ph type="body" idx="1"/>
          </p:nvPr>
        </p:nvSpPr>
        <p:spPr/>
        <p:txBody>
          <a:bodyPr/>
          <a:lstStyle/>
          <a:p>
            <a:endParaRPr lang="nb-NO" dirty="0"/>
          </a:p>
        </p:txBody>
      </p:sp>
      <p:sp>
        <p:nvSpPr>
          <p:cNvPr id="4" name="Plassholder for lysbildenummer 3">
            <a:extLst>
              <a:ext uri="{FF2B5EF4-FFF2-40B4-BE49-F238E27FC236}">
                <a16:creationId xmlns:a16="http://schemas.microsoft.com/office/drawing/2014/main" id="{B853D6DE-B1E6-8FF6-2B84-CE89EAB2CA8F}"/>
              </a:ext>
            </a:extLst>
          </p:cNvPr>
          <p:cNvSpPr>
            <a:spLocks noGrp="1"/>
          </p:cNvSpPr>
          <p:nvPr>
            <p:ph type="sldNum" sz="quarter" idx="5"/>
          </p:nvPr>
        </p:nvSpPr>
        <p:spPr/>
        <p:txBody>
          <a:bodyPr/>
          <a:lstStyle/>
          <a:p>
            <a:fld id="{ED8CD5F7-2931-42C6-9B3E-A6C700901896}" type="slidenum">
              <a:rPr lang="nb-NO" smtClean="0"/>
              <a:t>73</a:t>
            </a:fld>
            <a:endParaRPr lang="nb-NO"/>
          </a:p>
        </p:txBody>
      </p:sp>
    </p:spTree>
    <p:extLst>
      <p:ext uri="{BB962C8B-B14F-4D97-AF65-F5344CB8AC3E}">
        <p14:creationId xmlns:p14="http://schemas.microsoft.com/office/powerpoint/2010/main" val="37337351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B240B-8A0A-1E2D-C919-5943BA98501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6715588-CD52-FBD9-CE3B-3D71C994645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4F5B7AC-F6AE-8EC5-018F-0456CD71FFC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står GDPR for?</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General Data </a:t>
            </a:r>
            <a:r>
              <a:rPr lang="nb-NO" sz="1200" b="0" i="0" kern="1200" dirty="0" err="1">
                <a:solidFill>
                  <a:schemeClr val="tx1"/>
                </a:solidFill>
                <a:effectLst/>
                <a:latin typeface="+mn-lt"/>
                <a:ea typeface="+mn-ea"/>
                <a:cs typeface="+mn-cs"/>
              </a:rPr>
              <a:t>Protection</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Regulation</a:t>
            </a:r>
            <a:endParaRPr lang="nb-NO" sz="1200" b="0" i="0" kern="1200" dirty="0">
              <a:solidFill>
                <a:schemeClr val="tx1"/>
              </a:solidFill>
              <a:effectLst/>
              <a:latin typeface="+mn-lt"/>
              <a:ea typeface="+mn-ea"/>
              <a:cs typeface="+mn-cs"/>
            </a:endParaRP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Formål</a:t>
            </a:r>
          </a:p>
          <a:p>
            <a:r>
              <a:rPr lang="nb-NO" sz="1200" b="0" i="0" kern="1200" dirty="0">
                <a:solidFill>
                  <a:schemeClr val="tx1"/>
                </a:solidFill>
                <a:effectLst/>
                <a:latin typeface="+mn-lt"/>
                <a:ea typeface="+mn-ea"/>
                <a:cs typeface="+mn-cs"/>
              </a:rPr>
              <a:t>EUs personvernordning innført i norsk lov via personopplysningsloven. Regulerer all behandling av personopplysninger - fra innsamling og lagring til sletting og utlevering - for å beskytte individets rett til privatliv og kontroll over egen data.</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Grunnleggende prinsipper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Lovlighet, rimelig og gjennomsiktighet</a:t>
            </a:r>
            <a:r>
              <a:rPr lang="nb-NO" sz="1200" b="0" i="0" kern="1200" dirty="0">
                <a:solidFill>
                  <a:schemeClr val="tx1"/>
                </a:solidFill>
                <a:effectLst/>
                <a:latin typeface="+mn-lt"/>
                <a:ea typeface="+mn-ea"/>
                <a:cs typeface="+mn-cs"/>
              </a:rPr>
              <a:t> - .</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Formålsbegrensning</a:t>
            </a:r>
            <a:r>
              <a:rPr lang="nb-NO" sz="1200" b="0" i="0" kern="1200" dirty="0">
                <a:solidFill>
                  <a:schemeClr val="tx1"/>
                </a:solidFill>
                <a:effectLst/>
                <a:latin typeface="+mn-lt"/>
                <a:ea typeface="+mn-ea"/>
                <a:cs typeface="+mn-cs"/>
              </a:rPr>
              <a:t> - opplysninger samles inn kun for angitte mål.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Dataminimering</a:t>
            </a:r>
            <a:r>
              <a:rPr lang="nb-NO" sz="1200" b="0" i="0" kern="1200" dirty="0">
                <a:solidFill>
                  <a:schemeClr val="tx1"/>
                </a:solidFill>
                <a:effectLst/>
                <a:latin typeface="+mn-lt"/>
                <a:ea typeface="+mn-ea"/>
                <a:cs typeface="+mn-cs"/>
              </a:rPr>
              <a:t> - kun det som er nødvendig for formålet skal innhentes.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Riktighet</a:t>
            </a:r>
            <a:r>
              <a:rPr lang="nb-NO" sz="1200" b="0" i="0" kern="1200" dirty="0">
                <a:solidFill>
                  <a:schemeClr val="tx1"/>
                </a:solidFill>
                <a:effectLst/>
                <a:latin typeface="+mn-lt"/>
                <a:ea typeface="+mn-ea"/>
                <a:cs typeface="+mn-cs"/>
              </a:rPr>
              <a:t> - feil data skal rettes.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Lagringsbegrensning</a:t>
            </a:r>
            <a:r>
              <a:rPr lang="nb-NO" sz="1200" b="0" i="0" kern="1200" dirty="0">
                <a:solidFill>
                  <a:schemeClr val="tx1"/>
                </a:solidFill>
                <a:effectLst/>
                <a:latin typeface="+mn-lt"/>
                <a:ea typeface="+mn-ea"/>
                <a:cs typeface="+mn-cs"/>
              </a:rPr>
              <a:t> - data skal ikke lagres lengre enn nødvendig.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Integritet og konfidensialitet</a:t>
            </a:r>
            <a:r>
              <a:rPr lang="nb-NO" sz="1200" b="0" i="0" kern="1200" dirty="0">
                <a:solidFill>
                  <a:schemeClr val="tx1"/>
                </a:solidFill>
                <a:effectLst/>
                <a:latin typeface="+mn-lt"/>
                <a:ea typeface="+mn-ea"/>
                <a:cs typeface="+mn-cs"/>
              </a:rPr>
              <a:t> - tiltak skal hindre uautorisert tilgang, tap eller endring.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Ansvarliggjøring</a:t>
            </a:r>
            <a:r>
              <a:rPr lang="nb-NO" sz="1200" b="0" i="0" kern="1200" dirty="0">
                <a:solidFill>
                  <a:schemeClr val="tx1"/>
                </a:solidFill>
                <a:effectLst/>
                <a:latin typeface="+mn-lt"/>
                <a:ea typeface="+mn-ea"/>
                <a:cs typeface="+mn-cs"/>
              </a:rPr>
              <a:t> - behandlingsansvarlige må kunne sikre at prinsippene følges.</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De </a:t>
            </a:r>
            <a:r>
              <a:rPr lang="nb-NO" sz="1200" b="1" i="0" kern="1200" dirty="0" err="1">
                <a:solidFill>
                  <a:schemeClr val="tx1"/>
                </a:solidFill>
                <a:effectLst/>
                <a:latin typeface="+mn-lt"/>
                <a:ea typeface="+mn-ea"/>
                <a:cs typeface="+mn-cs"/>
              </a:rPr>
              <a:t>registreters</a:t>
            </a:r>
            <a:r>
              <a:rPr lang="nb-NO" sz="1200" b="1" i="0" kern="1200" dirty="0">
                <a:solidFill>
                  <a:schemeClr val="tx1"/>
                </a:solidFill>
                <a:effectLst/>
                <a:latin typeface="+mn-lt"/>
                <a:ea typeface="+mn-ea"/>
                <a:cs typeface="+mn-cs"/>
              </a:rPr>
              <a:t> rettigheter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informasjon:</a:t>
            </a:r>
            <a:r>
              <a:rPr lang="nb-NO" sz="1200" b="0" i="0" kern="1200" dirty="0">
                <a:solidFill>
                  <a:schemeClr val="tx1"/>
                </a:solidFill>
                <a:effectLst/>
                <a:latin typeface="+mn-lt"/>
                <a:ea typeface="+mn-ea"/>
                <a:cs typeface="+mn-cs"/>
              </a:rPr>
              <a:t> vite hva som samles og hvorfor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a:t>
            </a:r>
            <a:r>
              <a:rPr lang="nb-NO" sz="1200" b="1" i="0" kern="1200" dirty="0" err="1">
                <a:solidFill>
                  <a:schemeClr val="tx1"/>
                </a:solidFill>
                <a:effectLst/>
                <a:latin typeface="+mn-lt"/>
                <a:ea typeface="+mn-ea"/>
                <a:cs typeface="+mn-cs"/>
              </a:rPr>
              <a:t>insyn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tilgang til sine egne opplysninger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retting:</a:t>
            </a:r>
            <a:r>
              <a:rPr lang="nb-NO" sz="1200" b="0" i="0" kern="1200" dirty="0">
                <a:solidFill>
                  <a:schemeClr val="tx1"/>
                </a:solidFill>
                <a:effectLst/>
                <a:latin typeface="+mn-lt"/>
                <a:ea typeface="+mn-ea"/>
                <a:cs typeface="+mn-cs"/>
              </a:rPr>
              <a:t> korrigering av uriktige data</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sletting:</a:t>
            </a:r>
            <a:r>
              <a:rPr lang="nb-NO" sz="1200" b="0" i="0" kern="1200" dirty="0">
                <a:solidFill>
                  <a:schemeClr val="tx1"/>
                </a:solidFill>
                <a:effectLst/>
                <a:latin typeface="+mn-lt"/>
                <a:ea typeface="+mn-ea"/>
                <a:cs typeface="+mn-cs"/>
              </a:rPr>
              <a:t> kreve fjerning av unødvendige data</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begrensning:</a:t>
            </a:r>
            <a:r>
              <a:rPr lang="nb-NO" sz="1200" b="0" i="0" kern="1200" dirty="0">
                <a:solidFill>
                  <a:schemeClr val="tx1"/>
                </a:solidFill>
                <a:effectLst/>
                <a:latin typeface="+mn-lt"/>
                <a:ea typeface="+mn-ea"/>
                <a:cs typeface="+mn-cs"/>
              </a:rPr>
              <a:t> stoppe videre bruk av data i visse situasjoner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å protestere:</a:t>
            </a:r>
            <a:r>
              <a:rPr lang="nb-NO" sz="1200" b="0" i="0" kern="1200" dirty="0">
                <a:solidFill>
                  <a:schemeClr val="tx1"/>
                </a:solidFill>
                <a:effectLst/>
                <a:latin typeface="+mn-lt"/>
                <a:ea typeface="+mn-ea"/>
                <a:cs typeface="+mn-cs"/>
              </a:rPr>
              <a:t> nekte automatisk eller markedsføringsbasert behandling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dataportabilitet:</a:t>
            </a:r>
            <a:r>
              <a:rPr lang="nb-NO" sz="1200" b="0" i="0" kern="1200" dirty="0">
                <a:solidFill>
                  <a:schemeClr val="tx1"/>
                </a:solidFill>
                <a:effectLst/>
                <a:latin typeface="+mn-lt"/>
                <a:ea typeface="+mn-ea"/>
                <a:cs typeface="+mn-cs"/>
              </a:rPr>
              <a:t> motta egne data i maskinlesbart format og overføre dem</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Unntak:</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Noen rettigheter kan begrenses, f.eks. når behandlingen er nødvendig for juridisk forpliktelse, ivareta offentlig sikkerhet eller forskning. Behandlingsansvarlige som må bevise at unntaket gjelder.</a:t>
            </a:r>
          </a:p>
          <a:p>
            <a:pPr marL="0" indent="0">
              <a:buNone/>
            </a:pPr>
            <a:endParaRPr lang="en-US" sz="1200" b="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9F62AAE2-9D5D-09D4-5AE7-736409CB34CC}"/>
              </a:ext>
            </a:extLst>
          </p:cNvPr>
          <p:cNvSpPr>
            <a:spLocks noGrp="1"/>
          </p:cNvSpPr>
          <p:nvPr>
            <p:ph type="sldNum" sz="quarter" idx="5"/>
          </p:nvPr>
        </p:nvSpPr>
        <p:spPr/>
        <p:txBody>
          <a:bodyPr/>
          <a:lstStyle/>
          <a:p>
            <a:fld id="{ED8CD5F7-2931-42C6-9B3E-A6C700901896}" type="slidenum">
              <a:rPr lang="nb-NO" smtClean="0"/>
              <a:t>74</a:t>
            </a:fld>
            <a:endParaRPr lang="nb-NO"/>
          </a:p>
        </p:txBody>
      </p:sp>
    </p:spTree>
    <p:extLst>
      <p:ext uri="{BB962C8B-B14F-4D97-AF65-F5344CB8AC3E}">
        <p14:creationId xmlns:p14="http://schemas.microsoft.com/office/powerpoint/2010/main" val="6929281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281DB-07A4-E89A-FFB4-898B25B37D3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1292C8D-922E-083E-CBF5-80C634EB246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EB302B1-3736-24A0-F71F-0DFFAD36A44F}"/>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er profesjonsetikk?</a:t>
            </a:r>
          </a:p>
          <a:p>
            <a:r>
              <a:rPr lang="nb-NO" sz="1200" b="0" i="0" kern="1200" dirty="0">
                <a:solidFill>
                  <a:schemeClr val="tx1"/>
                </a:solidFill>
                <a:effectLst/>
                <a:latin typeface="+mn-lt"/>
                <a:ea typeface="+mn-ea"/>
                <a:cs typeface="+mn-cs"/>
              </a:rPr>
              <a:t>Omfatter de moralske normene og forventningene som knytter seg til et bestemt yrke.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Ingeniøretikk</a:t>
            </a:r>
          </a:p>
          <a:p>
            <a:r>
              <a:rPr lang="nb-NO" sz="1200" b="0" i="0" kern="1200" dirty="0">
                <a:solidFill>
                  <a:schemeClr val="tx1"/>
                </a:solidFill>
                <a:effectLst/>
                <a:latin typeface="+mn-lt"/>
                <a:ea typeface="+mn-ea"/>
                <a:cs typeface="+mn-cs"/>
              </a:rPr>
              <a:t>Etiske problemstillinger oppstår når teknologiske løsninger kan ha utilsiktede eller skadelige konsekvenser.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Ingeniørens ansvar omfatter blant annet</a:t>
            </a:r>
            <a:r>
              <a:rPr lang="nb-NO" sz="1200" b="0" i="0" kern="1200" dirty="0">
                <a:solidFill>
                  <a:schemeClr val="tx1"/>
                </a:solidFill>
                <a:effectLst/>
                <a:latin typeface="+mn-lt"/>
                <a:ea typeface="+mn-ea"/>
                <a:cs typeface="+mn-cs"/>
              </a:rPr>
              <a:t>:</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Sosialt ansvar:</a:t>
            </a:r>
            <a:r>
              <a:rPr lang="nb-NO" sz="1200" b="0" i="0" kern="1200" dirty="0">
                <a:solidFill>
                  <a:schemeClr val="tx1"/>
                </a:solidFill>
                <a:effectLst/>
                <a:latin typeface="+mn-lt"/>
                <a:ea typeface="+mn-ea"/>
                <a:cs typeface="+mn-cs"/>
              </a:rPr>
              <a:t> Teknologi kan forandre arbeidsmarkedet, påvirke demokratier eller krenke kulturelle normer.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Sikkerhet og pålitelighet:</a:t>
            </a:r>
            <a:r>
              <a:rPr lang="nb-NO" sz="1200" b="0" i="0" kern="1200" dirty="0">
                <a:solidFill>
                  <a:schemeClr val="tx1"/>
                </a:solidFill>
                <a:effectLst/>
                <a:latin typeface="+mn-lt"/>
                <a:ea typeface="+mn-ea"/>
                <a:cs typeface="+mn-cs"/>
              </a:rPr>
              <a:t> Eks – selvkjørende biler kan aldri bli feilfrie; hvor legges terskelen for trygghet?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Brukeres velferd:</a:t>
            </a:r>
            <a:r>
              <a:rPr lang="nb-NO" sz="1200" b="0" i="0" kern="1200" dirty="0">
                <a:solidFill>
                  <a:schemeClr val="tx1"/>
                </a:solidFill>
                <a:effectLst/>
                <a:latin typeface="+mn-lt"/>
                <a:ea typeface="+mn-ea"/>
                <a:cs typeface="+mn-cs"/>
              </a:rPr>
              <a:t> Automatisering som erstatter menneskelig arbeidskraft – hvilken rolle spiller utvikleren i å dempe sosiale omkostninger?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AI og militær bruk:</a:t>
            </a:r>
            <a:r>
              <a:rPr lang="nb-NO" sz="1200" b="0" i="0" kern="1200" dirty="0">
                <a:solidFill>
                  <a:schemeClr val="tx1"/>
                </a:solidFill>
                <a:effectLst/>
                <a:latin typeface="+mn-lt"/>
                <a:ea typeface="+mn-ea"/>
                <a:cs typeface="+mn-cs"/>
              </a:rPr>
              <a:t> Droner med dødelig kraft reiser spørsmål om hvem som har siste etiske ansvar</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Kodeverk og retningslinjer: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NITO:</a:t>
            </a:r>
            <a:r>
              <a:rPr lang="nb-NO" sz="1200" b="0" i="0" kern="1200" dirty="0">
                <a:solidFill>
                  <a:schemeClr val="tx1"/>
                </a:solidFill>
                <a:effectLst/>
                <a:latin typeface="+mn-lt"/>
                <a:ea typeface="+mn-ea"/>
                <a:cs typeface="+mn-cs"/>
              </a:rPr>
              <a:t> Dataingeniøren skal vise respekt for kolleger uavhengig av bakgrunn, vedkjenne seg faglig ansvar, følge anerkjente kvalitetsnormer, og bidra til åpenhet om teknologiske konsekvenser.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IEEE/ACM Code </a:t>
            </a:r>
            <a:r>
              <a:rPr lang="nb-NO" sz="1200" b="1" i="0" kern="1200" dirty="0" err="1">
                <a:solidFill>
                  <a:schemeClr val="tx1"/>
                </a:solidFill>
                <a:effectLst/>
                <a:latin typeface="+mn-lt"/>
                <a:ea typeface="+mn-ea"/>
                <a:cs typeface="+mn-cs"/>
              </a:rPr>
              <a:t>of</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Ethics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Internasjonale etiske retningslinjer for utvikling av IT løsninger.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SAMFUNN - Programvareingeniører skal handle konsekvent i offentlig interesse.</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KUNDE OG ARBEIDSGIVER - Programvareingeniører skal handle på en måte som er til beste for kunde og arbeidsgiver og i samsvar med offentlige interesser.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PRODUKT - Programvareingeniører skal sikre at deres produkter best mulig oppfyller profesjonelle standarder.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VURDERING - Programvareingeniører skal utvise faglig skjønn og opprettholde integritet og uavhengighet.</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LEDELSE – Ledere skal fremme en etisk tilnærming til styring av programvareutvikling og vedlikehold.</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PROFESJON - Programvareingeniører skal fremme integriteten og omdømmet til profesjon i samsvar med offentlig interesse.</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KOLLEAGER - Programvareingeniører skal være rettferdige mot og støtte sine kollegaer.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IDENTITET - Programvareingeniører skal delta i livslang læring innen praksis innen sin profesjon og skal fremme en etisk tilnærming til utøvelsen av yrket.</a:t>
            </a:r>
          </a:p>
          <a:p>
            <a:pPr lvl="1"/>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Nøkkelprinsipper i profesjonsetikken: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Ærlighet og integritet:</a:t>
            </a:r>
            <a:r>
              <a:rPr lang="nb-NO" sz="1200" b="0" i="0" kern="1200" dirty="0">
                <a:solidFill>
                  <a:schemeClr val="tx1"/>
                </a:solidFill>
                <a:effectLst/>
                <a:latin typeface="+mn-lt"/>
                <a:ea typeface="+mn-ea"/>
                <a:cs typeface="+mn-cs"/>
              </a:rPr>
              <a:t> Vær åpen om begrensninger og mulige risikoer i egne løsninger.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Respekt for personvern:</a:t>
            </a:r>
            <a:r>
              <a:rPr lang="nb-NO" sz="1200" b="0" i="0" kern="1200" dirty="0">
                <a:solidFill>
                  <a:schemeClr val="tx1"/>
                </a:solidFill>
                <a:effectLst/>
                <a:latin typeface="+mn-lt"/>
                <a:ea typeface="+mn-ea"/>
                <a:cs typeface="+mn-cs"/>
              </a:rPr>
              <a:t> Bygg inn personvernbeskyttelse fra starten («</a:t>
            </a:r>
            <a:r>
              <a:rPr lang="nb-NO" sz="1200" b="0" i="0" kern="1200" dirty="0" err="1">
                <a:solidFill>
                  <a:schemeClr val="tx1"/>
                </a:solidFill>
                <a:effectLst/>
                <a:latin typeface="+mn-lt"/>
                <a:ea typeface="+mn-ea"/>
                <a:cs typeface="+mn-cs"/>
              </a:rPr>
              <a:t>privacy</a:t>
            </a:r>
            <a:r>
              <a:rPr lang="nb-NO" sz="1200" b="0" i="0" kern="1200" dirty="0">
                <a:solidFill>
                  <a:schemeClr val="tx1"/>
                </a:solidFill>
                <a:effectLst/>
                <a:latin typeface="+mn-lt"/>
                <a:ea typeface="+mn-ea"/>
                <a:cs typeface="+mn-cs"/>
              </a:rPr>
              <a:t> by design»).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Kvalitetsbevissthet:</a:t>
            </a:r>
            <a:r>
              <a:rPr lang="nb-NO" sz="1200" b="0" i="0" kern="1200" dirty="0">
                <a:solidFill>
                  <a:schemeClr val="tx1"/>
                </a:solidFill>
                <a:effectLst/>
                <a:latin typeface="+mn-lt"/>
                <a:ea typeface="+mn-ea"/>
                <a:cs typeface="+mn-cs"/>
              </a:rPr>
              <a:t> Følg anerkjente utviklings- og teststandarder for å unngå feil.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Ansvar for konsekvenser:</a:t>
            </a:r>
            <a:r>
              <a:rPr lang="nb-NO" sz="1200" b="0" i="0" kern="1200" dirty="0">
                <a:solidFill>
                  <a:schemeClr val="tx1"/>
                </a:solidFill>
                <a:effectLst/>
                <a:latin typeface="+mn-lt"/>
                <a:ea typeface="+mn-ea"/>
                <a:cs typeface="+mn-cs"/>
              </a:rPr>
              <a:t> Identifiser og håndter etiske dilemmaer proaktivt, ikke først når problemer oppstår.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Kontinuerlig vurdering:</a:t>
            </a:r>
            <a:r>
              <a:rPr lang="nb-NO" sz="1200" b="0" i="0" kern="1200" dirty="0">
                <a:solidFill>
                  <a:schemeClr val="tx1"/>
                </a:solidFill>
                <a:effectLst/>
                <a:latin typeface="+mn-lt"/>
                <a:ea typeface="+mn-ea"/>
                <a:cs typeface="+mn-cs"/>
              </a:rPr>
              <a:t> Etikkarbeid er iterativt - reflekter jevnlig over nye teknologiske muligheter og følg ny veiledning fra faglige organisasjoner.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Hvorfor det henger sammen med kvalitet:</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Programvare som tar hensyn til etiske krav er mer robust, unngår alvorlige sikkerhets- og personvernbrudd, gir høyere bruker­tilfredshet og beskytter utviklerens og organisasjonens omdømme. Manglende etisk forankring kan gi programvare av dårlig kvalitet, for eksempel systemer med innebygde skjevheter (bias), mangelfull sikkerhet eller løsninger som bryter brukernes tillit og fører til omdømmeskade.</a:t>
            </a:r>
          </a:p>
          <a:p>
            <a:endParaRPr lang="nb-NO" sz="1200" b="1" i="0" kern="1200" dirty="0">
              <a:solidFill>
                <a:schemeClr val="tx1"/>
              </a:solidFill>
              <a:effectLst/>
              <a:latin typeface="+mn-lt"/>
              <a:ea typeface="+mn-ea"/>
              <a:cs typeface="+mn-cs"/>
            </a:endParaRPr>
          </a:p>
          <a:p>
            <a:r>
              <a:rPr lang="nb-NO" sz="1200" b="1" i="0" kern="1200" dirty="0" err="1">
                <a:solidFill>
                  <a:schemeClr val="tx1"/>
                </a:solidFill>
                <a:effectLst/>
                <a:latin typeface="+mn-lt"/>
                <a:ea typeface="+mn-ea"/>
                <a:cs typeface="+mn-cs"/>
              </a:rPr>
              <a:t>SuSAD</a:t>
            </a:r>
            <a:endParaRPr lang="nb-NO" sz="1200" b="1" i="0" kern="1200" dirty="0">
              <a:solidFill>
                <a:schemeClr val="tx1"/>
              </a:solidFill>
              <a:effectLst/>
              <a:latin typeface="+mn-lt"/>
              <a:ea typeface="+mn-ea"/>
              <a:cs typeface="+mn-cs"/>
            </a:endParaRP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49D1798D-A4B9-9237-2B82-DB1F7CA7C33A}"/>
              </a:ext>
            </a:extLst>
          </p:cNvPr>
          <p:cNvSpPr>
            <a:spLocks noGrp="1"/>
          </p:cNvSpPr>
          <p:nvPr>
            <p:ph type="sldNum" sz="quarter" idx="5"/>
          </p:nvPr>
        </p:nvSpPr>
        <p:spPr/>
        <p:txBody>
          <a:bodyPr/>
          <a:lstStyle/>
          <a:p>
            <a:fld id="{ED8CD5F7-2931-42C6-9B3E-A6C700901896}" type="slidenum">
              <a:rPr lang="nb-NO" smtClean="0"/>
              <a:t>75</a:t>
            </a:fld>
            <a:endParaRPr lang="nb-NO"/>
          </a:p>
        </p:txBody>
      </p:sp>
    </p:spTree>
    <p:extLst>
      <p:ext uri="{BB962C8B-B14F-4D97-AF65-F5344CB8AC3E}">
        <p14:creationId xmlns:p14="http://schemas.microsoft.com/office/powerpoint/2010/main" val="316611473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1808E-CAA4-20CC-0DF2-37FF3014CBA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474067D-5CA8-69B0-35F8-CCB0E9AD3D52}"/>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36D2BC3-E440-4248-0093-949375F720A9}"/>
              </a:ext>
            </a:extLst>
          </p:cNvPr>
          <p:cNvSpPr>
            <a:spLocks noGrp="1"/>
          </p:cNvSpPr>
          <p:nvPr>
            <p:ph type="body" idx="1"/>
          </p:nvPr>
        </p:nvSpPr>
        <p:spPr/>
        <p:txBody>
          <a:bodyPr/>
          <a:lstStyle/>
          <a:p>
            <a:endParaRPr lang="nb-NO" dirty="0"/>
          </a:p>
        </p:txBody>
      </p:sp>
      <p:sp>
        <p:nvSpPr>
          <p:cNvPr id="4" name="Plassholder for lysbildenummer 3">
            <a:extLst>
              <a:ext uri="{FF2B5EF4-FFF2-40B4-BE49-F238E27FC236}">
                <a16:creationId xmlns:a16="http://schemas.microsoft.com/office/drawing/2014/main" id="{ED240BD4-9E41-FC0D-187A-D8393A33871E}"/>
              </a:ext>
            </a:extLst>
          </p:cNvPr>
          <p:cNvSpPr>
            <a:spLocks noGrp="1"/>
          </p:cNvSpPr>
          <p:nvPr>
            <p:ph type="sldNum" sz="quarter" idx="5"/>
          </p:nvPr>
        </p:nvSpPr>
        <p:spPr/>
        <p:txBody>
          <a:bodyPr/>
          <a:lstStyle/>
          <a:p>
            <a:fld id="{ED8CD5F7-2931-42C6-9B3E-A6C700901896}" type="slidenum">
              <a:rPr lang="nb-NO" smtClean="0"/>
              <a:t>76</a:t>
            </a:fld>
            <a:endParaRPr lang="nb-NO"/>
          </a:p>
        </p:txBody>
      </p:sp>
    </p:spTree>
    <p:extLst>
      <p:ext uri="{BB962C8B-B14F-4D97-AF65-F5344CB8AC3E}">
        <p14:creationId xmlns:p14="http://schemas.microsoft.com/office/powerpoint/2010/main" val="339026872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6963B-8955-895E-BE86-0D6B0560D343}"/>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B854B25-1DE4-B783-7EE4-EA2FBCD5709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790B2DB-E374-97D1-B044-809999E4600C}"/>
              </a:ext>
            </a:extLst>
          </p:cNvPr>
          <p:cNvSpPr>
            <a:spLocks noGrp="1"/>
          </p:cNvSpPr>
          <p:nvPr>
            <p:ph type="body" idx="1"/>
          </p:nvPr>
        </p:nvSpPr>
        <p:spPr/>
        <p:txBody>
          <a:bodyPr/>
          <a:lstStyle/>
          <a:p>
            <a:r>
              <a:rPr lang="nb-NO" sz="1200" b="1" i="0" kern="1200" dirty="0" err="1">
                <a:solidFill>
                  <a:schemeClr val="tx1"/>
                </a:solidFill>
                <a:effectLst/>
                <a:latin typeface="+mn-lt"/>
                <a:ea typeface="+mn-ea"/>
                <a:cs typeface="+mn-cs"/>
              </a:rPr>
              <a:t>Visiondokument</a:t>
            </a:r>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Beskriver prosjektets formål, omfang og hensikt.</a:t>
            </a:r>
          </a:p>
          <a:p>
            <a:r>
              <a:rPr lang="nb-NO" sz="1200" b="0" i="0" kern="1200" dirty="0">
                <a:solidFill>
                  <a:schemeClr val="tx1"/>
                </a:solidFill>
                <a:effectLst/>
                <a:latin typeface="+mn-lt"/>
                <a:ea typeface="+mn-ea"/>
                <a:cs typeface="+mn-cs"/>
              </a:rPr>
              <a:t>I smidige metoder er </a:t>
            </a:r>
            <a:r>
              <a:rPr lang="nb-NO" sz="1200" b="0" i="0" kern="1200" dirty="0" err="1">
                <a:solidFill>
                  <a:schemeClr val="tx1"/>
                </a:solidFill>
                <a:effectLst/>
                <a:latin typeface="+mn-lt"/>
                <a:ea typeface="+mn-ea"/>
                <a:cs typeface="+mn-cs"/>
              </a:rPr>
              <a:t>visiondokumentet</a:t>
            </a:r>
            <a:r>
              <a:rPr lang="nb-NO" sz="1200" b="0" i="0" kern="1200" dirty="0">
                <a:solidFill>
                  <a:schemeClr val="tx1"/>
                </a:solidFill>
                <a:effectLst/>
                <a:latin typeface="+mn-lt"/>
                <a:ea typeface="+mn-ea"/>
                <a:cs typeface="+mn-cs"/>
              </a:rPr>
              <a:t> mer fleksibel og mindre </a:t>
            </a:r>
            <a:r>
              <a:rPr lang="nb-NO" sz="1200" b="0" i="0" kern="1200" dirty="0" err="1">
                <a:solidFill>
                  <a:schemeClr val="tx1"/>
                </a:solidFill>
                <a:effectLst/>
                <a:latin typeface="+mn-lt"/>
                <a:ea typeface="+mn-ea"/>
                <a:cs typeface="+mn-cs"/>
              </a:rPr>
              <a:t>deltaljert</a:t>
            </a:r>
            <a:r>
              <a:rPr lang="nb-NO" sz="1200" b="0" i="0" kern="1200" dirty="0">
                <a:solidFill>
                  <a:schemeClr val="tx1"/>
                </a:solidFill>
                <a:effectLst/>
                <a:latin typeface="+mn-lt"/>
                <a:ea typeface="+mn-ea"/>
                <a:cs typeface="+mn-cs"/>
              </a:rPr>
              <a:t> og kan oppdateres.</a:t>
            </a:r>
          </a:p>
          <a:p>
            <a:r>
              <a:rPr lang="nb-NO" sz="1200" b="0" i="0" kern="1200" dirty="0">
                <a:solidFill>
                  <a:schemeClr val="tx1"/>
                </a:solidFill>
                <a:effectLst/>
                <a:latin typeface="+mn-lt"/>
                <a:ea typeface="+mn-ea"/>
                <a:cs typeface="+mn-cs"/>
              </a:rPr>
              <a:t>Gir felles forståelse av prosjektet blant interessenter (prosjektteamet, ledelse, aksjonærer, kunde, </a:t>
            </a:r>
            <a:r>
              <a:rPr lang="nb-NO" sz="1200" b="0" i="0" kern="1200" dirty="0" err="1">
                <a:solidFill>
                  <a:schemeClr val="tx1"/>
                </a:solidFill>
                <a:effectLst/>
                <a:latin typeface="+mn-lt"/>
                <a:ea typeface="+mn-ea"/>
                <a:cs typeface="+mn-cs"/>
              </a:rPr>
              <a:t>osv</a:t>
            </a:r>
            <a:r>
              <a:rPr lang="nb-NO" sz="1200" b="0" i="0" kern="1200" dirty="0">
                <a:solidFill>
                  <a:schemeClr val="tx1"/>
                </a:solidFill>
                <a:effectLst/>
                <a:latin typeface="+mn-lt"/>
                <a:ea typeface="+mn-ea"/>
                <a:cs typeface="+mn-cs"/>
              </a:rPr>
              <a:t>)</a:t>
            </a:r>
          </a:p>
          <a:p>
            <a:r>
              <a:rPr lang="nb-NO" sz="1200" b="0" i="0" kern="1200" dirty="0">
                <a:solidFill>
                  <a:schemeClr val="tx1"/>
                </a:solidFill>
                <a:effectLst/>
                <a:latin typeface="+mn-lt"/>
                <a:ea typeface="+mn-ea"/>
                <a:cs typeface="+mn-cs"/>
              </a:rPr>
              <a:t>Gir en retning for arbeidet: formål, målgruppe, funksjonelle og ikke-funksjonelle krav</a:t>
            </a:r>
          </a:p>
          <a:p>
            <a:r>
              <a:rPr lang="nb-NO" sz="1200" b="0" i="0" kern="1200" dirty="0">
                <a:solidFill>
                  <a:schemeClr val="tx1"/>
                </a:solidFill>
                <a:effectLst/>
                <a:latin typeface="+mn-lt"/>
                <a:ea typeface="+mn-ea"/>
                <a:cs typeface="+mn-cs"/>
              </a:rPr>
              <a:t>Identifisering av interessenter og brukerbehov</a:t>
            </a:r>
          </a:p>
          <a:p>
            <a:r>
              <a:rPr lang="nb-NO" sz="1200" b="0" i="0" kern="1200" dirty="0">
                <a:solidFill>
                  <a:schemeClr val="tx1"/>
                </a:solidFill>
                <a:effectLst/>
                <a:latin typeface="+mn-lt"/>
                <a:ea typeface="+mn-ea"/>
                <a:cs typeface="+mn-cs"/>
              </a:rPr>
              <a:t>Kommunikasjon med prosjektets interessenter</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Risikoanalyse</a:t>
            </a:r>
          </a:p>
          <a:p>
            <a:r>
              <a:rPr lang="nb-NO" sz="1200" b="0" i="0" kern="1200" dirty="0">
                <a:solidFill>
                  <a:schemeClr val="tx1"/>
                </a:solidFill>
                <a:effectLst/>
                <a:latin typeface="+mn-lt"/>
                <a:ea typeface="+mn-ea"/>
                <a:cs typeface="+mn-cs"/>
              </a:rPr>
              <a:t>Hensikt</a:t>
            </a:r>
          </a:p>
          <a:p>
            <a:r>
              <a:rPr lang="nb-NO" sz="1200" b="0" i="0" kern="1200" dirty="0">
                <a:solidFill>
                  <a:schemeClr val="tx1"/>
                </a:solidFill>
                <a:effectLst/>
                <a:latin typeface="+mn-lt"/>
                <a:ea typeface="+mn-ea"/>
                <a:cs typeface="+mn-cs"/>
              </a:rPr>
              <a:t>Identifisere potensielle risikoer som kan påvirke prosjektets fremgang</a:t>
            </a:r>
          </a:p>
          <a:p>
            <a:r>
              <a:rPr lang="nb-NO" sz="1200" b="0" i="0" kern="1200" dirty="0">
                <a:solidFill>
                  <a:schemeClr val="tx1"/>
                </a:solidFill>
                <a:effectLst/>
                <a:latin typeface="+mn-lt"/>
                <a:ea typeface="+mn-ea"/>
                <a:cs typeface="+mn-cs"/>
              </a:rPr>
              <a:t>Prioritering av risiko</a:t>
            </a:r>
          </a:p>
          <a:p>
            <a:r>
              <a:rPr lang="nb-NO" sz="1200" b="0" i="0" kern="1200" dirty="0">
                <a:solidFill>
                  <a:schemeClr val="tx1"/>
                </a:solidFill>
                <a:effectLst/>
                <a:latin typeface="+mn-lt"/>
                <a:ea typeface="+mn-ea"/>
                <a:cs typeface="+mn-cs"/>
              </a:rPr>
              <a:t>Tiltak</a:t>
            </a:r>
          </a:p>
          <a:p>
            <a:r>
              <a:rPr lang="nb-NO" sz="1200" b="0" i="0" kern="1200" dirty="0">
                <a:solidFill>
                  <a:schemeClr val="tx1"/>
                </a:solidFill>
                <a:effectLst/>
                <a:latin typeface="+mn-lt"/>
                <a:ea typeface="+mn-ea"/>
                <a:cs typeface="+mn-cs"/>
              </a:rPr>
              <a:t>Forbedring av </a:t>
            </a:r>
            <a:r>
              <a:rPr lang="nb-NO" sz="1200" b="0" i="0" kern="1200" dirty="0" err="1">
                <a:solidFill>
                  <a:schemeClr val="tx1"/>
                </a:solidFill>
                <a:effectLst/>
                <a:latin typeface="+mn-lt"/>
                <a:ea typeface="+mn-ea"/>
                <a:cs typeface="+mn-cs"/>
              </a:rPr>
              <a:t>beslutnignsprosess</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Øke prosjektets robusthet og gi prosjektteamet og interessentene en bedre forståelse av potensielle trusler og utfordringer </a:t>
            </a:r>
            <a:r>
              <a:rPr lang="nb-NO" sz="1200" b="0" i="0" kern="1200" dirty="0" err="1">
                <a:solidFill>
                  <a:schemeClr val="tx1"/>
                </a:solidFill>
                <a:effectLst/>
                <a:latin typeface="+mn-lt"/>
                <a:ea typeface="+mn-ea"/>
                <a:cs typeface="+mn-cs"/>
              </a:rPr>
              <a:t>undereis</a:t>
            </a:r>
            <a:r>
              <a:rPr lang="nb-NO" sz="1200" b="0" i="0" kern="1200" dirty="0">
                <a:solidFill>
                  <a:schemeClr val="tx1"/>
                </a:solidFill>
                <a:effectLst/>
                <a:latin typeface="+mn-lt"/>
                <a:ea typeface="+mn-ea"/>
                <a:cs typeface="+mn-cs"/>
              </a:rPr>
              <a:t> i prosessen.</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53807C14-ADA4-CA81-E808-CE029024918D}"/>
              </a:ext>
            </a:extLst>
          </p:cNvPr>
          <p:cNvSpPr>
            <a:spLocks noGrp="1"/>
          </p:cNvSpPr>
          <p:nvPr>
            <p:ph type="sldNum" sz="quarter" idx="5"/>
          </p:nvPr>
        </p:nvSpPr>
        <p:spPr/>
        <p:txBody>
          <a:bodyPr/>
          <a:lstStyle/>
          <a:p>
            <a:fld id="{ED8CD5F7-2931-42C6-9B3E-A6C700901896}" type="slidenum">
              <a:rPr lang="nb-NO" smtClean="0"/>
              <a:t>77</a:t>
            </a:fld>
            <a:endParaRPr lang="nb-NO"/>
          </a:p>
        </p:txBody>
      </p:sp>
    </p:spTree>
    <p:extLst>
      <p:ext uri="{BB962C8B-B14F-4D97-AF65-F5344CB8AC3E}">
        <p14:creationId xmlns:p14="http://schemas.microsoft.com/office/powerpoint/2010/main" val="2438844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tellysbilde">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82D28BF5-AD60-B5C4-E20A-92B9E652CDE0}"/>
              </a:ext>
            </a:extLst>
          </p:cNvPr>
          <p:cNvSpPr>
            <a:spLocks noGrp="1"/>
          </p:cNvSpPr>
          <p:nvPr>
            <p:ph type="ctrTitle"/>
          </p:nvPr>
        </p:nvSpPr>
        <p:spPr>
          <a:xfrm>
            <a:off x="1524000" y="1122363"/>
            <a:ext cx="9144000" cy="2387600"/>
          </a:xfrm>
        </p:spPr>
        <p:txBody>
          <a:bodyPr anchor="b"/>
          <a:lstStyle>
            <a:lvl1pPr algn="ctr">
              <a:defRPr sz="6000"/>
            </a:lvl1pPr>
          </a:lstStyle>
          <a:p>
            <a:r>
              <a:rPr lang="nb-NO"/>
              <a:t>Klikk for å redigere tittelstil</a:t>
            </a:r>
          </a:p>
        </p:txBody>
      </p:sp>
      <p:sp>
        <p:nvSpPr>
          <p:cNvPr id="3" name="Undertittel 2">
            <a:extLst>
              <a:ext uri="{FF2B5EF4-FFF2-40B4-BE49-F238E27FC236}">
                <a16:creationId xmlns:a16="http://schemas.microsoft.com/office/drawing/2014/main" id="{026D4A89-823C-B781-3CBE-1B7E394784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b-NO"/>
              <a:t>Klikk for å redigere undertittelstil i malen</a:t>
            </a:r>
          </a:p>
        </p:txBody>
      </p:sp>
      <p:sp>
        <p:nvSpPr>
          <p:cNvPr id="4" name="Plassholder for dato 3">
            <a:extLst>
              <a:ext uri="{FF2B5EF4-FFF2-40B4-BE49-F238E27FC236}">
                <a16:creationId xmlns:a16="http://schemas.microsoft.com/office/drawing/2014/main" id="{6A229132-F93B-5F0A-8C49-311386950C44}"/>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B47AC8FC-A3A8-3550-0875-4DFF83579BAB}"/>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D31B295E-F001-FD5E-938F-DBB0DA116C94}"/>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455246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tel og innho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69AC150-6CEA-808A-E409-B35E4B6E6511}"/>
              </a:ext>
            </a:extLst>
          </p:cNvPr>
          <p:cNvSpPr>
            <a:spLocks noGrp="1"/>
          </p:cNvSpPr>
          <p:nvPr>
            <p:ph type="title"/>
          </p:nvPr>
        </p:nvSpPr>
        <p:spPr/>
        <p:txBody>
          <a:bodyPr/>
          <a:lstStyle/>
          <a:p>
            <a:r>
              <a:rPr lang="nb-NO"/>
              <a:t>Klikk for å redigere tittelstil</a:t>
            </a:r>
          </a:p>
        </p:txBody>
      </p:sp>
      <p:sp>
        <p:nvSpPr>
          <p:cNvPr id="3" name="Plassholder for innhold 2">
            <a:extLst>
              <a:ext uri="{FF2B5EF4-FFF2-40B4-BE49-F238E27FC236}">
                <a16:creationId xmlns:a16="http://schemas.microsoft.com/office/drawing/2014/main" id="{53236B76-F951-89F5-2780-EB495F229A64}"/>
              </a:ext>
            </a:extLst>
          </p:cNvPr>
          <p:cNvSpPr>
            <a:spLocks noGrp="1"/>
          </p:cNvSpPr>
          <p:nvPr>
            <p:ph idx="1"/>
          </p:nvPr>
        </p:nvSpPr>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75D22BC7-B3DF-47DA-6D04-76A95F317E6F}"/>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7D1A1F6F-6BFE-79ED-7943-E4EEEFBB4E5A}"/>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F8C9F6DD-5518-B702-6CB1-00DF4B7C6C4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1888202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Deloverskrif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34FFEC-1992-DC86-A3B1-3E15D4527C84}"/>
              </a:ext>
            </a:extLst>
          </p:cNvPr>
          <p:cNvSpPr>
            <a:spLocks noGrp="1"/>
          </p:cNvSpPr>
          <p:nvPr>
            <p:ph type="title"/>
          </p:nvPr>
        </p:nvSpPr>
        <p:spPr>
          <a:xfrm>
            <a:off x="831850" y="1709738"/>
            <a:ext cx="10515600" cy="2852737"/>
          </a:xfrm>
        </p:spPr>
        <p:txBody>
          <a:bodyPr anchor="b"/>
          <a:lstStyle>
            <a:lvl1pPr>
              <a:defRPr sz="6000"/>
            </a:lvl1pPr>
          </a:lstStyle>
          <a:p>
            <a:r>
              <a:rPr lang="nb-NO"/>
              <a:t>Klikk for å redigere tittelstil</a:t>
            </a:r>
          </a:p>
        </p:txBody>
      </p:sp>
      <p:sp>
        <p:nvSpPr>
          <p:cNvPr id="3" name="Plassholder for tekst 2">
            <a:extLst>
              <a:ext uri="{FF2B5EF4-FFF2-40B4-BE49-F238E27FC236}">
                <a16:creationId xmlns:a16="http://schemas.microsoft.com/office/drawing/2014/main" id="{22B0BA88-A692-562C-739E-47351C945F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b-NO"/>
              <a:t>Klikk for å redigere tekststiler i malen</a:t>
            </a:r>
          </a:p>
        </p:txBody>
      </p:sp>
      <p:sp>
        <p:nvSpPr>
          <p:cNvPr id="4" name="Plassholder for dato 3">
            <a:extLst>
              <a:ext uri="{FF2B5EF4-FFF2-40B4-BE49-F238E27FC236}">
                <a16:creationId xmlns:a16="http://schemas.microsoft.com/office/drawing/2014/main" id="{6C4007F8-7793-DBF7-A83F-C48C5F794B23}"/>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76D401A2-0E56-7E52-25B7-9BCD749CA41F}"/>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21A040FD-8CEF-D025-AD4E-801E8E08277E}"/>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773704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nholdsdeler">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9A3FD7E-776D-5AAA-801B-8A0E332BE091}"/>
              </a:ext>
            </a:extLst>
          </p:cNvPr>
          <p:cNvSpPr>
            <a:spLocks noGrp="1"/>
          </p:cNvSpPr>
          <p:nvPr>
            <p:ph type="title"/>
          </p:nvPr>
        </p:nvSpPr>
        <p:spPr/>
        <p:txBody>
          <a:bodyPr/>
          <a:lstStyle/>
          <a:p>
            <a:r>
              <a:rPr lang="nb-NO"/>
              <a:t>Klikk for å redigere tittelstil</a:t>
            </a:r>
          </a:p>
        </p:txBody>
      </p:sp>
      <p:sp>
        <p:nvSpPr>
          <p:cNvPr id="3" name="Plassholder for innhold 2">
            <a:extLst>
              <a:ext uri="{FF2B5EF4-FFF2-40B4-BE49-F238E27FC236}">
                <a16:creationId xmlns:a16="http://schemas.microsoft.com/office/drawing/2014/main" id="{C217A6CB-DD4C-6899-1338-B1560D8C5C85}"/>
              </a:ext>
            </a:extLst>
          </p:cNvPr>
          <p:cNvSpPr>
            <a:spLocks noGrp="1"/>
          </p:cNvSpPr>
          <p:nvPr>
            <p:ph sz="half" idx="1"/>
          </p:nvPr>
        </p:nvSpPr>
        <p:spPr>
          <a:xfrm>
            <a:off x="838200" y="1825625"/>
            <a:ext cx="5181600" cy="435133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innhold 3">
            <a:extLst>
              <a:ext uri="{FF2B5EF4-FFF2-40B4-BE49-F238E27FC236}">
                <a16:creationId xmlns:a16="http://schemas.microsoft.com/office/drawing/2014/main" id="{3E492719-FC16-3559-B476-B8808593CDE4}"/>
              </a:ext>
            </a:extLst>
          </p:cNvPr>
          <p:cNvSpPr>
            <a:spLocks noGrp="1"/>
          </p:cNvSpPr>
          <p:nvPr>
            <p:ph sz="half" idx="2"/>
          </p:nvPr>
        </p:nvSpPr>
        <p:spPr>
          <a:xfrm>
            <a:off x="6172200" y="1825625"/>
            <a:ext cx="5181600" cy="435133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5" name="Plassholder for dato 4">
            <a:extLst>
              <a:ext uri="{FF2B5EF4-FFF2-40B4-BE49-F238E27FC236}">
                <a16:creationId xmlns:a16="http://schemas.microsoft.com/office/drawing/2014/main" id="{5A4C4617-04C2-C91D-BD2E-199791324E5D}"/>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6" name="Plassholder for bunntekst 5">
            <a:extLst>
              <a:ext uri="{FF2B5EF4-FFF2-40B4-BE49-F238E27FC236}">
                <a16:creationId xmlns:a16="http://schemas.microsoft.com/office/drawing/2014/main" id="{2B8A733E-F7BA-B380-4EF8-E2444DFA366E}"/>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1E42344C-3355-3E7E-2807-2BEB10E6E26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275871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08F6E6B2-53EB-BD06-F524-173011DCAF40}"/>
              </a:ext>
            </a:extLst>
          </p:cNvPr>
          <p:cNvSpPr>
            <a:spLocks noGrp="1"/>
          </p:cNvSpPr>
          <p:nvPr>
            <p:ph type="title"/>
          </p:nvPr>
        </p:nvSpPr>
        <p:spPr>
          <a:xfrm>
            <a:off x="839788" y="365125"/>
            <a:ext cx="10515600" cy="1325563"/>
          </a:xfrm>
        </p:spPr>
        <p:txBody>
          <a:bodyPr/>
          <a:lstStyle/>
          <a:p>
            <a:r>
              <a:rPr lang="nb-NO"/>
              <a:t>Klikk for å redigere tittelstil</a:t>
            </a:r>
          </a:p>
        </p:txBody>
      </p:sp>
      <p:sp>
        <p:nvSpPr>
          <p:cNvPr id="3" name="Plassholder for tekst 2">
            <a:extLst>
              <a:ext uri="{FF2B5EF4-FFF2-40B4-BE49-F238E27FC236}">
                <a16:creationId xmlns:a16="http://schemas.microsoft.com/office/drawing/2014/main" id="{1BC860C4-B828-7E63-2741-F488A432E5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b-NO"/>
              <a:t>Klikk for å redigere tekststiler i malen</a:t>
            </a:r>
          </a:p>
        </p:txBody>
      </p:sp>
      <p:sp>
        <p:nvSpPr>
          <p:cNvPr id="4" name="Plassholder for innhold 3">
            <a:extLst>
              <a:ext uri="{FF2B5EF4-FFF2-40B4-BE49-F238E27FC236}">
                <a16:creationId xmlns:a16="http://schemas.microsoft.com/office/drawing/2014/main" id="{73ED5875-8174-BFC1-09D7-F5504F243F8D}"/>
              </a:ext>
            </a:extLst>
          </p:cNvPr>
          <p:cNvSpPr>
            <a:spLocks noGrp="1"/>
          </p:cNvSpPr>
          <p:nvPr>
            <p:ph sz="half" idx="2"/>
          </p:nvPr>
        </p:nvSpPr>
        <p:spPr>
          <a:xfrm>
            <a:off x="839788" y="2505075"/>
            <a:ext cx="5157787" cy="368458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5" name="Plassholder for tekst 4">
            <a:extLst>
              <a:ext uri="{FF2B5EF4-FFF2-40B4-BE49-F238E27FC236}">
                <a16:creationId xmlns:a16="http://schemas.microsoft.com/office/drawing/2014/main" id="{1E66931E-0740-A84C-FE9E-1419388818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b-NO"/>
              <a:t>Klikk for å redigere tekststiler i malen</a:t>
            </a:r>
          </a:p>
        </p:txBody>
      </p:sp>
      <p:sp>
        <p:nvSpPr>
          <p:cNvPr id="6" name="Plassholder for innhold 5">
            <a:extLst>
              <a:ext uri="{FF2B5EF4-FFF2-40B4-BE49-F238E27FC236}">
                <a16:creationId xmlns:a16="http://schemas.microsoft.com/office/drawing/2014/main" id="{3E9B09E7-7C9B-0C79-3605-1305B5B15C1C}"/>
              </a:ext>
            </a:extLst>
          </p:cNvPr>
          <p:cNvSpPr>
            <a:spLocks noGrp="1"/>
          </p:cNvSpPr>
          <p:nvPr>
            <p:ph sz="quarter" idx="4"/>
          </p:nvPr>
        </p:nvSpPr>
        <p:spPr>
          <a:xfrm>
            <a:off x="6172200" y="2505075"/>
            <a:ext cx="5183188" cy="368458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7" name="Plassholder for dato 6">
            <a:extLst>
              <a:ext uri="{FF2B5EF4-FFF2-40B4-BE49-F238E27FC236}">
                <a16:creationId xmlns:a16="http://schemas.microsoft.com/office/drawing/2014/main" id="{51978AD9-DD27-B2BD-17D9-3ED2AA6A9751}"/>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8" name="Plassholder for bunntekst 7">
            <a:extLst>
              <a:ext uri="{FF2B5EF4-FFF2-40B4-BE49-F238E27FC236}">
                <a16:creationId xmlns:a16="http://schemas.microsoft.com/office/drawing/2014/main" id="{4FCCFF4B-F6E4-0D97-497F-99E419BD4226}"/>
              </a:ext>
            </a:extLst>
          </p:cNvPr>
          <p:cNvSpPr>
            <a:spLocks noGrp="1"/>
          </p:cNvSpPr>
          <p:nvPr>
            <p:ph type="ftr" sz="quarter" idx="11"/>
          </p:nvPr>
        </p:nvSpPr>
        <p:spPr/>
        <p:txBody>
          <a:bodyPr/>
          <a:lstStyle/>
          <a:p>
            <a:endParaRPr lang="nb-NO"/>
          </a:p>
        </p:txBody>
      </p:sp>
      <p:sp>
        <p:nvSpPr>
          <p:cNvPr id="9" name="Plassholder for lysbildenummer 8">
            <a:extLst>
              <a:ext uri="{FF2B5EF4-FFF2-40B4-BE49-F238E27FC236}">
                <a16:creationId xmlns:a16="http://schemas.microsoft.com/office/drawing/2014/main" id="{D5B71B90-FE79-E78D-362A-2A96E34A5389}"/>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106114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Bare tittel">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99D8F0F7-494A-025A-B426-CFB77578D737}"/>
              </a:ext>
            </a:extLst>
          </p:cNvPr>
          <p:cNvSpPr>
            <a:spLocks noGrp="1"/>
          </p:cNvSpPr>
          <p:nvPr>
            <p:ph type="title"/>
          </p:nvPr>
        </p:nvSpPr>
        <p:spPr/>
        <p:txBody>
          <a:bodyPr/>
          <a:lstStyle/>
          <a:p>
            <a:r>
              <a:rPr lang="nb-NO"/>
              <a:t>Klikk for å redigere tittelstil</a:t>
            </a:r>
          </a:p>
        </p:txBody>
      </p:sp>
      <p:sp>
        <p:nvSpPr>
          <p:cNvPr id="3" name="Plassholder for dato 2">
            <a:extLst>
              <a:ext uri="{FF2B5EF4-FFF2-40B4-BE49-F238E27FC236}">
                <a16:creationId xmlns:a16="http://schemas.microsoft.com/office/drawing/2014/main" id="{619EC61A-71A5-EBA7-765E-71CD28C3ECF6}"/>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4" name="Plassholder for bunntekst 3">
            <a:extLst>
              <a:ext uri="{FF2B5EF4-FFF2-40B4-BE49-F238E27FC236}">
                <a16:creationId xmlns:a16="http://schemas.microsoft.com/office/drawing/2014/main" id="{C821A9BC-24E0-AAE2-71CD-2BC62BCB1805}"/>
              </a:ext>
            </a:extLst>
          </p:cNvPr>
          <p:cNvSpPr>
            <a:spLocks noGrp="1"/>
          </p:cNvSpPr>
          <p:nvPr>
            <p:ph type="ftr" sz="quarter" idx="11"/>
          </p:nvPr>
        </p:nvSpPr>
        <p:spPr/>
        <p:txBody>
          <a:bodyPr/>
          <a:lstStyle/>
          <a:p>
            <a:endParaRPr lang="nb-NO"/>
          </a:p>
        </p:txBody>
      </p:sp>
      <p:sp>
        <p:nvSpPr>
          <p:cNvPr id="5" name="Plassholder for lysbildenummer 4">
            <a:extLst>
              <a:ext uri="{FF2B5EF4-FFF2-40B4-BE49-F238E27FC236}">
                <a16:creationId xmlns:a16="http://schemas.microsoft.com/office/drawing/2014/main" id="{06E1CE0B-5848-4B5E-F7C6-F3AC71DE7F9E}"/>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7044204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t">
    <p:spTree>
      <p:nvGrpSpPr>
        <p:cNvPr id="1" name=""/>
        <p:cNvGrpSpPr/>
        <p:nvPr/>
      </p:nvGrpSpPr>
      <p:grpSpPr>
        <a:xfrm>
          <a:off x="0" y="0"/>
          <a:ext cx="0" cy="0"/>
          <a:chOff x="0" y="0"/>
          <a:chExt cx="0" cy="0"/>
        </a:xfrm>
      </p:grpSpPr>
      <p:sp>
        <p:nvSpPr>
          <p:cNvPr id="2" name="Plassholder for dato 1">
            <a:extLst>
              <a:ext uri="{FF2B5EF4-FFF2-40B4-BE49-F238E27FC236}">
                <a16:creationId xmlns:a16="http://schemas.microsoft.com/office/drawing/2014/main" id="{D02DDA41-B0B8-6AF0-0338-9D4F3827974E}"/>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3" name="Plassholder for bunntekst 2">
            <a:extLst>
              <a:ext uri="{FF2B5EF4-FFF2-40B4-BE49-F238E27FC236}">
                <a16:creationId xmlns:a16="http://schemas.microsoft.com/office/drawing/2014/main" id="{529F0400-B0DB-D18D-4C3C-18E714778E49}"/>
              </a:ext>
            </a:extLst>
          </p:cNvPr>
          <p:cNvSpPr>
            <a:spLocks noGrp="1"/>
          </p:cNvSpPr>
          <p:nvPr>
            <p:ph type="ftr" sz="quarter" idx="11"/>
          </p:nvPr>
        </p:nvSpPr>
        <p:spPr/>
        <p:txBody>
          <a:bodyPr/>
          <a:lstStyle/>
          <a:p>
            <a:endParaRPr lang="nb-NO"/>
          </a:p>
        </p:txBody>
      </p:sp>
      <p:sp>
        <p:nvSpPr>
          <p:cNvPr id="4" name="Plassholder for lysbildenummer 3">
            <a:extLst>
              <a:ext uri="{FF2B5EF4-FFF2-40B4-BE49-F238E27FC236}">
                <a16:creationId xmlns:a16="http://schemas.microsoft.com/office/drawing/2014/main" id="{C01073C2-617C-43CE-5A2C-BF74918F0B39}"/>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33880112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hold med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4119493-DF0A-BC52-4E20-F721EB4135BC}"/>
              </a:ext>
            </a:extLst>
          </p:cNvPr>
          <p:cNvSpPr>
            <a:spLocks noGrp="1"/>
          </p:cNvSpPr>
          <p:nvPr>
            <p:ph type="title"/>
          </p:nvPr>
        </p:nvSpPr>
        <p:spPr>
          <a:xfrm>
            <a:off x="839788" y="457200"/>
            <a:ext cx="3932237" cy="1600200"/>
          </a:xfrm>
        </p:spPr>
        <p:txBody>
          <a:bodyPr anchor="b"/>
          <a:lstStyle>
            <a:lvl1pPr>
              <a:defRPr sz="3200"/>
            </a:lvl1pPr>
          </a:lstStyle>
          <a:p>
            <a:r>
              <a:rPr lang="nb-NO"/>
              <a:t>Klikk for å redigere tittelstil</a:t>
            </a:r>
          </a:p>
        </p:txBody>
      </p:sp>
      <p:sp>
        <p:nvSpPr>
          <p:cNvPr id="3" name="Plassholder for innhold 2">
            <a:extLst>
              <a:ext uri="{FF2B5EF4-FFF2-40B4-BE49-F238E27FC236}">
                <a16:creationId xmlns:a16="http://schemas.microsoft.com/office/drawing/2014/main" id="{7F130BD3-9933-4E91-684D-F2C41BC21EF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tekst 3">
            <a:extLst>
              <a:ext uri="{FF2B5EF4-FFF2-40B4-BE49-F238E27FC236}">
                <a16:creationId xmlns:a16="http://schemas.microsoft.com/office/drawing/2014/main" id="{C74864DD-57F9-AA5A-AC8B-502A8D1187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b-NO"/>
              <a:t>Klikk for å redigere tekststiler i malen</a:t>
            </a:r>
          </a:p>
        </p:txBody>
      </p:sp>
      <p:sp>
        <p:nvSpPr>
          <p:cNvPr id="5" name="Plassholder for dato 4">
            <a:extLst>
              <a:ext uri="{FF2B5EF4-FFF2-40B4-BE49-F238E27FC236}">
                <a16:creationId xmlns:a16="http://schemas.microsoft.com/office/drawing/2014/main" id="{9551350B-626D-F882-41C4-4513ABC53F23}"/>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6" name="Plassholder for bunntekst 5">
            <a:extLst>
              <a:ext uri="{FF2B5EF4-FFF2-40B4-BE49-F238E27FC236}">
                <a16:creationId xmlns:a16="http://schemas.microsoft.com/office/drawing/2014/main" id="{9ED252EA-DE11-81B1-9382-7D32942FF893}"/>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34A3ECB6-5C04-DCE1-4CF1-5CB37747A1AF}"/>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68496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e med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79C519B4-B991-2CCF-B2EA-03F594E72955}"/>
              </a:ext>
            </a:extLst>
          </p:cNvPr>
          <p:cNvSpPr>
            <a:spLocks noGrp="1"/>
          </p:cNvSpPr>
          <p:nvPr>
            <p:ph type="title"/>
          </p:nvPr>
        </p:nvSpPr>
        <p:spPr>
          <a:xfrm>
            <a:off x="839788" y="457200"/>
            <a:ext cx="3932237" cy="1600200"/>
          </a:xfrm>
        </p:spPr>
        <p:txBody>
          <a:bodyPr anchor="b"/>
          <a:lstStyle>
            <a:lvl1pPr>
              <a:defRPr sz="3200"/>
            </a:lvl1pPr>
          </a:lstStyle>
          <a:p>
            <a:r>
              <a:rPr lang="nb-NO"/>
              <a:t>Klikk for å redigere tittelstil</a:t>
            </a:r>
          </a:p>
        </p:txBody>
      </p:sp>
      <p:sp>
        <p:nvSpPr>
          <p:cNvPr id="3" name="Plassholder for bilde 2">
            <a:extLst>
              <a:ext uri="{FF2B5EF4-FFF2-40B4-BE49-F238E27FC236}">
                <a16:creationId xmlns:a16="http://schemas.microsoft.com/office/drawing/2014/main" id="{214682F0-617D-827E-D13E-999F95D4E3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b-NO"/>
          </a:p>
        </p:txBody>
      </p:sp>
      <p:sp>
        <p:nvSpPr>
          <p:cNvPr id="4" name="Plassholder for tekst 3">
            <a:extLst>
              <a:ext uri="{FF2B5EF4-FFF2-40B4-BE49-F238E27FC236}">
                <a16:creationId xmlns:a16="http://schemas.microsoft.com/office/drawing/2014/main" id="{E7BA7301-1B8E-E363-A8DF-C94CF05186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b-NO"/>
              <a:t>Klikk for å redigere tekststiler i malen</a:t>
            </a:r>
          </a:p>
        </p:txBody>
      </p:sp>
      <p:sp>
        <p:nvSpPr>
          <p:cNvPr id="5" name="Plassholder for dato 4">
            <a:extLst>
              <a:ext uri="{FF2B5EF4-FFF2-40B4-BE49-F238E27FC236}">
                <a16:creationId xmlns:a16="http://schemas.microsoft.com/office/drawing/2014/main" id="{248E4108-91DC-D756-AC13-192A23DE5E89}"/>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6" name="Plassholder for bunntekst 5">
            <a:extLst>
              <a:ext uri="{FF2B5EF4-FFF2-40B4-BE49-F238E27FC236}">
                <a16:creationId xmlns:a16="http://schemas.microsoft.com/office/drawing/2014/main" id="{B6A4C8EC-3B1E-B06E-5A75-9A20E3D70CFA}"/>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042A68D8-ED13-6692-76DF-F303D407BA8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487969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Loddrett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F31919-4B38-20F1-C7FE-4FA562BFA9D2}"/>
              </a:ext>
            </a:extLst>
          </p:cNvPr>
          <p:cNvSpPr>
            <a:spLocks noGrp="1"/>
          </p:cNvSpPr>
          <p:nvPr>
            <p:ph type="title"/>
          </p:nvPr>
        </p:nvSpPr>
        <p:spPr/>
        <p:txBody>
          <a:bodyPr/>
          <a:lstStyle/>
          <a:p>
            <a:r>
              <a:rPr lang="nb-NO"/>
              <a:t>Klikk for å redigere tittelstil</a:t>
            </a:r>
          </a:p>
        </p:txBody>
      </p:sp>
      <p:sp>
        <p:nvSpPr>
          <p:cNvPr id="3" name="Plassholder for loddrett tekst 2">
            <a:extLst>
              <a:ext uri="{FF2B5EF4-FFF2-40B4-BE49-F238E27FC236}">
                <a16:creationId xmlns:a16="http://schemas.microsoft.com/office/drawing/2014/main" id="{7B85EED0-8D36-640A-FA9F-66F0DB8B5877}"/>
              </a:ext>
            </a:extLst>
          </p:cNvPr>
          <p:cNvSpPr>
            <a:spLocks noGrp="1"/>
          </p:cNvSpPr>
          <p:nvPr>
            <p:ph type="body" orient="vert" idx="1"/>
          </p:nvPr>
        </p:nvSpPr>
        <p:spPr/>
        <p:txBody>
          <a:bodyPr vert="eaVert"/>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0A5FBC50-AC07-AE15-82A4-C17D117612E1}"/>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522CE2C9-E046-1590-979B-F2E012EFE905}"/>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B124ADF5-7BAB-DC95-B127-5C1B67577DA6}"/>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277012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drett tittel og tekst">
    <p:spTree>
      <p:nvGrpSpPr>
        <p:cNvPr id="1" name=""/>
        <p:cNvGrpSpPr/>
        <p:nvPr/>
      </p:nvGrpSpPr>
      <p:grpSpPr>
        <a:xfrm>
          <a:off x="0" y="0"/>
          <a:ext cx="0" cy="0"/>
          <a:chOff x="0" y="0"/>
          <a:chExt cx="0" cy="0"/>
        </a:xfrm>
      </p:grpSpPr>
      <p:sp>
        <p:nvSpPr>
          <p:cNvPr id="2" name="Loddrett tittel 1">
            <a:extLst>
              <a:ext uri="{FF2B5EF4-FFF2-40B4-BE49-F238E27FC236}">
                <a16:creationId xmlns:a16="http://schemas.microsoft.com/office/drawing/2014/main" id="{93DBB6C4-2BCB-990D-9B50-2E70E2B50835}"/>
              </a:ext>
            </a:extLst>
          </p:cNvPr>
          <p:cNvSpPr>
            <a:spLocks noGrp="1"/>
          </p:cNvSpPr>
          <p:nvPr>
            <p:ph type="title" orient="vert"/>
          </p:nvPr>
        </p:nvSpPr>
        <p:spPr>
          <a:xfrm>
            <a:off x="8724900" y="365125"/>
            <a:ext cx="2628900" cy="5811838"/>
          </a:xfrm>
        </p:spPr>
        <p:txBody>
          <a:bodyPr vert="eaVert"/>
          <a:lstStyle/>
          <a:p>
            <a:r>
              <a:rPr lang="nb-NO"/>
              <a:t>Klikk for å redigere tittelstil</a:t>
            </a:r>
          </a:p>
        </p:txBody>
      </p:sp>
      <p:sp>
        <p:nvSpPr>
          <p:cNvPr id="3" name="Plassholder for loddrett tekst 2">
            <a:extLst>
              <a:ext uri="{FF2B5EF4-FFF2-40B4-BE49-F238E27FC236}">
                <a16:creationId xmlns:a16="http://schemas.microsoft.com/office/drawing/2014/main" id="{D09A2931-2848-E560-3540-487BBA1886AA}"/>
              </a:ext>
            </a:extLst>
          </p:cNvPr>
          <p:cNvSpPr>
            <a:spLocks noGrp="1"/>
          </p:cNvSpPr>
          <p:nvPr>
            <p:ph type="body" orient="vert" idx="1"/>
          </p:nvPr>
        </p:nvSpPr>
        <p:spPr>
          <a:xfrm>
            <a:off x="838200" y="365125"/>
            <a:ext cx="7734300" cy="5811838"/>
          </a:xfrm>
        </p:spPr>
        <p:txBody>
          <a:bodyPr vert="eaVert"/>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F308AFBE-83A1-C430-3B7E-3B1610E3DA1F}"/>
              </a:ext>
            </a:extLst>
          </p:cNvPr>
          <p:cNvSpPr>
            <a:spLocks noGrp="1"/>
          </p:cNvSpPr>
          <p:nvPr>
            <p:ph type="dt" sz="half" idx="10"/>
          </p:nvPr>
        </p:nvSpPr>
        <p:spPr/>
        <p:txBody>
          <a:body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41F9809D-5DF8-D138-DC8C-3A369FAEB33E}"/>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EC50B6BE-B4DF-85A4-172B-1B26A3D12E70}"/>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860569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ittel 1">
            <a:extLst>
              <a:ext uri="{FF2B5EF4-FFF2-40B4-BE49-F238E27FC236}">
                <a16:creationId xmlns:a16="http://schemas.microsoft.com/office/drawing/2014/main" id="{5ABA79E4-5F69-13DD-A9F9-E45318A9F9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b-NO"/>
              <a:t>Klikk for å redigere tittelstil</a:t>
            </a:r>
          </a:p>
        </p:txBody>
      </p:sp>
      <p:sp>
        <p:nvSpPr>
          <p:cNvPr id="3" name="Plassholder for tekst 2">
            <a:extLst>
              <a:ext uri="{FF2B5EF4-FFF2-40B4-BE49-F238E27FC236}">
                <a16:creationId xmlns:a16="http://schemas.microsoft.com/office/drawing/2014/main" id="{F435EE1B-9A7A-A271-FEA4-E4B67EA3DA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953C15BF-63A8-7A5C-2E4B-F8C5AE9261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C9CA60-72B7-4BA8-A5ED-4222AC43224E}" type="datetimeFigureOut">
              <a:rPr lang="nb-NO" smtClean="0"/>
              <a:t>01.06.2026</a:t>
            </a:fld>
            <a:endParaRPr lang="nb-NO"/>
          </a:p>
        </p:txBody>
      </p:sp>
      <p:sp>
        <p:nvSpPr>
          <p:cNvPr id="5" name="Plassholder for bunntekst 4">
            <a:extLst>
              <a:ext uri="{FF2B5EF4-FFF2-40B4-BE49-F238E27FC236}">
                <a16:creationId xmlns:a16="http://schemas.microsoft.com/office/drawing/2014/main" id="{77B3E4C9-1800-2421-1302-6651675CF7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b-NO"/>
          </a:p>
        </p:txBody>
      </p:sp>
      <p:sp>
        <p:nvSpPr>
          <p:cNvPr id="6" name="Plassholder for lysbildenummer 5">
            <a:extLst>
              <a:ext uri="{FF2B5EF4-FFF2-40B4-BE49-F238E27FC236}">
                <a16:creationId xmlns:a16="http://schemas.microsoft.com/office/drawing/2014/main" id="{A0C1813F-2765-0D6E-F763-0640A80328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621F20-79D8-4435-90CC-3E45EE9E3354}" type="slidenum">
              <a:rPr lang="nb-NO" smtClean="0"/>
              <a:t>‹#›</a:t>
            </a:fld>
            <a:endParaRPr lang="nb-NO"/>
          </a:p>
        </p:txBody>
      </p:sp>
    </p:spTree>
    <p:extLst>
      <p:ext uri="{BB962C8B-B14F-4D97-AF65-F5344CB8AC3E}">
        <p14:creationId xmlns:p14="http://schemas.microsoft.com/office/powerpoint/2010/main" val="7546946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51426A10-68AD-F868-AAAB-03957A10E48D}"/>
              </a:ext>
            </a:extLst>
          </p:cNvPr>
          <p:cNvSpPr>
            <a:spLocks noGrp="1"/>
          </p:cNvSpPr>
          <p:nvPr>
            <p:ph type="ctrTitle"/>
          </p:nvPr>
        </p:nvSpPr>
        <p:spPr/>
        <p:txBody>
          <a:bodyPr/>
          <a:lstStyle/>
          <a:p>
            <a:r>
              <a:rPr lang="nb-NO" dirty="0"/>
              <a:t>IDATT1005 Systemutvikling 1</a:t>
            </a:r>
          </a:p>
        </p:txBody>
      </p:sp>
      <p:sp>
        <p:nvSpPr>
          <p:cNvPr id="3" name="Undertittel 2">
            <a:extLst>
              <a:ext uri="{FF2B5EF4-FFF2-40B4-BE49-F238E27FC236}">
                <a16:creationId xmlns:a16="http://schemas.microsoft.com/office/drawing/2014/main" id="{45BC6958-79A6-9073-E374-2BD797492CE3}"/>
              </a:ext>
            </a:extLst>
          </p:cNvPr>
          <p:cNvSpPr>
            <a:spLocks noGrp="1"/>
          </p:cNvSpPr>
          <p:nvPr>
            <p:ph type="subTitle" idx="1"/>
          </p:nvPr>
        </p:nvSpPr>
        <p:spPr/>
        <p:txBody>
          <a:bodyPr/>
          <a:lstStyle/>
          <a:p>
            <a:r>
              <a:rPr lang="nb-NO" dirty="0"/>
              <a:t>Eksamensøving</a:t>
            </a:r>
          </a:p>
        </p:txBody>
      </p:sp>
    </p:spTree>
    <p:extLst>
      <p:ext uri="{BB962C8B-B14F-4D97-AF65-F5344CB8AC3E}">
        <p14:creationId xmlns:p14="http://schemas.microsoft.com/office/powerpoint/2010/main" val="2726026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B86EE2E6-135A-2E6A-F2BA-8A92EE1842DF}"/>
              </a:ext>
            </a:extLst>
          </p:cNvPr>
          <p:cNvSpPr>
            <a:spLocks noGrp="1"/>
          </p:cNvSpPr>
          <p:nvPr>
            <p:ph type="title"/>
          </p:nvPr>
        </p:nvSpPr>
        <p:spPr/>
        <p:txBody>
          <a:bodyPr/>
          <a:lstStyle/>
          <a:p>
            <a:r>
              <a:rPr lang="nb-NO" dirty="0"/>
              <a:t>MMI</a:t>
            </a:r>
          </a:p>
        </p:txBody>
      </p:sp>
      <p:sp>
        <p:nvSpPr>
          <p:cNvPr id="3" name="Plassholder for tekst 2">
            <a:extLst>
              <a:ext uri="{FF2B5EF4-FFF2-40B4-BE49-F238E27FC236}">
                <a16:creationId xmlns:a16="http://schemas.microsoft.com/office/drawing/2014/main" id="{C95541C3-610A-08EA-BC17-4EF4A605B7FF}"/>
              </a:ext>
            </a:extLst>
          </p:cNvPr>
          <p:cNvSpPr>
            <a:spLocks noGrp="1"/>
          </p:cNvSpPr>
          <p:nvPr>
            <p:ph type="body" idx="1"/>
          </p:nvPr>
        </p:nvSpPr>
        <p:spPr/>
        <p:txBody>
          <a:bodyPr/>
          <a:lstStyle/>
          <a:p>
            <a:r>
              <a:rPr lang="nb-NO" dirty="0"/>
              <a:t>Menneske maskin interaksjon</a:t>
            </a:r>
          </a:p>
        </p:txBody>
      </p:sp>
    </p:spTree>
    <p:extLst>
      <p:ext uri="{BB962C8B-B14F-4D97-AF65-F5344CB8AC3E}">
        <p14:creationId xmlns:p14="http://schemas.microsoft.com/office/powerpoint/2010/main" val="36732859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73512F67-6D61-B9A6-6D16-746A3E7A7CA8}"/>
              </a:ext>
            </a:extLst>
          </p:cNvPr>
          <p:cNvSpPr>
            <a:spLocks noGrp="1"/>
          </p:cNvSpPr>
          <p:nvPr>
            <p:ph type="title"/>
          </p:nvPr>
        </p:nvSpPr>
        <p:spPr/>
        <p:txBody>
          <a:bodyPr/>
          <a:lstStyle/>
          <a:p>
            <a:r>
              <a:rPr lang="nb-NO" dirty="0"/>
              <a:t>Interaksjonsdesign</a:t>
            </a:r>
          </a:p>
        </p:txBody>
      </p:sp>
      <p:sp>
        <p:nvSpPr>
          <p:cNvPr id="3" name="Plassholder for innhold 2">
            <a:extLst>
              <a:ext uri="{FF2B5EF4-FFF2-40B4-BE49-F238E27FC236}">
                <a16:creationId xmlns:a16="http://schemas.microsoft.com/office/drawing/2014/main" id="{978A0EFD-1123-0524-9C36-657E10C4B287}"/>
              </a:ext>
            </a:extLst>
          </p:cNvPr>
          <p:cNvSpPr>
            <a:spLocks noGrp="1"/>
          </p:cNvSpPr>
          <p:nvPr>
            <p:ph idx="1"/>
          </p:nvPr>
        </p:nvSpPr>
        <p:spPr/>
        <p:txBody>
          <a:bodyPr/>
          <a:lstStyle/>
          <a:p>
            <a:r>
              <a:rPr lang="nb-NO" dirty="0"/>
              <a:t>Hva er definisjonen på interaksjonsdesign?</a:t>
            </a:r>
          </a:p>
          <a:p>
            <a:r>
              <a:rPr lang="nb-NO" dirty="0"/>
              <a:t>Hva er fokuset med interaksjonsdesign?</a:t>
            </a:r>
          </a:p>
          <a:p>
            <a:r>
              <a:rPr lang="nb-NO" dirty="0"/>
              <a:t>Hva er målet med interaksjonsdesign?</a:t>
            </a:r>
          </a:p>
          <a:p>
            <a:r>
              <a:rPr lang="nb-NO" dirty="0"/>
              <a:t>Hva er en modell når man jobber med </a:t>
            </a:r>
            <a:r>
              <a:rPr lang="nb-NO" dirty="0" err="1"/>
              <a:t>IxD</a:t>
            </a:r>
            <a:r>
              <a:rPr lang="nb-NO" dirty="0"/>
              <a:t>?</a:t>
            </a:r>
          </a:p>
          <a:p>
            <a:endParaRPr lang="nb-NO" dirty="0"/>
          </a:p>
          <a:p>
            <a:r>
              <a:rPr lang="nb-NO" dirty="0"/>
              <a:t>Hva er de fem dimensjonene i </a:t>
            </a:r>
            <a:r>
              <a:rPr lang="nb-NO" dirty="0" err="1"/>
              <a:t>IxD</a:t>
            </a:r>
            <a:r>
              <a:rPr lang="nb-NO" dirty="0"/>
              <a:t>?</a:t>
            </a:r>
          </a:p>
          <a:p>
            <a:r>
              <a:rPr lang="nb-NO" dirty="0"/>
              <a:t>Hva er Don Normans prinsipper om interaksjonsdesign?</a:t>
            </a:r>
          </a:p>
        </p:txBody>
      </p:sp>
      <p:grpSp>
        <p:nvGrpSpPr>
          <p:cNvPr id="8" name="Gruppe 7">
            <a:extLst>
              <a:ext uri="{FF2B5EF4-FFF2-40B4-BE49-F238E27FC236}">
                <a16:creationId xmlns:a16="http://schemas.microsoft.com/office/drawing/2014/main" id="{0C06299F-8111-7BD0-3C94-A15ED47F962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3870437-F885-62F1-61AD-3160DF162CA5}"/>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10" name="Plassholder for tekst 2">
              <a:extLst>
                <a:ext uri="{FF2B5EF4-FFF2-40B4-BE49-F238E27FC236}">
                  <a16:creationId xmlns:a16="http://schemas.microsoft.com/office/drawing/2014/main" id="{D292173F-361A-4945-CA5F-45C183ED63D8}"/>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1459518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67C49-5130-AEA9-5970-160831FA7D9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E0B6C399-11EB-C24D-BDBC-70C0B5771489}"/>
              </a:ext>
            </a:extLst>
          </p:cNvPr>
          <p:cNvSpPr>
            <a:spLocks noGrp="1"/>
          </p:cNvSpPr>
          <p:nvPr>
            <p:ph type="title"/>
          </p:nvPr>
        </p:nvSpPr>
        <p:spPr/>
        <p:txBody>
          <a:bodyPr/>
          <a:lstStyle/>
          <a:p>
            <a:r>
              <a:rPr lang="nb-NO" dirty="0"/>
              <a:t>Prototyping</a:t>
            </a:r>
          </a:p>
        </p:txBody>
      </p:sp>
      <p:sp>
        <p:nvSpPr>
          <p:cNvPr id="3" name="Plassholder for innhold 2">
            <a:extLst>
              <a:ext uri="{FF2B5EF4-FFF2-40B4-BE49-F238E27FC236}">
                <a16:creationId xmlns:a16="http://schemas.microsoft.com/office/drawing/2014/main" id="{1339875B-9F64-D045-C7E9-B5B62004A947}"/>
              </a:ext>
            </a:extLst>
          </p:cNvPr>
          <p:cNvSpPr>
            <a:spLocks noGrp="1"/>
          </p:cNvSpPr>
          <p:nvPr>
            <p:ph idx="1"/>
          </p:nvPr>
        </p:nvSpPr>
        <p:spPr/>
        <p:txBody>
          <a:bodyPr/>
          <a:lstStyle/>
          <a:p>
            <a:r>
              <a:rPr lang="nb-NO" dirty="0"/>
              <a:t>Hva er prototyping?</a:t>
            </a:r>
          </a:p>
          <a:p>
            <a:r>
              <a:rPr lang="nb-NO" dirty="0"/>
              <a:t>Hvorfor prototyper vi?</a:t>
            </a:r>
          </a:p>
          <a:p>
            <a:r>
              <a:rPr lang="nb-NO" dirty="0"/>
              <a:t>Hvilke dimensjoner finnes det ved prototyping?</a:t>
            </a:r>
          </a:p>
          <a:p>
            <a:r>
              <a:rPr lang="nb-NO" dirty="0"/>
              <a:t>Hva er de ulike klassene av prototyping, og hva er deres kompromisser?</a:t>
            </a:r>
          </a:p>
          <a:p>
            <a:r>
              <a:rPr lang="nb-NO" dirty="0"/>
              <a:t>Hva er de ulike aspektene ved utvikling av prototyper?</a:t>
            </a:r>
          </a:p>
        </p:txBody>
      </p:sp>
      <p:grpSp>
        <p:nvGrpSpPr>
          <p:cNvPr id="4" name="Gruppe 3">
            <a:extLst>
              <a:ext uri="{FF2B5EF4-FFF2-40B4-BE49-F238E27FC236}">
                <a16:creationId xmlns:a16="http://schemas.microsoft.com/office/drawing/2014/main" id="{EC58C4E4-857B-73D5-B850-A82B5517AF51}"/>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8618532D-63A5-2E38-F52C-DC69FC7BC02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923933FF-ED33-1DEF-D09E-B6C610112865}"/>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482260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74C6-05B2-D6F6-1DAA-E204CF6E6AE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BD9D3B0B-9B08-3364-3F8C-CDC17B850821}"/>
              </a:ext>
            </a:extLst>
          </p:cNvPr>
          <p:cNvSpPr>
            <a:spLocks noGrp="1"/>
          </p:cNvSpPr>
          <p:nvPr>
            <p:ph type="title"/>
          </p:nvPr>
        </p:nvSpPr>
        <p:spPr/>
        <p:txBody>
          <a:bodyPr/>
          <a:lstStyle/>
          <a:p>
            <a:r>
              <a:rPr lang="nb-NO" dirty="0"/>
              <a:t>Evaluering</a:t>
            </a:r>
          </a:p>
        </p:txBody>
      </p:sp>
      <p:sp>
        <p:nvSpPr>
          <p:cNvPr id="3" name="Plassholder for innhold 2">
            <a:extLst>
              <a:ext uri="{FF2B5EF4-FFF2-40B4-BE49-F238E27FC236}">
                <a16:creationId xmlns:a16="http://schemas.microsoft.com/office/drawing/2014/main" id="{661D967E-FAA4-4B88-8E78-60E90DB14A6C}"/>
              </a:ext>
            </a:extLst>
          </p:cNvPr>
          <p:cNvSpPr>
            <a:spLocks noGrp="1"/>
          </p:cNvSpPr>
          <p:nvPr>
            <p:ph idx="1"/>
          </p:nvPr>
        </p:nvSpPr>
        <p:spPr/>
        <p:txBody>
          <a:bodyPr/>
          <a:lstStyle/>
          <a:p>
            <a:r>
              <a:rPr lang="nb-NO" dirty="0"/>
              <a:t>Hva er evaluering?</a:t>
            </a:r>
          </a:p>
          <a:p>
            <a:r>
              <a:rPr lang="nb-NO" dirty="0"/>
              <a:t>Hva er forskjellen mellom testing og evaluering?</a:t>
            </a:r>
          </a:p>
          <a:p>
            <a:r>
              <a:rPr lang="nb-NO" dirty="0"/>
              <a:t>Hva er de ulike evalueringsformene?</a:t>
            </a:r>
          </a:p>
          <a:p>
            <a:r>
              <a:rPr lang="nb-NO" dirty="0"/>
              <a:t>Hva er de ulike evalueringene som involverer brukere?</a:t>
            </a:r>
          </a:p>
          <a:p>
            <a:r>
              <a:rPr lang="nb-NO" dirty="0"/>
              <a:t>Hva er de ulike evalueringene som </a:t>
            </a:r>
            <a:r>
              <a:rPr lang="nb-NO" i="1" dirty="0"/>
              <a:t>ikke</a:t>
            </a:r>
            <a:r>
              <a:rPr lang="nb-NO" dirty="0"/>
              <a:t> involverer brukere?</a:t>
            </a:r>
          </a:p>
          <a:p>
            <a:r>
              <a:rPr lang="nb-NO" dirty="0"/>
              <a:t>Hva er de ulike evalueringsmetodene?</a:t>
            </a:r>
          </a:p>
          <a:p>
            <a:r>
              <a:rPr lang="nb-NO" dirty="0"/>
              <a:t>Hva er de ulike evalueringsteknikkene?</a:t>
            </a:r>
          </a:p>
        </p:txBody>
      </p:sp>
      <p:grpSp>
        <p:nvGrpSpPr>
          <p:cNvPr id="4" name="Gruppe 3">
            <a:extLst>
              <a:ext uri="{FF2B5EF4-FFF2-40B4-BE49-F238E27FC236}">
                <a16:creationId xmlns:a16="http://schemas.microsoft.com/office/drawing/2014/main" id="{A4F7AA5F-FF0F-6E27-EAE7-1DCB9DF803A7}"/>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6788F14F-F6F6-19AB-61A4-F627D6CB3AD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00A7D986-10E6-1A23-86FD-6F0958104E09}"/>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1160170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3609B-7406-D47E-3BF9-9AD624900F3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0F24960-27E7-8688-2C05-EAC33B8DD52F}"/>
              </a:ext>
            </a:extLst>
          </p:cNvPr>
          <p:cNvSpPr>
            <a:spLocks noGrp="1"/>
          </p:cNvSpPr>
          <p:nvPr>
            <p:ph type="title"/>
          </p:nvPr>
        </p:nvSpPr>
        <p:spPr/>
        <p:txBody>
          <a:bodyPr/>
          <a:lstStyle/>
          <a:p>
            <a:r>
              <a:rPr lang="nb-NO" dirty="0"/>
              <a:t>Brukertesting</a:t>
            </a:r>
          </a:p>
        </p:txBody>
      </p:sp>
      <p:sp>
        <p:nvSpPr>
          <p:cNvPr id="3" name="Plassholder for innhold 2">
            <a:extLst>
              <a:ext uri="{FF2B5EF4-FFF2-40B4-BE49-F238E27FC236}">
                <a16:creationId xmlns:a16="http://schemas.microsoft.com/office/drawing/2014/main" id="{30736579-BC9D-6FDA-4B01-91851A87B595}"/>
              </a:ext>
            </a:extLst>
          </p:cNvPr>
          <p:cNvSpPr>
            <a:spLocks noGrp="1"/>
          </p:cNvSpPr>
          <p:nvPr>
            <p:ph idx="1"/>
          </p:nvPr>
        </p:nvSpPr>
        <p:spPr/>
        <p:txBody>
          <a:bodyPr/>
          <a:lstStyle/>
          <a:p>
            <a:r>
              <a:rPr lang="nb-NO" dirty="0"/>
              <a:t>Hva er brukertesting?</a:t>
            </a:r>
          </a:p>
          <a:p>
            <a:r>
              <a:rPr lang="nb-NO" dirty="0"/>
              <a:t>Hva er definisjonen på brukertesting?</a:t>
            </a:r>
          </a:p>
          <a:p>
            <a:r>
              <a:rPr lang="nb-NO" dirty="0"/>
              <a:t>Hva er målet med brukertesting?</a:t>
            </a:r>
          </a:p>
          <a:p>
            <a:r>
              <a:rPr lang="nb-NO" dirty="0"/>
              <a:t>Hva bør brukertesting ha?</a:t>
            </a:r>
          </a:p>
        </p:txBody>
      </p:sp>
      <p:grpSp>
        <p:nvGrpSpPr>
          <p:cNvPr id="4" name="Gruppe 3">
            <a:extLst>
              <a:ext uri="{FF2B5EF4-FFF2-40B4-BE49-F238E27FC236}">
                <a16:creationId xmlns:a16="http://schemas.microsoft.com/office/drawing/2014/main" id="{6862E243-3BDE-6CB0-CCEE-0CC566C31BF4}"/>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6FF2A44D-C766-9B2E-6A8B-1FA07F89B65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6BFA7DD3-6B87-F88B-AEAE-C7951446034E}"/>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3573753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C97CC-6B5A-836F-03A2-D96BFDD9BD5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99C8181-5F33-2305-0B96-F451BDD79708}"/>
              </a:ext>
            </a:extLst>
          </p:cNvPr>
          <p:cNvSpPr>
            <a:spLocks noGrp="1"/>
          </p:cNvSpPr>
          <p:nvPr>
            <p:ph type="title"/>
          </p:nvPr>
        </p:nvSpPr>
        <p:spPr/>
        <p:txBody>
          <a:bodyPr/>
          <a:lstStyle/>
          <a:p>
            <a:r>
              <a:rPr lang="nb-NO" dirty="0"/>
              <a:t>Universell utforming</a:t>
            </a:r>
          </a:p>
        </p:txBody>
      </p:sp>
      <p:sp>
        <p:nvSpPr>
          <p:cNvPr id="3" name="Plassholder for innhold 2">
            <a:extLst>
              <a:ext uri="{FF2B5EF4-FFF2-40B4-BE49-F238E27FC236}">
                <a16:creationId xmlns:a16="http://schemas.microsoft.com/office/drawing/2014/main" id="{F61A9395-3811-D2F2-43C6-A6120C491373}"/>
              </a:ext>
            </a:extLst>
          </p:cNvPr>
          <p:cNvSpPr>
            <a:spLocks noGrp="1"/>
          </p:cNvSpPr>
          <p:nvPr>
            <p:ph idx="1"/>
          </p:nvPr>
        </p:nvSpPr>
        <p:spPr/>
        <p:txBody>
          <a:bodyPr/>
          <a:lstStyle/>
          <a:p>
            <a:r>
              <a:rPr lang="nb-NO" dirty="0"/>
              <a:t>Hva er definisjonen på universell utforming?</a:t>
            </a:r>
          </a:p>
          <a:p>
            <a:r>
              <a:rPr lang="nb-NO" dirty="0"/>
              <a:t>Hva er hensikten med universell utforming?</a:t>
            </a:r>
          </a:p>
          <a:p>
            <a:r>
              <a:rPr lang="nb-NO" dirty="0"/>
              <a:t>Hva handler universell utforming </a:t>
            </a:r>
            <a:r>
              <a:rPr lang="nb-NO" i="1" dirty="0"/>
              <a:t>ikke </a:t>
            </a:r>
            <a:r>
              <a:rPr lang="nb-NO" dirty="0"/>
              <a:t>om?</a:t>
            </a:r>
          </a:p>
          <a:p>
            <a:r>
              <a:rPr lang="nb-NO" dirty="0"/>
              <a:t>Hva bidrar universell utforming til?</a:t>
            </a:r>
          </a:p>
          <a:p>
            <a:endParaRPr lang="nb-NO" dirty="0"/>
          </a:p>
          <a:p>
            <a:r>
              <a:rPr lang="nb-NO" dirty="0"/>
              <a:t>Hva er prinsippene for universell utforming?</a:t>
            </a:r>
          </a:p>
          <a:p>
            <a:endParaRPr lang="nb-NO" dirty="0"/>
          </a:p>
        </p:txBody>
      </p:sp>
      <p:grpSp>
        <p:nvGrpSpPr>
          <p:cNvPr id="4" name="Gruppe 3">
            <a:extLst>
              <a:ext uri="{FF2B5EF4-FFF2-40B4-BE49-F238E27FC236}">
                <a16:creationId xmlns:a16="http://schemas.microsoft.com/office/drawing/2014/main" id="{D20D3DC8-8D87-430A-9757-CB40CA015B84}"/>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F0189B10-B1C7-223E-99E0-A407470F176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A76A758E-65C3-0CDF-EE48-ACE13FF0CA36}"/>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2690760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4EBA3-D3E9-7D96-912D-83595A18D22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86021D-A499-F529-8329-A96447BB7521}"/>
              </a:ext>
            </a:extLst>
          </p:cNvPr>
          <p:cNvSpPr>
            <a:spLocks noGrp="1"/>
          </p:cNvSpPr>
          <p:nvPr>
            <p:ph type="title"/>
          </p:nvPr>
        </p:nvSpPr>
        <p:spPr/>
        <p:txBody>
          <a:bodyPr/>
          <a:lstStyle/>
          <a:p>
            <a:r>
              <a:rPr lang="nb-NO" dirty="0"/>
              <a:t>Lovkrav til universell utforming</a:t>
            </a:r>
          </a:p>
        </p:txBody>
      </p:sp>
      <p:sp>
        <p:nvSpPr>
          <p:cNvPr id="3" name="Plassholder for innhold 2">
            <a:extLst>
              <a:ext uri="{FF2B5EF4-FFF2-40B4-BE49-F238E27FC236}">
                <a16:creationId xmlns:a16="http://schemas.microsoft.com/office/drawing/2014/main" id="{1D901FE2-196E-2998-8FA0-42CAAC214EF4}"/>
              </a:ext>
            </a:extLst>
          </p:cNvPr>
          <p:cNvSpPr>
            <a:spLocks noGrp="1"/>
          </p:cNvSpPr>
          <p:nvPr>
            <p:ph idx="1"/>
          </p:nvPr>
        </p:nvSpPr>
        <p:spPr/>
        <p:txBody>
          <a:bodyPr/>
          <a:lstStyle/>
          <a:p>
            <a:r>
              <a:rPr lang="nb-NO" dirty="0"/>
              <a:t>Hvilke paragrafer omfatter likestilling og diskriminering?</a:t>
            </a:r>
          </a:p>
          <a:p>
            <a:r>
              <a:rPr lang="nb-NO" dirty="0"/>
              <a:t>Hva sier de ulike paragrafene konkret?</a:t>
            </a:r>
          </a:p>
          <a:p>
            <a:r>
              <a:rPr lang="nb-NO" dirty="0"/>
              <a:t>Når trådde disse paragrafene i kraft?</a:t>
            </a:r>
          </a:p>
          <a:p>
            <a:r>
              <a:rPr lang="nb-NO" dirty="0"/>
              <a:t>Hva er forskriften om universell utforming av IKT?</a:t>
            </a:r>
          </a:p>
          <a:p>
            <a:r>
              <a:rPr lang="nb-NO" dirty="0"/>
              <a:t>Når trådde forskriften om universell utforming av IKT i kraft?</a:t>
            </a:r>
          </a:p>
          <a:p>
            <a:r>
              <a:rPr lang="nb-NO" dirty="0"/>
              <a:t>Hva er WAD?</a:t>
            </a:r>
          </a:p>
          <a:p>
            <a:r>
              <a:rPr lang="nb-NO" dirty="0"/>
              <a:t>Når kom de nyeste kravene fra WAD?</a:t>
            </a:r>
          </a:p>
          <a:p>
            <a:r>
              <a:rPr lang="nb-NO" dirty="0"/>
              <a:t>Hvilke gode argumenter finnes det for UU?</a:t>
            </a:r>
          </a:p>
        </p:txBody>
      </p:sp>
      <p:grpSp>
        <p:nvGrpSpPr>
          <p:cNvPr id="4" name="Gruppe 3">
            <a:extLst>
              <a:ext uri="{FF2B5EF4-FFF2-40B4-BE49-F238E27FC236}">
                <a16:creationId xmlns:a16="http://schemas.microsoft.com/office/drawing/2014/main" id="{EC43FC3F-A058-9F20-AA97-CADFCF55E075}"/>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B1327692-EBB1-A062-C5C8-AB121F6A55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C3D06CFC-9ECB-9330-15C1-6E3EA7DD3DCD}"/>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4285015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41BB2-1DB3-A1D1-0CF8-6045300F511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CB2FB77-8AA0-BE45-79AB-58A8F30E4E07}"/>
              </a:ext>
            </a:extLst>
          </p:cNvPr>
          <p:cNvSpPr>
            <a:spLocks noGrp="1"/>
          </p:cNvSpPr>
          <p:nvPr>
            <p:ph type="title"/>
          </p:nvPr>
        </p:nvSpPr>
        <p:spPr/>
        <p:txBody>
          <a:bodyPr/>
          <a:lstStyle/>
          <a:p>
            <a:r>
              <a:rPr lang="nb-NO" dirty="0"/>
              <a:t>WCAG 2.0</a:t>
            </a:r>
          </a:p>
        </p:txBody>
      </p:sp>
      <p:sp>
        <p:nvSpPr>
          <p:cNvPr id="3" name="Plassholder for innhold 2">
            <a:extLst>
              <a:ext uri="{FF2B5EF4-FFF2-40B4-BE49-F238E27FC236}">
                <a16:creationId xmlns:a16="http://schemas.microsoft.com/office/drawing/2014/main" id="{FD9D548B-A996-0DD2-26BD-96028457C476}"/>
              </a:ext>
            </a:extLst>
          </p:cNvPr>
          <p:cNvSpPr>
            <a:spLocks noGrp="1"/>
          </p:cNvSpPr>
          <p:nvPr>
            <p:ph idx="1"/>
          </p:nvPr>
        </p:nvSpPr>
        <p:spPr/>
        <p:txBody>
          <a:bodyPr/>
          <a:lstStyle/>
          <a:p>
            <a:r>
              <a:rPr lang="nb-NO" dirty="0"/>
              <a:t>Hva er WCAG 2.0?</a:t>
            </a:r>
          </a:p>
          <a:p>
            <a:r>
              <a:rPr lang="nb-NO" dirty="0"/>
              <a:t>Hva er målet med WCAG 2.0?</a:t>
            </a:r>
          </a:p>
          <a:p>
            <a:r>
              <a:rPr lang="nb-NO" dirty="0"/>
              <a:t>Hva er noen krav til WCAG 2.0?</a:t>
            </a:r>
          </a:p>
          <a:p>
            <a:r>
              <a:rPr lang="nb-NO" dirty="0"/>
              <a:t>Hva er prinsippene i det øverste nivået av WCAG 2.0?</a:t>
            </a:r>
          </a:p>
          <a:p>
            <a:r>
              <a:rPr lang="nb-NO" dirty="0"/>
              <a:t>Hva er det nettsider må oppfylle for å følge WCAG 2.0?</a:t>
            </a:r>
          </a:p>
        </p:txBody>
      </p:sp>
      <p:grpSp>
        <p:nvGrpSpPr>
          <p:cNvPr id="4" name="Gruppe 3">
            <a:extLst>
              <a:ext uri="{FF2B5EF4-FFF2-40B4-BE49-F238E27FC236}">
                <a16:creationId xmlns:a16="http://schemas.microsoft.com/office/drawing/2014/main" id="{2051E7A9-1422-D414-50D0-5B38D63E13A1}"/>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84742A95-75C6-66D2-A9C4-6771E709A6D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1670675C-0FA9-8B74-9B4A-E88E61DD8B6F}"/>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52747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95244-4384-0518-9B1A-6DDD83E55EB7}"/>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D13F59E-B8E8-6996-E538-FFD8EEDC14A9}"/>
              </a:ext>
            </a:extLst>
          </p:cNvPr>
          <p:cNvSpPr>
            <a:spLocks noGrp="1"/>
          </p:cNvSpPr>
          <p:nvPr>
            <p:ph type="title"/>
          </p:nvPr>
        </p:nvSpPr>
        <p:spPr/>
        <p:txBody>
          <a:bodyPr/>
          <a:lstStyle/>
          <a:p>
            <a:r>
              <a:rPr lang="nb-NO" dirty="0"/>
              <a:t>UML</a:t>
            </a:r>
          </a:p>
        </p:txBody>
      </p:sp>
      <p:sp>
        <p:nvSpPr>
          <p:cNvPr id="3" name="Plassholder for tekst 2">
            <a:extLst>
              <a:ext uri="{FF2B5EF4-FFF2-40B4-BE49-F238E27FC236}">
                <a16:creationId xmlns:a16="http://schemas.microsoft.com/office/drawing/2014/main" id="{B8FA0293-4923-C55F-3550-5315EC179E3B}"/>
              </a:ext>
            </a:extLst>
          </p:cNvPr>
          <p:cNvSpPr>
            <a:spLocks noGrp="1"/>
          </p:cNvSpPr>
          <p:nvPr>
            <p:ph type="body" idx="1"/>
          </p:nvPr>
        </p:nvSpPr>
        <p:spPr/>
        <p:txBody>
          <a:bodyPr/>
          <a:lstStyle/>
          <a:p>
            <a:r>
              <a:rPr lang="nb-NO" dirty="0"/>
              <a:t>Unified Modeling Language</a:t>
            </a:r>
          </a:p>
        </p:txBody>
      </p:sp>
    </p:spTree>
    <p:extLst>
      <p:ext uri="{BB962C8B-B14F-4D97-AF65-F5344CB8AC3E}">
        <p14:creationId xmlns:p14="http://schemas.microsoft.com/office/powerpoint/2010/main" val="1634877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0361-A5FB-6627-558D-C73C5632B44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5D3482-D55E-14F2-CF5B-6489FD3D726C}"/>
              </a:ext>
            </a:extLst>
          </p:cNvPr>
          <p:cNvSpPr>
            <a:spLocks noGrp="1"/>
          </p:cNvSpPr>
          <p:nvPr>
            <p:ph type="title"/>
          </p:nvPr>
        </p:nvSpPr>
        <p:spPr/>
        <p:txBody>
          <a:bodyPr/>
          <a:lstStyle/>
          <a:p>
            <a:r>
              <a:rPr lang="nb-NO" dirty="0"/>
              <a:t>UML</a:t>
            </a:r>
          </a:p>
        </p:txBody>
      </p:sp>
      <p:sp>
        <p:nvSpPr>
          <p:cNvPr id="3" name="Plassholder for innhold 2">
            <a:extLst>
              <a:ext uri="{FF2B5EF4-FFF2-40B4-BE49-F238E27FC236}">
                <a16:creationId xmlns:a16="http://schemas.microsoft.com/office/drawing/2014/main" id="{E7CEED31-5330-E4F8-C15C-90F7CCD561E4}"/>
              </a:ext>
            </a:extLst>
          </p:cNvPr>
          <p:cNvSpPr>
            <a:spLocks noGrp="1"/>
          </p:cNvSpPr>
          <p:nvPr>
            <p:ph idx="1"/>
          </p:nvPr>
        </p:nvSpPr>
        <p:spPr/>
        <p:txBody>
          <a:bodyPr/>
          <a:lstStyle/>
          <a:p>
            <a:r>
              <a:rPr lang="nb-NO" dirty="0"/>
              <a:t>Hvorfor UML?</a:t>
            </a:r>
          </a:p>
          <a:p>
            <a:r>
              <a:rPr lang="nb-NO" dirty="0"/>
              <a:t>Hvordan fungerer UML?</a:t>
            </a:r>
          </a:p>
          <a:p>
            <a:r>
              <a:rPr lang="nb-NO" dirty="0"/>
              <a:t>Hvilke ulike modeller finnes?</a:t>
            </a:r>
          </a:p>
        </p:txBody>
      </p:sp>
      <p:grpSp>
        <p:nvGrpSpPr>
          <p:cNvPr id="8" name="Gruppe 7">
            <a:extLst>
              <a:ext uri="{FF2B5EF4-FFF2-40B4-BE49-F238E27FC236}">
                <a16:creationId xmlns:a16="http://schemas.microsoft.com/office/drawing/2014/main" id="{B034805D-8919-6ACA-B033-487C8B0DF70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AF3DF9D-3714-5004-535B-D9715287E97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1E9F2F51-3C80-BDFB-3673-15B1935AEE5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970755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B8CE1-1A19-086D-23BB-F2926DBAA176}"/>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2838027-592E-278B-47C7-10C976428980}"/>
              </a:ext>
            </a:extLst>
          </p:cNvPr>
          <p:cNvSpPr>
            <a:spLocks noGrp="1"/>
          </p:cNvSpPr>
          <p:nvPr>
            <p:ph type="title"/>
          </p:nvPr>
        </p:nvSpPr>
        <p:spPr/>
        <p:txBody>
          <a:bodyPr/>
          <a:lstStyle/>
          <a:p>
            <a:r>
              <a:rPr lang="nb-NO" dirty="0"/>
              <a:t>Use case</a:t>
            </a:r>
          </a:p>
        </p:txBody>
      </p:sp>
      <p:sp>
        <p:nvSpPr>
          <p:cNvPr id="3" name="Plassholder for innhold 2">
            <a:extLst>
              <a:ext uri="{FF2B5EF4-FFF2-40B4-BE49-F238E27FC236}">
                <a16:creationId xmlns:a16="http://schemas.microsoft.com/office/drawing/2014/main" id="{94982728-80EA-91D5-AFD0-B9D79712FBC4}"/>
              </a:ext>
            </a:extLst>
          </p:cNvPr>
          <p:cNvSpPr>
            <a:spLocks noGrp="1"/>
          </p:cNvSpPr>
          <p:nvPr>
            <p:ph idx="1"/>
          </p:nvPr>
        </p:nvSpPr>
        <p:spPr/>
        <p:txBody>
          <a:bodyPr/>
          <a:lstStyle/>
          <a:p>
            <a:r>
              <a:rPr lang="nb-NO" dirty="0"/>
              <a:t>Hva er et use case diagram? </a:t>
            </a:r>
          </a:p>
          <a:p>
            <a:r>
              <a:rPr lang="nb-NO" dirty="0"/>
              <a:t>Hvordan lager man et use case diagram?</a:t>
            </a:r>
          </a:p>
        </p:txBody>
      </p:sp>
      <p:grpSp>
        <p:nvGrpSpPr>
          <p:cNvPr id="8" name="Gruppe 7">
            <a:extLst>
              <a:ext uri="{FF2B5EF4-FFF2-40B4-BE49-F238E27FC236}">
                <a16:creationId xmlns:a16="http://schemas.microsoft.com/office/drawing/2014/main" id="{9A0431B9-5154-72BC-2851-F7C19AB61CB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13A99FA-CE9F-DFAA-0825-01992673519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D2F4A11A-C806-4B0E-EF2F-AA00E2E018D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1386802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9F85D-FDD3-1613-EC0A-B22932C2011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6A0ABE3-215D-B991-195D-4CEE2D777E40}"/>
              </a:ext>
            </a:extLst>
          </p:cNvPr>
          <p:cNvSpPr>
            <a:spLocks noGrp="1"/>
          </p:cNvSpPr>
          <p:nvPr>
            <p:ph type="title"/>
          </p:nvPr>
        </p:nvSpPr>
        <p:spPr/>
        <p:txBody>
          <a:bodyPr/>
          <a:lstStyle/>
          <a:p>
            <a:r>
              <a:rPr lang="nb-NO" dirty="0"/>
              <a:t>Domenemodell</a:t>
            </a:r>
          </a:p>
        </p:txBody>
      </p:sp>
      <p:sp>
        <p:nvSpPr>
          <p:cNvPr id="3" name="Plassholder for innhold 2">
            <a:extLst>
              <a:ext uri="{FF2B5EF4-FFF2-40B4-BE49-F238E27FC236}">
                <a16:creationId xmlns:a16="http://schemas.microsoft.com/office/drawing/2014/main" id="{4E824DEA-4F29-F010-2E86-E6A92BE07FF8}"/>
              </a:ext>
            </a:extLst>
          </p:cNvPr>
          <p:cNvSpPr>
            <a:spLocks noGrp="1"/>
          </p:cNvSpPr>
          <p:nvPr>
            <p:ph idx="1"/>
          </p:nvPr>
        </p:nvSpPr>
        <p:spPr/>
        <p:txBody>
          <a:bodyPr/>
          <a:lstStyle/>
          <a:p>
            <a:r>
              <a:rPr lang="nb-NO" dirty="0"/>
              <a:t>Hva er en domenemodell? </a:t>
            </a:r>
          </a:p>
          <a:p>
            <a:r>
              <a:rPr lang="nb-NO" dirty="0"/>
              <a:t>Hva er hensikten med en domenemodell?</a:t>
            </a:r>
          </a:p>
          <a:p>
            <a:r>
              <a:rPr lang="nb-NO" dirty="0"/>
              <a:t>Hva er viktig med et domenemodell?</a:t>
            </a:r>
          </a:p>
        </p:txBody>
      </p:sp>
      <p:grpSp>
        <p:nvGrpSpPr>
          <p:cNvPr id="8" name="Gruppe 7">
            <a:extLst>
              <a:ext uri="{FF2B5EF4-FFF2-40B4-BE49-F238E27FC236}">
                <a16:creationId xmlns:a16="http://schemas.microsoft.com/office/drawing/2014/main" id="{C2FB2341-1B8A-77DF-412C-85A0BBF7DA0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7295FE12-2740-C2F3-C8F0-DCC860448F0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75F57159-1E40-A719-9E9F-C702E7BC871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2411461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C7827-AF49-7A7A-CDCE-A2EF05554CD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9ACDE30-BCE0-A351-C647-DFB50728BF93}"/>
              </a:ext>
            </a:extLst>
          </p:cNvPr>
          <p:cNvSpPr>
            <a:spLocks noGrp="1"/>
          </p:cNvSpPr>
          <p:nvPr>
            <p:ph type="title"/>
          </p:nvPr>
        </p:nvSpPr>
        <p:spPr/>
        <p:txBody>
          <a:bodyPr/>
          <a:lstStyle/>
          <a:p>
            <a:r>
              <a:rPr lang="nb-NO" dirty="0"/>
              <a:t>Sekvensdiagram</a:t>
            </a:r>
          </a:p>
        </p:txBody>
      </p:sp>
      <p:sp>
        <p:nvSpPr>
          <p:cNvPr id="3" name="Plassholder for innhold 2">
            <a:extLst>
              <a:ext uri="{FF2B5EF4-FFF2-40B4-BE49-F238E27FC236}">
                <a16:creationId xmlns:a16="http://schemas.microsoft.com/office/drawing/2014/main" id="{9C95A4F1-BB35-2C73-A947-5191FF44AFD7}"/>
              </a:ext>
            </a:extLst>
          </p:cNvPr>
          <p:cNvSpPr>
            <a:spLocks noGrp="1"/>
          </p:cNvSpPr>
          <p:nvPr>
            <p:ph idx="1"/>
          </p:nvPr>
        </p:nvSpPr>
        <p:spPr/>
        <p:txBody>
          <a:bodyPr/>
          <a:lstStyle/>
          <a:p>
            <a:r>
              <a:rPr lang="nb-NO" dirty="0"/>
              <a:t>Hva er et sekvensdiagram? </a:t>
            </a:r>
          </a:p>
          <a:p>
            <a:r>
              <a:rPr lang="nb-NO" dirty="0"/>
              <a:t>Hva er hensikten med et sekvensdiagram?</a:t>
            </a:r>
          </a:p>
          <a:p>
            <a:r>
              <a:rPr lang="nb-NO" dirty="0"/>
              <a:t>Hva representerer de ulike elementene i et sekvensdiagram?</a:t>
            </a:r>
          </a:p>
        </p:txBody>
      </p:sp>
      <p:grpSp>
        <p:nvGrpSpPr>
          <p:cNvPr id="8" name="Gruppe 7">
            <a:extLst>
              <a:ext uri="{FF2B5EF4-FFF2-40B4-BE49-F238E27FC236}">
                <a16:creationId xmlns:a16="http://schemas.microsoft.com/office/drawing/2014/main" id="{46C62CD9-5B63-AB3A-D42F-85A035408A8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B201E93F-652A-CAEB-8D92-7AEAE51AAAB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C0D99558-6FA6-4481-5FE1-BDDB8EEB72F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138471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04CB0-EEFD-D295-6EBC-83142986A39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ECE11F6-A785-C9B1-BAD7-FA4BE68A5DAE}"/>
              </a:ext>
            </a:extLst>
          </p:cNvPr>
          <p:cNvSpPr>
            <a:spLocks noGrp="1"/>
          </p:cNvSpPr>
          <p:nvPr>
            <p:ph type="title"/>
          </p:nvPr>
        </p:nvSpPr>
        <p:spPr/>
        <p:txBody>
          <a:bodyPr/>
          <a:lstStyle/>
          <a:p>
            <a:r>
              <a:rPr lang="nb-NO" dirty="0"/>
              <a:t>Aktivitetsdiagram</a:t>
            </a:r>
          </a:p>
        </p:txBody>
      </p:sp>
      <p:sp>
        <p:nvSpPr>
          <p:cNvPr id="3" name="Plassholder for innhold 2">
            <a:extLst>
              <a:ext uri="{FF2B5EF4-FFF2-40B4-BE49-F238E27FC236}">
                <a16:creationId xmlns:a16="http://schemas.microsoft.com/office/drawing/2014/main" id="{0926AA79-D09F-BA4D-2031-F01B13A6B15D}"/>
              </a:ext>
            </a:extLst>
          </p:cNvPr>
          <p:cNvSpPr>
            <a:spLocks noGrp="1"/>
          </p:cNvSpPr>
          <p:nvPr>
            <p:ph idx="1"/>
          </p:nvPr>
        </p:nvSpPr>
        <p:spPr/>
        <p:txBody>
          <a:bodyPr/>
          <a:lstStyle/>
          <a:p>
            <a:r>
              <a:rPr lang="nb-NO" dirty="0"/>
              <a:t>Hva er et aktivitetsdiagram? </a:t>
            </a:r>
          </a:p>
          <a:p>
            <a:r>
              <a:rPr lang="nb-NO" dirty="0"/>
              <a:t>Hva er hensikten med et aktivitetsdiagram?</a:t>
            </a:r>
          </a:p>
          <a:p>
            <a:r>
              <a:rPr lang="nb-NO" dirty="0"/>
              <a:t>Hva representerer de ulike elementene i et aktivitetsdiagram?</a:t>
            </a:r>
          </a:p>
        </p:txBody>
      </p:sp>
      <p:grpSp>
        <p:nvGrpSpPr>
          <p:cNvPr id="8" name="Gruppe 7">
            <a:extLst>
              <a:ext uri="{FF2B5EF4-FFF2-40B4-BE49-F238E27FC236}">
                <a16:creationId xmlns:a16="http://schemas.microsoft.com/office/drawing/2014/main" id="{1C4D8030-F9DE-C2C1-646C-4C507F308B4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AFB3621-F4CF-52FD-E419-F1AAA83B5EA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6874FD51-8115-5357-8A1D-4019BABB4E3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42259933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899A2-4A0D-C30B-3C14-DB2B01407B8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2E3C8A1-8A57-B030-60EC-07212D5DE780}"/>
              </a:ext>
            </a:extLst>
          </p:cNvPr>
          <p:cNvSpPr>
            <a:spLocks noGrp="1"/>
          </p:cNvSpPr>
          <p:nvPr>
            <p:ph type="title"/>
          </p:nvPr>
        </p:nvSpPr>
        <p:spPr/>
        <p:txBody>
          <a:bodyPr/>
          <a:lstStyle/>
          <a:p>
            <a:r>
              <a:rPr lang="nb-NO" dirty="0"/>
              <a:t>Klassediagram</a:t>
            </a:r>
          </a:p>
        </p:txBody>
      </p:sp>
      <p:sp>
        <p:nvSpPr>
          <p:cNvPr id="3" name="Plassholder for innhold 2">
            <a:extLst>
              <a:ext uri="{FF2B5EF4-FFF2-40B4-BE49-F238E27FC236}">
                <a16:creationId xmlns:a16="http://schemas.microsoft.com/office/drawing/2014/main" id="{48C17643-FB5F-B9A8-3B3A-C58CC37D169D}"/>
              </a:ext>
            </a:extLst>
          </p:cNvPr>
          <p:cNvSpPr>
            <a:spLocks noGrp="1"/>
          </p:cNvSpPr>
          <p:nvPr>
            <p:ph idx="1"/>
          </p:nvPr>
        </p:nvSpPr>
        <p:spPr/>
        <p:txBody>
          <a:bodyPr/>
          <a:lstStyle/>
          <a:p>
            <a:r>
              <a:rPr lang="nb-NO" dirty="0"/>
              <a:t>Hva er et klassediagram? </a:t>
            </a:r>
          </a:p>
          <a:p>
            <a:r>
              <a:rPr lang="nb-NO" dirty="0"/>
              <a:t>Hva er hensikten med et klassediagram?</a:t>
            </a:r>
          </a:p>
          <a:p>
            <a:r>
              <a:rPr lang="nb-NO" dirty="0"/>
              <a:t>Hva representerer de ulike elementene i et klassediagram?</a:t>
            </a:r>
          </a:p>
          <a:p>
            <a:r>
              <a:rPr lang="nb-NO" dirty="0"/>
              <a:t>Når brukes et klassediagram, og hvorfor brukes det da?</a:t>
            </a:r>
          </a:p>
        </p:txBody>
      </p:sp>
      <p:grpSp>
        <p:nvGrpSpPr>
          <p:cNvPr id="8" name="Gruppe 7">
            <a:extLst>
              <a:ext uri="{FF2B5EF4-FFF2-40B4-BE49-F238E27FC236}">
                <a16:creationId xmlns:a16="http://schemas.microsoft.com/office/drawing/2014/main" id="{0973E33B-4CED-2593-0E68-008DC860C6C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B04B4AD-760E-030D-4262-E4BA5B11B91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7D72D99E-A8A5-8099-AA75-258C8294DB41}"/>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21317182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63DF5-23F2-D1FA-F9A4-A8552AEC70D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7D28115-D7B8-D469-A826-83CC12E0759A}"/>
              </a:ext>
            </a:extLst>
          </p:cNvPr>
          <p:cNvSpPr>
            <a:spLocks noGrp="1"/>
          </p:cNvSpPr>
          <p:nvPr>
            <p:ph type="title"/>
          </p:nvPr>
        </p:nvSpPr>
        <p:spPr/>
        <p:txBody>
          <a:bodyPr/>
          <a:lstStyle/>
          <a:p>
            <a:r>
              <a:rPr lang="nb-NO" dirty="0"/>
              <a:t>Pakkediagram</a:t>
            </a:r>
          </a:p>
        </p:txBody>
      </p:sp>
      <p:sp>
        <p:nvSpPr>
          <p:cNvPr id="3" name="Plassholder for innhold 2">
            <a:extLst>
              <a:ext uri="{FF2B5EF4-FFF2-40B4-BE49-F238E27FC236}">
                <a16:creationId xmlns:a16="http://schemas.microsoft.com/office/drawing/2014/main" id="{55A6CC03-0FDB-D42E-BE7B-DBE0373B0208}"/>
              </a:ext>
            </a:extLst>
          </p:cNvPr>
          <p:cNvSpPr>
            <a:spLocks noGrp="1"/>
          </p:cNvSpPr>
          <p:nvPr>
            <p:ph idx="1"/>
          </p:nvPr>
        </p:nvSpPr>
        <p:spPr/>
        <p:txBody>
          <a:bodyPr/>
          <a:lstStyle/>
          <a:p>
            <a:r>
              <a:rPr lang="nb-NO" dirty="0"/>
              <a:t>Hva er et pakkediagram? </a:t>
            </a:r>
          </a:p>
          <a:p>
            <a:r>
              <a:rPr lang="nb-NO" dirty="0"/>
              <a:t>Hva er hensikten med et pakkediagram?</a:t>
            </a:r>
          </a:p>
          <a:p>
            <a:r>
              <a:rPr lang="nb-NO" dirty="0"/>
              <a:t>Hvordan brukes et pakkediagram?</a:t>
            </a:r>
          </a:p>
        </p:txBody>
      </p:sp>
      <p:grpSp>
        <p:nvGrpSpPr>
          <p:cNvPr id="8" name="Gruppe 7">
            <a:extLst>
              <a:ext uri="{FF2B5EF4-FFF2-40B4-BE49-F238E27FC236}">
                <a16:creationId xmlns:a16="http://schemas.microsoft.com/office/drawing/2014/main" id="{AEF2B7BC-8BDB-B1E8-32F4-CA4B03FD9CF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955A5F0-9DA6-C3D9-8E47-C22F3319226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F6D986A0-42A5-E807-08AC-4B089F8468F6}"/>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775738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B22F8-F0F2-B6F3-24BC-64D7A0146C5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EF5F1F68-86BB-DEAD-B812-1CCC9A5C1408}"/>
              </a:ext>
            </a:extLst>
          </p:cNvPr>
          <p:cNvSpPr>
            <a:spLocks noGrp="1"/>
          </p:cNvSpPr>
          <p:nvPr>
            <p:ph type="title"/>
          </p:nvPr>
        </p:nvSpPr>
        <p:spPr/>
        <p:txBody>
          <a:bodyPr/>
          <a:lstStyle/>
          <a:p>
            <a:r>
              <a:rPr lang="nb-NO" dirty="0"/>
              <a:t>Tilstandsmaskindiagram</a:t>
            </a:r>
          </a:p>
        </p:txBody>
      </p:sp>
      <p:sp>
        <p:nvSpPr>
          <p:cNvPr id="3" name="Plassholder for innhold 2">
            <a:extLst>
              <a:ext uri="{FF2B5EF4-FFF2-40B4-BE49-F238E27FC236}">
                <a16:creationId xmlns:a16="http://schemas.microsoft.com/office/drawing/2014/main" id="{D6A577E9-47ED-5A87-5C13-816A0E5DF403}"/>
              </a:ext>
            </a:extLst>
          </p:cNvPr>
          <p:cNvSpPr>
            <a:spLocks noGrp="1"/>
          </p:cNvSpPr>
          <p:nvPr>
            <p:ph idx="1"/>
          </p:nvPr>
        </p:nvSpPr>
        <p:spPr/>
        <p:txBody>
          <a:bodyPr/>
          <a:lstStyle/>
          <a:p>
            <a:r>
              <a:rPr lang="nb-NO" dirty="0"/>
              <a:t>Hva er et tilstandsmaskindiagram? </a:t>
            </a:r>
          </a:p>
          <a:p>
            <a:r>
              <a:rPr lang="nb-NO" dirty="0"/>
              <a:t>Hva er hensikten med et tilstandsmaskindiagram?</a:t>
            </a:r>
          </a:p>
          <a:p>
            <a:r>
              <a:rPr lang="nb-NO" dirty="0"/>
              <a:t>Hva er viktig for et tilstandsmaskindiagram?</a:t>
            </a:r>
          </a:p>
          <a:p>
            <a:r>
              <a:rPr lang="nb-NO" dirty="0"/>
              <a:t>Hvilke hoved elementer består et tilstandsmaskindiagram av?</a:t>
            </a:r>
          </a:p>
          <a:p>
            <a:r>
              <a:rPr lang="nb-NO" dirty="0"/>
              <a:t>Hvilke andre UML-diagrammer samspiller tilstandsmaskindiagrammer med?</a:t>
            </a:r>
          </a:p>
          <a:p>
            <a:r>
              <a:rPr lang="nb-NO" dirty="0"/>
              <a:t>Hvordan samspiller tilstandsmaskindiagrammer med andre UML-diagrammer?</a:t>
            </a:r>
          </a:p>
        </p:txBody>
      </p:sp>
      <p:grpSp>
        <p:nvGrpSpPr>
          <p:cNvPr id="8" name="Gruppe 7">
            <a:extLst>
              <a:ext uri="{FF2B5EF4-FFF2-40B4-BE49-F238E27FC236}">
                <a16:creationId xmlns:a16="http://schemas.microsoft.com/office/drawing/2014/main" id="{116659BB-D1E5-61A3-AF10-DA54E286D84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555C1F6-6208-71C3-0D55-3D071DE9AEB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48CF34C2-7D8D-7FB5-100F-93A34623E27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4286462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A6561-F088-E1FF-6014-3846B45EDF6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B43926E-68FC-6E20-BB2F-CFA9E6EFC199}"/>
              </a:ext>
            </a:extLst>
          </p:cNvPr>
          <p:cNvSpPr>
            <a:spLocks noGrp="1"/>
          </p:cNvSpPr>
          <p:nvPr>
            <p:ph type="title"/>
          </p:nvPr>
        </p:nvSpPr>
        <p:spPr/>
        <p:txBody>
          <a:bodyPr/>
          <a:lstStyle/>
          <a:p>
            <a:r>
              <a:rPr lang="nb-NO" dirty="0"/>
              <a:t>Brukerhistorier</a:t>
            </a:r>
          </a:p>
        </p:txBody>
      </p:sp>
      <p:sp>
        <p:nvSpPr>
          <p:cNvPr id="3" name="Plassholder for innhold 2">
            <a:extLst>
              <a:ext uri="{FF2B5EF4-FFF2-40B4-BE49-F238E27FC236}">
                <a16:creationId xmlns:a16="http://schemas.microsoft.com/office/drawing/2014/main" id="{BB19476D-FC69-7D01-BEB6-9A67371FD762}"/>
              </a:ext>
            </a:extLst>
          </p:cNvPr>
          <p:cNvSpPr>
            <a:spLocks noGrp="1"/>
          </p:cNvSpPr>
          <p:nvPr>
            <p:ph idx="1"/>
          </p:nvPr>
        </p:nvSpPr>
        <p:spPr/>
        <p:txBody>
          <a:bodyPr/>
          <a:lstStyle/>
          <a:p>
            <a:r>
              <a:rPr lang="nb-NO" dirty="0"/>
              <a:t>Hva er brukerhistorier? </a:t>
            </a:r>
          </a:p>
          <a:p>
            <a:r>
              <a:rPr lang="nb-NO" dirty="0"/>
              <a:t>Hvem skriver vanligvis brukerhistorier?</a:t>
            </a:r>
          </a:p>
          <a:p>
            <a:r>
              <a:rPr lang="nb-NO" dirty="0"/>
              <a:t>Hvilket format bruker brukerhistorier?</a:t>
            </a:r>
          </a:p>
          <a:p>
            <a:r>
              <a:rPr lang="nb-NO" dirty="0"/>
              <a:t>Hvordan modelleres brukerhistorier?</a:t>
            </a:r>
          </a:p>
        </p:txBody>
      </p:sp>
      <p:grpSp>
        <p:nvGrpSpPr>
          <p:cNvPr id="8" name="Gruppe 7">
            <a:extLst>
              <a:ext uri="{FF2B5EF4-FFF2-40B4-BE49-F238E27FC236}">
                <a16:creationId xmlns:a16="http://schemas.microsoft.com/office/drawing/2014/main" id="{46F9EEBE-CF47-E5F6-5E7F-140F0490765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2191A00-B054-D2B8-593D-6CBF07A2DF3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CCDC0183-A53E-7712-E7FB-7EE6E6A19BE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32130601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6DB54-0ED1-C8E0-DB25-95AD84D4269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9B8CF66B-B43B-6134-56AA-2BA487311859}"/>
              </a:ext>
            </a:extLst>
          </p:cNvPr>
          <p:cNvSpPr>
            <a:spLocks noGrp="1"/>
          </p:cNvSpPr>
          <p:nvPr>
            <p:ph type="title"/>
          </p:nvPr>
        </p:nvSpPr>
        <p:spPr/>
        <p:txBody>
          <a:bodyPr/>
          <a:lstStyle/>
          <a:p>
            <a:r>
              <a:rPr lang="nb-NO" dirty="0"/>
              <a:t>Programvarearkitektur</a:t>
            </a:r>
          </a:p>
        </p:txBody>
      </p:sp>
      <p:sp>
        <p:nvSpPr>
          <p:cNvPr id="3" name="Plassholder for tekst 2">
            <a:extLst>
              <a:ext uri="{FF2B5EF4-FFF2-40B4-BE49-F238E27FC236}">
                <a16:creationId xmlns:a16="http://schemas.microsoft.com/office/drawing/2014/main" id="{E2CB749D-56ED-7872-2654-2BF59083562D}"/>
              </a:ext>
            </a:extLst>
          </p:cNvPr>
          <p:cNvSpPr>
            <a:spLocks noGrp="1"/>
          </p:cNvSpPr>
          <p:nvPr>
            <p:ph type="body" idx="1"/>
          </p:nvPr>
        </p:nvSpPr>
        <p:spPr/>
        <p:txBody>
          <a:bodyPr/>
          <a:lstStyle/>
          <a:p>
            <a:r>
              <a:rPr lang="nb-NO" dirty="0"/>
              <a:t>Alt fra kildekoden til produktet</a:t>
            </a:r>
          </a:p>
        </p:txBody>
      </p:sp>
    </p:spTree>
    <p:extLst>
      <p:ext uri="{BB962C8B-B14F-4D97-AF65-F5344CB8AC3E}">
        <p14:creationId xmlns:p14="http://schemas.microsoft.com/office/powerpoint/2010/main" val="61836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0C781-197E-D96E-AE3F-62246C6616E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9A3789A-6F92-BEA0-4C97-C3702EA94132}"/>
              </a:ext>
            </a:extLst>
          </p:cNvPr>
          <p:cNvSpPr>
            <a:spLocks noGrp="1"/>
          </p:cNvSpPr>
          <p:nvPr>
            <p:ph type="title"/>
          </p:nvPr>
        </p:nvSpPr>
        <p:spPr/>
        <p:txBody>
          <a:bodyPr/>
          <a:lstStyle/>
          <a:p>
            <a:r>
              <a:rPr lang="nb-NO" dirty="0"/>
              <a:t>Programvarearkitektur</a:t>
            </a:r>
          </a:p>
        </p:txBody>
      </p:sp>
      <p:sp>
        <p:nvSpPr>
          <p:cNvPr id="3" name="Plassholder for innhold 2">
            <a:extLst>
              <a:ext uri="{FF2B5EF4-FFF2-40B4-BE49-F238E27FC236}">
                <a16:creationId xmlns:a16="http://schemas.microsoft.com/office/drawing/2014/main" id="{E67C7196-0780-B196-BDD6-3487E57A1FDB}"/>
              </a:ext>
            </a:extLst>
          </p:cNvPr>
          <p:cNvSpPr>
            <a:spLocks noGrp="1"/>
          </p:cNvSpPr>
          <p:nvPr>
            <p:ph idx="1"/>
          </p:nvPr>
        </p:nvSpPr>
        <p:spPr/>
        <p:txBody>
          <a:bodyPr/>
          <a:lstStyle/>
          <a:p>
            <a:r>
              <a:rPr lang="nb-NO" dirty="0"/>
              <a:t>Hva handler programvarearkitektur om?</a:t>
            </a:r>
          </a:p>
          <a:p>
            <a:r>
              <a:rPr lang="nb-NO" dirty="0"/>
              <a:t>Hva er IEEE?</a:t>
            </a:r>
          </a:p>
          <a:p>
            <a:r>
              <a:rPr lang="nb-NO" dirty="0"/>
              <a:t>Hva er definisjonen på programvarearkitektur i følge IEEE?</a:t>
            </a:r>
          </a:p>
        </p:txBody>
      </p:sp>
      <p:grpSp>
        <p:nvGrpSpPr>
          <p:cNvPr id="8" name="Gruppe 7">
            <a:extLst>
              <a:ext uri="{FF2B5EF4-FFF2-40B4-BE49-F238E27FC236}">
                <a16:creationId xmlns:a16="http://schemas.microsoft.com/office/drawing/2014/main" id="{3F8E7234-B731-30F8-73A5-17B04374F47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D9F3D40-3E7E-0E9F-B0C7-05A41B1B16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72E5D4D-8115-F310-1645-96D7B221DE9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3670222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7EBDF-3869-56B2-7907-0E25440105B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FCE2161-CC13-8458-C599-2B806B68BF87}"/>
              </a:ext>
            </a:extLst>
          </p:cNvPr>
          <p:cNvSpPr>
            <a:spLocks noGrp="1"/>
          </p:cNvSpPr>
          <p:nvPr>
            <p:ph type="title"/>
          </p:nvPr>
        </p:nvSpPr>
        <p:spPr/>
        <p:txBody>
          <a:bodyPr/>
          <a:lstStyle/>
          <a:p>
            <a:r>
              <a:rPr lang="nb-NO" dirty="0"/>
              <a:t>Hvorfor arkitektur?</a:t>
            </a:r>
          </a:p>
        </p:txBody>
      </p:sp>
      <p:sp>
        <p:nvSpPr>
          <p:cNvPr id="3" name="Plassholder for innhold 2">
            <a:extLst>
              <a:ext uri="{FF2B5EF4-FFF2-40B4-BE49-F238E27FC236}">
                <a16:creationId xmlns:a16="http://schemas.microsoft.com/office/drawing/2014/main" id="{00DD3284-6E82-66FD-E4B3-DC76FC6CE7CF}"/>
              </a:ext>
            </a:extLst>
          </p:cNvPr>
          <p:cNvSpPr>
            <a:spLocks noGrp="1"/>
          </p:cNvSpPr>
          <p:nvPr>
            <p:ph idx="1"/>
          </p:nvPr>
        </p:nvSpPr>
        <p:spPr/>
        <p:txBody>
          <a:bodyPr/>
          <a:lstStyle/>
          <a:p>
            <a:r>
              <a:rPr lang="nb-NO" dirty="0"/>
              <a:t>Hvorfor er programvarearkitektur viktig?</a:t>
            </a:r>
          </a:p>
          <a:p>
            <a:pPr marL="0" indent="0">
              <a:buNone/>
            </a:pPr>
            <a:endParaRPr lang="nb-NO" dirty="0"/>
          </a:p>
        </p:txBody>
      </p:sp>
      <p:grpSp>
        <p:nvGrpSpPr>
          <p:cNvPr id="8" name="Gruppe 7">
            <a:extLst>
              <a:ext uri="{FF2B5EF4-FFF2-40B4-BE49-F238E27FC236}">
                <a16:creationId xmlns:a16="http://schemas.microsoft.com/office/drawing/2014/main" id="{EF438DB5-B1FC-A432-9453-C8E84C036CF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7B3B5A5-B717-2665-1799-DD9F4F69DEF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D06E2ACF-126A-A2A3-DCFE-49C2D5EE80E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27536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0964C-2E82-FC27-D29E-17B57BC2293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4DF017B-52B2-656C-92A6-5F6EE9D07888}"/>
              </a:ext>
            </a:extLst>
          </p:cNvPr>
          <p:cNvSpPr>
            <a:spLocks noGrp="1"/>
          </p:cNvSpPr>
          <p:nvPr>
            <p:ph type="title"/>
          </p:nvPr>
        </p:nvSpPr>
        <p:spPr/>
        <p:txBody>
          <a:bodyPr/>
          <a:lstStyle/>
          <a:p>
            <a:r>
              <a:rPr lang="nb-NO" dirty="0"/>
              <a:t>Kompleksitetshåndtering</a:t>
            </a:r>
          </a:p>
        </p:txBody>
      </p:sp>
      <p:sp>
        <p:nvSpPr>
          <p:cNvPr id="3" name="Plassholder for innhold 2">
            <a:extLst>
              <a:ext uri="{FF2B5EF4-FFF2-40B4-BE49-F238E27FC236}">
                <a16:creationId xmlns:a16="http://schemas.microsoft.com/office/drawing/2014/main" id="{7501B836-3291-69D7-A6CB-14898D16B05E}"/>
              </a:ext>
            </a:extLst>
          </p:cNvPr>
          <p:cNvSpPr>
            <a:spLocks noGrp="1"/>
          </p:cNvSpPr>
          <p:nvPr>
            <p:ph idx="1"/>
          </p:nvPr>
        </p:nvSpPr>
        <p:spPr/>
        <p:txBody>
          <a:bodyPr/>
          <a:lstStyle/>
          <a:p>
            <a:r>
              <a:rPr lang="nb-NO" dirty="0"/>
              <a:t>Hva er kompleksitetshåndtering?</a:t>
            </a:r>
          </a:p>
          <a:p>
            <a:r>
              <a:rPr lang="nb-NO" dirty="0"/>
              <a:t>Hva heter teknikken som brukes ved kompleksitetshåndtering?</a:t>
            </a:r>
          </a:p>
          <a:p>
            <a:r>
              <a:rPr lang="nb-NO" dirty="0"/>
              <a:t>Hvorfor er kompleksitetshåndtering viktig?</a:t>
            </a:r>
          </a:p>
        </p:txBody>
      </p:sp>
      <p:grpSp>
        <p:nvGrpSpPr>
          <p:cNvPr id="8" name="Gruppe 7">
            <a:extLst>
              <a:ext uri="{FF2B5EF4-FFF2-40B4-BE49-F238E27FC236}">
                <a16:creationId xmlns:a16="http://schemas.microsoft.com/office/drawing/2014/main" id="{AEB05792-A2E1-1332-2024-AB9BBBB914A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D4F9235-132A-5BEF-FAAA-3AD085ECDB3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77B4EF9B-1FA0-0BE7-E024-2703C098E17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1688613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B9C6E-BD5F-A6CA-553E-ED7057E95E2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6448A98-2F2E-8812-868E-C053A72A55D7}"/>
              </a:ext>
            </a:extLst>
          </p:cNvPr>
          <p:cNvSpPr>
            <a:spLocks noGrp="1"/>
          </p:cNvSpPr>
          <p:nvPr>
            <p:ph type="title"/>
          </p:nvPr>
        </p:nvSpPr>
        <p:spPr/>
        <p:txBody>
          <a:bodyPr/>
          <a:lstStyle/>
          <a:p>
            <a:r>
              <a:rPr lang="nb-NO" dirty="0" err="1"/>
              <a:t>Standalone</a:t>
            </a:r>
            <a:r>
              <a:rPr lang="nb-NO" dirty="0"/>
              <a:t> </a:t>
            </a:r>
            <a:r>
              <a:rPr lang="nb-NO" dirty="0" err="1"/>
              <a:t>application</a:t>
            </a:r>
            <a:endParaRPr lang="nb-NO" dirty="0"/>
          </a:p>
        </p:txBody>
      </p:sp>
      <p:sp>
        <p:nvSpPr>
          <p:cNvPr id="3" name="Plassholder for innhold 2">
            <a:extLst>
              <a:ext uri="{FF2B5EF4-FFF2-40B4-BE49-F238E27FC236}">
                <a16:creationId xmlns:a16="http://schemas.microsoft.com/office/drawing/2014/main" id="{CBEE0185-D773-5C7A-CE48-BBD05BA87DB2}"/>
              </a:ext>
            </a:extLst>
          </p:cNvPr>
          <p:cNvSpPr>
            <a:spLocks noGrp="1"/>
          </p:cNvSpPr>
          <p:nvPr>
            <p:ph idx="1"/>
          </p:nvPr>
        </p:nvSpPr>
        <p:spPr/>
        <p:txBody>
          <a:bodyPr/>
          <a:lstStyle/>
          <a:p>
            <a:r>
              <a:rPr lang="nb-NO" dirty="0"/>
              <a:t>Hvordan er en </a:t>
            </a:r>
            <a:r>
              <a:rPr lang="nb-NO" dirty="0" err="1"/>
              <a:t>standalone</a:t>
            </a:r>
            <a:r>
              <a:rPr lang="nb-NO" dirty="0"/>
              <a:t> </a:t>
            </a:r>
            <a:r>
              <a:rPr lang="nb-NO" dirty="0" err="1"/>
              <a:t>application</a:t>
            </a:r>
            <a:r>
              <a:rPr lang="nb-NO" dirty="0"/>
              <a:t> delt opp?</a:t>
            </a:r>
          </a:p>
          <a:p>
            <a:r>
              <a:rPr lang="nb-NO" dirty="0"/>
              <a:t>Hvilket bruksområde har en </a:t>
            </a:r>
            <a:r>
              <a:rPr lang="nb-NO" dirty="0" err="1"/>
              <a:t>standalone</a:t>
            </a:r>
            <a:r>
              <a:rPr lang="nb-NO" dirty="0"/>
              <a:t> </a:t>
            </a:r>
            <a:r>
              <a:rPr lang="nb-NO" dirty="0" err="1"/>
              <a:t>application</a:t>
            </a:r>
            <a:r>
              <a:rPr lang="nb-NO" dirty="0"/>
              <a:t>?</a:t>
            </a:r>
          </a:p>
          <a:p>
            <a:r>
              <a:rPr lang="nb-NO" dirty="0"/>
              <a:t>Hvilke fordeler og ulemper er det ved en </a:t>
            </a:r>
            <a:r>
              <a:rPr lang="nb-NO" dirty="0" err="1"/>
              <a:t>standalone</a:t>
            </a:r>
            <a:r>
              <a:rPr lang="nb-NO" dirty="0"/>
              <a:t> </a:t>
            </a:r>
            <a:r>
              <a:rPr lang="nb-NO" dirty="0" err="1"/>
              <a:t>application</a:t>
            </a:r>
            <a:r>
              <a:rPr lang="nb-NO" dirty="0"/>
              <a:t>?</a:t>
            </a:r>
          </a:p>
        </p:txBody>
      </p:sp>
      <p:grpSp>
        <p:nvGrpSpPr>
          <p:cNvPr id="8" name="Gruppe 7">
            <a:extLst>
              <a:ext uri="{FF2B5EF4-FFF2-40B4-BE49-F238E27FC236}">
                <a16:creationId xmlns:a16="http://schemas.microsoft.com/office/drawing/2014/main" id="{FB50FFF3-254C-222A-2936-C78208899CB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AB7E47D-490C-54E1-BF6F-73DCBCD97D7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92FACED7-C53A-28CF-5603-B1088648B8D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400756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FF1C2-EFB5-2620-9C38-9B9DAFC491C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141E5B3-937C-41B5-989C-36F9E2899038}"/>
              </a:ext>
            </a:extLst>
          </p:cNvPr>
          <p:cNvSpPr>
            <a:spLocks noGrp="1"/>
          </p:cNvSpPr>
          <p:nvPr>
            <p:ph type="title"/>
          </p:nvPr>
        </p:nvSpPr>
        <p:spPr/>
        <p:txBody>
          <a:bodyPr/>
          <a:lstStyle/>
          <a:p>
            <a:r>
              <a:rPr lang="nb-NO" dirty="0"/>
              <a:t>Klient - tjener arkitektur</a:t>
            </a:r>
          </a:p>
        </p:txBody>
      </p:sp>
      <p:sp>
        <p:nvSpPr>
          <p:cNvPr id="3" name="Plassholder for innhold 2">
            <a:extLst>
              <a:ext uri="{FF2B5EF4-FFF2-40B4-BE49-F238E27FC236}">
                <a16:creationId xmlns:a16="http://schemas.microsoft.com/office/drawing/2014/main" id="{5A8E5A3F-F46C-0ABB-5138-ECC9C3D08CA1}"/>
              </a:ext>
            </a:extLst>
          </p:cNvPr>
          <p:cNvSpPr>
            <a:spLocks noGrp="1"/>
          </p:cNvSpPr>
          <p:nvPr>
            <p:ph idx="1"/>
          </p:nvPr>
        </p:nvSpPr>
        <p:spPr/>
        <p:txBody>
          <a:bodyPr/>
          <a:lstStyle/>
          <a:p>
            <a:r>
              <a:rPr lang="nb-NO" dirty="0"/>
              <a:t>Hvordan er klient - tjener arkitektur delt opp?</a:t>
            </a:r>
          </a:p>
          <a:p>
            <a:r>
              <a:rPr lang="nb-NO" dirty="0"/>
              <a:t>Hvordan fungerer en klient - tjener arkitektur?</a:t>
            </a:r>
          </a:p>
          <a:p>
            <a:r>
              <a:rPr lang="nb-NO" dirty="0"/>
              <a:t>Hvilke fordeler og ulemper er det ved en klient - tjener arkitektur?</a:t>
            </a:r>
          </a:p>
          <a:p>
            <a:endParaRPr lang="nb-NO" dirty="0"/>
          </a:p>
        </p:txBody>
      </p:sp>
      <p:grpSp>
        <p:nvGrpSpPr>
          <p:cNvPr id="8" name="Gruppe 7">
            <a:extLst>
              <a:ext uri="{FF2B5EF4-FFF2-40B4-BE49-F238E27FC236}">
                <a16:creationId xmlns:a16="http://schemas.microsoft.com/office/drawing/2014/main" id="{87643C2C-3A0D-AD21-ABC5-62511331D7F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A410640-343A-981C-3525-386F17F32992}"/>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A20FF71-01C1-2C43-2FFF-69498286A67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40698937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1BF05-7F63-0289-9D25-F0BD943BCC5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FBD414F-577C-F7FB-5C47-F8D3A776C5E7}"/>
              </a:ext>
            </a:extLst>
          </p:cNvPr>
          <p:cNvSpPr>
            <a:spLocks noGrp="1"/>
          </p:cNvSpPr>
          <p:nvPr>
            <p:ph type="title"/>
          </p:nvPr>
        </p:nvSpPr>
        <p:spPr/>
        <p:txBody>
          <a:bodyPr/>
          <a:lstStyle/>
          <a:p>
            <a:r>
              <a:rPr lang="nb-NO" dirty="0"/>
              <a:t>Tre-lags-arkitektur</a:t>
            </a:r>
          </a:p>
        </p:txBody>
      </p:sp>
      <p:sp>
        <p:nvSpPr>
          <p:cNvPr id="3" name="Plassholder for innhold 2">
            <a:extLst>
              <a:ext uri="{FF2B5EF4-FFF2-40B4-BE49-F238E27FC236}">
                <a16:creationId xmlns:a16="http://schemas.microsoft.com/office/drawing/2014/main" id="{1F5EFEE4-125C-1093-8C32-BF777FC64B88}"/>
              </a:ext>
            </a:extLst>
          </p:cNvPr>
          <p:cNvSpPr>
            <a:spLocks noGrp="1"/>
          </p:cNvSpPr>
          <p:nvPr>
            <p:ph idx="1"/>
          </p:nvPr>
        </p:nvSpPr>
        <p:spPr/>
        <p:txBody>
          <a:bodyPr/>
          <a:lstStyle/>
          <a:p>
            <a:r>
              <a:rPr lang="nb-NO" dirty="0"/>
              <a:t>Hvordan er en tre-lags-arkitektur delt opp?</a:t>
            </a:r>
          </a:p>
          <a:p>
            <a:r>
              <a:rPr lang="nb-NO" dirty="0"/>
              <a:t>Hvordan fungerer tre-lags-arkitektur?</a:t>
            </a:r>
          </a:p>
          <a:p>
            <a:r>
              <a:rPr lang="nb-NO" dirty="0"/>
              <a:t>Hvilke fordeler og ulemper er det ved tre-lags-arkitektur?</a:t>
            </a:r>
          </a:p>
        </p:txBody>
      </p:sp>
      <p:grpSp>
        <p:nvGrpSpPr>
          <p:cNvPr id="8" name="Gruppe 7">
            <a:extLst>
              <a:ext uri="{FF2B5EF4-FFF2-40B4-BE49-F238E27FC236}">
                <a16:creationId xmlns:a16="http://schemas.microsoft.com/office/drawing/2014/main" id="{B479BF15-74FB-381F-9DE3-563B6C62476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C36F6D9-C73C-A750-032C-307AE51BB67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4C9BFE35-72FE-8B57-A4D7-7A827434D9D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269886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E54AB-3388-DF07-F5AD-1F4832809A9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571E930-7033-F3AD-4653-142E3FA9C101}"/>
              </a:ext>
            </a:extLst>
          </p:cNvPr>
          <p:cNvSpPr>
            <a:spLocks noGrp="1"/>
          </p:cNvSpPr>
          <p:nvPr>
            <p:ph type="title"/>
          </p:nvPr>
        </p:nvSpPr>
        <p:spPr/>
        <p:txBody>
          <a:bodyPr/>
          <a:lstStyle/>
          <a:p>
            <a:r>
              <a:rPr lang="nb-NO" dirty="0"/>
              <a:t>Master-slave pattern</a:t>
            </a:r>
          </a:p>
        </p:txBody>
      </p:sp>
      <p:sp>
        <p:nvSpPr>
          <p:cNvPr id="3" name="Plassholder for innhold 2">
            <a:extLst>
              <a:ext uri="{FF2B5EF4-FFF2-40B4-BE49-F238E27FC236}">
                <a16:creationId xmlns:a16="http://schemas.microsoft.com/office/drawing/2014/main" id="{E9D68DEF-5740-E58C-DB5E-C8B733C86A25}"/>
              </a:ext>
            </a:extLst>
          </p:cNvPr>
          <p:cNvSpPr>
            <a:spLocks noGrp="1"/>
          </p:cNvSpPr>
          <p:nvPr>
            <p:ph idx="1"/>
          </p:nvPr>
        </p:nvSpPr>
        <p:spPr/>
        <p:txBody>
          <a:bodyPr/>
          <a:lstStyle/>
          <a:p>
            <a:r>
              <a:rPr lang="nb-NO" dirty="0"/>
              <a:t>Hvordan er en master-slave pattern delt opp?</a:t>
            </a:r>
          </a:p>
          <a:p>
            <a:r>
              <a:rPr lang="nb-NO" dirty="0"/>
              <a:t>Hvordan fungerer master-slave pattern?</a:t>
            </a:r>
          </a:p>
          <a:p>
            <a:r>
              <a:rPr lang="nb-NO" dirty="0"/>
              <a:t>Hvilke fordeler og ulemper er det ved master-slave pattern?</a:t>
            </a:r>
          </a:p>
          <a:p>
            <a:r>
              <a:rPr lang="nb-NO" dirty="0"/>
              <a:t>Hvor brukes master-slave pattern?</a:t>
            </a:r>
          </a:p>
          <a:p>
            <a:endParaRPr lang="nb-NO" dirty="0"/>
          </a:p>
        </p:txBody>
      </p:sp>
      <p:grpSp>
        <p:nvGrpSpPr>
          <p:cNvPr id="8" name="Gruppe 7">
            <a:extLst>
              <a:ext uri="{FF2B5EF4-FFF2-40B4-BE49-F238E27FC236}">
                <a16:creationId xmlns:a16="http://schemas.microsoft.com/office/drawing/2014/main" id="{C36C6BBC-52EE-2C16-ACF7-30F29B933AE9}"/>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B3106E08-D330-0642-ADC6-4031FF8419B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03C1AC8F-649B-B085-5BB3-A054D50853F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752594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A7FEB-14A9-29BA-B57A-F1EE8E6DC9C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2268E13-418D-6D76-8CDD-9E5BF1CFE3F9}"/>
              </a:ext>
            </a:extLst>
          </p:cNvPr>
          <p:cNvSpPr>
            <a:spLocks noGrp="1"/>
          </p:cNvSpPr>
          <p:nvPr>
            <p:ph type="title"/>
          </p:nvPr>
        </p:nvSpPr>
        <p:spPr/>
        <p:txBody>
          <a:bodyPr/>
          <a:lstStyle/>
          <a:p>
            <a:r>
              <a:rPr lang="nb-NO" dirty="0"/>
              <a:t>Pipe-filter pattern</a:t>
            </a:r>
          </a:p>
        </p:txBody>
      </p:sp>
      <p:sp>
        <p:nvSpPr>
          <p:cNvPr id="3" name="Plassholder for innhold 2">
            <a:extLst>
              <a:ext uri="{FF2B5EF4-FFF2-40B4-BE49-F238E27FC236}">
                <a16:creationId xmlns:a16="http://schemas.microsoft.com/office/drawing/2014/main" id="{C78D5E47-9E05-8B05-F64B-B0A39E85C779}"/>
              </a:ext>
            </a:extLst>
          </p:cNvPr>
          <p:cNvSpPr>
            <a:spLocks noGrp="1"/>
          </p:cNvSpPr>
          <p:nvPr>
            <p:ph idx="1"/>
          </p:nvPr>
        </p:nvSpPr>
        <p:spPr/>
        <p:txBody>
          <a:bodyPr/>
          <a:lstStyle/>
          <a:p>
            <a:r>
              <a:rPr lang="nb-NO" dirty="0"/>
              <a:t>Hvordan er pipe-filter pattern delt opp?</a:t>
            </a:r>
          </a:p>
          <a:p>
            <a:r>
              <a:rPr lang="nb-NO" dirty="0"/>
              <a:t>Hvordan fungerer pipe-filter pattern?</a:t>
            </a:r>
          </a:p>
          <a:p>
            <a:r>
              <a:rPr lang="nb-NO" dirty="0"/>
              <a:t>Hvilke fordeler og ulemper er det ved pipe-filter pattern?</a:t>
            </a:r>
          </a:p>
          <a:p>
            <a:r>
              <a:rPr lang="nb-NO" dirty="0"/>
              <a:t>Hvor brukes pipe-filter pattern?</a:t>
            </a:r>
          </a:p>
          <a:p>
            <a:endParaRPr lang="nb-NO" dirty="0"/>
          </a:p>
        </p:txBody>
      </p:sp>
      <p:grpSp>
        <p:nvGrpSpPr>
          <p:cNvPr id="8" name="Gruppe 7">
            <a:extLst>
              <a:ext uri="{FF2B5EF4-FFF2-40B4-BE49-F238E27FC236}">
                <a16:creationId xmlns:a16="http://schemas.microsoft.com/office/drawing/2014/main" id="{C3A84D66-DA8D-A836-695E-60F9FF230E7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EDA5D120-8C7F-3D5F-8233-300F60C8240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591F9B7-E3CE-0CB9-64BB-D40EC924390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0713903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36CB9-B97A-F88A-D868-B6C6B19F2E1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83013A0-277F-7CF2-D935-5DBA1F1D4F83}"/>
              </a:ext>
            </a:extLst>
          </p:cNvPr>
          <p:cNvSpPr>
            <a:spLocks noGrp="1"/>
          </p:cNvSpPr>
          <p:nvPr>
            <p:ph type="title"/>
          </p:nvPr>
        </p:nvSpPr>
        <p:spPr/>
        <p:txBody>
          <a:bodyPr/>
          <a:lstStyle/>
          <a:p>
            <a:r>
              <a:rPr lang="nb-NO" dirty="0"/>
              <a:t>Broker pattern</a:t>
            </a:r>
          </a:p>
        </p:txBody>
      </p:sp>
      <p:sp>
        <p:nvSpPr>
          <p:cNvPr id="3" name="Plassholder for innhold 2">
            <a:extLst>
              <a:ext uri="{FF2B5EF4-FFF2-40B4-BE49-F238E27FC236}">
                <a16:creationId xmlns:a16="http://schemas.microsoft.com/office/drawing/2014/main" id="{40715E23-12A8-4ECE-D5C9-E7E20260B367}"/>
              </a:ext>
            </a:extLst>
          </p:cNvPr>
          <p:cNvSpPr>
            <a:spLocks noGrp="1"/>
          </p:cNvSpPr>
          <p:nvPr>
            <p:ph idx="1"/>
          </p:nvPr>
        </p:nvSpPr>
        <p:spPr/>
        <p:txBody>
          <a:bodyPr/>
          <a:lstStyle/>
          <a:p>
            <a:r>
              <a:rPr lang="nb-NO" dirty="0"/>
              <a:t>Hvordan er broker pattern delt opp?</a:t>
            </a:r>
          </a:p>
          <a:p>
            <a:r>
              <a:rPr lang="nb-NO" dirty="0"/>
              <a:t>Hvordan fungerer broker pattern?</a:t>
            </a:r>
          </a:p>
          <a:p>
            <a:r>
              <a:rPr lang="nb-NO" dirty="0"/>
              <a:t>Hvilke fordeler og ulemper er det ved broker pattern?</a:t>
            </a:r>
          </a:p>
          <a:p>
            <a:r>
              <a:rPr lang="nb-NO" dirty="0"/>
              <a:t>Hvor brukes broker pattern?</a:t>
            </a:r>
          </a:p>
          <a:p>
            <a:endParaRPr lang="nb-NO" dirty="0"/>
          </a:p>
          <a:p>
            <a:endParaRPr lang="nb-NO" dirty="0"/>
          </a:p>
        </p:txBody>
      </p:sp>
      <p:grpSp>
        <p:nvGrpSpPr>
          <p:cNvPr id="8" name="Gruppe 7">
            <a:extLst>
              <a:ext uri="{FF2B5EF4-FFF2-40B4-BE49-F238E27FC236}">
                <a16:creationId xmlns:a16="http://schemas.microsoft.com/office/drawing/2014/main" id="{CEE72BED-0123-67FB-12FB-406C555EBF5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9FA0166-95D7-543A-A442-5CB7FFACA22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C49F356B-AD5B-7821-610F-27AD6F13279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853728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52BEF-BF0C-5B11-C724-D1B912117D7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A81E400-CE94-3E3B-9C56-BE008313B482}"/>
              </a:ext>
            </a:extLst>
          </p:cNvPr>
          <p:cNvSpPr>
            <a:spLocks noGrp="1"/>
          </p:cNvSpPr>
          <p:nvPr>
            <p:ph type="title"/>
          </p:nvPr>
        </p:nvSpPr>
        <p:spPr/>
        <p:txBody>
          <a:bodyPr/>
          <a:lstStyle/>
          <a:p>
            <a:r>
              <a:rPr lang="nb-NO" dirty="0"/>
              <a:t>Peer to Peer pattern</a:t>
            </a:r>
          </a:p>
        </p:txBody>
      </p:sp>
      <p:sp>
        <p:nvSpPr>
          <p:cNvPr id="3" name="Plassholder for innhold 2">
            <a:extLst>
              <a:ext uri="{FF2B5EF4-FFF2-40B4-BE49-F238E27FC236}">
                <a16:creationId xmlns:a16="http://schemas.microsoft.com/office/drawing/2014/main" id="{86098BE5-CC26-82D2-49F2-718490EE2009}"/>
              </a:ext>
            </a:extLst>
          </p:cNvPr>
          <p:cNvSpPr>
            <a:spLocks noGrp="1"/>
          </p:cNvSpPr>
          <p:nvPr>
            <p:ph idx="1"/>
          </p:nvPr>
        </p:nvSpPr>
        <p:spPr/>
        <p:txBody>
          <a:bodyPr/>
          <a:lstStyle/>
          <a:p>
            <a:r>
              <a:rPr lang="nb-NO" dirty="0"/>
              <a:t>Hvordan er peer to peer pattern delt opp?</a:t>
            </a:r>
          </a:p>
          <a:p>
            <a:r>
              <a:rPr lang="nb-NO" dirty="0"/>
              <a:t>Hvordan fungerer peer to peer pattern?</a:t>
            </a:r>
          </a:p>
          <a:p>
            <a:r>
              <a:rPr lang="nb-NO" dirty="0"/>
              <a:t>Hvilke fordeler og ulemper er det ved peer to peer pattern?</a:t>
            </a:r>
          </a:p>
          <a:p>
            <a:r>
              <a:rPr lang="nb-NO" dirty="0"/>
              <a:t>Hvor brukes peer to peer pattern?</a:t>
            </a:r>
          </a:p>
        </p:txBody>
      </p:sp>
      <p:grpSp>
        <p:nvGrpSpPr>
          <p:cNvPr id="8" name="Gruppe 7">
            <a:extLst>
              <a:ext uri="{FF2B5EF4-FFF2-40B4-BE49-F238E27FC236}">
                <a16:creationId xmlns:a16="http://schemas.microsoft.com/office/drawing/2014/main" id="{C24EDF8A-E7FD-AB3C-9C69-C6A13857A72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1652497-914A-98BE-D99D-DEC8A7CD7F3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5159EC7D-3C92-97C9-C5F6-BEBED8ED9F2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2601337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91DF-A2F1-B754-DF31-A580159A0AA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F5EAC77-8743-E593-6620-046652055FF8}"/>
              </a:ext>
            </a:extLst>
          </p:cNvPr>
          <p:cNvSpPr>
            <a:spLocks noGrp="1"/>
          </p:cNvSpPr>
          <p:nvPr>
            <p:ph type="title"/>
          </p:nvPr>
        </p:nvSpPr>
        <p:spPr/>
        <p:txBody>
          <a:bodyPr/>
          <a:lstStyle/>
          <a:p>
            <a:r>
              <a:rPr lang="nb-NO" dirty="0" err="1"/>
              <a:t>Event</a:t>
            </a:r>
            <a:r>
              <a:rPr lang="nb-NO" dirty="0"/>
              <a:t>-bus pattern</a:t>
            </a:r>
          </a:p>
        </p:txBody>
      </p:sp>
      <p:sp>
        <p:nvSpPr>
          <p:cNvPr id="3" name="Plassholder for innhold 2">
            <a:extLst>
              <a:ext uri="{FF2B5EF4-FFF2-40B4-BE49-F238E27FC236}">
                <a16:creationId xmlns:a16="http://schemas.microsoft.com/office/drawing/2014/main" id="{92CFEE55-3707-5EEA-B160-98237624DC95}"/>
              </a:ext>
            </a:extLst>
          </p:cNvPr>
          <p:cNvSpPr>
            <a:spLocks noGrp="1"/>
          </p:cNvSpPr>
          <p:nvPr>
            <p:ph idx="1"/>
          </p:nvPr>
        </p:nvSpPr>
        <p:spPr/>
        <p:txBody>
          <a:bodyPr/>
          <a:lstStyle/>
          <a:p>
            <a:r>
              <a:rPr lang="nb-NO" dirty="0"/>
              <a:t>Hvordan er </a:t>
            </a:r>
            <a:r>
              <a:rPr lang="nb-NO" dirty="0" err="1"/>
              <a:t>event</a:t>
            </a:r>
            <a:r>
              <a:rPr lang="nb-NO" dirty="0"/>
              <a:t>-bus pattern delt opp?</a:t>
            </a:r>
          </a:p>
          <a:p>
            <a:r>
              <a:rPr lang="nb-NO" dirty="0"/>
              <a:t>Hvordan fungerer </a:t>
            </a:r>
            <a:r>
              <a:rPr lang="nb-NO" dirty="0" err="1"/>
              <a:t>event</a:t>
            </a:r>
            <a:r>
              <a:rPr lang="nb-NO" dirty="0"/>
              <a:t>-bus pattern?</a:t>
            </a:r>
          </a:p>
          <a:p>
            <a:r>
              <a:rPr lang="nb-NO" dirty="0"/>
              <a:t>Hvilke fordeler og ulemper er det ved </a:t>
            </a:r>
            <a:r>
              <a:rPr lang="nb-NO" dirty="0" err="1"/>
              <a:t>event</a:t>
            </a:r>
            <a:r>
              <a:rPr lang="nb-NO" dirty="0"/>
              <a:t>-bus pattern?</a:t>
            </a:r>
          </a:p>
          <a:p>
            <a:r>
              <a:rPr lang="nb-NO" dirty="0"/>
              <a:t>Hvor brukes </a:t>
            </a:r>
            <a:r>
              <a:rPr lang="nb-NO" dirty="0" err="1"/>
              <a:t>event</a:t>
            </a:r>
            <a:r>
              <a:rPr lang="nb-NO" dirty="0"/>
              <a:t>-bus pattern?</a:t>
            </a:r>
          </a:p>
          <a:p>
            <a:endParaRPr lang="nb-NO" dirty="0"/>
          </a:p>
        </p:txBody>
      </p:sp>
      <p:grpSp>
        <p:nvGrpSpPr>
          <p:cNvPr id="8" name="Gruppe 7">
            <a:extLst>
              <a:ext uri="{FF2B5EF4-FFF2-40B4-BE49-F238E27FC236}">
                <a16:creationId xmlns:a16="http://schemas.microsoft.com/office/drawing/2014/main" id="{32C973CE-341C-8BB0-43FE-05D90E38505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B5EB297-53AD-0CBF-68E4-F300B25E525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0E1B9A92-A7F0-DBFB-FE6F-275DC007ED3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5960125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5C5A0-471D-DDA0-0844-10F897E17F3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86AC824-21DE-8F75-90BE-57B2B081D10C}"/>
              </a:ext>
            </a:extLst>
          </p:cNvPr>
          <p:cNvSpPr>
            <a:spLocks noGrp="1"/>
          </p:cNvSpPr>
          <p:nvPr>
            <p:ph type="title"/>
          </p:nvPr>
        </p:nvSpPr>
        <p:spPr/>
        <p:txBody>
          <a:bodyPr/>
          <a:lstStyle/>
          <a:p>
            <a:r>
              <a:rPr lang="nb-NO" dirty="0"/>
              <a:t>MVC</a:t>
            </a:r>
          </a:p>
        </p:txBody>
      </p:sp>
      <p:sp>
        <p:nvSpPr>
          <p:cNvPr id="3" name="Plassholder for innhold 2">
            <a:extLst>
              <a:ext uri="{FF2B5EF4-FFF2-40B4-BE49-F238E27FC236}">
                <a16:creationId xmlns:a16="http://schemas.microsoft.com/office/drawing/2014/main" id="{90072C9A-FD4A-477A-1402-1BCF5AF2E92F}"/>
              </a:ext>
            </a:extLst>
          </p:cNvPr>
          <p:cNvSpPr>
            <a:spLocks noGrp="1"/>
          </p:cNvSpPr>
          <p:nvPr>
            <p:ph idx="1"/>
          </p:nvPr>
        </p:nvSpPr>
        <p:spPr/>
        <p:txBody>
          <a:bodyPr/>
          <a:lstStyle/>
          <a:p>
            <a:r>
              <a:rPr lang="nb-NO" dirty="0"/>
              <a:t>Hvordan er MVC delt opp?</a:t>
            </a:r>
          </a:p>
          <a:p>
            <a:r>
              <a:rPr lang="nb-NO" dirty="0"/>
              <a:t>Hvordan fungerer MVC?</a:t>
            </a:r>
          </a:p>
          <a:p>
            <a:r>
              <a:rPr lang="nb-NO" dirty="0"/>
              <a:t>Hvilke fordeler og ulemper er det ved MVC?</a:t>
            </a:r>
          </a:p>
          <a:p>
            <a:r>
              <a:rPr lang="nb-NO" dirty="0"/>
              <a:t>Hvor brukes MVC?</a:t>
            </a:r>
          </a:p>
        </p:txBody>
      </p:sp>
      <p:grpSp>
        <p:nvGrpSpPr>
          <p:cNvPr id="8" name="Gruppe 7">
            <a:extLst>
              <a:ext uri="{FF2B5EF4-FFF2-40B4-BE49-F238E27FC236}">
                <a16:creationId xmlns:a16="http://schemas.microsoft.com/office/drawing/2014/main" id="{26D5491C-12CD-B5CF-2974-A0BC69529CB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7D5EAA7-FC98-9749-5D6C-C13A9681AB8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6495A6C-1B8F-24D7-1A7D-85B1BA5AA161}"/>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9397551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E1917-44FC-7744-BA64-A295D32C9526}"/>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17D5083-ACCA-5B53-E77B-F079F46971F9}"/>
              </a:ext>
            </a:extLst>
          </p:cNvPr>
          <p:cNvSpPr>
            <a:spLocks noGrp="1"/>
          </p:cNvSpPr>
          <p:nvPr>
            <p:ph type="title"/>
          </p:nvPr>
        </p:nvSpPr>
        <p:spPr/>
        <p:txBody>
          <a:bodyPr/>
          <a:lstStyle/>
          <a:p>
            <a:r>
              <a:rPr lang="nb-NO" dirty="0"/>
              <a:t>Microservice</a:t>
            </a:r>
          </a:p>
        </p:txBody>
      </p:sp>
      <p:sp>
        <p:nvSpPr>
          <p:cNvPr id="3" name="Plassholder for innhold 2">
            <a:extLst>
              <a:ext uri="{FF2B5EF4-FFF2-40B4-BE49-F238E27FC236}">
                <a16:creationId xmlns:a16="http://schemas.microsoft.com/office/drawing/2014/main" id="{0669724E-0089-2E67-F37F-5BEA69BCFE07}"/>
              </a:ext>
            </a:extLst>
          </p:cNvPr>
          <p:cNvSpPr>
            <a:spLocks noGrp="1"/>
          </p:cNvSpPr>
          <p:nvPr>
            <p:ph idx="1"/>
          </p:nvPr>
        </p:nvSpPr>
        <p:spPr/>
        <p:txBody>
          <a:bodyPr/>
          <a:lstStyle/>
          <a:p>
            <a:r>
              <a:rPr lang="nb-NO" dirty="0"/>
              <a:t>Hva er microservice basert på?</a:t>
            </a:r>
          </a:p>
          <a:p>
            <a:r>
              <a:rPr lang="nb-NO" dirty="0"/>
              <a:t>Hvordan er microservice delt opp?</a:t>
            </a:r>
          </a:p>
          <a:p>
            <a:r>
              <a:rPr lang="nb-NO" dirty="0"/>
              <a:t>Hvordan fungerer microservice?</a:t>
            </a:r>
          </a:p>
          <a:p>
            <a:r>
              <a:rPr lang="nb-NO" dirty="0"/>
              <a:t>Hvilke fordeler og ulemper er det ved microservice?</a:t>
            </a:r>
          </a:p>
          <a:p>
            <a:r>
              <a:rPr lang="nb-NO" dirty="0"/>
              <a:t>Hvor brukes microservice?</a:t>
            </a:r>
          </a:p>
        </p:txBody>
      </p:sp>
      <p:grpSp>
        <p:nvGrpSpPr>
          <p:cNvPr id="8" name="Gruppe 7">
            <a:extLst>
              <a:ext uri="{FF2B5EF4-FFF2-40B4-BE49-F238E27FC236}">
                <a16:creationId xmlns:a16="http://schemas.microsoft.com/office/drawing/2014/main" id="{009B4530-4D8C-D380-7DE0-94464507377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8516674-1EBC-EE97-2E4F-CD5A70C8329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435D0BA-06FD-23D4-6A3A-EBD4CFECFFC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27424115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58732-361F-C880-840E-82920299A8C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F255087-1F2F-73AF-4822-3072817E1FCE}"/>
              </a:ext>
            </a:extLst>
          </p:cNvPr>
          <p:cNvSpPr>
            <a:spLocks noGrp="1"/>
          </p:cNvSpPr>
          <p:nvPr>
            <p:ph type="title"/>
          </p:nvPr>
        </p:nvSpPr>
        <p:spPr/>
        <p:txBody>
          <a:bodyPr/>
          <a:lstStyle/>
          <a:p>
            <a:r>
              <a:rPr lang="nb-NO" dirty="0"/>
              <a:t>Monolittarkitektur</a:t>
            </a:r>
          </a:p>
        </p:txBody>
      </p:sp>
      <p:sp>
        <p:nvSpPr>
          <p:cNvPr id="3" name="Plassholder for innhold 2">
            <a:extLst>
              <a:ext uri="{FF2B5EF4-FFF2-40B4-BE49-F238E27FC236}">
                <a16:creationId xmlns:a16="http://schemas.microsoft.com/office/drawing/2014/main" id="{CDA1B41E-3DD6-1E17-8184-6A57D19FD40E}"/>
              </a:ext>
            </a:extLst>
          </p:cNvPr>
          <p:cNvSpPr>
            <a:spLocks noGrp="1"/>
          </p:cNvSpPr>
          <p:nvPr>
            <p:ph idx="1"/>
          </p:nvPr>
        </p:nvSpPr>
        <p:spPr/>
        <p:txBody>
          <a:bodyPr/>
          <a:lstStyle/>
          <a:p>
            <a:r>
              <a:rPr lang="nb-NO" dirty="0"/>
              <a:t>Hvordan er monolittarkitektur delt opp?</a:t>
            </a:r>
          </a:p>
          <a:p>
            <a:r>
              <a:rPr lang="nb-NO" dirty="0"/>
              <a:t>Hvordan fungerer monolittarkitektur ?</a:t>
            </a:r>
          </a:p>
          <a:p>
            <a:r>
              <a:rPr lang="nb-NO" dirty="0"/>
              <a:t>Hvilke fordeler og ulemper er det ved monolittarkitektur ?</a:t>
            </a:r>
          </a:p>
          <a:p>
            <a:r>
              <a:rPr lang="nb-NO" dirty="0"/>
              <a:t>Hvor brukes monolittarkitektur ?</a:t>
            </a:r>
          </a:p>
        </p:txBody>
      </p:sp>
      <p:grpSp>
        <p:nvGrpSpPr>
          <p:cNvPr id="8" name="Gruppe 7">
            <a:extLst>
              <a:ext uri="{FF2B5EF4-FFF2-40B4-BE49-F238E27FC236}">
                <a16:creationId xmlns:a16="http://schemas.microsoft.com/office/drawing/2014/main" id="{544C0B1F-9CC7-7B81-469C-C5601D477421}"/>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D4BD6F9-4A7C-867C-1B3B-50625A84898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60B7F6A-ED45-7FB2-E70A-65EAA2B9480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8185200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CBF8A-CA28-865A-D6CC-AB77370C9B5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453E4F3-C1D0-CE99-66FF-C58B88859983}"/>
              </a:ext>
            </a:extLst>
          </p:cNvPr>
          <p:cNvSpPr>
            <a:spLocks noGrp="1"/>
          </p:cNvSpPr>
          <p:nvPr>
            <p:ph type="title"/>
          </p:nvPr>
        </p:nvSpPr>
        <p:spPr/>
        <p:txBody>
          <a:bodyPr/>
          <a:lstStyle/>
          <a:p>
            <a:r>
              <a:rPr lang="nb-NO" dirty="0" err="1"/>
              <a:t>Plugin</a:t>
            </a:r>
            <a:r>
              <a:rPr lang="nb-NO" dirty="0"/>
              <a:t>-basert arkitektur</a:t>
            </a:r>
          </a:p>
        </p:txBody>
      </p:sp>
      <p:sp>
        <p:nvSpPr>
          <p:cNvPr id="3" name="Plassholder for innhold 2">
            <a:extLst>
              <a:ext uri="{FF2B5EF4-FFF2-40B4-BE49-F238E27FC236}">
                <a16:creationId xmlns:a16="http://schemas.microsoft.com/office/drawing/2014/main" id="{DB13B5B8-C0FC-8734-61AF-A33B75BA15AF}"/>
              </a:ext>
            </a:extLst>
          </p:cNvPr>
          <p:cNvSpPr>
            <a:spLocks noGrp="1"/>
          </p:cNvSpPr>
          <p:nvPr>
            <p:ph idx="1"/>
          </p:nvPr>
        </p:nvSpPr>
        <p:spPr/>
        <p:txBody>
          <a:bodyPr/>
          <a:lstStyle/>
          <a:p>
            <a:r>
              <a:rPr lang="nb-NO" dirty="0"/>
              <a:t>Hvordan er </a:t>
            </a:r>
            <a:r>
              <a:rPr lang="nb-NO" dirty="0" err="1"/>
              <a:t>plugin</a:t>
            </a:r>
            <a:r>
              <a:rPr lang="nb-NO" dirty="0"/>
              <a:t>-basert arkitektur delt opp?</a:t>
            </a:r>
          </a:p>
          <a:p>
            <a:r>
              <a:rPr lang="nb-NO" dirty="0"/>
              <a:t>Hvordan fungerer </a:t>
            </a:r>
            <a:r>
              <a:rPr lang="nb-NO" dirty="0" err="1"/>
              <a:t>plugin</a:t>
            </a:r>
            <a:r>
              <a:rPr lang="nb-NO" dirty="0"/>
              <a:t>-basert arkitektur?</a:t>
            </a:r>
          </a:p>
          <a:p>
            <a:r>
              <a:rPr lang="nb-NO" dirty="0"/>
              <a:t>Hvilke fordeler og ulemper er det ved </a:t>
            </a:r>
            <a:r>
              <a:rPr lang="nb-NO" dirty="0" err="1"/>
              <a:t>plugin</a:t>
            </a:r>
            <a:r>
              <a:rPr lang="nb-NO" dirty="0"/>
              <a:t>-basert arkitektur?</a:t>
            </a:r>
          </a:p>
          <a:p>
            <a:r>
              <a:rPr lang="nb-NO" dirty="0"/>
              <a:t>Hvor brukes </a:t>
            </a:r>
            <a:r>
              <a:rPr lang="nb-NO" dirty="0" err="1"/>
              <a:t>plugin</a:t>
            </a:r>
            <a:r>
              <a:rPr lang="nb-NO" dirty="0"/>
              <a:t>-basert arkitektur? Gi noen eksempler</a:t>
            </a:r>
          </a:p>
          <a:p>
            <a:endParaRPr lang="nb-NO" dirty="0"/>
          </a:p>
        </p:txBody>
      </p:sp>
      <p:grpSp>
        <p:nvGrpSpPr>
          <p:cNvPr id="8" name="Gruppe 7">
            <a:extLst>
              <a:ext uri="{FF2B5EF4-FFF2-40B4-BE49-F238E27FC236}">
                <a16:creationId xmlns:a16="http://schemas.microsoft.com/office/drawing/2014/main" id="{87759A0D-BCB4-9CBE-9F22-F603A5FF8706}"/>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ACAAE7F-A38C-AB01-20F2-4376AAC1A80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5741AAE-7FCB-CF45-197F-16C0791F634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6226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9F2BE-A558-B2C5-0D4D-3C290F17216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D65F705-A490-463C-3A5A-F44B99298B2F}"/>
              </a:ext>
            </a:extLst>
          </p:cNvPr>
          <p:cNvSpPr>
            <a:spLocks noGrp="1"/>
          </p:cNvSpPr>
          <p:nvPr>
            <p:ph type="title"/>
          </p:nvPr>
        </p:nvSpPr>
        <p:spPr/>
        <p:txBody>
          <a:bodyPr/>
          <a:lstStyle/>
          <a:p>
            <a:r>
              <a:rPr lang="nb-NO" dirty="0"/>
              <a:t>Deployment-arkitekturer</a:t>
            </a:r>
          </a:p>
        </p:txBody>
      </p:sp>
      <p:sp>
        <p:nvSpPr>
          <p:cNvPr id="3" name="Plassholder for innhold 2">
            <a:extLst>
              <a:ext uri="{FF2B5EF4-FFF2-40B4-BE49-F238E27FC236}">
                <a16:creationId xmlns:a16="http://schemas.microsoft.com/office/drawing/2014/main" id="{A6F34CB0-D728-384E-C7A5-FE8A61F30F59}"/>
              </a:ext>
            </a:extLst>
          </p:cNvPr>
          <p:cNvSpPr>
            <a:spLocks noGrp="1"/>
          </p:cNvSpPr>
          <p:nvPr>
            <p:ph idx="1"/>
          </p:nvPr>
        </p:nvSpPr>
        <p:spPr/>
        <p:txBody>
          <a:bodyPr/>
          <a:lstStyle/>
          <a:p>
            <a:r>
              <a:rPr lang="nb-NO" dirty="0"/>
              <a:t>Hva er tradisjonell </a:t>
            </a:r>
            <a:r>
              <a:rPr lang="nb-NO" dirty="0" err="1"/>
              <a:t>deployment</a:t>
            </a:r>
            <a:r>
              <a:rPr lang="nb-NO" dirty="0"/>
              <a:t>?</a:t>
            </a:r>
          </a:p>
          <a:p>
            <a:r>
              <a:rPr lang="nb-NO" dirty="0"/>
              <a:t>Hva er fordeler og ulemper med tradisjonell </a:t>
            </a:r>
            <a:r>
              <a:rPr lang="nb-NO" dirty="0" err="1"/>
              <a:t>deployment</a:t>
            </a:r>
            <a:r>
              <a:rPr lang="nb-NO" dirty="0"/>
              <a:t>?</a:t>
            </a:r>
          </a:p>
          <a:p>
            <a:r>
              <a:rPr lang="nb-NO" dirty="0"/>
              <a:t>Hva er </a:t>
            </a:r>
            <a:r>
              <a:rPr lang="nb-NO" dirty="0" err="1"/>
              <a:t>virtualisering</a:t>
            </a:r>
            <a:r>
              <a:rPr lang="nb-NO" dirty="0"/>
              <a:t> (VMs)?</a:t>
            </a:r>
          </a:p>
          <a:p>
            <a:r>
              <a:rPr lang="nb-NO" dirty="0"/>
              <a:t>Hva er fordeler og ulemper med </a:t>
            </a:r>
            <a:r>
              <a:rPr lang="nb-NO" dirty="0" err="1"/>
              <a:t>virtualisering</a:t>
            </a:r>
            <a:r>
              <a:rPr lang="nb-NO" dirty="0"/>
              <a:t>?</a:t>
            </a:r>
          </a:p>
          <a:p>
            <a:r>
              <a:rPr lang="nb-NO" dirty="0"/>
              <a:t>Hva er container-</a:t>
            </a:r>
            <a:r>
              <a:rPr lang="nb-NO" dirty="0" err="1"/>
              <a:t>deployment</a:t>
            </a:r>
            <a:r>
              <a:rPr lang="nb-NO" dirty="0"/>
              <a:t>?</a:t>
            </a:r>
          </a:p>
          <a:p>
            <a:r>
              <a:rPr lang="nb-NO" dirty="0"/>
              <a:t>Hvilke nøkkelteknologier bruker container-</a:t>
            </a:r>
            <a:r>
              <a:rPr lang="nb-NO" dirty="0" err="1"/>
              <a:t>deployment</a:t>
            </a:r>
            <a:r>
              <a:rPr lang="nb-NO" dirty="0"/>
              <a:t>, og hvordan?</a:t>
            </a:r>
          </a:p>
          <a:p>
            <a:r>
              <a:rPr lang="nb-NO" dirty="0"/>
              <a:t>Hva er fordeler og ulemper med container-</a:t>
            </a:r>
            <a:r>
              <a:rPr lang="nb-NO" dirty="0" err="1"/>
              <a:t>deployment</a:t>
            </a:r>
            <a:r>
              <a:rPr lang="nb-NO" dirty="0"/>
              <a:t>?</a:t>
            </a:r>
          </a:p>
          <a:p>
            <a:endParaRPr lang="nb-NO" dirty="0"/>
          </a:p>
        </p:txBody>
      </p:sp>
      <p:grpSp>
        <p:nvGrpSpPr>
          <p:cNvPr id="8" name="Gruppe 7">
            <a:extLst>
              <a:ext uri="{FF2B5EF4-FFF2-40B4-BE49-F238E27FC236}">
                <a16:creationId xmlns:a16="http://schemas.microsoft.com/office/drawing/2014/main" id="{24769A75-EDFC-E791-D8FA-B8F3D7AD4FD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D39BC1B-CE77-9F35-DBE0-239E2EE2B30D}"/>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08BFE09-055B-AD15-3416-E3B2670565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Deployment</a:t>
              </a:r>
            </a:p>
          </p:txBody>
        </p:sp>
      </p:grpSp>
    </p:spTree>
    <p:extLst>
      <p:ext uri="{BB962C8B-B14F-4D97-AF65-F5344CB8AC3E}">
        <p14:creationId xmlns:p14="http://schemas.microsoft.com/office/powerpoint/2010/main" val="3370393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6C14A-E8B6-BE37-8A1A-7263FBD57D5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2B8D080-6FD0-9FA3-B02C-A7B6C46D3D81}"/>
              </a:ext>
            </a:extLst>
          </p:cNvPr>
          <p:cNvSpPr>
            <a:spLocks noGrp="1"/>
          </p:cNvSpPr>
          <p:nvPr>
            <p:ph type="title"/>
          </p:nvPr>
        </p:nvSpPr>
        <p:spPr/>
        <p:txBody>
          <a:bodyPr/>
          <a:lstStyle/>
          <a:p>
            <a:r>
              <a:rPr lang="nb-NO" dirty="0"/>
              <a:t>Systemutviklingsmetodikk</a:t>
            </a:r>
          </a:p>
        </p:txBody>
      </p:sp>
      <p:sp>
        <p:nvSpPr>
          <p:cNvPr id="3" name="Plassholder for tekst 2">
            <a:extLst>
              <a:ext uri="{FF2B5EF4-FFF2-40B4-BE49-F238E27FC236}">
                <a16:creationId xmlns:a16="http://schemas.microsoft.com/office/drawing/2014/main" id="{BC3992E5-94B1-5E50-6D0A-E88B92E82795}"/>
              </a:ext>
            </a:extLst>
          </p:cNvPr>
          <p:cNvSpPr>
            <a:spLocks noGrp="1"/>
          </p:cNvSpPr>
          <p:nvPr>
            <p:ph type="body" idx="1"/>
          </p:nvPr>
        </p:nvSpPr>
        <p:spPr/>
        <p:txBody>
          <a:bodyPr/>
          <a:lstStyle/>
          <a:p>
            <a:r>
              <a:rPr lang="nb-NO" dirty="0"/>
              <a:t>Metoder</a:t>
            </a:r>
          </a:p>
        </p:txBody>
      </p:sp>
    </p:spTree>
    <p:extLst>
      <p:ext uri="{BB962C8B-B14F-4D97-AF65-F5344CB8AC3E}">
        <p14:creationId xmlns:p14="http://schemas.microsoft.com/office/powerpoint/2010/main" val="4627272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B8094-A29B-ADF3-58D7-D8268F1DF3C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0ACD833-888D-662E-B180-3202292A49E1}"/>
              </a:ext>
            </a:extLst>
          </p:cNvPr>
          <p:cNvSpPr>
            <a:spLocks noGrp="1"/>
          </p:cNvSpPr>
          <p:nvPr>
            <p:ph type="title"/>
          </p:nvPr>
        </p:nvSpPr>
        <p:spPr/>
        <p:txBody>
          <a:bodyPr/>
          <a:lstStyle/>
          <a:p>
            <a:r>
              <a:rPr lang="nb-NO" dirty="0"/>
              <a:t>Før smidig metoder</a:t>
            </a:r>
          </a:p>
        </p:txBody>
      </p:sp>
      <p:sp>
        <p:nvSpPr>
          <p:cNvPr id="3" name="Plassholder for innhold 2">
            <a:extLst>
              <a:ext uri="{FF2B5EF4-FFF2-40B4-BE49-F238E27FC236}">
                <a16:creationId xmlns:a16="http://schemas.microsoft.com/office/drawing/2014/main" id="{98BCB61C-9E4B-EE4E-83E9-C57F2F68F382}"/>
              </a:ext>
            </a:extLst>
          </p:cNvPr>
          <p:cNvSpPr>
            <a:spLocks noGrp="1"/>
          </p:cNvSpPr>
          <p:nvPr>
            <p:ph idx="1"/>
          </p:nvPr>
        </p:nvSpPr>
        <p:spPr/>
        <p:txBody>
          <a:bodyPr/>
          <a:lstStyle/>
          <a:p>
            <a:r>
              <a:rPr lang="nb-NO" dirty="0"/>
              <a:t>Hvilke metoder fantes før smidig metoder?</a:t>
            </a:r>
          </a:p>
          <a:p>
            <a:r>
              <a:rPr lang="nb-NO" dirty="0"/>
              <a:t>Hvordan fungerer disse metodene?</a:t>
            </a:r>
          </a:p>
          <a:p>
            <a:r>
              <a:rPr lang="nb-NO" dirty="0"/>
              <a:t>Hvorfor ble de valgt? </a:t>
            </a:r>
          </a:p>
          <a:p>
            <a:r>
              <a:rPr lang="nb-NO" dirty="0"/>
              <a:t>Hvilke fordeler og ulemper har disse metodene?</a:t>
            </a:r>
          </a:p>
          <a:p>
            <a:endParaRPr lang="nb-NO" dirty="0"/>
          </a:p>
        </p:txBody>
      </p:sp>
      <p:grpSp>
        <p:nvGrpSpPr>
          <p:cNvPr id="8" name="Gruppe 7">
            <a:extLst>
              <a:ext uri="{FF2B5EF4-FFF2-40B4-BE49-F238E27FC236}">
                <a16:creationId xmlns:a16="http://schemas.microsoft.com/office/drawing/2014/main" id="{4F2BF56B-D9F5-DEDC-C5E4-87C4C0D3F83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BA40E38-9BAA-3769-4102-76A5878A787D}"/>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41022379-2955-1768-E2C7-768B82CFBF0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3474659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06C26-68A5-B1A2-28FB-6ED8C8BD761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CF50856-6242-EF5C-A073-5CEEB480C536}"/>
              </a:ext>
            </a:extLst>
          </p:cNvPr>
          <p:cNvSpPr>
            <a:spLocks noGrp="1"/>
          </p:cNvSpPr>
          <p:nvPr>
            <p:ph type="title"/>
          </p:nvPr>
        </p:nvSpPr>
        <p:spPr/>
        <p:txBody>
          <a:bodyPr/>
          <a:lstStyle/>
          <a:p>
            <a:r>
              <a:rPr lang="nb-NO" dirty="0"/>
              <a:t>Smidige metoder</a:t>
            </a:r>
          </a:p>
        </p:txBody>
      </p:sp>
      <p:sp>
        <p:nvSpPr>
          <p:cNvPr id="3" name="Plassholder for innhold 2">
            <a:extLst>
              <a:ext uri="{FF2B5EF4-FFF2-40B4-BE49-F238E27FC236}">
                <a16:creationId xmlns:a16="http://schemas.microsoft.com/office/drawing/2014/main" id="{736EC421-5BB8-F144-D077-2696F1D7E7DA}"/>
              </a:ext>
            </a:extLst>
          </p:cNvPr>
          <p:cNvSpPr>
            <a:spLocks noGrp="1"/>
          </p:cNvSpPr>
          <p:nvPr>
            <p:ph idx="1"/>
          </p:nvPr>
        </p:nvSpPr>
        <p:spPr/>
        <p:txBody>
          <a:bodyPr/>
          <a:lstStyle/>
          <a:p>
            <a:r>
              <a:rPr lang="nb-NO" dirty="0"/>
              <a:t>Hvorfor oppstod smidige metoder?</a:t>
            </a:r>
          </a:p>
          <a:p>
            <a:r>
              <a:rPr lang="nb-NO" dirty="0"/>
              <a:t>Hvordan ble smidige metoder kjent?</a:t>
            </a:r>
          </a:p>
          <a:p>
            <a:r>
              <a:rPr lang="nb-NO" dirty="0"/>
              <a:t>Hva er de grunnleggende prinsippene for smidig metode?</a:t>
            </a:r>
          </a:p>
          <a:p>
            <a:r>
              <a:rPr lang="nb-NO" dirty="0"/>
              <a:t>Kort oppsummert, hva består manifestet av?</a:t>
            </a:r>
          </a:p>
        </p:txBody>
      </p:sp>
      <p:grpSp>
        <p:nvGrpSpPr>
          <p:cNvPr id="8" name="Gruppe 7">
            <a:extLst>
              <a:ext uri="{FF2B5EF4-FFF2-40B4-BE49-F238E27FC236}">
                <a16:creationId xmlns:a16="http://schemas.microsoft.com/office/drawing/2014/main" id="{2D7AF8FF-065F-4DA8-5ED5-0441B1B4C35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EE3A6FFB-60A7-BD9E-947E-9B910E466E93}"/>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6AE9110B-6665-E5BE-C26D-77D2012A2B5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15038722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1CA3-F0B4-A337-3408-65C39A6C942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4B7DDF8-9E0F-429C-7BA4-85E5B380D04F}"/>
              </a:ext>
            </a:extLst>
          </p:cNvPr>
          <p:cNvSpPr>
            <a:spLocks noGrp="1"/>
          </p:cNvSpPr>
          <p:nvPr>
            <p:ph type="title"/>
          </p:nvPr>
        </p:nvSpPr>
        <p:spPr/>
        <p:txBody>
          <a:bodyPr/>
          <a:lstStyle/>
          <a:p>
            <a:r>
              <a:rPr lang="nb-NO" dirty="0"/>
              <a:t>Extreme Programming</a:t>
            </a:r>
          </a:p>
        </p:txBody>
      </p:sp>
      <p:sp>
        <p:nvSpPr>
          <p:cNvPr id="3" name="Plassholder for innhold 2">
            <a:extLst>
              <a:ext uri="{FF2B5EF4-FFF2-40B4-BE49-F238E27FC236}">
                <a16:creationId xmlns:a16="http://schemas.microsoft.com/office/drawing/2014/main" id="{D2096B53-85E4-7FD9-1EA1-5A649AC3123C}"/>
              </a:ext>
            </a:extLst>
          </p:cNvPr>
          <p:cNvSpPr>
            <a:spLocks noGrp="1"/>
          </p:cNvSpPr>
          <p:nvPr>
            <p:ph idx="1"/>
          </p:nvPr>
        </p:nvSpPr>
        <p:spPr/>
        <p:txBody>
          <a:bodyPr/>
          <a:lstStyle/>
          <a:p>
            <a:r>
              <a:rPr lang="nb-NO" dirty="0"/>
              <a:t>Hva kjennetegner XP?</a:t>
            </a:r>
          </a:p>
          <a:p>
            <a:r>
              <a:rPr lang="nb-NO" dirty="0"/>
              <a:t>Hvor mange regler har XP?</a:t>
            </a:r>
          </a:p>
          <a:p>
            <a:r>
              <a:rPr lang="nb-NO" dirty="0"/>
              <a:t>Hva er noen av reglene for XP?</a:t>
            </a:r>
          </a:p>
          <a:p>
            <a:r>
              <a:rPr lang="nb-NO" dirty="0"/>
              <a:t>Hva er de sentrale verdiene innen XP?</a:t>
            </a:r>
          </a:p>
        </p:txBody>
      </p:sp>
      <p:grpSp>
        <p:nvGrpSpPr>
          <p:cNvPr id="8" name="Gruppe 7">
            <a:extLst>
              <a:ext uri="{FF2B5EF4-FFF2-40B4-BE49-F238E27FC236}">
                <a16:creationId xmlns:a16="http://schemas.microsoft.com/office/drawing/2014/main" id="{1B64CD98-AB7D-717A-569E-7A7C24BBA06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1D3549D-DF5E-B728-AFFF-D96BD313BC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0137C597-8684-0A77-C668-102BE1BD55B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347871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924A5-818D-7B3D-E116-D07B3A6AC93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C488B2A-0B15-975D-7043-1B1FBD0B30B7}"/>
              </a:ext>
            </a:extLst>
          </p:cNvPr>
          <p:cNvSpPr>
            <a:spLocks noGrp="1"/>
          </p:cNvSpPr>
          <p:nvPr>
            <p:ph type="title"/>
          </p:nvPr>
        </p:nvSpPr>
        <p:spPr/>
        <p:txBody>
          <a:bodyPr/>
          <a:lstStyle/>
          <a:p>
            <a:r>
              <a:rPr lang="nb-NO" dirty="0"/>
              <a:t>Test-Driven </a:t>
            </a:r>
            <a:r>
              <a:rPr lang="nb-NO" dirty="0" err="1"/>
              <a:t>development</a:t>
            </a:r>
            <a:endParaRPr lang="nb-NO" dirty="0"/>
          </a:p>
        </p:txBody>
      </p:sp>
      <p:sp>
        <p:nvSpPr>
          <p:cNvPr id="3" name="Plassholder for innhold 2">
            <a:extLst>
              <a:ext uri="{FF2B5EF4-FFF2-40B4-BE49-F238E27FC236}">
                <a16:creationId xmlns:a16="http://schemas.microsoft.com/office/drawing/2014/main" id="{4848C30D-DA9F-9285-FD56-C0F6AB62E4A3}"/>
              </a:ext>
            </a:extLst>
          </p:cNvPr>
          <p:cNvSpPr>
            <a:spLocks noGrp="1"/>
          </p:cNvSpPr>
          <p:nvPr>
            <p:ph idx="1"/>
          </p:nvPr>
        </p:nvSpPr>
        <p:spPr/>
        <p:txBody>
          <a:bodyPr/>
          <a:lstStyle/>
          <a:p>
            <a:r>
              <a:rPr lang="nb-NO" dirty="0"/>
              <a:t>Hva er TDD?</a:t>
            </a:r>
          </a:p>
          <a:p>
            <a:r>
              <a:rPr lang="nb-NO" dirty="0"/>
              <a:t>Hvilken sammenheng har TDD og XP?</a:t>
            </a:r>
          </a:p>
          <a:p>
            <a:r>
              <a:rPr lang="nb-NO" dirty="0"/>
              <a:t>Hva legger TDD fokus på?</a:t>
            </a:r>
          </a:p>
          <a:p>
            <a:r>
              <a:rPr lang="nb-NO" dirty="0"/>
              <a:t>Hvordan er tester og krav beskrevet med TDD, og hva er sammenhengen?</a:t>
            </a:r>
          </a:p>
          <a:p>
            <a:r>
              <a:rPr lang="nb-NO" dirty="0"/>
              <a:t>Hvilke fordeler og ulemper har TDD?</a:t>
            </a:r>
          </a:p>
        </p:txBody>
      </p:sp>
      <p:grpSp>
        <p:nvGrpSpPr>
          <p:cNvPr id="8" name="Gruppe 7">
            <a:extLst>
              <a:ext uri="{FF2B5EF4-FFF2-40B4-BE49-F238E27FC236}">
                <a16:creationId xmlns:a16="http://schemas.microsoft.com/office/drawing/2014/main" id="{8D7FEA86-AD40-0C0D-2D3D-15712E79704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5D64A75-F08E-74A4-016E-77F4CCEE49C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F59F1C8B-572E-D302-4E1B-61B3A8289FC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826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16465-D87B-92A4-32EA-9AD0A0751E6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59D1C6-D2FA-F61F-A18E-DC477647D413}"/>
              </a:ext>
            </a:extLst>
          </p:cNvPr>
          <p:cNvSpPr>
            <a:spLocks noGrp="1"/>
          </p:cNvSpPr>
          <p:nvPr>
            <p:ph type="title"/>
          </p:nvPr>
        </p:nvSpPr>
        <p:spPr/>
        <p:txBody>
          <a:bodyPr/>
          <a:lstStyle/>
          <a:p>
            <a:r>
              <a:rPr lang="nb-NO" dirty="0" err="1"/>
              <a:t>Behavior</a:t>
            </a:r>
            <a:r>
              <a:rPr lang="nb-NO" dirty="0"/>
              <a:t>-Driven </a:t>
            </a:r>
            <a:r>
              <a:rPr lang="nb-NO" dirty="0" err="1"/>
              <a:t>development</a:t>
            </a:r>
            <a:endParaRPr lang="nb-NO" dirty="0"/>
          </a:p>
        </p:txBody>
      </p:sp>
      <p:sp>
        <p:nvSpPr>
          <p:cNvPr id="3" name="Plassholder for innhold 2">
            <a:extLst>
              <a:ext uri="{FF2B5EF4-FFF2-40B4-BE49-F238E27FC236}">
                <a16:creationId xmlns:a16="http://schemas.microsoft.com/office/drawing/2014/main" id="{F937E4BA-54A0-A060-E4AA-5037AEDDB883}"/>
              </a:ext>
            </a:extLst>
          </p:cNvPr>
          <p:cNvSpPr>
            <a:spLocks noGrp="1"/>
          </p:cNvSpPr>
          <p:nvPr>
            <p:ph idx="1"/>
          </p:nvPr>
        </p:nvSpPr>
        <p:spPr/>
        <p:txBody>
          <a:bodyPr/>
          <a:lstStyle/>
          <a:p>
            <a:r>
              <a:rPr lang="nb-NO" dirty="0"/>
              <a:t>Hva er BDD?</a:t>
            </a:r>
          </a:p>
          <a:p>
            <a:r>
              <a:rPr lang="nb-NO" dirty="0"/>
              <a:t>Hvordan gjennomføres BDD?</a:t>
            </a:r>
          </a:p>
          <a:p>
            <a:r>
              <a:rPr lang="nb-NO" dirty="0"/>
              <a:t>Hva sørger BDD for?</a:t>
            </a:r>
          </a:p>
          <a:p>
            <a:r>
              <a:rPr lang="nb-NO" dirty="0"/>
              <a:t>Hvilke fordeler og ulemper har BDD?</a:t>
            </a:r>
          </a:p>
        </p:txBody>
      </p:sp>
      <p:grpSp>
        <p:nvGrpSpPr>
          <p:cNvPr id="8" name="Gruppe 7">
            <a:extLst>
              <a:ext uri="{FF2B5EF4-FFF2-40B4-BE49-F238E27FC236}">
                <a16:creationId xmlns:a16="http://schemas.microsoft.com/office/drawing/2014/main" id="{C909E0F4-50EE-24AF-88C8-CB741C6FC491}"/>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89F4BE6-4A1D-7848-7EC7-F87AB0C40FB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50163313-54E3-EE37-F776-647AB4C522D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478957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BBF65-C748-A2B4-2C4F-89F4459C1B5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607802E-F9CD-18EB-86E5-C53C76377B92}"/>
              </a:ext>
            </a:extLst>
          </p:cNvPr>
          <p:cNvSpPr>
            <a:spLocks noGrp="1"/>
          </p:cNvSpPr>
          <p:nvPr>
            <p:ph type="title"/>
          </p:nvPr>
        </p:nvSpPr>
        <p:spPr/>
        <p:txBody>
          <a:bodyPr/>
          <a:lstStyle/>
          <a:p>
            <a:r>
              <a:rPr lang="nb-NO" dirty="0" err="1"/>
              <a:t>Scrum</a:t>
            </a:r>
            <a:endParaRPr lang="nb-NO" dirty="0"/>
          </a:p>
        </p:txBody>
      </p:sp>
      <p:sp>
        <p:nvSpPr>
          <p:cNvPr id="3" name="Plassholder for innhold 2">
            <a:extLst>
              <a:ext uri="{FF2B5EF4-FFF2-40B4-BE49-F238E27FC236}">
                <a16:creationId xmlns:a16="http://schemas.microsoft.com/office/drawing/2014/main" id="{BD6985B9-0AA9-1F4D-AEA2-1F25C2780407}"/>
              </a:ext>
            </a:extLst>
          </p:cNvPr>
          <p:cNvSpPr>
            <a:spLocks noGrp="1"/>
          </p:cNvSpPr>
          <p:nvPr>
            <p:ph idx="1"/>
          </p:nvPr>
        </p:nvSpPr>
        <p:spPr/>
        <p:txBody>
          <a:bodyPr/>
          <a:lstStyle/>
          <a:p>
            <a:r>
              <a:rPr lang="nb-NO" dirty="0"/>
              <a:t>Hva er </a:t>
            </a:r>
            <a:r>
              <a:rPr lang="nb-NO" dirty="0" err="1"/>
              <a:t>Scrum</a:t>
            </a:r>
            <a:r>
              <a:rPr lang="nb-NO" dirty="0"/>
              <a:t>?</a:t>
            </a:r>
          </a:p>
          <a:p>
            <a:r>
              <a:rPr lang="nb-NO" dirty="0"/>
              <a:t>Hva legger </a:t>
            </a:r>
            <a:r>
              <a:rPr lang="nb-NO" dirty="0" err="1"/>
              <a:t>Scrum</a:t>
            </a:r>
            <a:r>
              <a:rPr lang="nb-NO" dirty="0"/>
              <a:t> fokus på?</a:t>
            </a:r>
          </a:p>
          <a:p>
            <a:r>
              <a:rPr lang="nb-NO" dirty="0"/>
              <a:t>Hvordan er </a:t>
            </a:r>
            <a:r>
              <a:rPr lang="nb-NO" dirty="0" err="1"/>
              <a:t>Scrum</a:t>
            </a:r>
            <a:r>
              <a:rPr lang="nb-NO" dirty="0"/>
              <a:t> bygd opp?</a:t>
            </a:r>
          </a:p>
          <a:p>
            <a:r>
              <a:rPr lang="nb-NO" dirty="0"/>
              <a:t>Hvilke seremonier består </a:t>
            </a:r>
            <a:r>
              <a:rPr lang="nb-NO" dirty="0" err="1"/>
              <a:t>Scrum</a:t>
            </a:r>
            <a:r>
              <a:rPr lang="nb-NO" dirty="0"/>
              <a:t> av, og hva omfatter de?</a:t>
            </a:r>
          </a:p>
        </p:txBody>
      </p:sp>
      <p:grpSp>
        <p:nvGrpSpPr>
          <p:cNvPr id="8" name="Gruppe 7">
            <a:extLst>
              <a:ext uri="{FF2B5EF4-FFF2-40B4-BE49-F238E27FC236}">
                <a16:creationId xmlns:a16="http://schemas.microsoft.com/office/drawing/2014/main" id="{BBF7FC7D-D9C6-EA3F-5F4B-021DC856B1A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365F842-0BD1-9C7C-6C04-AC8597C7E9E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0A498567-F653-0DA6-6BED-25103AE9411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33849412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83651-6CD5-132B-866C-7C763543707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77D19D6-9980-03BE-3CF6-36B9A309A253}"/>
              </a:ext>
            </a:extLst>
          </p:cNvPr>
          <p:cNvSpPr>
            <a:spLocks noGrp="1"/>
          </p:cNvSpPr>
          <p:nvPr>
            <p:ph type="title"/>
          </p:nvPr>
        </p:nvSpPr>
        <p:spPr/>
        <p:txBody>
          <a:bodyPr/>
          <a:lstStyle/>
          <a:p>
            <a:r>
              <a:rPr lang="nb-NO" dirty="0"/>
              <a:t>Lean</a:t>
            </a:r>
          </a:p>
        </p:txBody>
      </p:sp>
      <p:sp>
        <p:nvSpPr>
          <p:cNvPr id="3" name="Plassholder for innhold 2">
            <a:extLst>
              <a:ext uri="{FF2B5EF4-FFF2-40B4-BE49-F238E27FC236}">
                <a16:creationId xmlns:a16="http://schemas.microsoft.com/office/drawing/2014/main" id="{97366FD9-E3BF-DDB5-D30A-F1CF661EA979}"/>
              </a:ext>
            </a:extLst>
          </p:cNvPr>
          <p:cNvSpPr>
            <a:spLocks noGrp="1"/>
          </p:cNvSpPr>
          <p:nvPr>
            <p:ph idx="1"/>
          </p:nvPr>
        </p:nvSpPr>
        <p:spPr/>
        <p:txBody>
          <a:bodyPr/>
          <a:lstStyle/>
          <a:p>
            <a:r>
              <a:rPr lang="nb-NO" dirty="0"/>
              <a:t>Hva er Lean?</a:t>
            </a:r>
          </a:p>
          <a:p>
            <a:r>
              <a:rPr lang="nb-NO" dirty="0"/>
              <a:t>Hvilke prinsipper består Lean av, og hva betyr de?</a:t>
            </a:r>
          </a:p>
        </p:txBody>
      </p:sp>
      <p:grpSp>
        <p:nvGrpSpPr>
          <p:cNvPr id="8" name="Gruppe 7">
            <a:extLst>
              <a:ext uri="{FF2B5EF4-FFF2-40B4-BE49-F238E27FC236}">
                <a16:creationId xmlns:a16="http://schemas.microsoft.com/office/drawing/2014/main" id="{D16DFFA9-501C-2162-50A3-1EC6EE30307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1183363-B61E-DFDC-6CAD-05D82AF2CE7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EB66612B-4F3F-8034-34B4-6CCA1DF86F0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31381544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50379-DD77-D7AE-40E8-9A21E08D329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BEF81E6-EA04-F7CF-D3A0-0C99DB4403E8}"/>
              </a:ext>
            </a:extLst>
          </p:cNvPr>
          <p:cNvSpPr>
            <a:spLocks noGrp="1"/>
          </p:cNvSpPr>
          <p:nvPr>
            <p:ph type="title"/>
          </p:nvPr>
        </p:nvSpPr>
        <p:spPr/>
        <p:txBody>
          <a:bodyPr/>
          <a:lstStyle/>
          <a:p>
            <a:r>
              <a:rPr lang="nb-NO" dirty="0" err="1"/>
              <a:t>Kanban</a:t>
            </a:r>
            <a:endParaRPr lang="nb-NO" dirty="0"/>
          </a:p>
        </p:txBody>
      </p:sp>
      <p:sp>
        <p:nvSpPr>
          <p:cNvPr id="3" name="Plassholder for innhold 2">
            <a:extLst>
              <a:ext uri="{FF2B5EF4-FFF2-40B4-BE49-F238E27FC236}">
                <a16:creationId xmlns:a16="http://schemas.microsoft.com/office/drawing/2014/main" id="{60A2239B-67A3-02F8-D97B-DB0DE48BD3F2}"/>
              </a:ext>
            </a:extLst>
          </p:cNvPr>
          <p:cNvSpPr>
            <a:spLocks noGrp="1"/>
          </p:cNvSpPr>
          <p:nvPr>
            <p:ph idx="1"/>
          </p:nvPr>
        </p:nvSpPr>
        <p:spPr/>
        <p:txBody>
          <a:bodyPr>
            <a:normAutofit/>
          </a:bodyPr>
          <a:lstStyle/>
          <a:p>
            <a:r>
              <a:rPr lang="nb-NO" dirty="0"/>
              <a:t>Hva er bakgrunnen for </a:t>
            </a:r>
            <a:r>
              <a:rPr lang="nb-NO" dirty="0" err="1"/>
              <a:t>Kanban</a:t>
            </a:r>
            <a:r>
              <a:rPr lang="nb-NO" dirty="0"/>
              <a:t>, og hvorfor er det det?</a:t>
            </a:r>
          </a:p>
          <a:p>
            <a:r>
              <a:rPr lang="nb-NO" dirty="0"/>
              <a:t>Hva har </a:t>
            </a:r>
            <a:r>
              <a:rPr lang="nb-NO" dirty="0" err="1"/>
              <a:t>Kanban</a:t>
            </a:r>
            <a:r>
              <a:rPr lang="nb-NO" dirty="0"/>
              <a:t> fokus på?</a:t>
            </a:r>
          </a:p>
          <a:p>
            <a:r>
              <a:rPr lang="nb-NO" dirty="0"/>
              <a:t>Hvordan er produktet levert?</a:t>
            </a:r>
          </a:p>
          <a:p>
            <a:r>
              <a:rPr lang="nb-NO" dirty="0"/>
              <a:t>Hvordan er </a:t>
            </a:r>
            <a:r>
              <a:rPr lang="nb-NO" dirty="0" err="1"/>
              <a:t>Kanban</a:t>
            </a:r>
            <a:r>
              <a:rPr lang="nb-NO" dirty="0"/>
              <a:t> gjennomført?</a:t>
            </a:r>
          </a:p>
          <a:p>
            <a:r>
              <a:rPr lang="nb-NO" dirty="0"/>
              <a:t>Hva tar </a:t>
            </a:r>
            <a:r>
              <a:rPr lang="nb-NO" dirty="0" err="1"/>
              <a:t>Kanban</a:t>
            </a:r>
            <a:r>
              <a:rPr lang="nb-NO" dirty="0"/>
              <a:t> i bruk?</a:t>
            </a:r>
          </a:p>
          <a:p>
            <a:r>
              <a:rPr lang="nb-NO" dirty="0"/>
              <a:t>Hvordan er </a:t>
            </a:r>
            <a:r>
              <a:rPr lang="nb-NO" dirty="0" err="1"/>
              <a:t>Kanban</a:t>
            </a:r>
            <a:r>
              <a:rPr lang="nb-NO" dirty="0"/>
              <a:t> bygd opp, og hvordan er dette ulikt fra </a:t>
            </a:r>
            <a:r>
              <a:rPr lang="nb-NO" dirty="0" err="1"/>
              <a:t>Scrum</a:t>
            </a:r>
            <a:r>
              <a:rPr lang="nb-NO" dirty="0"/>
              <a:t>?</a:t>
            </a:r>
          </a:p>
          <a:p>
            <a:r>
              <a:rPr lang="nb-NO" dirty="0"/>
              <a:t>Hva er formålet med </a:t>
            </a:r>
            <a:r>
              <a:rPr lang="nb-NO" dirty="0" err="1"/>
              <a:t>Kanbans</a:t>
            </a:r>
            <a:r>
              <a:rPr lang="nb-NO" dirty="0"/>
              <a:t> oppbygning?</a:t>
            </a:r>
          </a:p>
          <a:p>
            <a:r>
              <a:rPr lang="nb-NO" dirty="0"/>
              <a:t>Hva er </a:t>
            </a:r>
            <a:r>
              <a:rPr lang="nb-NO" dirty="0" err="1"/>
              <a:t>bivrikningen</a:t>
            </a:r>
            <a:r>
              <a:rPr lang="nb-NO" dirty="0"/>
              <a:t> av </a:t>
            </a:r>
            <a:r>
              <a:rPr lang="nb-NO" dirty="0" err="1"/>
              <a:t>Kanbans</a:t>
            </a:r>
            <a:r>
              <a:rPr lang="nb-NO" dirty="0"/>
              <a:t> oppbygning?</a:t>
            </a:r>
          </a:p>
        </p:txBody>
      </p:sp>
      <p:grpSp>
        <p:nvGrpSpPr>
          <p:cNvPr id="8" name="Gruppe 7">
            <a:extLst>
              <a:ext uri="{FF2B5EF4-FFF2-40B4-BE49-F238E27FC236}">
                <a16:creationId xmlns:a16="http://schemas.microsoft.com/office/drawing/2014/main" id="{D6770C54-215D-09C3-EF0F-CAF6EB0D9D7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3E394F0-806F-10AC-8783-9A68FCFF76F5}"/>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9C06B256-AB5E-ECEF-9879-91A48140667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Lean</a:t>
              </a:r>
            </a:p>
          </p:txBody>
        </p:sp>
      </p:grpSp>
    </p:spTree>
    <p:extLst>
      <p:ext uri="{BB962C8B-B14F-4D97-AF65-F5344CB8AC3E}">
        <p14:creationId xmlns:p14="http://schemas.microsoft.com/office/powerpoint/2010/main" val="21023298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F3C80-BE88-92B8-45EE-01E9A0038A9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8CAE860-6D78-FF98-94AD-F72B79EAAFB6}"/>
              </a:ext>
            </a:extLst>
          </p:cNvPr>
          <p:cNvSpPr>
            <a:spLocks noGrp="1"/>
          </p:cNvSpPr>
          <p:nvPr>
            <p:ph type="title"/>
          </p:nvPr>
        </p:nvSpPr>
        <p:spPr/>
        <p:txBody>
          <a:bodyPr/>
          <a:lstStyle/>
          <a:p>
            <a:r>
              <a:rPr lang="nb-NO" dirty="0" err="1"/>
              <a:t>Domain</a:t>
            </a:r>
            <a:r>
              <a:rPr lang="nb-NO" dirty="0"/>
              <a:t>-Driven Design</a:t>
            </a:r>
          </a:p>
        </p:txBody>
      </p:sp>
      <p:sp>
        <p:nvSpPr>
          <p:cNvPr id="3" name="Plassholder for innhold 2">
            <a:extLst>
              <a:ext uri="{FF2B5EF4-FFF2-40B4-BE49-F238E27FC236}">
                <a16:creationId xmlns:a16="http://schemas.microsoft.com/office/drawing/2014/main" id="{24B7F55E-542B-EF20-A2EA-E7E2884D33E2}"/>
              </a:ext>
            </a:extLst>
          </p:cNvPr>
          <p:cNvSpPr>
            <a:spLocks noGrp="1"/>
          </p:cNvSpPr>
          <p:nvPr>
            <p:ph idx="1"/>
          </p:nvPr>
        </p:nvSpPr>
        <p:spPr/>
        <p:txBody>
          <a:bodyPr>
            <a:normAutofit/>
          </a:bodyPr>
          <a:lstStyle/>
          <a:p>
            <a:r>
              <a:rPr lang="nb-NO" dirty="0"/>
              <a:t>Hva har </a:t>
            </a:r>
            <a:r>
              <a:rPr lang="nb-NO" dirty="0" err="1"/>
              <a:t>Domain</a:t>
            </a:r>
            <a:r>
              <a:rPr lang="nb-NO" dirty="0"/>
              <a:t>-Driven Design fokus på?</a:t>
            </a:r>
          </a:p>
          <a:p>
            <a:r>
              <a:rPr lang="nb-NO" dirty="0"/>
              <a:t>Hva kjennetegner </a:t>
            </a:r>
            <a:r>
              <a:rPr lang="nb-NO" dirty="0" err="1"/>
              <a:t>Domain</a:t>
            </a:r>
            <a:r>
              <a:rPr lang="nb-NO" dirty="0"/>
              <a:t>-Driven Design?</a:t>
            </a:r>
          </a:p>
          <a:p>
            <a:r>
              <a:rPr lang="nb-NO" dirty="0"/>
              <a:t>Hva er </a:t>
            </a:r>
            <a:r>
              <a:rPr lang="nb-NO" dirty="0" err="1"/>
              <a:t>Domain</a:t>
            </a:r>
            <a:r>
              <a:rPr lang="nb-NO" dirty="0"/>
              <a:t>-Driven Design godt egnet for?</a:t>
            </a:r>
          </a:p>
          <a:p>
            <a:r>
              <a:rPr lang="nb-NO" dirty="0"/>
              <a:t>Hva er prioritert mest under utvikling ved </a:t>
            </a:r>
            <a:r>
              <a:rPr lang="nb-NO" dirty="0" err="1"/>
              <a:t>Domain</a:t>
            </a:r>
            <a:r>
              <a:rPr lang="nb-NO" dirty="0"/>
              <a:t>-Driven Design?</a:t>
            </a:r>
          </a:p>
        </p:txBody>
      </p:sp>
      <p:grpSp>
        <p:nvGrpSpPr>
          <p:cNvPr id="8" name="Gruppe 7">
            <a:extLst>
              <a:ext uri="{FF2B5EF4-FFF2-40B4-BE49-F238E27FC236}">
                <a16:creationId xmlns:a16="http://schemas.microsoft.com/office/drawing/2014/main" id="{9B4C3A3C-6F4F-3AFF-2F5B-10E5EE36404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8ABD318-3A33-8F88-8CD7-BEE7EB59866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79FE8DB4-3119-4442-E84F-CD941602AE9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Lean</a:t>
              </a:r>
            </a:p>
          </p:txBody>
        </p:sp>
      </p:grpSp>
    </p:spTree>
    <p:extLst>
      <p:ext uri="{BB962C8B-B14F-4D97-AF65-F5344CB8AC3E}">
        <p14:creationId xmlns:p14="http://schemas.microsoft.com/office/powerpoint/2010/main" val="18737351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25868-0818-7614-C1A2-D2793713463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474AD40-D0C0-C8A6-79AB-F74BB481575F}"/>
              </a:ext>
            </a:extLst>
          </p:cNvPr>
          <p:cNvSpPr>
            <a:spLocks noGrp="1"/>
          </p:cNvSpPr>
          <p:nvPr>
            <p:ph type="title"/>
          </p:nvPr>
        </p:nvSpPr>
        <p:spPr/>
        <p:txBody>
          <a:bodyPr/>
          <a:lstStyle/>
          <a:p>
            <a:r>
              <a:rPr lang="nb-NO" dirty="0" err="1"/>
              <a:t>DevOps</a:t>
            </a:r>
            <a:endParaRPr lang="nb-NO" dirty="0"/>
          </a:p>
        </p:txBody>
      </p:sp>
      <p:sp>
        <p:nvSpPr>
          <p:cNvPr id="3" name="Plassholder for innhold 2">
            <a:extLst>
              <a:ext uri="{FF2B5EF4-FFF2-40B4-BE49-F238E27FC236}">
                <a16:creationId xmlns:a16="http://schemas.microsoft.com/office/drawing/2014/main" id="{D57A3C9E-F8B0-BAD5-C1A9-D970C3C7C5A7}"/>
              </a:ext>
            </a:extLst>
          </p:cNvPr>
          <p:cNvSpPr>
            <a:spLocks noGrp="1"/>
          </p:cNvSpPr>
          <p:nvPr>
            <p:ph idx="1"/>
          </p:nvPr>
        </p:nvSpPr>
        <p:spPr/>
        <p:txBody>
          <a:bodyPr>
            <a:normAutofit/>
          </a:bodyPr>
          <a:lstStyle/>
          <a:p>
            <a:r>
              <a:rPr lang="nb-NO" dirty="0"/>
              <a:t>Hva er </a:t>
            </a:r>
            <a:r>
              <a:rPr lang="nb-NO" dirty="0" err="1"/>
              <a:t>DevOps</a:t>
            </a:r>
            <a:r>
              <a:rPr lang="nb-NO" dirty="0"/>
              <a:t>?</a:t>
            </a:r>
          </a:p>
          <a:p>
            <a:r>
              <a:rPr lang="nb-NO" dirty="0"/>
              <a:t>Hva sikrer </a:t>
            </a:r>
            <a:r>
              <a:rPr lang="nb-NO" dirty="0" err="1"/>
              <a:t>DevOps</a:t>
            </a:r>
            <a:r>
              <a:rPr lang="nb-NO" dirty="0"/>
              <a:t>?</a:t>
            </a:r>
          </a:p>
          <a:p>
            <a:r>
              <a:rPr lang="nb-NO" dirty="0"/>
              <a:t>Hva er forskjellen på Agile og </a:t>
            </a:r>
            <a:r>
              <a:rPr lang="nb-NO" dirty="0" err="1"/>
              <a:t>DevOps</a:t>
            </a:r>
            <a:r>
              <a:rPr lang="nb-NO" dirty="0"/>
              <a:t>, og hva er deres relasjon?</a:t>
            </a:r>
          </a:p>
          <a:p>
            <a:r>
              <a:rPr lang="nb-NO" dirty="0"/>
              <a:t>Hva er CI?</a:t>
            </a:r>
          </a:p>
          <a:p>
            <a:r>
              <a:rPr lang="nb-NO" dirty="0"/>
              <a:t>Hva er CD?</a:t>
            </a:r>
          </a:p>
          <a:p>
            <a:r>
              <a:rPr lang="nb-NO" dirty="0"/>
              <a:t>Hva er de ulike </a:t>
            </a:r>
            <a:r>
              <a:rPr lang="nb-NO" dirty="0" err="1"/>
              <a:t>DevOps</a:t>
            </a:r>
            <a:r>
              <a:rPr lang="nb-NO" dirty="0"/>
              <a:t> verktøyene?</a:t>
            </a:r>
          </a:p>
          <a:p>
            <a:pPr marL="0" indent="0">
              <a:buNone/>
            </a:pPr>
            <a:endParaRPr lang="nb-NO" dirty="0"/>
          </a:p>
        </p:txBody>
      </p:sp>
      <p:grpSp>
        <p:nvGrpSpPr>
          <p:cNvPr id="8" name="Gruppe 7">
            <a:extLst>
              <a:ext uri="{FF2B5EF4-FFF2-40B4-BE49-F238E27FC236}">
                <a16:creationId xmlns:a16="http://schemas.microsoft.com/office/drawing/2014/main" id="{6EFF6B4E-7D54-E82E-599A-1468E61A291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DE8807A-8770-81C4-EEA6-DB4822EB1A61}"/>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7A9D38B1-D1FC-290D-8615-8652B96809A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294838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779C8-EA9B-7307-110C-9931C692250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90F3BE80-5C89-38DE-3162-FB4CA6DF0093}"/>
              </a:ext>
            </a:extLst>
          </p:cNvPr>
          <p:cNvSpPr>
            <a:spLocks noGrp="1"/>
          </p:cNvSpPr>
          <p:nvPr>
            <p:ph type="title"/>
          </p:nvPr>
        </p:nvSpPr>
        <p:spPr/>
        <p:txBody>
          <a:bodyPr/>
          <a:lstStyle/>
          <a:p>
            <a:r>
              <a:rPr lang="nb-NO" dirty="0"/>
              <a:t>REST</a:t>
            </a:r>
          </a:p>
        </p:txBody>
      </p:sp>
      <p:sp>
        <p:nvSpPr>
          <p:cNvPr id="3" name="Plassholder for innhold 2">
            <a:extLst>
              <a:ext uri="{FF2B5EF4-FFF2-40B4-BE49-F238E27FC236}">
                <a16:creationId xmlns:a16="http://schemas.microsoft.com/office/drawing/2014/main" id="{8682764C-82A0-B6C2-998C-12E0E8FC2246}"/>
              </a:ext>
            </a:extLst>
          </p:cNvPr>
          <p:cNvSpPr>
            <a:spLocks noGrp="1"/>
          </p:cNvSpPr>
          <p:nvPr>
            <p:ph idx="1"/>
          </p:nvPr>
        </p:nvSpPr>
        <p:spPr/>
        <p:txBody>
          <a:bodyPr>
            <a:normAutofit/>
          </a:bodyPr>
          <a:lstStyle/>
          <a:p>
            <a:r>
              <a:rPr lang="nb-NO" dirty="0"/>
              <a:t>Hva er REST?</a:t>
            </a:r>
          </a:p>
          <a:p>
            <a:r>
              <a:rPr lang="nb-NO" dirty="0"/>
              <a:t>Hva er REST basert på?</a:t>
            </a:r>
          </a:p>
          <a:p>
            <a:r>
              <a:rPr lang="nb-NO" dirty="0"/>
              <a:t>Hvordan blir data og funksjonalitet behandlet?</a:t>
            </a:r>
          </a:p>
          <a:p>
            <a:r>
              <a:rPr lang="nb-NO" dirty="0"/>
              <a:t>Hvordan manipuleres det som blir behandlet?</a:t>
            </a:r>
          </a:p>
          <a:p>
            <a:r>
              <a:rPr lang="nb-NO" dirty="0"/>
              <a:t>Hva er de ulike manipulerings metodene?</a:t>
            </a:r>
          </a:p>
        </p:txBody>
      </p:sp>
      <p:grpSp>
        <p:nvGrpSpPr>
          <p:cNvPr id="8" name="Gruppe 7">
            <a:extLst>
              <a:ext uri="{FF2B5EF4-FFF2-40B4-BE49-F238E27FC236}">
                <a16:creationId xmlns:a16="http://schemas.microsoft.com/office/drawing/2014/main" id="{A427B68E-8DFF-60BC-378A-1478DBA9C11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10AB5DC-483E-73A5-BE74-B5FB17225E4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B8D3E00D-3216-1694-EDFB-C3E3CC3F076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24516129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DD7A-AA53-E27A-4171-15BA550954D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EDDC0EF-1425-6176-1813-4707540C5EF0}"/>
              </a:ext>
            </a:extLst>
          </p:cNvPr>
          <p:cNvSpPr>
            <a:spLocks noGrp="1"/>
          </p:cNvSpPr>
          <p:nvPr>
            <p:ph type="title"/>
          </p:nvPr>
        </p:nvSpPr>
        <p:spPr/>
        <p:txBody>
          <a:bodyPr/>
          <a:lstStyle/>
          <a:p>
            <a:r>
              <a:rPr lang="nb-NO" dirty="0"/>
              <a:t>Testing</a:t>
            </a:r>
          </a:p>
        </p:txBody>
      </p:sp>
      <p:sp>
        <p:nvSpPr>
          <p:cNvPr id="3" name="Plassholder for tekst 2">
            <a:extLst>
              <a:ext uri="{FF2B5EF4-FFF2-40B4-BE49-F238E27FC236}">
                <a16:creationId xmlns:a16="http://schemas.microsoft.com/office/drawing/2014/main" id="{E807C825-5D70-97C4-6D7F-0C00E35FB5B7}"/>
              </a:ext>
            </a:extLst>
          </p:cNvPr>
          <p:cNvSpPr>
            <a:spLocks noGrp="1"/>
          </p:cNvSpPr>
          <p:nvPr>
            <p:ph type="body" idx="1"/>
          </p:nvPr>
        </p:nvSpPr>
        <p:spPr/>
        <p:txBody>
          <a:bodyPr/>
          <a:lstStyle/>
          <a:p>
            <a:r>
              <a:rPr lang="nb-NO" dirty="0"/>
              <a:t>Systemvalidering</a:t>
            </a:r>
          </a:p>
        </p:txBody>
      </p:sp>
    </p:spTree>
    <p:extLst>
      <p:ext uri="{BB962C8B-B14F-4D97-AF65-F5344CB8AC3E}">
        <p14:creationId xmlns:p14="http://schemas.microsoft.com/office/powerpoint/2010/main" val="6894189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8A8A5-AB01-0208-D27F-F6A2A433155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EA316A8-9C0D-5305-961D-FBEC794E960E}"/>
              </a:ext>
            </a:extLst>
          </p:cNvPr>
          <p:cNvSpPr>
            <a:spLocks noGrp="1"/>
          </p:cNvSpPr>
          <p:nvPr>
            <p:ph type="title"/>
          </p:nvPr>
        </p:nvSpPr>
        <p:spPr/>
        <p:txBody>
          <a:bodyPr/>
          <a:lstStyle/>
          <a:p>
            <a:r>
              <a:rPr lang="nb-NO" dirty="0"/>
              <a:t>Hvorfor teste?</a:t>
            </a:r>
          </a:p>
        </p:txBody>
      </p:sp>
      <p:sp>
        <p:nvSpPr>
          <p:cNvPr id="3" name="Plassholder for innhold 2">
            <a:extLst>
              <a:ext uri="{FF2B5EF4-FFF2-40B4-BE49-F238E27FC236}">
                <a16:creationId xmlns:a16="http://schemas.microsoft.com/office/drawing/2014/main" id="{350EBA86-D5EC-2FA8-EFB4-D4F1F88EC951}"/>
              </a:ext>
            </a:extLst>
          </p:cNvPr>
          <p:cNvSpPr>
            <a:spLocks noGrp="1"/>
          </p:cNvSpPr>
          <p:nvPr>
            <p:ph idx="1"/>
          </p:nvPr>
        </p:nvSpPr>
        <p:spPr/>
        <p:txBody>
          <a:bodyPr>
            <a:normAutofit/>
          </a:bodyPr>
          <a:lstStyle/>
          <a:p>
            <a:r>
              <a:rPr lang="nb-NO" dirty="0"/>
              <a:t>Hvorfor er det viktig å teste?</a:t>
            </a:r>
          </a:p>
          <a:p>
            <a:r>
              <a:rPr lang="nb-NO" dirty="0"/>
              <a:t>Når tester man?</a:t>
            </a:r>
          </a:p>
        </p:txBody>
      </p:sp>
      <p:grpSp>
        <p:nvGrpSpPr>
          <p:cNvPr id="8" name="Gruppe 7">
            <a:extLst>
              <a:ext uri="{FF2B5EF4-FFF2-40B4-BE49-F238E27FC236}">
                <a16:creationId xmlns:a16="http://schemas.microsoft.com/office/drawing/2014/main" id="{9E454E5B-F89D-FCF0-9BBD-D72B05645D4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DC828D7-3B11-1CEB-F3F1-CF2B9D73F3F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AFEDE24-7D6D-B7B6-8AB3-3726F928A16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p:txBody>
        </p:sp>
      </p:grpSp>
    </p:spTree>
    <p:extLst>
      <p:ext uri="{BB962C8B-B14F-4D97-AF65-F5344CB8AC3E}">
        <p14:creationId xmlns:p14="http://schemas.microsoft.com/office/powerpoint/2010/main" val="23088778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CB77A-B91B-7B77-7B94-9A9AA362CAB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037D61-7B0D-2BC6-4B49-4833EED80DDC}"/>
              </a:ext>
            </a:extLst>
          </p:cNvPr>
          <p:cNvSpPr>
            <a:spLocks noGrp="1"/>
          </p:cNvSpPr>
          <p:nvPr>
            <p:ph type="title"/>
          </p:nvPr>
        </p:nvSpPr>
        <p:spPr/>
        <p:txBody>
          <a:bodyPr/>
          <a:lstStyle/>
          <a:p>
            <a:r>
              <a:rPr lang="nb-NO" dirty="0"/>
              <a:t>Tradisjonell testing</a:t>
            </a:r>
          </a:p>
        </p:txBody>
      </p:sp>
      <p:sp>
        <p:nvSpPr>
          <p:cNvPr id="3" name="Plassholder for innhold 2">
            <a:extLst>
              <a:ext uri="{FF2B5EF4-FFF2-40B4-BE49-F238E27FC236}">
                <a16:creationId xmlns:a16="http://schemas.microsoft.com/office/drawing/2014/main" id="{AB959B35-08A6-12F0-6A1C-2905E602C6FE}"/>
              </a:ext>
            </a:extLst>
          </p:cNvPr>
          <p:cNvSpPr>
            <a:spLocks noGrp="1"/>
          </p:cNvSpPr>
          <p:nvPr>
            <p:ph idx="1"/>
          </p:nvPr>
        </p:nvSpPr>
        <p:spPr/>
        <p:txBody>
          <a:bodyPr>
            <a:normAutofit/>
          </a:bodyPr>
          <a:lstStyle/>
          <a:p>
            <a:r>
              <a:rPr lang="nb-NO" dirty="0"/>
              <a:t>Når skjer testingen i tradisjonell testing?</a:t>
            </a:r>
          </a:p>
          <a:p>
            <a:r>
              <a:rPr lang="nb-NO" dirty="0"/>
              <a:t>Hvem lager testene i tradisjonell testing?</a:t>
            </a:r>
          </a:p>
          <a:p>
            <a:r>
              <a:rPr lang="nb-NO" dirty="0"/>
              <a:t>Hva kjennetegner tradisjonell testing?</a:t>
            </a:r>
          </a:p>
          <a:p>
            <a:r>
              <a:rPr lang="nb-NO" dirty="0"/>
              <a:t>Hva er fordelene og ulempene med tradisjonell testing?</a:t>
            </a:r>
          </a:p>
        </p:txBody>
      </p:sp>
      <p:grpSp>
        <p:nvGrpSpPr>
          <p:cNvPr id="8" name="Gruppe 7">
            <a:extLst>
              <a:ext uri="{FF2B5EF4-FFF2-40B4-BE49-F238E27FC236}">
                <a16:creationId xmlns:a16="http://schemas.microsoft.com/office/drawing/2014/main" id="{455D44DE-871D-DFCB-2A74-652A80A186A4}"/>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7234E77-878D-5775-9A78-69A5DCD7781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7B4BE82D-3F63-D963-36A4-36560753028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6635486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0FF2-B0E6-4D48-33E5-61BC633CDA8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44AEA38-0C47-6960-73AA-0E46B0524A21}"/>
              </a:ext>
            </a:extLst>
          </p:cNvPr>
          <p:cNvSpPr>
            <a:spLocks noGrp="1"/>
          </p:cNvSpPr>
          <p:nvPr>
            <p:ph type="title"/>
          </p:nvPr>
        </p:nvSpPr>
        <p:spPr/>
        <p:txBody>
          <a:bodyPr/>
          <a:lstStyle/>
          <a:p>
            <a:r>
              <a:rPr lang="nb-NO" dirty="0"/>
              <a:t>Smidig testing</a:t>
            </a:r>
          </a:p>
        </p:txBody>
      </p:sp>
      <p:sp>
        <p:nvSpPr>
          <p:cNvPr id="3" name="Plassholder for innhold 2">
            <a:extLst>
              <a:ext uri="{FF2B5EF4-FFF2-40B4-BE49-F238E27FC236}">
                <a16:creationId xmlns:a16="http://schemas.microsoft.com/office/drawing/2014/main" id="{E2D585CE-B6C1-D90B-F91B-964B8BEF3F67}"/>
              </a:ext>
            </a:extLst>
          </p:cNvPr>
          <p:cNvSpPr>
            <a:spLocks noGrp="1"/>
          </p:cNvSpPr>
          <p:nvPr>
            <p:ph idx="1"/>
          </p:nvPr>
        </p:nvSpPr>
        <p:spPr/>
        <p:txBody>
          <a:bodyPr>
            <a:normAutofit/>
          </a:bodyPr>
          <a:lstStyle/>
          <a:p>
            <a:r>
              <a:rPr lang="nb-NO" dirty="0"/>
              <a:t>Når skjer testingen i smidig testing?</a:t>
            </a:r>
          </a:p>
          <a:p>
            <a:r>
              <a:rPr lang="nb-NO" dirty="0"/>
              <a:t>Hvem lager testene i smidig testing?</a:t>
            </a:r>
          </a:p>
          <a:p>
            <a:r>
              <a:rPr lang="nb-NO" dirty="0"/>
              <a:t>Hva kjennetegner smidig testing?</a:t>
            </a:r>
          </a:p>
          <a:p>
            <a:r>
              <a:rPr lang="nb-NO" dirty="0"/>
              <a:t>Hva er fordelene med smidig testing?</a:t>
            </a:r>
          </a:p>
        </p:txBody>
      </p:sp>
      <p:grpSp>
        <p:nvGrpSpPr>
          <p:cNvPr id="8" name="Gruppe 7">
            <a:extLst>
              <a:ext uri="{FF2B5EF4-FFF2-40B4-BE49-F238E27FC236}">
                <a16:creationId xmlns:a16="http://schemas.microsoft.com/office/drawing/2014/main" id="{31D19DBA-FD9D-AFB7-8C7F-715C69A4D7F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055282EB-A940-633D-06F7-A5A2BC19759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F1CFC06-B75C-BE51-2D12-F295FE13390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37909475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03225-289F-E459-812F-6749A9F3099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2313DD2-2B3B-6054-04B5-D14F0E7BFE01}"/>
              </a:ext>
            </a:extLst>
          </p:cNvPr>
          <p:cNvSpPr>
            <a:spLocks noGrp="1"/>
          </p:cNvSpPr>
          <p:nvPr>
            <p:ph type="title"/>
          </p:nvPr>
        </p:nvSpPr>
        <p:spPr/>
        <p:txBody>
          <a:bodyPr/>
          <a:lstStyle/>
          <a:p>
            <a:r>
              <a:rPr lang="nb-NO" dirty="0"/>
              <a:t>Automatiserte tester</a:t>
            </a:r>
          </a:p>
        </p:txBody>
      </p:sp>
      <p:sp>
        <p:nvSpPr>
          <p:cNvPr id="3" name="Plassholder for innhold 2">
            <a:extLst>
              <a:ext uri="{FF2B5EF4-FFF2-40B4-BE49-F238E27FC236}">
                <a16:creationId xmlns:a16="http://schemas.microsoft.com/office/drawing/2014/main" id="{F84ED663-51DB-5934-8BEB-D5CBA3C0A050}"/>
              </a:ext>
            </a:extLst>
          </p:cNvPr>
          <p:cNvSpPr>
            <a:spLocks noGrp="1"/>
          </p:cNvSpPr>
          <p:nvPr>
            <p:ph idx="1"/>
          </p:nvPr>
        </p:nvSpPr>
        <p:spPr/>
        <p:txBody>
          <a:bodyPr>
            <a:normAutofit/>
          </a:bodyPr>
          <a:lstStyle/>
          <a:p>
            <a:r>
              <a:rPr lang="nb-NO" dirty="0"/>
              <a:t>Når skjer testingen i automatiserte tester?</a:t>
            </a:r>
          </a:p>
          <a:p>
            <a:r>
              <a:rPr lang="nb-NO" dirty="0"/>
              <a:t>Hva kjennetegner automatisert testing?</a:t>
            </a:r>
          </a:p>
          <a:p>
            <a:r>
              <a:rPr lang="nb-NO" dirty="0"/>
              <a:t>Hva er fordelene og utfordringer med automatisert testing?</a:t>
            </a:r>
          </a:p>
        </p:txBody>
      </p:sp>
      <p:grpSp>
        <p:nvGrpSpPr>
          <p:cNvPr id="8" name="Gruppe 7">
            <a:extLst>
              <a:ext uri="{FF2B5EF4-FFF2-40B4-BE49-F238E27FC236}">
                <a16:creationId xmlns:a16="http://schemas.microsoft.com/office/drawing/2014/main" id="{B236A99E-579F-FDC6-7D2A-9F04F6A8AC99}"/>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3C55BD2-2272-3AE6-F3F8-4FAAE3FDBBB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745AF1B1-4E69-85F0-1424-B3F82BF1E65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1372073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A4E1F-A128-F18F-2351-8B5FEE06FD1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2F979D7-AE9D-D462-0BE8-435CEB8C53A2}"/>
              </a:ext>
            </a:extLst>
          </p:cNvPr>
          <p:cNvSpPr>
            <a:spLocks noGrp="1"/>
          </p:cNvSpPr>
          <p:nvPr>
            <p:ph type="title"/>
          </p:nvPr>
        </p:nvSpPr>
        <p:spPr/>
        <p:txBody>
          <a:bodyPr/>
          <a:lstStyle/>
          <a:p>
            <a:r>
              <a:rPr lang="nb-NO" dirty="0"/>
              <a:t>Egne test-/staging-miljøer</a:t>
            </a:r>
          </a:p>
        </p:txBody>
      </p:sp>
      <p:sp>
        <p:nvSpPr>
          <p:cNvPr id="3" name="Plassholder for innhold 2">
            <a:extLst>
              <a:ext uri="{FF2B5EF4-FFF2-40B4-BE49-F238E27FC236}">
                <a16:creationId xmlns:a16="http://schemas.microsoft.com/office/drawing/2014/main" id="{0B740AA1-CE1E-ECFD-5A26-CB4D45091BEF}"/>
              </a:ext>
            </a:extLst>
          </p:cNvPr>
          <p:cNvSpPr>
            <a:spLocks noGrp="1"/>
          </p:cNvSpPr>
          <p:nvPr>
            <p:ph idx="1"/>
          </p:nvPr>
        </p:nvSpPr>
        <p:spPr/>
        <p:txBody>
          <a:bodyPr>
            <a:normAutofit/>
          </a:bodyPr>
          <a:lstStyle/>
          <a:p>
            <a:r>
              <a:rPr lang="nb-NO" dirty="0"/>
              <a:t>Hva er Egne test-/staging-miljøer</a:t>
            </a:r>
          </a:p>
          <a:p>
            <a:r>
              <a:rPr lang="nb-NO" dirty="0"/>
              <a:t>Hva kjennetegner Egne test-/staging-miljøer?</a:t>
            </a:r>
          </a:p>
          <a:p>
            <a:r>
              <a:rPr lang="nb-NO" dirty="0"/>
              <a:t>Hva er fordelene med Egne test-/staging-miljøer?</a:t>
            </a:r>
          </a:p>
        </p:txBody>
      </p:sp>
      <p:grpSp>
        <p:nvGrpSpPr>
          <p:cNvPr id="8" name="Gruppe 7">
            <a:extLst>
              <a:ext uri="{FF2B5EF4-FFF2-40B4-BE49-F238E27FC236}">
                <a16:creationId xmlns:a16="http://schemas.microsoft.com/office/drawing/2014/main" id="{BA177662-3760-963A-7C33-875C0F47A8B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8919A5A-160B-0522-ADF6-A2B6DE27BD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BE926D6-41B5-EBA2-628E-042EC37D75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16728927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F958E-D98A-2270-ADD4-C93E08852A9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0087FCB-2DDA-AD08-5D8E-38F8A0C4F6A8}"/>
              </a:ext>
            </a:extLst>
          </p:cNvPr>
          <p:cNvSpPr>
            <a:spLocks noGrp="1"/>
          </p:cNvSpPr>
          <p:nvPr>
            <p:ph type="title"/>
          </p:nvPr>
        </p:nvSpPr>
        <p:spPr/>
        <p:txBody>
          <a:bodyPr/>
          <a:lstStyle/>
          <a:p>
            <a:r>
              <a:rPr lang="nb-NO" dirty="0"/>
              <a:t>CI og små endringer</a:t>
            </a:r>
          </a:p>
        </p:txBody>
      </p:sp>
      <p:sp>
        <p:nvSpPr>
          <p:cNvPr id="3" name="Plassholder for innhold 2">
            <a:extLst>
              <a:ext uri="{FF2B5EF4-FFF2-40B4-BE49-F238E27FC236}">
                <a16:creationId xmlns:a16="http://schemas.microsoft.com/office/drawing/2014/main" id="{DACD6DB6-1A5B-671E-CCAA-26E7925E9C56}"/>
              </a:ext>
            </a:extLst>
          </p:cNvPr>
          <p:cNvSpPr>
            <a:spLocks noGrp="1"/>
          </p:cNvSpPr>
          <p:nvPr>
            <p:ph idx="1"/>
          </p:nvPr>
        </p:nvSpPr>
        <p:spPr/>
        <p:txBody>
          <a:bodyPr>
            <a:normAutofit/>
          </a:bodyPr>
          <a:lstStyle/>
          <a:p>
            <a:r>
              <a:rPr lang="nb-NO" dirty="0"/>
              <a:t>Hva er fordelene med CI og små endringer?</a:t>
            </a:r>
          </a:p>
        </p:txBody>
      </p:sp>
      <p:grpSp>
        <p:nvGrpSpPr>
          <p:cNvPr id="8" name="Gruppe 7">
            <a:extLst>
              <a:ext uri="{FF2B5EF4-FFF2-40B4-BE49-F238E27FC236}">
                <a16:creationId xmlns:a16="http://schemas.microsoft.com/office/drawing/2014/main" id="{2766B4D0-9066-A09A-F396-4E8FCC5707B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4938988-E71F-DAD3-9C16-60CC417DACA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A9CB66E-6662-A132-2651-AE57FE691086}"/>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38693877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CAC01-DC1D-21F6-D930-99EB7957C37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1A453F2-62BB-A7C4-26E7-01944690B9A4}"/>
              </a:ext>
            </a:extLst>
          </p:cNvPr>
          <p:cNvSpPr>
            <a:spLocks noGrp="1"/>
          </p:cNvSpPr>
          <p:nvPr>
            <p:ph type="title"/>
          </p:nvPr>
        </p:nvSpPr>
        <p:spPr/>
        <p:txBody>
          <a:bodyPr/>
          <a:lstStyle/>
          <a:p>
            <a:r>
              <a:rPr lang="nb-NO" dirty="0"/>
              <a:t>Prioritering av testing</a:t>
            </a:r>
          </a:p>
        </p:txBody>
      </p:sp>
      <p:sp>
        <p:nvSpPr>
          <p:cNvPr id="3" name="Plassholder for innhold 2">
            <a:extLst>
              <a:ext uri="{FF2B5EF4-FFF2-40B4-BE49-F238E27FC236}">
                <a16:creationId xmlns:a16="http://schemas.microsoft.com/office/drawing/2014/main" id="{17BD7A8A-9611-0997-BBAA-9CA11D28A5A6}"/>
              </a:ext>
            </a:extLst>
          </p:cNvPr>
          <p:cNvSpPr>
            <a:spLocks noGrp="1"/>
          </p:cNvSpPr>
          <p:nvPr>
            <p:ph idx="1"/>
          </p:nvPr>
        </p:nvSpPr>
        <p:spPr/>
        <p:txBody>
          <a:bodyPr>
            <a:normAutofit/>
          </a:bodyPr>
          <a:lstStyle/>
          <a:p>
            <a:r>
              <a:rPr lang="nb-NO" dirty="0"/>
              <a:t>Hva er viktig ved prioritering av testing?</a:t>
            </a:r>
          </a:p>
        </p:txBody>
      </p:sp>
      <p:grpSp>
        <p:nvGrpSpPr>
          <p:cNvPr id="8" name="Gruppe 7">
            <a:extLst>
              <a:ext uri="{FF2B5EF4-FFF2-40B4-BE49-F238E27FC236}">
                <a16:creationId xmlns:a16="http://schemas.microsoft.com/office/drawing/2014/main" id="{3D2DD67D-3809-DB0E-D695-D61241DEBCC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EED5630-DF2C-CD05-3B1B-91D1C2F9AFA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0DD5BAAE-78CC-5028-1212-BCB0175BB5B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20449856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D7710-A4BE-1187-7C89-B3570DC406D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48A50D7C-9912-85A3-C111-2783B65D9B8B}"/>
              </a:ext>
            </a:extLst>
          </p:cNvPr>
          <p:cNvSpPr>
            <a:spLocks noGrp="1"/>
          </p:cNvSpPr>
          <p:nvPr>
            <p:ph type="title"/>
          </p:nvPr>
        </p:nvSpPr>
        <p:spPr/>
        <p:txBody>
          <a:bodyPr/>
          <a:lstStyle/>
          <a:p>
            <a:r>
              <a:rPr lang="nb-NO" dirty="0"/>
              <a:t> Risk-poker</a:t>
            </a:r>
          </a:p>
        </p:txBody>
      </p:sp>
      <p:sp>
        <p:nvSpPr>
          <p:cNvPr id="3" name="Plassholder for innhold 2">
            <a:extLst>
              <a:ext uri="{FF2B5EF4-FFF2-40B4-BE49-F238E27FC236}">
                <a16:creationId xmlns:a16="http://schemas.microsoft.com/office/drawing/2014/main" id="{A08FB376-4642-181B-CCFE-1670A8982568}"/>
              </a:ext>
            </a:extLst>
          </p:cNvPr>
          <p:cNvSpPr>
            <a:spLocks noGrp="1"/>
          </p:cNvSpPr>
          <p:nvPr>
            <p:ph idx="1"/>
          </p:nvPr>
        </p:nvSpPr>
        <p:spPr/>
        <p:txBody>
          <a:bodyPr>
            <a:normAutofit/>
          </a:bodyPr>
          <a:lstStyle/>
          <a:p>
            <a:r>
              <a:rPr lang="nb-NO" dirty="0"/>
              <a:t>Hva er Risk-poker?</a:t>
            </a:r>
          </a:p>
          <a:p>
            <a:r>
              <a:rPr lang="nb-NO" dirty="0"/>
              <a:t>Hva brukes Risk-poker til?</a:t>
            </a:r>
          </a:p>
          <a:p>
            <a:r>
              <a:rPr lang="nb-NO" dirty="0"/>
              <a:t>Hva er fordelene ved Risk-poker?</a:t>
            </a:r>
          </a:p>
        </p:txBody>
      </p:sp>
      <p:grpSp>
        <p:nvGrpSpPr>
          <p:cNvPr id="8" name="Gruppe 7">
            <a:extLst>
              <a:ext uri="{FF2B5EF4-FFF2-40B4-BE49-F238E27FC236}">
                <a16:creationId xmlns:a16="http://schemas.microsoft.com/office/drawing/2014/main" id="{A816D923-445A-7537-A487-CF202DC68BE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926ACE7-80D1-7B7A-BA1E-E4A1048D5CB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8AE16362-F48D-5A3E-0270-B6C6CC9091F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1493535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8CA07-0E75-4647-AD6C-1F285D3DC9C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EFABD67-7D42-6672-1BE1-D923EEE268B2}"/>
              </a:ext>
            </a:extLst>
          </p:cNvPr>
          <p:cNvSpPr>
            <a:spLocks noGrp="1"/>
          </p:cNvSpPr>
          <p:nvPr>
            <p:ph type="title"/>
          </p:nvPr>
        </p:nvSpPr>
        <p:spPr/>
        <p:txBody>
          <a:bodyPr/>
          <a:lstStyle/>
          <a:p>
            <a:r>
              <a:rPr lang="nb-NO" dirty="0"/>
              <a:t> Test-data</a:t>
            </a:r>
          </a:p>
        </p:txBody>
      </p:sp>
      <p:sp>
        <p:nvSpPr>
          <p:cNvPr id="3" name="Plassholder for innhold 2">
            <a:extLst>
              <a:ext uri="{FF2B5EF4-FFF2-40B4-BE49-F238E27FC236}">
                <a16:creationId xmlns:a16="http://schemas.microsoft.com/office/drawing/2014/main" id="{D360FB0D-2838-48E7-EA92-D64DBD0B1093}"/>
              </a:ext>
            </a:extLst>
          </p:cNvPr>
          <p:cNvSpPr>
            <a:spLocks noGrp="1"/>
          </p:cNvSpPr>
          <p:nvPr>
            <p:ph idx="1"/>
          </p:nvPr>
        </p:nvSpPr>
        <p:spPr/>
        <p:txBody>
          <a:bodyPr>
            <a:normAutofit/>
          </a:bodyPr>
          <a:lstStyle/>
          <a:p>
            <a:r>
              <a:rPr lang="nb-NO" dirty="0"/>
              <a:t>Hva er Test-data?</a:t>
            </a:r>
          </a:p>
          <a:p>
            <a:r>
              <a:rPr lang="nb-NO" dirty="0"/>
              <a:t>Hvorfor bruker vi Test-data?</a:t>
            </a:r>
          </a:p>
          <a:p>
            <a:r>
              <a:rPr lang="nb-NO" dirty="0"/>
              <a:t>Hvilken egenskap har Test-data?</a:t>
            </a:r>
          </a:p>
          <a:p>
            <a:r>
              <a:rPr lang="nb-NO" dirty="0"/>
              <a:t>Hva er fordelene med Test-data?</a:t>
            </a:r>
          </a:p>
          <a:p>
            <a:pPr marL="0" indent="0">
              <a:buNone/>
            </a:pPr>
            <a:endParaRPr lang="nb-NO" dirty="0"/>
          </a:p>
        </p:txBody>
      </p:sp>
      <p:grpSp>
        <p:nvGrpSpPr>
          <p:cNvPr id="8" name="Gruppe 7">
            <a:extLst>
              <a:ext uri="{FF2B5EF4-FFF2-40B4-BE49-F238E27FC236}">
                <a16:creationId xmlns:a16="http://schemas.microsoft.com/office/drawing/2014/main" id="{13176B7C-2315-A348-0593-116CC2BF1844}"/>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0E967A0-707D-CCF7-4988-E24287F7F3E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6F479ADC-6A0C-DFA0-0967-422808BAF41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693584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BDCC6-E436-A23C-F60D-7A8F0B3E370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580A3BA-9249-C899-16D6-985F8CB9B9AA}"/>
              </a:ext>
            </a:extLst>
          </p:cNvPr>
          <p:cNvSpPr>
            <a:spLocks noGrp="1"/>
          </p:cNvSpPr>
          <p:nvPr>
            <p:ph type="title"/>
          </p:nvPr>
        </p:nvSpPr>
        <p:spPr/>
        <p:txBody>
          <a:bodyPr/>
          <a:lstStyle/>
          <a:p>
            <a:r>
              <a:rPr lang="nb-NO" dirty="0" err="1"/>
              <a:t>Mocking</a:t>
            </a:r>
            <a:endParaRPr lang="nb-NO" dirty="0"/>
          </a:p>
        </p:txBody>
      </p:sp>
      <p:sp>
        <p:nvSpPr>
          <p:cNvPr id="3" name="Plassholder for innhold 2">
            <a:extLst>
              <a:ext uri="{FF2B5EF4-FFF2-40B4-BE49-F238E27FC236}">
                <a16:creationId xmlns:a16="http://schemas.microsoft.com/office/drawing/2014/main" id="{1E7F336C-A9DF-0295-044A-A2C99AEC2281}"/>
              </a:ext>
            </a:extLst>
          </p:cNvPr>
          <p:cNvSpPr>
            <a:spLocks noGrp="1"/>
          </p:cNvSpPr>
          <p:nvPr>
            <p:ph idx="1"/>
          </p:nvPr>
        </p:nvSpPr>
        <p:spPr/>
        <p:txBody>
          <a:bodyPr>
            <a:normAutofit/>
          </a:bodyPr>
          <a:lstStyle/>
          <a:p>
            <a:r>
              <a:rPr lang="nb-NO" dirty="0"/>
              <a:t>Hva er </a:t>
            </a:r>
            <a:r>
              <a:rPr lang="nb-NO" dirty="0" err="1"/>
              <a:t>Mocking</a:t>
            </a:r>
            <a:r>
              <a:rPr lang="nb-NO" dirty="0"/>
              <a:t>?</a:t>
            </a:r>
          </a:p>
          <a:p>
            <a:r>
              <a:rPr lang="nb-NO" dirty="0"/>
              <a:t>Når bør man bruke </a:t>
            </a:r>
            <a:r>
              <a:rPr lang="nb-NO" dirty="0" err="1"/>
              <a:t>Mocking</a:t>
            </a:r>
            <a:r>
              <a:rPr lang="nb-NO" dirty="0"/>
              <a:t>?</a:t>
            </a:r>
          </a:p>
          <a:p>
            <a:r>
              <a:rPr lang="nb-NO" dirty="0"/>
              <a:t>Hvilke utviklingsmønstre passer godt til </a:t>
            </a:r>
            <a:r>
              <a:rPr lang="nb-NO" dirty="0" err="1"/>
              <a:t>Mocking</a:t>
            </a:r>
            <a:r>
              <a:rPr lang="nb-NO" dirty="0"/>
              <a:t>?</a:t>
            </a:r>
          </a:p>
          <a:p>
            <a:r>
              <a:rPr lang="nb-NO" dirty="0"/>
              <a:t>Hvilken egenskap har </a:t>
            </a:r>
            <a:r>
              <a:rPr lang="nb-NO" dirty="0" err="1"/>
              <a:t>Mocking</a:t>
            </a:r>
            <a:r>
              <a:rPr lang="nb-NO" dirty="0"/>
              <a:t> som gjør det ideelt?</a:t>
            </a:r>
          </a:p>
          <a:p>
            <a:r>
              <a:rPr lang="nb-NO" dirty="0"/>
              <a:t>Hva er fordelene med </a:t>
            </a:r>
            <a:r>
              <a:rPr lang="nb-NO" dirty="0" err="1"/>
              <a:t>Mocking</a:t>
            </a:r>
            <a:r>
              <a:rPr lang="nb-NO" dirty="0"/>
              <a:t>?</a:t>
            </a:r>
          </a:p>
          <a:p>
            <a:pPr marL="0" indent="0">
              <a:buNone/>
            </a:pPr>
            <a:endParaRPr lang="nb-NO" dirty="0"/>
          </a:p>
        </p:txBody>
      </p:sp>
      <p:grpSp>
        <p:nvGrpSpPr>
          <p:cNvPr id="8" name="Gruppe 7">
            <a:extLst>
              <a:ext uri="{FF2B5EF4-FFF2-40B4-BE49-F238E27FC236}">
                <a16:creationId xmlns:a16="http://schemas.microsoft.com/office/drawing/2014/main" id="{45048755-F85B-617A-9284-7B20B223B38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778C2CF-EE3B-08EF-163A-B1FADE33C8E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40B11BD-F2AC-0401-15E0-74A34E19D1A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18838565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5B087-39A1-B168-C004-00915499FAD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8DE7A3-0F1D-14C3-29DC-EC6236818977}"/>
              </a:ext>
            </a:extLst>
          </p:cNvPr>
          <p:cNvSpPr>
            <a:spLocks noGrp="1"/>
          </p:cNvSpPr>
          <p:nvPr>
            <p:ph type="title"/>
          </p:nvPr>
        </p:nvSpPr>
        <p:spPr/>
        <p:txBody>
          <a:bodyPr/>
          <a:lstStyle/>
          <a:p>
            <a:r>
              <a:rPr lang="nb-NO" dirty="0"/>
              <a:t>Testfaser</a:t>
            </a:r>
          </a:p>
        </p:txBody>
      </p:sp>
      <p:sp>
        <p:nvSpPr>
          <p:cNvPr id="3" name="Plassholder for innhold 2">
            <a:extLst>
              <a:ext uri="{FF2B5EF4-FFF2-40B4-BE49-F238E27FC236}">
                <a16:creationId xmlns:a16="http://schemas.microsoft.com/office/drawing/2014/main" id="{662FFFF3-8D97-2B77-7B07-0C95BA12EC76}"/>
              </a:ext>
            </a:extLst>
          </p:cNvPr>
          <p:cNvSpPr>
            <a:spLocks noGrp="1"/>
          </p:cNvSpPr>
          <p:nvPr>
            <p:ph idx="1"/>
          </p:nvPr>
        </p:nvSpPr>
        <p:spPr/>
        <p:txBody>
          <a:bodyPr>
            <a:normAutofit/>
          </a:bodyPr>
          <a:lstStyle/>
          <a:p>
            <a:r>
              <a:rPr lang="nb-NO" dirty="0"/>
              <a:t>Hva er de ulike testfasene?</a:t>
            </a:r>
          </a:p>
          <a:p>
            <a:pPr marL="0" indent="0">
              <a:buNone/>
            </a:pPr>
            <a:endParaRPr lang="nb-NO" dirty="0"/>
          </a:p>
        </p:txBody>
      </p:sp>
      <p:grpSp>
        <p:nvGrpSpPr>
          <p:cNvPr id="8" name="Gruppe 7">
            <a:extLst>
              <a:ext uri="{FF2B5EF4-FFF2-40B4-BE49-F238E27FC236}">
                <a16:creationId xmlns:a16="http://schemas.microsoft.com/office/drawing/2014/main" id="{161DB7F6-4C5E-AC93-CE72-19C8C34034D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49D9781-F89A-8B68-FB5C-795B0A96E0B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3A3F3AF4-0695-C82B-E998-1116B616434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35470080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0B060-8FA6-A2A6-AFAE-AC13A64DEC7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CEC0792-E665-1253-6D6E-A9263D3DEA74}"/>
              </a:ext>
            </a:extLst>
          </p:cNvPr>
          <p:cNvSpPr>
            <a:spLocks noGrp="1"/>
          </p:cNvSpPr>
          <p:nvPr>
            <p:ph type="title"/>
          </p:nvPr>
        </p:nvSpPr>
        <p:spPr/>
        <p:txBody>
          <a:bodyPr/>
          <a:lstStyle/>
          <a:p>
            <a:r>
              <a:rPr lang="nb-NO" dirty="0"/>
              <a:t>Enhetstesting</a:t>
            </a:r>
          </a:p>
        </p:txBody>
      </p:sp>
      <p:sp>
        <p:nvSpPr>
          <p:cNvPr id="3" name="Plassholder for innhold 2">
            <a:extLst>
              <a:ext uri="{FF2B5EF4-FFF2-40B4-BE49-F238E27FC236}">
                <a16:creationId xmlns:a16="http://schemas.microsoft.com/office/drawing/2014/main" id="{2DEC9CD7-437D-C03E-BA03-2F7E351E1D38}"/>
              </a:ext>
            </a:extLst>
          </p:cNvPr>
          <p:cNvSpPr>
            <a:spLocks noGrp="1"/>
          </p:cNvSpPr>
          <p:nvPr>
            <p:ph idx="1"/>
          </p:nvPr>
        </p:nvSpPr>
        <p:spPr/>
        <p:txBody>
          <a:bodyPr>
            <a:normAutofit/>
          </a:bodyPr>
          <a:lstStyle/>
          <a:p>
            <a:r>
              <a:rPr lang="nb-NO" dirty="0"/>
              <a:t>Hva er Enhetstesting?</a:t>
            </a:r>
          </a:p>
          <a:p>
            <a:r>
              <a:rPr lang="nb-NO" dirty="0"/>
              <a:t>Hva er fordelene med Enhetstesting?</a:t>
            </a:r>
          </a:p>
          <a:p>
            <a:r>
              <a:rPr lang="nb-NO" dirty="0"/>
              <a:t>Hva er målet med Enhetstesting?</a:t>
            </a:r>
          </a:p>
          <a:p>
            <a:pPr marL="0" indent="0">
              <a:buNone/>
            </a:pPr>
            <a:endParaRPr lang="nb-NO" dirty="0"/>
          </a:p>
        </p:txBody>
      </p:sp>
      <p:grpSp>
        <p:nvGrpSpPr>
          <p:cNvPr id="8" name="Gruppe 7">
            <a:extLst>
              <a:ext uri="{FF2B5EF4-FFF2-40B4-BE49-F238E27FC236}">
                <a16:creationId xmlns:a16="http://schemas.microsoft.com/office/drawing/2014/main" id="{6C8483E9-DB1B-41B1-CC7C-62741E78416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185153B-1A76-054E-A327-B50B52A59F83}"/>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3435E5B-1769-1BCF-CA10-675B969483E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1244509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1DE9F-CEB4-2E39-2291-CE2724B07D7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F3F7B1C-F416-6DCA-0833-0DF1B2972345}"/>
              </a:ext>
            </a:extLst>
          </p:cNvPr>
          <p:cNvSpPr>
            <a:spLocks noGrp="1"/>
          </p:cNvSpPr>
          <p:nvPr>
            <p:ph type="title"/>
          </p:nvPr>
        </p:nvSpPr>
        <p:spPr/>
        <p:txBody>
          <a:bodyPr/>
          <a:lstStyle/>
          <a:p>
            <a:r>
              <a:rPr lang="nb-NO" dirty="0"/>
              <a:t>Integrasjonstesting</a:t>
            </a:r>
          </a:p>
        </p:txBody>
      </p:sp>
      <p:sp>
        <p:nvSpPr>
          <p:cNvPr id="3" name="Plassholder for innhold 2">
            <a:extLst>
              <a:ext uri="{FF2B5EF4-FFF2-40B4-BE49-F238E27FC236}">
                <a16:creationId xmlns:a16="http://schemas.microsoft.com/office/drawing/2014/main" id="{B7FCCC9A-9692-792E-9986-BB0F12134E06}"/>
              </a:ext>
            </a:extLst>
          </p:cNvPr>
          <p:cNvSpPr>
            <a:spLocks noGrp="1"/>
          </p:cNvSpPr>
          <p:nvPr>
            <p:ph idx="1"/>
          </p:nvPr>
        </p:nvSpPr>
        <p:spPr/>
        <p:txBody>
          <a:bodyPr>
            <a:normAutofit/>
          </a:bodyPr>
          <a:lstStyle/>
          <a:p>
            <a:r>
              <a:rPr lang="nb-NO" dirty="0"/>
              <a:t>Hva er Integrasjonstesting? </a:t>
            </a:r>
          </a:p>
          <a:p>
            <a:r>
              <a:rPr lang="nb-NO" dirty="0"/>
              <a:t>Hva er målet med Integrasjonstesting?</a:t>
            </a:r>
          </a:p>
          <a:p>
            <a:r>
              <a:rPr lang="nb-NO" dirty="0"/>
              <a:t>Hvilke valg kan gjøres ved Integrasjonstesting?</a:t>
            </a:r>
          </a:p>
          <a:p>
            <a:pPr marL="0" indent="0">
              <a:buNone/>
            </a:pPr>
            <a:endParaRPr lang="nb-NO" dirty="0"/>
          </a:p>
        </p:txBody>
      </p:sp>
      <p:grpSp>
        <p:nvGrpSpPr>
          <p:cNvPr id="8" name="Gruppe 7">
            <a:extLst>
              <a:ext uri="{FF2B5EF4-FFF2-40B4-BE49-F238E27FC236}">
                <a16:creationId xmlns:a16="http://schemas.microsoft.com/office/drawing/2014/main" id="{96327AB2-8069-B359-E310-792C710C706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E2E8C0A-F9FC-5212-A58E-8D0CDA53830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567FD5B-E462-ABFD-308C-9CAD82AB76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5476608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EFFD6-EAE1-5A1D-6A49-09D56845C61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28DF11D-B5B2-BCA3-1E95-E0C969B99D65}"/>
              </a:ext>
            </a:extLst>
          </p:cNvPr>
          <p:cNvSpPr>
            <a:spLocks noGrp="1"/>
          </p:cNvSpPr>
          <p:nvPr>
            <p:ph type="title"/>
          </p:nvPr>
        </p:nvSpPr>
        <p:spPr/>
        <p:txBody>
          <a:bodyPr/>
          <a:lstStyle/>
          <a:p>
            <a:r>
              <a:rPr lang="nb-NO" dirty="0"/>
              <a:t>Systemtesting</a:t>
            </a:r>
          </a:p>
        </p:txBody>
      </p:sp>
      <p:sp>
        <p:nvSpPr>
          <p:cNvPr id="3" name="Plassholder for innhold 2">
            <a:extLst>
              <a:ext uri="{FF2B5EF4-FFF2-40B4-BE49-F238E27FC236}">
                <a16:creationId xmlns:a16="http://schemas.microsoft.com/office/drawing/2014/main" id="{ABC29069-F2BE-464C-CB42-39508B8B2EF4}"/>
              </a:ext>
            </a:extLst>
          </p:cNvPr>
          <p:cNvSpPr>
            <a:spLocks noGrp="1"/>
          </p:cNvSpPr>
          <p:nvPr>
            <p:ph idx="1"/>
          </p:nvPr>
        </p:nvSpPr>
        <p:spPr/>
        <p:txBody>
          <a:bodyPr>
            <a:normAutofit/>
          </a:bodyPr>
          <a:lstStyle/>
          <a:p>
            <a:r>
              <a:rPr lang="nb-NO" dirty="0"/>
              <a:t>Hva er Systemtesting?</a:t>
            </a:r>
          </a:p>
          <a:p>
            <a:r>
              <a:rPr lang="nb-NO" dirty="0"/>
              <a:t>Hva er fordelene med Systemtesting?</a:t>
            </a:r>
          </a:p>
          <a:p>
            <a:r>
              <a:rPr lang="nb-NO" dirty="0"/>
              <a:t>Hva er målet med Systemtesting?</a:t>
            </a:r>
          </a:p>
          <a:p>
            <a:r>
              <a:rPr lang="nb-NO" dirty="0"/>
              <a:t>Hvilke valg kan gjøres ved Systemtesting?</a:t>
            </a:r>
          </a:p>
          <a:p>
            <a:pPr marL="0" indent="0">
              <a:buNone/>
            </a:pPr>
            <a:endParaRPr lang="nb-NO" dirty="0"/>
          </a:p>
        </p:txBody>
      </p:sp>
      <p:grpSp>
        <p:nvGrpSpPr>
          <p:cNvPr id="8" name="Gruppe 7">
            <a:extLst>
              <a:ext uri="{FF2B5EF4-FFF2-40B4-BE49-F238E27FC236}">
                <a16:creationId xmlns:a16="http://schemas.microsoft.com/office/drawing/2014/main" id="{7BB9D6D2-39A2-F379-7D6C-7020B818477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5EC0836-46BF-1526-A5C9-F6CDBAE6928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3E2C15D-40CC-3B2F-9166-D2B888CBC96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4411362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E1E77-F853-F8E1-75FA-4329F425712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441DE5F0-E88D-9D59-6357-2FB7FA16C3E1}"/>
              </a:ext>
            </a:extLst>
          </p:cNvPr>
          <p:cNvSpPr>
            <a:spLocks noGrp="1"/>
          </p:cNvSpPr>
          <p:nvPr>
            <p:ph type="title"/>
          </p:nvPr>
        </p:nvSpPr>
        <p:spPr/>
        <p:txBody>
          <a:bodyPr/>
          <a:lstStyle/>
          <a:p>
            <a:r>
              <a:rPr lang="nb-NO" dirty="0"/>
              <a:t>Akseptansetesting</a:t>
            </a:r>
          </a:p>
        </p:txBody>
      </p:sp>
      <p:sp>
        <p:nvSpPr>
          <p:cNvPr id="3" name="Plassholder for innhold 2">
            <a:extLst>
              <a:ext uri="{FF2B5EF4-FFF2-40B4-BE49-F238E27FC236}">
                <a16:creationId xmlns:a16="http://schemas.microsoft.com/office/drawing/2014/main" id="{6974836C-6E31-2DE0-BD75-E2C4B7F6CCC8}"/>
              </a:ext>
            </a:extLst>
          </p:cNvPr>
          <p:cNvSpPr>
            <a:spLocks noGrp="1"/>
          </p:cNvSpPr>
          <p:nvPr>
            <p:ph idx="1"/>
          </p:nvPr>
        </p:nvSpPr>
        <p:spPr/>
        <p:txBody>
          <a:bodyPr>
            <a:normAutofit/>
          </a:bodyPr>
          <a:lstStyle/>
          <a:p>
            <a:r>
              <a:rPr lang="nb-NO" dirty="0"/>
              <a:t>Hva er Akseptansetesting?</a:t>
            </a:r>
          </a:p>
          <a:p>
            <a:r>
              <a:rPr lang="nb-NO" dirty="0"/>
              <a:t>Hva er viktig med Akseptansetesting?</a:t>
            </a:r>
          </a:p>
          <a:p>
            <a:r>
              <a:rPr lang="nb-NO" dirty="0"/>
              <a:t>Hva er fordelene med Akseptansetesting?</a:t>
            </a:r>
          </a:p>
        </p:txBody>
      </p:sp>
      <p:grpSp>
        <p:nvGrpSpPr>
          <p:cNvPr id="8" name="Gruppe 7">
            <a:extLst>
              <a:ext uri="{FF2B5EF4-FFF2-40B4-BE49-F238E27FC236}">
                <a16:creationId xmlns:a16="http://schemas.microsoft.com/office/drawing/2014/main" id="{7A9F290B-9993-26D8-4826-378F3874F50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FA824AB1-2622-6ACB-1ECC-8D8BE351AEB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B99D744-797D-2722-FF35-8E5B616DFF7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10694310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44B-EAD6-8A0F-4876-59387FDAE2A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53AB88F-5CE8-8FCB-925D-4E70A5B9BC53}"/>
              </a:ext>
            </a:extLst>
          </p:cNvPr>
          <p:cNvSpPr>
            <a:spLocks noGrp="1"/>
          </p:cNvSpPr>
          <p:nvPr>
            <p:ph type="title"/>
          </p:nvPr>
        </p:nvSpPr>
        <p:spPr/>
        <p:txBody>
          <a:bodyPr/>
          <a:lstStyle/>
          <a:p>
            <a:r>
              <a:rPr lang="nb-NO" dirty="0"/>
              <a:t>Regresjonstesting</a:t>
            </a:r>
          </a:p>
        </p:txBody>
      </p:sp>
      <p:sp>
        <p:nvSpPr>
          <p:cNvPr id="3" name="Plassholder for innhold 2">
            <a:extLst>
              <a:ext uri="{FF2B5EF4-FFF2-40B4-BE49-F238E27FC236}">
                <a16:creationId xmlns:a16="http://schemas.microsoft.com/office/drawing/2014/main" id="{3E32CDDF-D9DD-3F70-9574-1D2911D6D369}"/>
              </a:ext>
            </a:extLst>
          </p:cNvPr>
          <p:cNvSpPr>
            <a:spLocks noGrp="1"/>
          </p:cNvSpPr>
          <p:nvPr>
            <p:ph idx="1"/>
          </p:nvPr>
        </p:nvSpPr>
        <p:spPr/>
        <p:txBody>
          <a:bodyPr>
            <a:normAutofit/>
          </a:bodyPr>
          <a:lstStyle/>
          <a:p>
            <a:r>
              <a:rPr lang="nb-NO" dirty="0"/>
              <a:t>Hva er Regresjonstesting?</a:t>
            </a:r>
          </a:p>
          <a:p>
            <a:r>
              <a:rPr lang="nb-NO" dirty="0"/>
              <a:t>Når skjer Regresjonstesting?</a:t>
            </a:r>
          </a:p>
          <a:p>
            <a:r>
              <a:rPr lang="nb-NO" dirty="0"/>
              <a:t>Hva slags tester er Regresjonstester?</a:t>
            </a:r>
          </a:p>
          <a:p>
            <a:r>
              <a:rPr lang="nb-NO" dirty="0"/>
              <a:t>Hvilke valg kan gjøres ved Regresjonstesting?</a:t>
            </a:r>
          </a:p>
          <a:p>
            <a:pPr marL="0" indent="0">
              <a:buNone/>
            </a:pPr>
            <a:endParaRPr lang="nb-NO" dirty="0"/>
          </a:p>
        </p:txBody>
      </p:sp>
      <p:grpSp>
        <p:nvGrpSpPr>
          <p:cNvPr id="8" name="Gruppe 7">
            <a:extLst>
              <a:ext uri="{FF2B5EF4-FFF2-40B4-BE49-F238E27FC236}">
                <a16:creationId xmlns:a16="http://schemas.microsoft.com/office/drawing/2014/main" id="{53CDBBC1-F480-5F48-6454-F3F992D0CE1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FD33B8F-7EF5-DF5F-91D0-8C1EA6E623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1A392A5-A106-5665-BC09-A92E4D7D503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7697931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28CD9-86A9-8928-865A-C5ED448DF2F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52BEB9A-318E-C629-DAE5-03266F577F53}"/>
              </a:ext>
            </a:extLst>
          </p:cNvPr>
          <p:cNvSpPr>
            <a:spLocks noGrp="1"/>
          </p:cNvSpPr>
          <p:nvPr>
            <p:ph type="title"/>
          </p:nvPr>
        </p:nvSpPr>
        <p:spPr/>
        <p:txBody>
          <a:bodyPr/>
          <a:lstStyle/>
          <a:p>
            <a:r>
              <a:rPr lang="nb-NO" dirty="0"/>
              <a:t> </a:t>
            </a:r>
            <a:r>
              <a:rPr lang="nb-NO" dirty="0" err="1"/>
              <a:t>Smoke</a:t>
            </a:r>
            <a:r>
              <a:rPr lang="nb-NO" dirty="0"/>
              <a:t>-testing/</a:t>
            </a:r>
            <a:r>
              <a:rPr lang="nb-NO" dirty="0" err="1"/>
              <a:t>Sanity</a:t>
            </a:r>
            <a:r>
              <a:rPr lang="nb-NO" dirty="0"/>
              <a:t>-testing</a:t>
            </a:r>
          </a:p>
        </p:txBody>
      </p:sp>
      <p:sp>
        <p:nvSpPr>
          <p:cNvPr id="3" name="Plassholder for innhold 2">
            <a:extLst>
              <a:ext uri="{FF2B5EF4-FFF2-40B4-BE49-F238E27FC236}">
                <a16:creationId xmlns:a16="http://schemas.microsoft.com/office/drawing/2014/main" id="{32B21141-BB96-49DC-CDB0-FA5BFB752127}"/>
              </a:ext>
            </a:extLst>
          </p:cNvPr>
          <p:cNvSpPr>
            <a:spLocks noGrp="1"/>
          </p:cNvSpPr>
          <p:nvPr>
            <p:ph idx="1"/>
          </p:nvPr>
        </p:nvSpPr>
        <p:spPr/>
        <p:txBody>
          <a:bodyPr>
            <a:normAutofit/>
          </a:bodyPr>
          <a:lstStyle/>
          <a:p>
            <a:r>
              <a:rPr lang="nb-NO" dirty="0"/>
              <a:t>Hva er </a:t>
            </a:r>
            <a:r>
              <a:rPr lang="nb-NO" dirty="0" err="1"/>
              <a:t>Smoke</a:t>
            </a:r>
            <a:r>
              <a:rPr lang="nb-NO" dirty="0"/>
              <a:t>-testing/</a:t>
            </a:r>
            <a:r>
              <a:rPr lang="nb-NO" dirty="0" err="1"/>
              <a:t>Sanity</a:t>
            </a:r>
            <a:r>
              <a:rPr lang="nb-NO" dirty="0"/>
              <a:t>-testing?</a:t>
            </a:r>
          </a:p>
          <a:p>
            <a:r>
              <a:rPr lang="nb-NO" dirty="0"/>
              <a:t>Når brukes </a:t>
            </a:r>
            <a:r>
              <a:rPr lang="nb-NO" dirty="0" err="1"/>
              <a:t>Smoke</a:t>
            </a:r>
            <a:r>
              <a:rPr lang="nb-NO" dirty="0"/>
              <a:t>-testing/</a:t>
            </a:r>
            <a:r>
              <a:rPr lang="nb-NO" dirty="0" err="1"/>
              <a:t>Sanity</a:t>
            </a:r>
            <a:r>
              <a:rPr lang="nb-NO" dirty="0"/>
              <a:t>-testing?</a:t>
            </a:r>
          </a:p>
          <a:p>
            <a:r>
              <a:rPr lang="nb-NO" dirty="0"/>
              <a:t>Hva er forskjellen på </a:t>
            </a:r>
            <a:r>
              <a:rPr lang="nb-NO" dirty="0" err="1"/>
              <a:t>Smoke</a:t>
            </a:r>
            <a:r>
              <a:rPr lang="nb-NO" dirty="0"/>
              <a:t>-testing og </a:t>
            </a:r>
            <a:r>
              <a:rPr lang="nb-NO" dirty="0" err="1"/>
              <a:t>Sanity</a:t>
            </a:r>
            <a:r>
              <a:rPr lang="nb-NO" dirty="0"/>
              <a:t>-testing?</a:t>
            </a:r>
          </a:p>
          <a:p>
            <a:r>
              <a:rPr lang="nb-NO" dirty="0"/>
              <a:t>Hvorfor er </a:t>
            </a:r>
            <a:r>
              <a:rPr lang="nb-NO" dirty="0" err="1"/>
              <a:t>Smoke</a:t>
            </a:r>
            <a:r>
              <a:rPr lang="nb-NO" dirty="0"/>
              <a:t>-testing og </a:t>
            </a:r>
            <a:r>
              <a:rPr lang="nb-NO" dirty="0" err="1"/>
              <a:t>Sanity</a:t>
            </a:r>
            <a:r>
              <a:rPr lang="nb-NO" dirty="0"/>
              <a:t>-testing nyttig?</a:t>
            </a:r>
          </a:p>
        </p:txBody>
      </p:sp>
      <p:grpSp>
        <p:nvGrpSpPr>
          <p:cNvPr id="8" name="Gruppe 7">
            <a:extLst>
              <a:ext uri="{FF2B5EF4-FFF2-40B4-BE49-F238E27FC236}">
                <a16:creationId xmlns:a16="http://schemas.microsoft.com/office/drawing/2014/main" id="{1B8343BA-C828-2A6D-317B-6C6512EE3D7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344CBD2-056C-839F-86F4-A541FFED64E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0279CAC-61B9-9002-A400-3DBD925C724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710806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AB4B8-8515-0B3A-EA82-A785C1DA55E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09B19E9-7447-1254-A380-EF7AB83F80F8}"/>
              </a:ext>
            </a:extLst>
          </p:cNvPr>
          <p:cNvSpPr>
            <a:spLocks noGrp="1"/>
          </p:cNvSpPr>
          <p:nvPr>
            <p:ph type="title"/>
          </p:nvPr>
        </p:nvSpPr>
        <p:spPr/>
        <p:txBody>
          <a:bodyPr/>
          <a:lstStyle/>
          <a:p>
            <a:r>
              <a:rPr lang="nb-NO" dirty="0"/>
              <a:t>Destruktiv testing</a:t>
            </a:r>
          </a:p>
        </p:txBody>
      </p:sp>
      <p:sp>
        <p:nvSpPr>
          <p:cNvPr id="3" name="Plassholder for innhold 2">
            <a:extLst>
              <a:ext uri="{FF2B5EF4-FFF2-40B4-BE49-F238E27FC236}">
                <a16:creationId xmlns:a16="http://schemas.microsoft.com/office/drawing/2014/main" id="{857142C4-E925-34CE-5CE8-F30926BB2B98}"/>
              </a:ext>
            </a:extLst>
          </p:cNvPr>
          <p:cNvSpPr>
            <a:spLocks noGrp="1"/>
          </p:cNvSpPr>
          <p:nvPr>
            <p:ph idx="1"/>
          </p:nvPr>
        </p:nvSpPr>
        <p:spPr/>
        <p:txBody>
          <a:bodyPr>
            <a:normAutofit/>
          </a:bodyPr>
          <a:lstStyle/>
          <a:p>
            <a:r>
              <a:rPr lang="nb-NO" dirty="0"/>
              <a:t>Hva er destruktiv testing?</a:t>
            </a:r>
          </a:p>
          <a:p>
            <a:r>
              <a:rPr lang="nb-NO" dirty="0"/>
              <a:t>Hvordan foregår Destruktiv testing?</a:t>
            </a:r>
          </a:p>
          <a:p>
            <a:r>
              <a:rPr lang="nb-NO" dirty="0"/>
              <a:t>Hva kan ikke gjøres ved Destruktiv testing?</a:t>
            </a:r>
          </a:p>
          <a:p>
            <a:r>
              <a:rPr lang="nb-NO" dirty="0"/>
              <a:t>Hva kreves for å utføre destruktiv testing?</a:t>
            </a:r>
          </a:p>
        </p:txBody>
      </p:sp>
      <p:grpSp>
        <p:nvGrpSpPr>
          <p:cNvPr id="8" name="Gruppe 7">
            <a:extLst>
              <a:ext uri="{FF2B5EF4-FFF2-40B4-BE49-F238E27FC236}">
                <a16:creationId xmlns:a16="http://schemas.microsoft.com/office/drawing/2014/main" id="{6885537F-6DB1-3472-1F38-DB502D454D6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7020C67A-6880-3784-0EEA-30346B8909E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176DA9B2-30CB-5FC3-CCEA-DC16F1BC340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4905740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1FD-3A43-9912-03C9-6E9BD944700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908F085-7A3D-8D9B-0A5A-2C9BDF254F26}"/>
              </a:ext>
            </a:extLst>
          </p:cNvPr>
          <p:cNvSpPr>
            <a:spLocks noGrp="1"/>
          </p:cNvSpPr>
          <p:nvPr>
            <p:ph type="title"/>
          </p:nvPr>
        </p:nvSpPr>
        <p:spPr/>
        <p:txBody>
          <a:bodyPr/>
          <a:lstStyle/>
          <a:p>
            <a:r>
              <a:rPr lang="nb-NO" dirty="0" err="1"/>
              <a:t>Usability</a:t>
            </a:r>
            <a:r>
              <a:rPr lang="nb-NO" dirty="0"/>
              <a:t> testing</a:t>
            </a:r>
          </a:p>
        </p:txBody>
      </p:sp>
      <p:sp>
        <p:nvSpPr>
          <p:cNvPr id="3" name="Plassholder for innhold 2">
            <a:extLst>
              <a:ext uri="{FF2B5EF4-FFF2-40B4-BE49-F238E27FC236}">
                <a16:creationId xmlns:a16="http://schemas.microsoft.com/office/drawing/2014/main" id="{4B11F4E3-660C-5DBF-5765-BD9CBFF83990}"/>
              </a:ext>
            </a:extLst>
          </p:cNvPr>
          <p:cNvSpPr>
            <a:spLocks noGrp="1"/>
          </p:cNvSpPr>
          <p:nvPr>
            <p:ph idx="1"/>
          </p:nvPr>
        </p:nvSpPr>
        <p:spPr/>
        <p:txBody>
          <a:bodyPr>
            <a:normAutofit/>
          </a:bodyPr>
          <a:lstStyle/>
          <a:p>
            <a:r>
              <a:rPr lang="nb-NO" dirty="0"/>
              <a:t>Hva </a:t>
            </a:r>
            <a:r>
              <a:rPr lang="nb-NO" dirty="0" err="1"/>
              <a:t>oppnåes</a:t>
            </a:r>
            <a:r>
              <a:rPr lang="nb-NO" dirty="0"/>
              <a:t> ved </a:t>
            </a:r>
            <a:r>
              <a:rPr lang="nb-NO" dirty="0" err="1"/>
              <a:t>Usability</a:t>
            </a:r>
            <a:r>
              <a:rPr lang="nb-NO" dirty="0"/>
              <a:t> testing?</a:t>
            </a:r>
          </a:p>
          <a:p>
            <a:r>
              <a:rPr lang="nb-NO" dirty="0"/>
              <a:t>Hva testes </a:t>
            </a:r>
            <a:r>
              <a:rPr lang="nb-NO" dirty="0" err="1"/>
              <a:t>Usability</a:t>
            </a:r>
            <a:r>
              <a:rPr lang="nb-NO" dirty="0"/>
              <a:t> testing?</a:t>
            </a:r>
          </a:p>
        </p:txBody>
      </p:sp>
      <p:grpSp>
        <p:nvGrpSpPr>
          <p:cNvPr id="8" name="Gruppe 7">
            <a:extLst>
              <a:ext uri="{FF2B5EF4-FFF2-40B4-BE49-F238E27FC236}">
                <a16:creationId xmlns:a16="http://schemas.microsoft.com/office/drawing/2014/main" id="{EC772FE9-F941-4CDC-A218-9950257B379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F8DD039-A24D-E5C7-EE4B-81B21AC7AAD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A12F756-E88D-7E4F-8B4F-3D78C96A4EE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5285982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870F3-5A30-797D-A97E-A9507292294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58140CA-04EF-BB51-F0F9-649D77EC7D03}"/>
              </a:ext>
            </a:extLst>
          </p:cNvPr>
          <p:cNvSpPr>
            <a:spLocks noGrp="1"/>
          </p:cNvSpPr>
          <p:nvPr>
            <p:ph type="title"/>
          </p:nvPr>
        </p:nvSpPr>
        <p:spPr/>
        <p:txBody>
          <a:bodyPr/>
          <a:lstStyle/>
          <a:p>
            <a:r>
              <a:rPr lang="nb-NO" dirty="0"/>
              <a:t>Ytelsestesting</a:t>
            </a:r>
          </a:p>
        </p:txBody>
      </p:sp>
      <p:sp>
        <p:nvSpPr>
          <p:cNvPr id="3" name="Plassholder for innhold 2">
            <a:extLst>
              <a:ext uri="{FF2B5EF4-FFF2-40B4-BE49-F238E27FC236}">
                <a16:creationId xmlns:a16="http://schemas.microsoft.com/office/drawing/2014/main" id="{F20FF490-1FEA-D668-06BA-783E8D157357}"/>
              </a:ext>
            </a:extLst>
          </p:cNvPr>
          <p:cNvSpPr>
            <a:spLocks noGrp="1"/>
          </p:cNvSpPr>
          <p:nvPr>
            <p:ph idx="1"/>
          </p:nvPr>
        </p:nvSpPr>
        <p:spPr/>
        <p:txBody>
          <a:bodyPr>
            <a:normAutofit/>
          </a:bodyPr>
          <a:lstStyle/>
          <a:p>
            <a:r>
              <a:rPr lang="nb-NO" dirty="0"/>
              <a:t>Hva er ytelsestesting?</a:t>
            </a:r>
          </a:p>
          <a:p>
            <a:r>
              <a:rPr lang="nb-NO" dirty="0"/>
              <a:t>Hvordan måler vi ytelse?</a:t>
            </a:r>
          </a:p>
          <a:p>
            <a:r>
              <a:rPr lang="nb-NO" dirty="0"/>
              <a:t>Hva er flaskehalser?</a:t>
            </a:r>
          </a:p>
          <a:p>
            <a:r>
              <a:rPr lang="nb-NO" dirty="0"/>
              <a:t>Hvordan finner vi flaskehalser?</a:t>
            </a:r>
          </a:p>
          <a:p>
            <a:r>
              <a:rPr lang="nb-NO" dirty="0"/>
              <a:t>Hva er ofte årsakene til flaskehalser?</a:t>
            </a:r>
          </a:p>
          <a:p>
            <a:r>
              <a:rPr lang="nb-NO" dirty="0"/>
              <a:t>Hva er de ulike typene med ytelsestesting?</a:t>
            </a:r>
          </a:p>
          <a:p>
            <a:pPr marL="0" indent="0">
              <a:buNone/>
            </a:pPr>
            <a:endParaRPr lang="nb-NO" dirty="0"/>
          </a:p>
        </p:txBody>
      </p:sp>
      <p:grpSp>
        <p:nvGrpSpPr>
          <p:cNvPr id="8" name="Gruppe 7">
            <a:extLst>
              <a:ext uri="{FF2B5EF4-FFF2-40B4-BE49-F238E27FC236}">
                <a16:creationId xmlns:a16="http://schemas.microsoft.com/office/drawing/2014/main" id="{4869E1A1-1330-6E25-2CF7-810EB00D5445}"/>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50DC343-40E1-06C9-6682-82225FDCF4D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1F5FBF0-12F5-CC7E-18C0-E876912506F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1419831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8E7D2-137A-077E-6C56-A3E2D9DBC73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C003BC1-0F26-58EE-35DA-18F77A3D62A7}"/>
              </a:ext>
            </a:extLst>
          </p:cNvPr>
          <p:cNvSpPr>
            <a:spLocks noGrp="1"/>
          </p:cNvSpPr>
          <p:nvPr>
            <p:ph type="title"/>
          </p:nvPr>
        </p:nvSpPr>
        <p:spPr/>
        <p:txBody>
          <a:bodyPr/>
          <a:lstStyle/>
          <a:p>
            <a:r>
              <a:rPr lang="en-US" dirty="0"/>
              <a:t>Black-box vs white box testing</a:t>
            </a:r>
            <a:endParaRPr lang="nb-NO" dirty="0"/>
          </a:p>
        </p:txBody>
      </p:sp>
      <p:sp>
        <p:nvSpPr>
          <p:cNvPr id="3" name="Plassholder for innhold 2">
            <a:extLst>
              <a:ext uri="{FF2B5EF4-FFF2-40B4-BE49-F238E27FC236}">
                <a16:creationId xmlns:a16="http://schemas.microsoft.com/office/drawing/2014/main" id="{02A3EA57-13E1-8ACE-A601-63E48AC98436}"/>
              </a:ext>
            </a:extLst>
          </p:cNvPr>
          <p:cNvSpPr>
            <a:spLocks noGrp="1"/>
          </p:cNvSpPr>
          <p:nvPr>
            <p:ph idx="1"/>
          </p:nvPr>
        </p:nvSpPr>
        <p:spPr/>
        <p:txBody>
          <a:bodyPr>
            <a:normAutofit/>
          </a:bodyPr>
          <a:lstStyle/>
          <a:p>
            <a:r>
              <a:rPr lang="nb-NO" dirty="0"/>
              <a:t>Hva er </a:t>
            </a:r>
            <a:r>
              <a:rPr lang="nb-NO" dirty="0" err="1"/>
              <a:t>blackbox</a:t>
            </a:r>
            <a:r>
              <a:rPr lang="nb-NO" dirty="0"/>
              <a:t>-testing?</a:t>
            </a:r>
          </a:p>
          <a:p>
            <a:r>
              <a:rPr lang="nb-NO" dirty="0"/>
              <a:t>Hva bygger </a:t>
            </a:r>
            <a:r>
              <a:rPr lang="nb-NO" dirty="0" err="1"/>
              <a:t>blackbox</a:t>
            </a:r>
            <a:r>
              <a:rPr lang="nb-NO" dirty="0"/>
              <a:t>-testing på?</a:t>
            </a:r>
          </a:p>
          <a:p>
            <a:r>
              <a:rPr lang="nb-NO" dirty="0"/>
              <a:t>Hva er </a:t>
            </a:r>
            <a:r>
              <a:rPr lang="nb-NO" dirty="0" err="1"/>
              <a:t>whitebox</a:t>
            </a:r>
            <a:r>
              <a:rPr lang="nb-NO" dirty="0"/>
              <a:t>-testing?</a:t>
            </a:r>
          </a:p>
          <a:p>
            <a:r>
              <a:rPr lang="nb-NO" dirty="0"/>
              <a:t>Hva testes ved </a:t>
            </a:r>
            <a:r>
              <a:rPr lang="nb-NO" dirty="0" err="1"/>
              <a:t>whitebox</a:t>
            </a:r>
            <a:r>
              <a:rPr lang="nb-NO" dirty="0"/>
              <a:t>-testing?</a:t>
            </a:r>
          </a:p>
        </p:txBody>
      </p:sp>
      <p:grpSp>
        <p:nvGrpSpPr>
          <p:cNvPr id="8" name="Gruppe 7">
            <a:extLst>
              <a:ext uri="{FF2B5EF4-FFF2-40B4-BE49-F238E27FC236}">
                <a16:creationId xmlns:a16="http://schemas.microsoft.com/office/drawing/2014/main" id="{C514F901-8A10-112B-AF1B-7A4262F5338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78A28E4-7B27-5856-9190-A983E3B2E96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42A49015-9A35-16E9-EC47-A2C64D3D04F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4187918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7D458-CC8C-3906-9592-50E9FC34D8B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E07D5AC-4D03-57C6-BE9D-187E12E92D4E}"/>
              </a:ext>
            </a:extLst>
          </p:cNvPr>
          <p:cNvSpPr>
            <a:spLocks noGrp="1"/>
          </p:cNvSpPr>
          <p:nvPr>
            <p:ph type="title"/>
          </p:nvPr>
        </p:nvSpPr>
        <p:spPr/>
        <p:txBody>
          <a:bodyPr/>
          <a:lstStyle/>
          <a:p>
            <a:r>
              <a:rPr lang="en-US" dirty="0" err="1"/>
              <a:t>Automatisk</a:t>
            </a:r>
            <a:r>
              <a:rPr lang="en-US" dirty="0"/>
              <a:t> </a:t>
            </a:r>
            <a:r>
              <a:rPr lang="en-US" dirty="0" err="1"/>
              <a:t>eller</a:t>
            </a:r>
            <a:r>
              <a:rPr lang="en-US" dirty="0"/>
              <a:t> </a:t>
            </a:r>
            <a:r>
              <a:rPr lang="en-US" dirty="0" err="1"/>
              <a:t>manuell</a:t>
            </a:r>
            <a:r>
              <a:rPr lang="en-US" dirty="0"/>
              <a:t> testing</a:t>
            </a:r>
          </a:p>
        </p:txBody>
      </p:sp>
      <p:sp>
        <p:nvSpPr>
          <p:cNvPr id="3" name="Plassholder for innhold 2">
            <a:extLst>
              <a:ext uri="{FF2B5EF4-FFF2-40B4-BE49-F238E27FC236}">
                <a16:creationId xmlns:a16="http://schemas.microsoft.com/office/drawing/2014/main" id="{F90754C9-9B9F-156C-F33C-1565B4FD8E57}"/>
              </a:ext>
            </a:extLst>
          </p:cNvPr>
          <p:cNvSpPr>
            <a:spLocks noGrp="1"/>
          </p:cNvSpPr>
          <p:nvPr>
            <p:ph idx="1"/>
          </p:nvPr>
        </p:nvSpPr>
        <p:spPr/>
        <p:txBody>
          <a:bodyPr>
            <a:normAutofit/>
          </a:bodyPr>
          <a:lstStyle/>
          <a:p>
            <a:r>
              <a:rPr lang="nb-NO" dirty="0"/>
              <a:t>Hva er fordelene ved automatiske tester?</a:t>
            </a:r>
          </a:p>
          <a:p>
            <a:r>
              <a:rPr lang="nb-NO" dirty="0"/>
              <a:t>Hva er de ulike automatiske test typene?</a:t>
            </a:r>
          </a:p>
          <a:p>
            <a:r>
              <a:rPr lang="nb-NO" dirty="0"/>
              <a:t>Hva er ulempene ved automatiske tester?</a:t>
            </a:r>
          </a:p>
          <a:p>
            <a:r>
              <a:rPr lang="nb-NO" dirty="0"/>
              <a:t>Hva er fordelene ved manuelle tester?</a:t>
            </a:r>
          </a:p>
          <a:p>
            <a:r>
              <a:rPr lang="nb-NO" dirty="0"/>
              <a:t>Hva er de ulike manuelle test typene?</a:t>
            </a:r>
          </a:p>
          <a:p>
            <a:r>
              <a:rPr lang="nb-NO" dirty="0"/>
              <a:t>Hva er de ulike test typene som er både manuelle og automatiske?</a:t>
            </a:r>
          </a:p>
        </p:txBody>
      </p:sp>
      <p:grpSp>
        <p:nvGrpSpPr>
          <p:cNvPr id="8" name="Gruppe 7">
            <a:extLst>
              <a:ext uri="{FF2B5EF4-FFF2-40B4-BE49-F238E27FC236}">
                <a16:creationId xmlns:a16="http://schemas.microsoft.com/office/drawing/2014/main" id="{E4B36936-4271-310E-7F7B-897C6D17D75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2E997F6-26FD-72B7-E619-FE102FCC0C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E35933B-AB24-EE79-5F6E-F58870A9585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40442782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E2EB2-E85C-CA72-AE75-1949CB50410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7B66B2F-80BD-A7CA-9710-10C75467843F}"/>
              </a:ext>
            </a:extLst>
          </p:cNvPr>
          <p:cNvSpPr>
            <a:spLocks noGrp="1"/>
          </p:cNvSpPr>
          <p:nvPr>
            <p:ph type="title"/>
          </p:nvPr>
        </p:nvSpPr>
        <p:spPr/>
        <p:txBody>
          <a:bodyPr/>
          <a:lstStyle/>
          <a:p>
            <a:r>
              <a:rPr lang="en-US" dirty="0"/>
              <a:t>Testing principles</a:t>
            </a:r>
          </a:p>
        </p:txBody>
      </p:sp>
      <p:sp>
        <p:nvSpPr>
          <p:cNvPr id="3" name="Plassholder for innhold 2">
            <a:extLst>
              <a:ext uri="{FF2B5EF4-FFF2-40B4-BE49-F238E27FC236}">
                <a16:creationId xmlns:a16="http://schemas.microsoft.com/office/drawing/2014/main" id="{06D6C4D5-4617-804E-FC97-9745E9D49955}"/>
              </a:ext>
            </a:extLst>
          </p:cNvPr>
          <p:cNvSpPr>
            <a:spLocks noGrp="1"/>
          </p:cNvSpPr>
          <p:nvPr>
            <p:ph idx="1"/>
          </p:nvPr>
        </p:nvSpPr>
        <p:spPr/>
        <p:txBody>
          <a:bodyPr>
            <a:normAutofit/>
          </a:bodyPr>
          <a:lstStyle/>
          <a:p>
            <a:r>
              <a:rPr lang="nb-NO" dirty="0"/>
              <a:t>Hva er de ulike testing prinsippene?</a:t>
            </a:r>
          </a:p>
        </p:txBody>
      </p:sp>
      <p:grpSp>
        <p:nvGrpSpPr>
          <p:cNvPr id="8" name="Gruppe 7">
            <a:extLst>
              <a:ext uri="{FF2B5EF4-FFF2-40B4-BE49-F238E27FC236}">
                <a16:creationId xmlns:a16="http://schemas.microsoft.com/office/drawing/2014/main" id="{B53B5D61-432F-C38A-F8E1-4A51FABD93E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F8FA2DB-253A-C4A1-5383-178E49C14AB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65B747CB-89B1-2C83-FDE8-4E6194E89DB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3679348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3EDAF-83B6-8522-D47E-1B4C5C3BCA1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13EF0E6-13CA-EB93-B47E-219A8D7395D9}"/>
              </a:ext>
            </a:extLst>
          </p:cNvPr>
          <p:cNvSpPr>
            <a:spLocks noGrp="1"/>
          </p:cNvSpPr>
          <p:nvPr>
            <p:ph type="title"/>
          </p:nvPr>
        </p:nvSpPr>
        <p:spPr/>
        <p:txBody>
          <a:bodyPr/>
          <a:lstStyle/>
          <a:p>
            <a:r>
              <a:rPr lang="nb-NO" dirty="0"/>
              <a:t>Profesjonsetikk</a:t>
            </a:r>
          </a:p>
        </p:txBody>
      </p:sp>
      <p:sp>
        <p:nvSpPr>
          <p:cNvPr id="3" name="Plassholder for tekst 2">
            <a:extLst>
              <a:ext uri="{FF2B5EF4-FFF2-40B4-BE49-F238E27FC236}">
                <a16:creationId xmlns:a16="http://schemas.microsoft.com/office/drawing/2014/main" id="{EAE63B86-6936-F25F-B123-E8E0222180F0}"/>
              </a:ext>
            </a:extLst>
          </p:cNvPr>
          <p:cNvSpPr>
            <a:spLocks noGrp="1"/>
          </p:cNvSpPr>
          <p:nvPr>
            <p:ph type="body" idx="1"/>
          </p:nvPr>
        </p:nvSpPr>
        <p:spPr/>
        <p:txBody>
          <a:bodyPr/>
          <a:lstStyle/>
          <a:p>
            <a:r>
              <a:rPr lang="nb-NO" dirty="0"/>
              <a:t>Ansvar og etikk</a:t>
            </a:r>
          </a:p>
        </p:txBody>
      </p:sp>
    </p:spTree>
    <p:extLst>
      <p:ext uri="{BB962C8B-B14F-4D97-AF65-F5344CB8AC3E}">
        <p14:creationId xmlns:p14="http://schemas.microsoft.com/office/powerpoint/2010/main" val="6976054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BD446-9759-0A23-2B5F-8B018905D187}"/>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A4A9C7B-9BAB-D958-AB7A-C095C8EA4E7D}"/>
              </a:ext>
            </a:extLst>
          </p:cNvPr>
          <p:cNvSpPr>
            <a:spLocks noGrp="1"/>
          </p:cNvSpPr>
          <p:nvPr>
            <p:ph type="title"/>
          </p:nvPr>
        </p:nvSpPr>
        <p:spPr/>
        <p:txBody>
          <a:bodyPr/>
          <a:lstStyle/>
          <a:p>
            <a:r>
              <a:rPr lang="en-US" dirty="0"/>
              <a:t>GDPR</a:t>
            </a:r>
          </a:p>
        </p:txBody>
      </p:sp>
      <p:sp>
        <p:nvSpPr>
          <p:cNvPr id="3" name="Plassholder for innhold 2">
            <a:extLst>
              <a:ext uri="{FF2B5EF4-FFF2-40B4-BE49-F238E27FC236}">
                <a16:creationId xmlns:a16="http://schemas.microsoft.com/office/drawing/2014/main" id="{52385E19-D200-894D-CF8D-B9DD8B692AAD}"/>
              </a:ext>
            </a:extLst>
          </p:cNvPr>
          <p:cNvSpPr>
            <a:spLocks noGrp="1"/>
          </p:cNvSpPr>
          <p:nvPr>
            <p:ph idx="1"/>
          </p:nvPr>
        </p:nvSpPr>
        <p:spPr/>
        <p:txBody>
          <a:bodyPr>
            <a:normAutofit/>
          </a:bodyPr>
          <a:lstStyle/>
          <a:p>
            <a:r>
              <a:rPr lang="nb-NO" dirty="0"/>
              <a:t>Hva står GDPR for?</a:t>
            </a:r>
          </a:p>
          <a:p>
            <a:r>
              <a:rPr lang="nb-NO" dirty="0"/>
              <a:t>Hva er formålet med GDPR?</a:t>
            </a:r>
          </a:p>
          <a:p>
            <a:r>
              <a:rPr lang="nb-NO" dirty="0"/>
              <a:t>Hva er de grunnleggende prinsippene i GDPR?</a:t>
            </a:r>
          </a:p>
          <a:p>
            <a:r>
              <a:rPr lang="nb-NO" dirty="0"/>
              <a:t>Hva er de registrertes rettigheter?</a:t>
            </a:r>
          </a:p>
          <a:p>
            <a:r>
              <a:rPr lang="nb-NO" dirty="0"/>
              <a:t>Hvilke unntak finnes det ved disse retningslinjene?</a:t>
            </a:r>
          </a:p>
        </p:txBody>
      </p:sp>
      <p:grpSp>
        <p:nvGrpSpPr>
          <p:cNvPr id="8" name="Gruppe 7">
            <a:extLst>
              <a:ext uri="{FF2B5EF4-FFF2-40B4-BE49-F238E27FC236}">
                <a16:creationId xmlns:a16="http://schemas.microsoft.com/office/drawing/2014/main" id="{451D9751-4809-6771-D9A3-A92E4005A4D5}"/>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786847F-449D-5EF7-21A1-C48B71F97A8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Profesjonsetikk</a:t>
              </a:r>
              <a:endParaRPr lang="nb-NO" sz="2800" dirty="0"/>
            </a:p>
          </p:txBody>
        </p:sp>
        <p:sp>
          <p:nvSpPr>
            <p:cNvPr id="10" name="Plassholder for tekst 2">
              <a:extLst>
                <a:ext uri="{FF2B5EF4-FFF2-40B4-BE49-F238E27FC236}">
                  <a16:creationId xmlns:a16="http://schemas.microsoft.com/office/drawing/2014/main" id="{F4F46B80-F2D8-7F48-C850-158AC6E0993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Ansvar og etikk</a:t>
              </a:r>
            </a:p>
            <a:p>
              <a:pPr algn="r"/>
              <a:endParaRPr lang="nb-NO" sz="1600" i="1" dirty="0"/>
            </a:p>
          </p:txBody>
        </p:sp>
      </p:grpSp>
    </p:spTree>
    <p:extLst>
      <p:ext uri="{BB962C8B-B14F-4D97-AF65-F5344CB8AC3E}">
        <p14:creationId xmlns:p14="http://schemas.microsoft.com/office/powerpoint/2010/main" val="17996504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68BE0-215D-2B86-7BA2-794A717FFF63}"/>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62C3E3E-01AE-1E9B-92C2-7EE9CC4C65E9}"/>
              </a:ext>
            </a:extLst>
          </p:cNvPr>
          <p:cNvSpPr>
            <a:spLocks noGrp="1"/>
          </p:cNvSpPr>
          <p:nvPr>
            <p:ph type="title"/>
          </p:nvPr>
        </p:nvSpPr>
        <p:spPr/>
        <p:txBody>
          <a:bodyPr/>
          <a:lstStyle/>
          <a:p>
            <a:r>
              <a:rPr lang="nb-NO" dirty="0"/>
              <a:t>Profesjonsetikk</a:t>
            </a:r>
            <a:endParaRPr lang="en-US" dirty="0"/>
          </a:p>
        </p:txBody>
      </p:sp>
      <p:sp>
        <p:nvSpPr>
          <p:cNvPr id="3" name="Plassholder for innhold 2">
            <a:extLst>
              <a:ext uri="{FF2B5EF4-FFF2-40B4-BE49-F238E27FC236}">
                <a16:creationId xmlns:a16="http://schemas.microsoft.com/office/drawing/2014/main" id="{B7078756-27A2-0F4E-D0A9-99BCF5CAC448}"/>
              </a:ext>
            </a:extLst>
          </p:cNvPr>
          <p:cNvSpPr>
            <a:spLocks noGrp="1"/>
          </p:cNvSpPr>
          <p:nvPr>
            <p:ph idx="1"/>
          </p:nvPr>
        </p:nvSpPr>
        <p:spPr/>
        <p:txBody>
          <a:bodyPr>
            <a:normAutofit/>
          </a:bodyPr>
          <a:lstStyle/>
          <a:p>
            <a:r>
              <a:rPr lang="nb-NO" dirty="0"/>
              <a:t>Hva er profesjonsetikk?</a:t>
            </a:r>
          </a:p>
          <a:p>
            <a:r>
              <a:rPr lang="nb-NO" dirty="0"/>
              <a:t>Hva er ingeniøretikk?</a:t>
            </a:r>
          </a:p>
          <a:p>
            <a:r>
              <a:rPr lang="nb-NO" dirty="0"/>
              <a:t>Hva er det ingeniørens ansvar omfatter?</a:t>
            </a:r>
          </a:p>
          <a:p>
            <a:r>
              <a:rPr lang="nb-NO" dirty="0"/>
              <a:t>…</a:t>
            </a:r>
          </a:p>
          <a:p>
            <a:endParaRPr lang="nb-NO" dirty="0"/>
          </a:p>
        </p:txBody>
      </p:sp>
      <p:grpSp>
        <p:nvGrpSpPr>
          <p:cNvPr id="8" name="Gruppe 7">
            <a:extLst>
              <a:ext uri="{FF2B5EF4-FFF2-40B4-BE49-F238E27FC236}">
                <a16:creationId xmlns:a16="http://schemas.microsoft.com/office/drawing/2014/main" id="{81C8E380-70C6-BAED-311A-389BF94B6A0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4E4EF13-E976-4F6D-F09E-647EB7950E3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Profesjonsetikk</a:t>
              </a:r>
              <a:endParaRPr lang="nb-NO" sz="2800" dirty="0"/>
            </a:p>
          </p:txBody>
        </p:sp>
        <p:sp>
          <p:nvSpPr>
            <p:cNvPr id="10" name="Plassholder for tekst 2">
              <a:extLst>
                <a:ext uri="{FF2B5EF4-FFF2-40B4-BE49-F238E27FC236}">
                  <a16:creationId xmlns:a16="http://schemas.microsoft.com/office/drawing/2014/main" id="{F22BE6D6-14A7-3EE4-71F8-469BD388899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Ansvar og etikk</a:t>
              </a:r>
            </a:p>
            <a:p>
              <a:pPr algn="r"/>
              <a:endParaRPr lang="nb-NO" sz="1600" i="1" dirty="0"/>
            </a:p>
          </p:txBody>
        </p:sp>
      </p:grpSp>
    </p:spTree>
    <p:extLst>
      <p:ext uri="{BB962C8B-B14F-4D97-AF65-F5344CB8AC3E}">
        <p14:creationId xmlns:p14="http://schemas.microsoft.com/office/powerpoint/2010/main" val="25598257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E144B-6783-EFAC-533E-80D0DCE7EF6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D0D8821-3984-DA9A-33BA-445F6000D98F}"/>
              </a:ext>
            </a:extLst>
          </p:cNvPr>
          <p:cNvSpPr>
            <a:spLocks noGrp="1"/>
          </p:cNvSpPr>
          <p:nvPr>
            <p:ph type="title"/>
          </p:nvPr>
        </p:nvSpPr>
        <p:spPr/>
        <p:txBody>
          <a:bodyPr/>
          <a:lstStyle/>
          <a:p>
            <a:r>
              <a:rPr lang="nb-NO" dirty="0"/>
              <a:t>Prosjektplanlegging</a:t>
            </a:r>
          </a:p>
        </p:txBody>
      </p:sp>
      <p:sp>
        <p:nvSpPr>
          <p:cNvPr id="3" name="Plassholder for tekst 2">
            <a:extLst>
              <a:ext uri="{FF2B5EF4-FFF2-40B4-BE49-F238E27FC236}">
                <a16:creationId xmlns:a16="http://schemas.microsoft.com/office/drawing/2014/main" id="{CF6B14B9-10B5-191E-0095-6E93ED6E86E2}"/>
              </a:ext>
            </a:extLst>
          </p:cNvPr>
          <p:cNvSpPr>
            <a:spLocks noGrp="1"/>
          </p:cNvSpPr>
          <p:nvPr>
            <p:ph type="body" idx="1"/>
          </p:nvPr>
        </p:nvSpPr>
        <p:spPr/>
        <p:txBody>
          <a:bodyPr/>
          <a:lstStyle/>
          <a:p>
            <a:r>
              <a:rPr lang="nb-NO" dirty="0"/>
              <a:t>Planlegging og gjennomføring</a:t>
            </a:r>
          </a:p>
        </p:txBody>
      </p:sp>
    </p:spTree>
    <p:extLst>
      <p:ext uri="{BB962C8B-B14F-4D97-AF65-F5344CB8AC3E}">
        <p14:creationId xmlns:p14="http://schemas.microsoft.com/office/powerpoint/2010/main" val="26204748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9852-E222-B562-E945-B0F836A268F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EA235F-E61E-4A07-DBC0-0BEE792FDD00}"/>
              </a:ext>
            </a:extLst>
          </p:cNvPr>
          <p:cNvSpPr>
            <a:spLocks noGrp="1"/>
          </p:cNvSpPr>
          <p:nvPr>
            <p:ph type="title"/>
          </p:nvPr>
        </p:nvSpPr>
        <p:spPr/>
        <p:txBody>
          <a:bodyPr/>
          <a:lstStyle/>
          <a:p>
            <a:r>
              <a:rPr lang="nb-NO" dirty="0"/>
              <a:t>Prosjektplanlegging</a:t>
            </a:r>
            <a:endParaRPr lang="en-US" dirty="0"/>
          </a:p>
        </p:txBody>
      </p:sp>
      <p:sp>
        <p:nvSpPr>
          <p:cNvPr id="3" name="Plassholder for innhold 2">
            <a:extLst>
              <a:ext uri="{FF2B5EF4-FFF2-40B4-BE49-F238E27FC236}">
                <a16:creationId xmlns:a16="http://schemas.microsoft.com/office/drawing/2014/main" id="{E33537D4-E275-00DA-7628-EA6511710D68}"/>
              </a:ext>
            </a:extLst>
          </p:cNvPr>
          <p:cNvSpPr>
            <a:spLocks noGrp="1"/>
          </p:cNvSpPr>
          <p:nvPr>
            <p:ph idx="1"/>
          </p:nvPr>
        </p:nvSpPr>
        <p:spPr/>
        <p:txBody>
          <a:bodyPr>
            <a:normAutofit/>
          </a:bodyPr>
          <a:lstStyle/>
          <a:p>
            <a:r>
              <a:rPr lang="nb-NO" dirty="0"/>
              <a:t>…</a:t>
            </a:r>
          </a:p>
        </p:txBody>
      </p:sp>
      <p:grpSp>
        <p:nvGrpSpPr>
          <p:cNvPr id="8" name="Gruppe 7">
            <a:extLst>
              <a:ext uri="{FF2B5EF4-FFF2-40B4-BE49-F238E27FC236}">
                <a16:creationId xmlns:a16="http://schemas.microsoft.com/office/drawing/2014/main" id="{6A528337-6838-E9B0-2D54-A536B6D6FFB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D54FCCC-3E5E-0F21-4E2E-B699C7DA022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Prosjektplanlegging</a:t>
              </a:r>
              <a:endParaRPr lang="nb-NO" sz="2800" dirty="0"/>
            </a:p>
          </p:txBody>
        </p:sp>
        <p:sp>
          <p:nvSpPr>
            <p:cNvPr id="10" name="Plassholder for tekst 2">
              <a:extLst>
                <a:ext uri="{FF2B5EF4-FFF2-40B4-BE49-F238E27FC236}">
                  <a16:creationId xmlns:a16="http://schemas.microsoft.com/office/drawing/2014/main" id="{C0FA95F7-23C2-C433-E5EF-F3FF4D23FD8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Planlegging og gjennomføring</a:t>
              </a:r>
            </a:p>
          </p:txBody>
        </p:sp>
      </p:grpSp>
    </p:spTree>
    <p:extLst>
      <p:ext uri="{BB962C8B-B14F-4D97-AF65-F5344CB8AC3E}">
        <p14:creationId xmlns:p14="http://schemas.microsoft.com/office/powerpoint/2010/main" val="1868988705"/>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698</TotalTime>
  <Words>8303</Words>
  <Application>Microsoft Office PowerPoint</Application>
  <PresentationFormat>Widescreen</PresentationFormat>
  <Paragraphs>1224</Paragraphs>
  <Slides>77</Slides>
  <Notes>72</Notes>
  <HiddenSlides>0</HiddenSlides>
  <MMClips>0</MMClips>
  <ScaleCrop>false</ScaleCrop>
  <HeadingPairs>
    <vt:vector size="6" baseType="variant">
      <vt:variant>
        <vt:lpstr>Brukte skrifter</vt:lpstr>
      </vt:variant>
      <vt:variant>
        <vt:i4>3</vt:i4>
      </vt:variant>
      <vt:variant>
        <vt:lpstr>Tema</vt:lpstr>
      </vt:variant>
      <vt:variant>
        <vt:i4>1</vt:i4>
      </vt:variant>
      <vt:variant>
        <vt:lpstr>Lysbildetitler</vt:lpstr>
      </vt:variant>
      <vt:variant>
        <vt:i4>77</vt:i4>
      </vt:variant>
    </vt:vector>
  </HeadingPairs>
  <TitlesOfParts>
    <vt:vector size="81" baseType="lpstr">
      <vt:lpstr>Aptos</vt:lpstr>
      <vt:lpstr>Aptos Display</vt:lpstr>
      <vt:lpstr>Arial</vt:lpstr>
      <vt:lpstr>Office-tema</vt:lpstr>
      <vt:lpstr>IDATT1005 Systemutvikling 1</vt:lpstr>
      <vt:lpstr>MMI</vt:lpstr>
      <vt:lpstr>Interaksjonsdesign</vt:lpstr>
      <vt:lpstr>Prototyping</vt:lpstr>
      <vt:lpstr>Evaluering</vt:lpstr>
      <vt:lpstr>Brukertesting</vt:lpstr>
      <vt:lpstr>Universell utforming</vt:lpstr>
      <vt:lpstr>Lovkrav til universell utforming</vt:lpstr>
      <vt:lpstr>WCAG 2.0</vt:lpstr>
      <vt:lpstr>UML</vt:lpstr>
      <vt:lpstr>UML</vt:lpstr>
      <vt:lpstr>Use case</vt:lpstr>
      <vt:lpstr>Domenemodell</vt:lpstr>
      <vt:lpstr>Sekvensdiagram</vt:lpstr>
      <vt:lpstr>Aktivitetsdiagram</vt:lpstr>
      <vt:lpstr>Klassediagram</vt:lpstr>
      <vt:lpstr>Pakkediagram</vt:lpstr>
      <vt:lpstr>Tilstandsmaskindiagram</vt:lpstr>
      <vt:lpstr>Brukerhistorier</vt:lpstr>
      <vt:lpstr>Programvarearkitektur</vt:lpstr>
      <vt:lpstr>Programvarearkitektur</vt:lpstr>
      <vt:lpstr>Hvorfor arkitektur?</vt:lpstr>
      <vt:lpstr>Kompleksitetshåndtering</vt:lpstr>
      <vt:lpstr>Standalone application</vt:lpstr>
      <vt:lpstr>Klient - tjener arkitektur</vt:lpstr>
      <vt:lpstr>Tre-lags-arkitektur</vt:lpstr>
      <vt:lpstr>Master-slave pattern</vt:lpstr>
      <vt:lpstr>Pipe-filter pattern</vt:lpstr>
      <vt:lpstr>Broker pattern</vt:lpstr>
      <vt:lpstr>Peer to Peer pattern</vt:lpstr>
      <vt:lpstr>Event-bus pattern</vt:lpstr>
      <vt:lpstr>MVC</vt:lpstr>
      <vt:lpstr>Microservice</vt:lpstr>
      <vt:lpstr>Monolittarkitektur</vt:lpstr>
      <vt:lpstr>Plugin-basert arkitektur</vt:lpstr>
      <vt:lpstr>Deployment-arkitekturer</vt:lpstr>
      <vt:lpstr>Systemutviklingsmetodikk</vt:lpstr>
      <vt:lpstr>Før smidig metoder</vt:lpstr>
      <vt:lpstr>Smidige metoder</vt:lpstr>
      <vt:lpstr>Extreme Programming</vt:lpstr>
      <vt:lpstr>Test-Driven development</vt:lpstr>
      <vt:lpstr>Behavior-Driven development</vt:lpstr>
      <vt:lpstr>Scrum</vt:lpstr>
      <vt:lpstr>Lean</vt:lpstr>
      <vt:lpstr>Kanban</vt:lpstr>
      <vt:lpstr>Domain-Driven Design</vt:lpstr>
      <vt:lpstr>DevOps</vt:lpstr>
      <vt:lpstr>REST</vt:lpstr>
      <vt:lpstr>Testing</vt:lpstr>
      <vt:lpstr>Hvorfor teste?</vt:lpstr>
      <vt:lpstr>Tradisjonell testing</vt:lpstr>
      <vt:lpstr>Smidig testing</vt:lpstr>
      <vt:lpstr>Automatiserte tester</vt:lpstr>
      <vt:lpstr>Egne test-/staging-miljøer</vt:lpstr>
      <vt:lpstr>CI og små endringer</vt:lpstr>
      <vt:lpstr>Prioritering av testing</vt:lpstr>
      <vt:lpstr> Risk-poker</vt:lpstr>
      <vt:lpstr> Test-data</vt:lpstr>
      <vt:lpstr>Mocking</vt:lpstr>
      <vt:lpstr>Testfaser</vt:lpstr>
      <vt:lpstr>Enhetstesting</vt:lpstr>
      <vt:lpstr>Integrasjonstesting</vt:lpstr>
      <vt:lpstr>Systemtesting</vt:lpstr>
      <vt:lpstr>Akseptansetesting</vt:lpstr>
      <vt:lpstr>Regresjonstesting</vt:lpstr>
      <vt:lpstr> Smoke-testing/Sanity-testing</vt:lpstr>
      <vt:lpstr>Destruktiv testing</vt:lpstr>
      <vt:lpstr>Usability testing</vt:lpstr>
      <vt:lpstr>Ytelsestesting</vt:lpstr>
      <vt:lpstr>Black-box vs white box testing</vt:lpstr>
      <vt:lpstr>Automatisk eller manuell testing</vt:lpstr>
      <vt:lpstr>Testing principles</vt:lpstr>
      <vt:lpstr>Profesjonsetikk</vt:lpstr>
      <vt:lpstr>GDPR</vt:lpstr>
      <vt:lpstr>Profesjonsetikk</vt:lpstr>
      <vt:lpstr>Prosjektplanlegging</vt:lpstr>
      <vt:lpstr>Prosjektplanlegging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Alexander Wiklund Ottersbo</dc:creator>
  <cp:lastModifiedBy>Elias Alexander Wiklund Ottersbo</cp:lastModifiedBy>
  <cp:revision>305</cp:revision>
  <dcterms:created xsi:type="dcterms:W3CDTF">2026-06-01T12:44:36Z</dcterms:created>
  <dcterms:modified xsi:type="dcterms:W3CDTF">2026-06-02T03:12:23Z</dcterms:modified>
</cp:coreProperties>
</file>